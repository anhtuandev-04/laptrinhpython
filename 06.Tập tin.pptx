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73" r:id="rId2"/>
    <p:sldId id="256" r:id="rId3"/>
    <p:sldId id="269" r:id="rId4"/>
    <p:sldId id="270" r:id="rId5"/>
    <p:sldId id="271" r:id="rId6"/>
    <p:sldId id="272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320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305" r:id="rId40"/>
    <p:sldId id="306" r:id="rId41"/>
    <p:sldId id="307" r:id="rId42"/>
    <p:sldId id="308" r:id="rId43"/>
    <p:sldId id="309" r:id="rId44"/>
    <p:sldId id="310" r:id="rId45"/>
    <p:sldId id="311" r:id="rId46"/>
    <p:sldId id="312" r:id="rId47"/>
    <p:sldId id="313" r:id="rId48"/>
    <p:sldId id="314" r:id="rId49"/>
    <p:sldId id="315" r:id="rId50"/>
    <p:sldId id="316" r:id="rId51"/>
    <p:sldId id="317" r:id="rId52"/>
    <p:sldId id="318" r:id="rId53"/>
    <p:sldId id="319" r:id="rId54"/>
    <p:sldId id="260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471" autoAdjust="0"/>
    <p:restoredTop sz="94249" autoAdjust="0"/>
  </p:normalViewPr>
  <p:slideViewPr>
    <p:cSldViewPr>
      <p:cViewPr varScale="1">
        <p:scale>
          <a:sx n="91" d="100"/>
          <a:sy n="91" d="100"/>
        </p:scale>
        <p:origin x="58" y="21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9F7025-33D9-4E9F-9955-A14222A03D05}" type="datetimeFigureOut">
              <a:rPr lang="en-US" smtClean="0"/>
              <a:t>11/01/2023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D3E3EA-CC6A-448F-83C3-9A526F33C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52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207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854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4659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1726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712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7396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6349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0547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8483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1694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4685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6668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907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8876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3863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1055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8495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1567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8941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5943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8328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2002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0190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3142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152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7859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0577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0159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271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4588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9672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6392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1516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96744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369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78195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79377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25371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70078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3315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49564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8691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29295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17454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7657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51293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6691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99668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56081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56564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18226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45059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860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5571-560F-4DFC-BA97-61ACA5F7A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2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7"/>
          <p:cNvSpPr>
            <a:spLocks noChangeArrowheads="1"/>
          </p:cNvSpPr>
          <p:nvPr userDrawn="1"/>
        </p:nvSpPr>
        <p:spPr bwMode="auto">
          <a:xfrm flipH="1">
            <a:off x="0" y="6460968"/>
            <a:ext cx="12192000" cy="397032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FF660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/>
          <a:p>
            <a:pPr algn="r">
              <a:lnSpc>
                <a:spcPct val="180000"/>
              </a:lnSpc>
            </a:pPr>
            <a:endParaRPr lang="en-US" sz="1100" b="1" baseline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200" y="6467476"/>
            <a:ext cx="2844800" cy="365125"/>
          </a:xfrm>
        </p:spPr>
        <p:txBody>
          <a:bodyPr/>
          <a:lstStyle>
            <a:lvl1pPr>
              <a:defRPr sz="1600" b="1">
                <a:solidFill>
                  <a:srgbClr val="002060"/>
                </a:solidFill>
                <a:latin typeface="Cambria" panose="02040503050406030204" pitchFamily="18" charset="0"/>
              </a:defRPr>
            </a:lvl1pPr>
          </a:lstStyle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>
            <a:spLocks noChangeArrowheads="1"/>
          </p:cNvSpPr>
          <p:nvPr userDrawn="1"/>
        </p:nvSpPr>
        <p:spPr bwMode="auto">
          <a:xfrm>
            <a:off x="0" y="-94064"/>
            <a:ext cx="12192000" cy="518796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FF660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80000"/>
              </a:lnSpc>
            </a:pPr>
            <a:r>
              <a:rPr lang="en-US" sz="1800" b="1" i="0" kern="1200" baseline="0">
                <a:solidFill>
                  <a:schemeClr val="tx1"/>
                </a:solidFill>
                <a:effectLst/>
                <a:latin typeface="Cambria" panose="02040503050406030204" pitchFamily="18" charset="0"/>
                <a:ea typeface="+mn-ea"/>
                <a:cs typeface="+mn-cs"/>
              </a:rPr>
              <a:t>Ngôn ngữ lập trình 1</a:t>
            </a:r>
            <a:endParaRPr lang="en-US" sz="1400" b="1" baseline="0">
              <a:solidFill>
                <a:srgbClr val="0070C0"/>
              </a:solidFill>
              <a:latin typeface="Cambria" panose="02040503050406030204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692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5571-560F-4DFC-BA97-61ACA5F7A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203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5571-560F-4DFC-BA97-61ACA5F7A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123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5571-560F-4DFC-BA97-61ACA5F7A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098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5571-560F-4DFC-BA97-61ACA5F7A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46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5571-560F-4DFC-BA97-61ACA5F7A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858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5571-560F-4DFC-BA97-61ACA5F7A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128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5571-560F-4DFC-BA97-61ACA5F7A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714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5571-560F-4DFC-BA97-61ACA5F7A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193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5571-560F-4DFC-BA97-61ACA5F7A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218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E5571-560F-4DFC-BA97-61ACA5F7A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844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1821654" y="609601"/>
            <a:ext cx="8615363" cy="190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4400" kern="0">
                <a:solidFill>
                  <a:srgbClr val="002060"/>
                </a:solidFill>
                <a:latin typeface="Cambria" panose="02040503050406030204" pitchFamily="18" charset="0"/>
              </a:rPr>
              <a:t>Ngôn </a:t>
            </a:r>
            <a:r>
              <a:rPr lang="en-US" sz="44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ngữ</a:t>
            </a:r>
            <a:r>
              <a:rPr lang="en-US" sz="4400" kern="0" dirty="0">
                <a:solidFill>
                  <a:srgbClr val="002060"/>
                </a:solidFill>
                <a:latin typeface="Cambria" panose="02040503050406030204" pitchFamily="18" charset="0"/>
              </a:rPr>
              <a:t> </a:t>
            </a:r>
            <a:r>
              <a:rPr lang="en-US" sz="4400" kern="0" err="1">
                <a:solidFill>
                  <a:srgbClr val="002060"/>
                </a:solidFill>
                <a:latin typeface="Cambria" panose="02040503050406030204" pitchFamily="18" charset="0"/>
              </a:rPr>
              <a:t>lập</a:t>
            </a:r>
            <a:r>
              <a:rPr lang="en-US" sz="4400" kern="0">
                <a:solidFill>
                  <a:srgbClr val="002060"/>
                </a:solidFill>
                <a:latin typeface="Cambria" panose="02040503050406030204" pitchFamily="18" charset="0"/>
              </a:rPr>
              <a:t> trình 1</a:t>
            </a:r>
            <a:endParaRPr lang="en-US" sz="4400" kern="0" dirty="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>
              <a:defRPr/>
            </a:pPr>
            <a:r>
              <a:rPr lang="en-US" sz="44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Chương</a:t>
            </a:r>
            <a:r>
              <a:rPr lang="en-US" sz="4400" kern="0" dirty="0">
                <a:solidFill>
                  <a:srgbClr val="002060"/>
                </a:solidFill>
                <a:latin typeface="Cambria" panose="02040503050406030204" pitchFamily="18" charset="0"/>
              </a:rPr>
              <a:t> 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026" name="Picture 2" descr="Image result for Python">
            <a:extLst>
              <a:ext uri="{FF2B5EF4-FFF2-40B4-BE49-F238E27FC236}">
                <a16:creationId xmlns:a16="http://schemas.microsoft.com/office/drawing/2014/main" id="{DB89E5ED-4BAE-4B8E-BE15-5C0C50797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4825" y="2514600"/>
            <a:ext cx="5169023" cy="260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005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1747837" y="762000"/>
            <a:ext cx="8615363" cy="190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vi-VN" sz="4400" kern="0">
                <a:solidFill>
                  <a:srgbClr val="002060"/>
                </a:solidFill>
                <a:latin typeface="Cambria" panose="02040503050406030204" pitchFamily="18" charset="0"/>
              </a:rPr>
              <a:t>Vì sao phải lưu tập tin</a:t>
            </a:r>
            <a:endParaRPr lang="en-US" sz="4400" kern="0">
              <a:solidFill>
                <a:srgbClr val="002060"/>
              </a:solidFill>
              <a:latin typeface="Cambria" panose="020405030504060302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1026" name="Picture 2" descr="Image result for Python">
            <a:extLst>
              <a:ext uri="{FF2B5EF4-FFF2-40B4-BE49-F238E27FC236}">
                <a16:creationId xmlns:a16="http://schemas.microsoft.com/office/drawing/2014/main" id="{DB89E5ED-4BAE-4B8E-BE15-5C0C50797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4825" y="2514600"/>
            <a:ext cx="5169023" cy="260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1459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Nội dung bài học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ctr">
              <a:buFont typeface="+mj-lt"/>
              <a:buAutoNum type="arabicPeriod"/>
            </a:pPr>
            <a:endParaRPr lang="en-US" dirty="0">
              <a:latin typeface="Cambria" panose="02040503050406030204" pitchFamily="18" charset="0"/>
            </a:endParaRPr>
          </a:p>
          <a:p>
            <a:pPr marL="514350" indent="-514350" algn="ctr">
              <a:buFont typeface="+mj-lt"/>
              <a:buAutoNum type="arabicPeriod"/>
            </a:pPr>
            <a:endParaRPr lang="en-US" dirty="0">
              <a:latin typeface="Cambria" panose="02040503050406030204" pitchFamily="18" charset="0"/>
            </a:endParaRPr>
          </a:p>
          <a:p>
            <a:pPr marL="514350" indent="-514350" algn="ctr">
              <a:buFont typeface="+mj-lt"/>
              <a:buAutoNum type="arabicPeriod"/>
            </a:pPr>
            <a:endParaRPr lang="en-US" dirty="0">
              <a:latin typeface="Cambria" panose="02040503050406030204" pitchFamily="18" charset="0"/>
            </a:endParaRPr>
          </a:p>
          <a:p>
            <a:pPr marL="514350" indent="-514350" algn="ctr">
              <a:buFont typeface="+mj-lt"/>
              <a:buAutoNum type="arabicPeriod"/>
            </a:pPr>
            <a:r>
              <a:rPr lang="vi-VN" dirty="0">
                <a:latin typeface="Cambria" panose="02040503050406030204" pitchFamily="18" charset="0"/>
              </a:rPr>
              <a:t>Vì sao phải lưu tập tin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vi-VN" dirty="0">
                <a:latin typeface="Cambria" panose="02040503050406030204" pitchFamily="18" charset="0"/>
              </a:rPr>
              <a:t>Các loại tập tin lưu trữ</a:t>
            </a:r>
            <a:endParaRPr lang="en-US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658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Nội dung bài học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v"/>
            </a:pPr>
            <a:endParaRPr lang="en-US" dirty="0">
              <a:latin typeface="Cambria" panose="020405030504060302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 err="1">
                <a:latin typeface="Cambria" panose="02040503050406030204" pitchFamily="18" charset="0"/>
              </a:rPr>
              <a:t>Các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dữ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liệu</a:t>
            </a:r>
            <a:r>
              <a:rPr lang="en-US" dirty="0">
                <a:latin typeface="Cambria" panose="02040503050406030204" pitchFamily="18" charset="0"/>
              </a:rPr>
              <a:t> ta </a:t>
            </a:r>
            <a:r>
              <a:rPr lang="en-US" dirty="0" err="1">
                <a:latin typeface="Cambria" panose="02040503050406030204" pitchFamily="18" charset="0"/>
              </a:rPr>
              <a:t>đang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thao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tác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là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trên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thanh</a:t>
            </a:r>
            <a:r>
              <a:rPr lang="en-US" dirty="0">
                <a:latin typeface="Cambria" panose="02040503050406030204" pitchFamily="18" charset="0"/>
              </a:rPr>
              <a:t> RAM </a:t>
            </a:r>
            <a:r>
              <a:rPr lang="en-US" dirty="0">
                <a:latin typeface="Cambria" panose="02040503050406030204" pitchFamily="18" charset="0"/>
                <a:sym typeface="Wingdings" panose="05000000000000000000" pitchFamily="2" charset="2"/>
              </a:rPr>
              <a:t> </a:t>
            </a:r>
            <a:r>
              <a:rPr lang="en-US" dirty="0" err="1">
                <a:latin typeface="Cambria" panose="02040503050406030204" pitchFamily="18" charset="0"/>
                <a:sym typeface="Wingdings" panose="05000000000000000000" pitchFamily="2" charset="2"/>
              </a:rPr>
              <a:t>mất</a:t>
            </a:r>
            <a:r>
              <a:rPr lang="en-US" dirty="0">
                <a:latin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Cambria" panose="02040503050406030204" pitchFamily="18" charset="0"/>
                <a:sym typeface="Wingdings" panose="05000000000000000000" pitchFamily="2" charset="2"/>
              </a:rPr>
              <a:t>dữ</a:t>
            </a:r>
            <a:r>
              <a:rPr lang="en-US" dirty="0">
                <a:latin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Cambria" panose="02040503050406030204" pitchFamily="18" charset="0"/>
                <a:sym typeface="Wingdings" panose="05000000000000000000" pitchFamily="2" charset="2"/>
              </a:rPr>
              <a:t>liệu</a:t>
            </a:r>
            <a:r>
              <a:rPr lang="en-US" dirty="0">
                <a:latin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Cambria" panose="02040503050406030204" pitchFamily="18" charset="0"/>
                <a:sym typeface="Wingdings" panose="05000000000000000000" pitchFamily="2" charset="2"/>
              </a:rPr>
              <a:t>khi</a:t>
            </a:r>
            <a:r>
              <a:rPr lang="en-US" dirty="0">
                <a:latin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Cambria" panose="02040503050406030204" pitchFamily="18" charset="0"/>
                <a:sym typeface="Wingdings" panose="05000000000000000000" pitchFamily="2" charset="2"/>
              </a:rPr>
              <a:t>tắt</a:t>
            </a:r>
            <a:r>
              <a:rPr lang="en-US" dirty="0">
                <a:latin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Cambria" panose="02040503050406030204" pitchFamily="18" charset="0"/>
                <a:sym typeface="Wingdings" panose="05000000000000000000" pitchFamily="2" charset="2"/>
              </a:rPr>
              <a:t>phần</a:t>
            </a:r>
            <a:r>
              <a:rPr lang="en-US" dirty="0">
                <a:latin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Cambria" panose="02040503050406030204" pitchFamily="18" charset="0"/>
                <a:sym typeface="Wingdings" panose="05000000000000000000" pitchFamily="2" charset="2"/>
              </a:rPr>
              <a:t>mềm</a:t>
            </a:r>
            <a:r>
              <a:rPr lang="en-US" dirty="0">
                <a:latin typeface="Cambria" panose="02040503050406030204" pitchFamily="18" charset="0"/>
                <a:sym typeface="Wingdings" panose="05000000000000000000" pitchFamily="2" charset="2"/>
              </a:rPr>
              <a:t>, </a:t>
            </a:r>
            <a:r>
              <a:rPr lang="en-US" dirty="0" err="1">
                <a:latin typeface="Cambria" panose="02040503050406030204" pitchFamily="18" charset="0"/>
                <a:sym typeface="Wingdings" panose="05000000000000000000" pitchFamily="2" charset="2"/>
              </a:rPr>
              <a:t>tắt</a:t>
            </a:r>
            <a:r>
              <a:rPr lang="en-US" dirty="0">
                <a:latin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Cambria" panose="02040503050406030204" pitchFamily="18" charset="0"/>
                <a:sym typeface="Wingdings" panose="05000000000000000000" pitchFamily="2" charset="2"/>
              </a:rPr>
              <a:t>máy</a:t>
            </a:r>
            <a:r>
              <a:rPr lang="en-US" dirty="0">
                <a:latin typeface="Cambria" panose="02040503050406030204" pitchFamily="18" charset="0"/>
                <a:sym typeface="Wingdings" panose="05000000000000000000" pitchFamily="2" charset="2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dirty="0">
              <a:latin typeface="Cambria" panose="02040503050406030204" pitchFamily="18" charset="0"/>
              <a:sym typeface="Wingdings" panose="05000000000000000000" pitchFamily="2" charset="2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 err="1">
                <a:latin typeface="Cambria" panose="02040503050406030204" pitchFamily="18" charset="0"/>
                <a:sym typeface="Wingdings" panose="05000000000000000000" pitchFamily="2" charset="2"/>
              </a:rPr>
              <a:t>Nên</a:t>
            </a:r>
            <a:r>
              <a:rPr lang="en-US" dirty="0">
                <a:latin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Cambria" panose="02040503050406030204" pitchFamily="18" charset="0"/>
                <a:sym typeface="Wingdings" panose="05000000000000000000" pitchFamily="2" charset="2"/>
              </a:rPr>
              <a:t>cần</a:t>
            </a:r>
            <a:r>
              <a:rPr lang="en-US" dirty="0">
                <a:latin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Cambria" panose="02040503050406030204" pitchFamily="18" charset="0"/>
                <a:sym typeface="Wingdings" panose="05000000000000000000" pitchFamily="2" charset="2"/>
              </a:rPr>
              <a:t>phải</a:t>
            </a:r>
            <a:r>
              <a:rPr lang="en-US" dirty="0">
                <a:latin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Cambria" panose="02040503050406030204" pitchFamily="18" charset="0"/>
                <a:sym typeface="Wingdings" panose="05000000000000000000" pitchFamily="2" charset="2"/>
              </a:rPr>
              <a:t>lưu</a:t>
            </a:r>
            <a:r>
              <a:rPr lang="en-US" dirty="0">
                <a:latin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Cambria" panose="02040503050406030204" pitchFamily="18" charset="0"/>
                <a:sym typeface="Wingdings" panose="05000000000000000000" pitchFamily="2" charset="2"/>
              </a:rPr>
              <a:t>trữ</a:t>
            </a:r>
            <a:r>
              <a:rPr lang="en-US" dirty="0">
                <a:latin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Cambria" panose="02040503050406030204" pitchFamily="18" charset="0"/>
                <a:sym typeface="Wingdings" panose="05000000000000000000" pitchFamily="2" charset="2"/>
              </a:rPr>
              <a:t>vào</a:t>
            </a:r>
            <a:r>
              <a:rPr lang="en-US" dirty="0">
                <a:latin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Cambria" panose="02040503050406030204" pitchFamily="18" charset="0"/>
                <a:sym typeface="Wingdings" panose="05000000000000000000" pitchFamily="2" charset="2"/>
              </a:rPr>
              <a:t>thiết</a:t>
            </a:r>
            <a:r>
              <a:rPr lang="en-US" dirty="0">
                <a:latin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Cambria" panose="02040503050406030204" pitchFamily="18" charset="0"/>
                <a:sym typeface="Wingdings" panose="05000000000000000000" pitchFamily="2" charset="2"/>
              </a:rPr>
              <a:t>bị</a:t>
            </a:r>
            <a:r>
              <a:rPr lang="en-US" dirty="0">
                <a:latin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Cambria" panose="02040503050406030204" pitchFamily="18" charset="0"/>
                <a:sym typeface="Wingdings" panose="05000000000000000000" pitchFamily="2" charset="2"/>
              </a:rPr>
              <a:t>lưu</a:t>
            </a:r>
            <a:r>
              <a:rPr lang="en-US" dirty="0">
                <a:latin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Cambria" panose="02040503050406030204" pitchFamily="18" charset="0"/>
                <a:sym typeface="Wingdings" panose="05000000000000000000" pitchFamily="2" charset="2"/>
              </a:rPr>
              <a:t>trữ</a:t>
            </a:r>
            <a:r>
              <a:rPr lang="en-US" dirty="0">
                <a:latin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Cambria" panose="02040503050406030204" pitchFamily="18" charset="0"/>
                <a:sym typeface="Wingdings" panose="05000000000000000000" pitchFamily="2" charset="2"/>
              </a:rPr>
              <a:t>vĩnh</a:t>
            </a:r>
            <a:r>
              <a:rPr lang="en-US" dirty="0">
                <a:latin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Cambria" panose="02040503050406030204" pitchFamily="18" charset="0"/>
                <a:sym typeface="Wingdings" panose="05000000000000000000" pitchFamily="2" charset="2"/>
              </a:rPr>
              <a:t>cửu</a:t>
            </a:r>
            <a:r>
              <a:rPr lang="en-US" dirty="0">
                <a:latin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Cambria" panose="02040503050406030204" pitchFamily="18" charset="0"/>
                <a:sym typeface="Wingdings" panose="05000000000000000000" pitchFamily="2" charset="2"/>
              </a:rPr>
              <a:t>rồi</a:t>
            </a:r>
            <a:r>
              <a:rPr lang="en-US" dirty="0">
                <a:latin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Cambria" panose="02040503050406030204" pitchFamily="18" charset="0"/>
                <a:sym typeface="Wingdings" panose="05000000000000000000" pitchFamily="2" charset="2"/>
              </a:rPr>
              <a:t>nạp</a:t>
            </a:r>
            <a:r>
              <a:rPr lang="en-US" dirty="0">
                <a:latin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Cambria" panose="02040503050406030204" pitchFamily="18" charset="0"/>
                <a:sym typeface="Wingdings" panose="05000000000000000000" pitchFamily="2" charset="2"/>
              </a:rPr>
              <a:t>trở</a:t>
            </a:r>
            <a:r>
              <a:rPr lang="en-US" dirty="0">
                <a:latin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Cambria" panose="02040503050406030204" pitchFamily="18" charset="0"/>
                <a:sym typeface="Wingdings" panose="05000000000000000000" pitchFamily="2" charset="2"/>
              </a:rPr>
              <a:t>lại</a:t>
            </a:r>
            <a:r>
              <a:rPr lang="en-US" dirty="0">
                <a:latin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Cambria" panose="02040503050406030204" pitchFamily="18" charset="0"/>
                <a:sym typeface="Wingdings" panose="05000000000000000000" pitchFamily="2" charset="2"/>
              </a:rPr>
              <a:t>bộ</a:t>
            </a:r>
            <a:r>
              <a:rPr lang="en-US" dirty="0">
                <a:latin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Cambria" panose="02040503050406030204" pitchFamily="18" charset="0"/>
                <a:sym typeface="Wingdings" panose="05000000000000000000" pitchFamily="2" charset="2"/>
              </a:rPr>
              <a:t>nhớ</a:t>
            </a:r>
            <a:r>
              <a:rPr lang="en-US" dirty="0">
                <a:latin typeface="Cambria" panose="02040503050406030204" pitchFamily="18" charset="0"/>
                <a:sym typeface="Wingdings" panose="05000000000000000000" pitchFamily="2" charset="2"/>
              </a:rPr>
              <a:t>.</a:t>
            </a:r>
            <a:endParaRPr lang="vi-VN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662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Nội dung bài học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vi-VN" sz="2400">
              <a:solidFill>
                <a:srgbClr val="002060"/>
              </a:solidFill>
              <a:latin typeface="Cambria" panose="02040503050406030204" pitchFamily="18" charset="0"/>
            </a:endParaRPr>
          </a:p>
        </p:txBody>
      </p:sp>
      <p:pic>
        <p:nvPicPr>
          <p:cNvPr id="21" name="Picture 4" descr="Image result for laptop">
            <a:extLst>
              <a:ext uri="{FF2B5EF4-FFF2-40B4-BE49-F238E27FC236}">
                <a16:creationId xmlns:a16="http://schemas.microsoft.com/office/drawing/2014/main" id="{E0490141-13FE-4BB9-AEDF-F55F2E5A5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3505200"/>
            <a:ext cx="2281205" cy="1574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Image result for RAM">
            <a:extLst>
              <a:ext uri="{FF2B5EF4-FFF2-40B4-BE49-F238E27FC236}">
                <a16:creationId xmlns:a16="http://schemas.microsoft.com/office/drawing/2014/main" id="{F733B5C3-5329-4F34-8B01-F880E8E7F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0284" y="1981200"/>
            <a:ext cx="1524000" cy="10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 descr="Image result for HDD">
            <a:extLst>
              <a:ext uri="{FF2B5EF4-FFF2-40B4-BE49-F238E27FC236}">
                <a16:creationId xmlns:a16="http://schemas.microsoft.com/office/drawing/2014/main" id="{819D8330-1AE1-4C86-B248-B8585DB71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200" y="4572000"/>
            <a:ext cx="2234084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ular Callout 7">
            <a:extLst>
              <a:ext uri="{FF2B5EF4-FFF2-40B4-BE49-F238E27FC236}">
                <a16:creationId xmlns:a16="http://schemas.microsoft.com/office/drawing/2014/main" id="{1BE0E31B-9503-4113-86D6-12D5D7853830}"/>
              </a:ext>
            </a:extLst>
          </p:cNvPr>
          <p:cNvSpPr/>
          <p:nvPr/>
        </p:nvSpPr>
        <p:spPr>
          <a:xfrm>
            <a:off x="6959600" y="1540170"/>
            <a:ext cx="1798605" cy="1507830"/>
          </a:xfrm>
          <a:prstGeom prst="wedgeRectCallout">
            <a:avLst>
              <a:gd name="adj1" fmla="val -105737"/>
              <a:gd name="adj2" fmla="val -156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FF00"/>
                </a:solidFill>
              </a:rPr>
              <a:t>Dữ liệu trong phần mềm mà  ta đang thao tác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4CDDB8C-3B76-4163-B79D-B3B2A2BB1AA4}"/>
              </a:ext>
            </a:extLst>
          </p:cNvPr>
          <p:cNvCxnSpPr/>
          <p:nvPr/>
        </p:nvCxnSpPr>
        <p:spPr>
          <a:xfrm flipH="1" flipV="1">
            <a:off x="6198020" y="3124200"/>
            <a:ext cx="990180" cy="14478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9738DCC-FCB7-4DE0-9C1B-5A4FC69038B0}"/>
              </a:ext>
            </a:extLst>
          </p:cNvPr>
          <p:cNvCxnSpPr/>
          <p:nvPr/>
        </p:nvCxnSpPr>
        <p:spPr>
          <a:xfrm flipH="1">
            <a:off x="4628015" y="5016461"/>
            <a:ext cx="2344075" cy="3810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1DF66D5-C14C-47DE-BEB8-64C6AFD3666F}"/>
              </a:ext>
            </a:extLst>
          </p:cNvPr>
          <p:cNvSpPr txBox="1"/>
          <p:nvPr/>
        </p:nvSpPr>
        <p:spPr>
          <a:xfrm>
            <a:off x="3395871" y="1981200"/>
            <a:ext cx="14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Bộ nhớ trong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30D3F0-4529-48DE-A391-2C67F605AA69}"/>
              </a:ext>
            </a:extLst>
          </p:cNvPr>
          <p:cNvSpPr txBox="1"/>
          <p:nvPr/>
        </p:nvSpPr>
        <p:spPr>
          <a:xfrm>
            <a:off x="3395871" y="4107895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Bộ nhớ ngoài</a:t>
            </a:r>
          </a:p>
        </p:txBody>
      </p:sp>
      <p:sp>
        <p:nvSpPr>
          <p:cNvPr id="29" name="Freeform 13">
            <a:extLst>
              <a:ext uri="{FF2B5EF4-FFF2-40B4-BE49-F238E27FC236}">
                <a16:creationId xmlns:a16="http://schemas.microsoft.com/office/drawing/2014/main" id="{8937547F-231C-4064-AE55-4018CD08C0AF}"/>
              </a:ext>
            </a:extLst>
          </p:cNvPr>
          <p:cNvSpPr/>
          <p:nvPr/>
        </p:nvSpPr>
        <p:spPr>
          <a:xfrm>
            <a:off x="4621011" y="2218386"/>
            <a:ext cx="2498502" cy="2704563"/>
          </a:xfrm>
          <a:custGeom>
            <a:avLst/>
            <a:gdLst>
              <a:gd name="connsiteX0" fmla="*/ 2498502 w 2498502"/>
              <a:gd name="connsiteY0" fmla="*/ 0 h 2704563"/>
              <a:gd name="connsiteX1" fmla="*/ 2421228 w 2498502"/>
              <a:gd name="connsiteY1" fmla="*/ 77273 h 2704563"/>
              <a:gd name="connsiteX2" fmla="*/ 2369713 w 2498502"/>
              <a:gd name="connsiteY2" fmla="*/ 90152 h 2704563"/>
              <a:gd name="connsiteX3" fmla="*/ 2266682 w 2498502"/>
              <a:gd name="connsiteY3" fmla="*/ 141668 h 2704563"/>
              <a:gd name="connsiteX4" fmla="*/ 2228045 w 2498502"/>
              <a:gd name="connsiteY4" fmla="*/ 154546 h 2704563"/>
              <a:gd name="connsiteX5" fmla="*/ 2137893 w 2498502"/>
              <a:gd name="connsiteY5" fmla="*/ 193183 h 2704563"/>
              <a:gd name="connsiteX6" fmla="*/ 2086378 w 2498502"/>
              <a:gd name="connsiteY6" fmla="*/ 218941 h 2704563"/>
              <a:gd name="connsiteX7" fmla="*/ 1983347 w 2498502"/>
              <a:gd name="connsiteY7" fmla="*/ 270456 h 2704563"/>
              <a:gd name="connsiteX8" fmla="*/ 1906074 w 2498502"/>
              <a:gd name="connsiteY8" fmla="*/ 309093 h 2704563"/>
              <a:gd name="connsiteX9" fmla="*/ 1854558 w 2498502"/>
              <a:gd name="connsiteY9" fmla="*/ 347729 h 2704563"/>
              <a:gd name="connsiteX10" fmla="*/ 1777285 w 2498502"/>
              <a:gd name="connsiteY10" fmla="*/ 399245 h 2704563"/>
              <a:gd name="connsiteX11" fmla="*/ 1738648 w 2498502"/>
              <a:gd name="connsiteY11" fmla="*/ 425003 h 2704563"/>
              <a:gd name="connsiteX12" fmla="*/ 1700012 w 2498502"/>
              <a:gd name="connsiteY12" fmla="*/ 463639 h 2704563"/>
              <a:gd name="connsiteX13" fmla="*/ 1661375 w 2498502"/>
              <a:gd name="connsiteY13" fmla="*/ 489397 h 2704563"/>
              <a:gd name="connsiteX14" fmla="*/ 1545465 w 2498502"/>
              <a:gd name="connsiteY14" fmla="*/ 592428 h 2704563"/>
              <a:gd name="connsiteX15" fmla="*/ 1481071 w 2498502"/>
              <a:gd name="connsiteY15" fmla="*/ 682580 h 2704563"/>
              <a:gd name="connsiteX16" fmla="*/ 1442434 w 2498502"/>
              <a:gd name="connsiteY16" fmla="*/ 695459 h 2704563"/>
              <a:gd name="connsiteX17" fmla="*/ 1403797 w 2498502"/>
              <a:gd name="connsiteY17" fmla="*/ 734096 h 2704563"/>
              <a:gd name="connsiteX18" fmla="*/ 1352282 w 2498502"/>
              <a:gd name="connsiteY18" fmla="*/ 772732 h 2704563"/>
              <a:gd name="connsiteX19" fmla="*/ 1262130 w 2498502"/>
              <a:gd name="connsiteY19" fmla="*/ 862884 h 2704563"/>
              <a:gd name="connsiteX20" fmla="*/ 1184857 w 2498502"/>
              <a:gd name="connsiteY20" fmla="*/ 953037 h 2704563"/>
              <a:gd name="connsiteX21" fmla="*/ 1159099 w 2498502"/>
              <a:gd name="connsiteY21" fmla="*/ 991673 h 2704563"/>
              <a:gd name="connsiteX22" fmla="*/ 1120462 w 2498502"/>
              <a:gd name="connsiteY22" fmla="*/ 1043189 h 2704563"/>
              <a:gd name="connsiteX23" fmla="*/ 1081826 w 2498502"/>
              <a:gd name="connsiteY23" fmla="*/ 1081825 h 2704563"/>
              <a:gd name="connsiteX24" fmla="*/ 1043189 w 2498502"/>
              <a:gd name="connsiteY24" fmla="*/ 1146220 h 2704563"/>
              <a:gd name="connsiteX25" fmla="*/ 940158 w 2498502"/>
              <a:gd name="connsiteY25" fmla="*/ 1262129 h 2704563"/>
              <a:gd name="connsiteX26" fmla="*/ 862885 w 2498502"/>
              <a:gd name="connsiteY26" fmla="*/ 1352282 h 2704563"/>
              <a:gd name="connsiteX27" fmla="*/ 798490 w 2498502"/>
              <a:gd name="connsiteY27" fmla="*/ 1468191 h 2704563"/>
              <a:gd name="connsiteX28" fmla="*/ 759854 w 2498502"/>
              <a:gd name="connsiteY28" fmla="*/ 1493949 h 2704563"/>
              <a:gd name="connsiteX29" fmla="*/ 734096 w 2498502"/>
              <a:gd name="connsiteY29" fmla="*/ 1545465 h 2704563"/>
              <a:gd name="connsiteX30" fmla="*/ 682581 w 2498502"/>
              <a:gd name="connsiteY30" fmla="*/ 1596980 h 2704563"/>
              <a:gd name="connsiteX31" fmla="*/ 669702 w 2498502"/>
              <a:gd name="connsiteY31" fmla="*/ 1648496 h 2704563"/>
              <a:gd name="connsiteX32" fmla="*/ 643944 w 2498502"/>
              <a:gd name="connsiteY32" fmla="*/ 1700011 h 2704563"/>
              <a:gd name="connsiteX33" fmla="*/ 553792 w 2498502"/>
              <a:gd name="connsiteY33" fmla="*/ 1841679 h 2704563"/>
              <a:gd name="connsiteX34" fmla="*/ 502276 w 2498502"/>
              <a:gd name="connsiteY34" fmla="*/ 1918952 h 2704563"/>
              <a:gd name="connsiteX35" fmla="*/ 437882 w 2498502"/>
              <a:gd name="connsiteY35" fmla="*/ 2060620 h 2704563"/>
              <a:gd name="connsiteX36" fmla="*/ 399245 w 2498502"/>
              <a:gd name="connsiteY36" fmla="*/ 2112135 h 2704563"/>
              <a:gd name="connsiteX37" fmla="*/ 373488 w 2498502"/>
              <a:gd name="connsiteY37" fmla="*/ 2163651 h 2704563"/>
              <a:gd name="connsiteX38" fmla="*/ 347730 w 2498502"/>
              <a:gd name="connsiteY38" fmla="*/ 2202287 h 2704563"/>
              <a:gd name="connsiteX39" fmla="*/ 321972 w 2498502"/>
              <a:gd name="connsiteY39" fmla="*/ 2253803 h 2704563"/>
              <a:gd name="connsiteX40" fmla="*/ 283335 w 2498502"/>
              <a:gd name="connsiteY40" fmla="*/ 2292439 h 2704563"/>
              <a:gd name="connsiteX41" fmla="*/ 218941 w 2498502"/>
              <a:gd name="connsiteY41" fmla="*/ 2369713 h 2704563"/>
              <a:gd name="connsiteX42" fmla="*/ 167426 w 2498502"/>
              <a:gd name="connsiteY42" fmla="*/ 2459865 h 2704563"/>
              <a:gd name="connsiteX43" fmla="*/ 128789 w 2498502"/>
              <a:gd name="connsiteY43" fmla="*/ 2485622 h 2704563"/>
              <a:gd name="connsiteX44" fmla="*/ 115910 w 2498502"/>
              <a:gd name="connsiteY44" fmla="*/ 2524259 h 2704563"/>
              <a:gd name="connsiteX45" fmla="*/ 25758 w 2498502"/>
              <a:gd name="connsiteY45" fmla="*/ 2627290 h 2704563"/>
              <a:gd name="connsiteX46" fmla="*/ 0 w 2498502"/>
              <a:gd name="connsiteY46" fmla="*/ 2704563 h 2704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2498502" h="2704563">
                <a:moveTo>
                  <a:pt x="2498502" y="0"/>
                </a:moveTo>
                <a:cubicBezTo>
                  <a:pt x="2472744" y="25758"/>
                  <a:pt x="2451070" y="56383"/>
                  <a:pt x="2421228" y="77273"/>
                </a:cubicBezTo>
                <a:cubicBezTo>
                  <a:pt x="2406727" y="87423"/>
                  <a:pt x="2386505" y="84555"/>
                  <a:pt x="2369713" y="90152"/>
                </a:cubicBezTo>
                <a:cubicBezTo>
                  <a:pt x="2236005" y="134722"/>
                  <a:pt x="2361341" y="94340"/>
                  <a:pt x="2266682" y="141668"/>
                </a:cubicBezTo>
                <a:cubicBezTo>
                  <a:pt x="2254540" y="147739"/>
                  <a:pt x="2240924" y="150253"/>
                  <a:pt x="2228045" y="154546"/>
                </a:cubicBezTo>
                <a:cubicBezTo>
                  <a:pt x="2149748" y="206746"/>
                  <a:pt x="2232939" y="157541"/>
                  <a:pt x="2137893" y="193183"/>
                </a:cubicBezTo>
                <a:cubicBezTo>
                  <a:pt x="2119917" y="199924"/>
                  <a:pt x="2104024" y="211378"/>
                  <a:pt x="2086378" y="218941"/>
                </a:cubicBezTo>
                <a:cubicBezTo>
                  <a:pt x="1953916" y="275711"/>
                  <a:pt x="2188597" y="158501"/>
                  <a:pt x="1983347" y="270456"/>
                </a:cubicBezTo>
                <a:cubicBezTo>
                  <a:pt x="1958065" y="284246"/>
                  <a:pt x="1930768" y="294277"/>
                  <a:pt x="1906074" y="309093"/>
                </a:cubicBezTo>
                <a:cubicBezTo>
                  <a:pt x="1887668" y="320137"/>
                  <a:pt x="1872143" y="335420"/>
                  <a:pt x="1854558" y="347729"/>
                </a:cubicBezTo>
                <a:cubicBezTo>
                  <a:pt x="1829197" y="365482"/>
                  <a:pt x="1803043" y="382073"/>
                  <a:pt x="1777285" y="399245"/>
                </a:cubicBezTo>
                <a:cubicBezTo>
                  <a:pt x="1764406" y="407831"/>
                  <a:pt x="1749593" y="414058"/>
                  <a:pt x="1738648" y="425003"/>
                </a:cubicBezTo>
                <a:cubicBezTo>
                  <a:pt x="1725769" y="437882"/>
                  <a:pt x="1714004" y="451979"/>
                  <a:pt x="1700012" y="463639"/>
                </a:cubicBezTo>
                <a:cubicBezTo>
                  <a:pt x="1688121" y="473548"/>
                  <a:pt x="1672944" y="479114"/>
                  <a:pt x="1661375" y="489397"/>
                </a:cubicBezTo>
                <a:cubicBezTo>
                  <a:pt x="1529047" y="607021"/>
                  <a:pt x="1633154" y="533969"/>
                  <a:pt x="1545465" y="592428"/>
                </a:cubicBezTo>
                <a:cubicBezTo>
                  <a:pt x="1524000" y="622479"/>
                  <a:pt x="1507184" y="656467"/>
                  <a:pt x="1481071" y="682580"/>
                </a:cubicBezTo>
                <a:cubicBezTo>
                  <a:pt x="1471472" y="692179"/>
                  <a:pt x="1453730" y="687929"/>
                  <a:pt x="1442434" y="695459"/>
                </a:cubicBezTo>
                <a:cubicBezTo>
                  <a:pt x="1427279" y="705562"/>
                  <a:pt x="1417626" y="722243"/>
                  <a:pt x="1403797" y="734096"/>
                </a:cubicBezTo>
                <a:cubicBezTo>
                  <a:pt x="1387500" y="748065"/>
                  <a:pt x="1367460" y="757554"/>
                  <a:pt x="1352282" y="772732"/>
                </a:cubicBezTo>
                <a:cubicBezTo>
                  <a:pt x="1232080" y="892934"/>
                  <a:pt x="1399502" y="759856"/>
                  <a:pt x="1262130" y="862884"/>
                </a:cubicBezTo>
                <a:cubicBezTo>
                  <a:pt x="1202998" y="951582"/>
                  <a:pt x="1278544" y="843735"/>
                  <a:pt x="1184857" y="953037"/>
                </a:cubicBezTo>
                <a:cubicBezTo>
                  <a:pt x="1174784" y="964789"/>
                  <a:pt x="1168096" y="979078"/>
                  <a:pt x="1159099" y="991673"/>
                </a:cubicBezTo>
                <a:cubicBezTo>
                  <a:pt x="1146623" y="1009140"/>
                  <a:pt x="1134431" y="1026892"/>
                  <a:pt x="1120462" y="1043189"/>
                </a:cubicBezTo>
                <a:cubicBezTo>
                  <a:pt x="1108609" y="1057017"/>
                  <a:pt x="1092754" y="1067254"/>
                  <a:pt x="1081826" y="1081825"/>
                </a:cubicBezTo>
                <a:cubicBezTo>
                  <a:pt x="1066807" y="1101851"/>
                  <a:pt x="1057544" y="1125713"/>
                  <a:pt x="1043189" y="1146220"/>
                </a:cubicBezTo>
                <a:cubicBezTo>
                  <a:pt x="1004288" y="1201794"/>
                  <a:pt x="986565" y="1215723"/>
                  <a:pt x="940158" y="1262129"/>
                </a:cubicBezTo>
                <a:cubicBezTo>
                  <a:pt x="916257" y="1357735"/>
                  <a:pt x="949459" y="1276530"/>
                  <a:pt x="862885" y="1352282"/>
                </a:cubicBezTo>
                <a:cubicBezTo>
                  <a:pt x="790600" y="1415531"/>
                  <a:pt x="853520" y="1391149"/>
                  <a:pt x="798490" y="1468191"/>
                </a:cubicBezTo>
                <a:cubicBezTo>
                  <a:pt x="789493" y="1480786"/>
                  <a:pt x="772733" y="1485363"/>
                  <a:pt x="759854" y="1493949"/>
                </a:cubicBezTo>
                <a:cubicBezTo>
                  <a:pt x="751268" y="1511121"/>
                  <a:pt x="745615" y="1530106"/>
                  <a:pt x="734096" y="1545465"/>
                </a:cubicBezTo>
                <a:cubicBezTo>
                  <a:pt x="719525" y="1564893"/>
                  <a:pt x="695452" y="1576387"/>
                  <a:pt x="682581" y="1596980"/>
                </a:cubicBezTo>
                <a:cubicBezTo>
                  <a:pt x="673200" y="1611990"/>
                  <a:pt x="675917" y="1631923"/>
                  <a:pt x="669702" y="1648496"/>
                </a:cubicBezTo>
                <a:cubicBezTo>
                  <a:pt x="662961" y="1666472"/>
                  <a:pt x="653822" y="1683548"/>
                  <a:pt x="643944" y="1700011"/>
                </a:cubicBezTo>
                <a:cubicBezTo>
                  <a:pt x="615146" y="1748008"/>
                  <a:pt x="584060" y="1794595"/>
                  <a:pt x="553792" y="1841679"/>
                </a:cubicBezTo>
                <a:lnTo>
                  <a:pt x="502276" y="1918952"/>
                </a:lnTo>
                <a:cubicBezTo>
                  <a:pt x="485399" y="1969583"/>
                  <a:pt x="472432" y="2014554"/>
                  <a:pt x="437882" y="2060620"/>
                </a:cubicBezTo>
                <a:cubicBezTo>
                  <a:pt x="425003" y="2077792"/>
                  <a:pt x="410621" y="2093933"/>
                  <a:pt x="399245" y="2112135"/>
                </a:cubicBezTo>
                <a:cubicBezTo>
                  <a:pt x="389070" y="2128416"/>
                  <a:pt x="383013" y="2146982"/>
                  <a:pt x="373488" y="2163651"/>
                </a:cubicBezTo>
                <a:cubicBezTo>
                  <a:pt x="365809" y="2177090"/>
                  <a:pt x="355409" y="2188848"/>
                  <a:pt x="347730" y="2202287"/>
                </a:cubicBezTo>
                <a:cubicBezTo>
                  <a:pt x="338205" y="2218956"/>
                  <a:pt x="333131" y="2238180"/>
                  <a:pt x="321972" y="2253803"/>
                </a:cubicBezTo>
                <a:cubicBezTo>
                  <a:pt x="311386" y="2268624"/>
                  <a:pt x="296214" y="2279560"/>
                  <a:pt x="283335" y="2292439"/>
                </a:cubicBezTo>
                <a:cubicBezTo>
                  <a:pt x="228080" y="2402953"/>
                  <a:pt x="291754" y="2296902"/>
                  <a:pt x="218941" y="2369713"/>
                </a:cubicBezTo>
                <a:cubicBezTo>
                  <a:pt x="168155" y="2420499"/>
                  <a:pt x="217940" y="2399248"/>
                  <a:pt x="167426" y="2459865"/>
                </a:cubicBezTo>
                <a:cubicBezTo>
                  <a:pt x="157517" y="2471756"/>
                  <a:pt x="141668" y="2477036"/>
                  <a:pt x="128789" y="2485622"/>
                </a:cubicBezTo>
                <a:cubicBezTo>
                  <a:pt x="124496" y="2498501"/>
                  <a:pt x="124391" y="2513658"/>
                  <a:pt x="115910" y="2524259"/>
                </a:cubicBezTo>
                <a:cubicBezTo>
                  <a:pt x="55809" y="2599386"/>
                  <a:pt x="77274" y="2472743"/>
                  <a:pt x="25758" y="2627290"/>
                </a:cubicBezTo>
                <a:lnTo>
                  <a:pt x="0" y="2704563"/>
                </a:ln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036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Nội dung bài học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v"/>
            </a:pPr>
            <a:endParaRPr lang="en-US" dirty="0">
              <a:latin typeface="Cambria" panose="020405030504060302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dirty="0">
              <a:latin typeface="Cambria" panose="020405030504060302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dirty="0">
              <a:latin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dirty="0" err="1">
                <a:latin typeface="Cambria" panose="02040503050406030204" pitchFamily="18" charset="0"/>
              </a:rPr>
              <a:t>Có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rất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nhiều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loại</a:t>
            </a:r>
            <a:r>
              <a:rPr lang="en-US" dirty="0">
                <a:latin typeface="Cambria" panose="02040503050406030204" pitchFamily="18" charset="0"/>
              </a:rPr>
              <a:t>: Text file, Binary File</a:t>
            </a:r>
          </a:p>
        </p:txBody>
      </p:sp>
    </p:spTree>
    <p:extLst>
      <p:ext uri="{BB962C8B-B14F-4D97-AF65-F5344CB8AC3E}">
        <p14:creationId xmlns:p14="http://schemas.microsoft.com/office/powerpoint/2010/main" val="743340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1747837" y="762000"/>
            <a:ext cx="8615363" cy="190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4400" kern="0">
                <a:solidFill>
                  <a:srgbClr val="002060"/>
                </a:solidFill>
                <a:latin typeface="Cambria" panose="02040503050406030204" pitchFamily="18" charset="0"/>
              </a:rPr>
              <a:t>Cách ghi tập tin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026" name="Picture 2" descr="Image result for Python">
            <a:extLst>
              <a:ext uri="{FF2B5EF4-FFF2-40B4-BE49-F238E27FC236}">
                <a16:creationId xmlns:a16="http://schemas.microsoft.com/office/drawing/2014/main" id="{DB89E5ED-4BAE-4B8E-BE15-5C0C50797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4825" y="2514600"/>
            <a:ext cx="5169023" cy="260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3430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Nội dung bài học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Dùng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hàm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:</a:t>
            </a:r>
          </a:p>
          <a:p>
            <a:pPr marL="0" indent="0" algn="just">
              <a:buNone/>
            </a:pPr>
            <a:r>
              <a:rPr lang="en-US" b="1" dirty="0">
                <a:latin typeface="Cambria" panose="02040503050406030204" pitchFamily="18" charset="0"/>
                <a:cs typeface="Times New Roman" pitchFamily="18" charset="0"/>
              </a:rPr>
              <a:t>open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('myfile.txt’, ‘w’)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mở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tập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tin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để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ghi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mới</a:t>
            </a:r>
            <a:endParaRPr lang="en-US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Dùng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hàm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:</a:t>
            </a:r>
          </a:p>
          <a:p>
            <a:pPr marL="0" indent="0" algn="just">
              <a:buNone/>
            </a:pPr>
            <a:r>
              <a:rPr lang="en-US" b="1" dirty="0">
                <a:latin typeface="Cambria" panose="02040503050406030204" pitchFamily="18" charset="0"/>
                <a:cs typeface="Times New Roman" pitchFamily="18" charset="0"/>
              </a:rPr>
              <a:t>open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('myfile.txt’, ‘a’)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mở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tập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tin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để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ghi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nối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đuôi</a:t>
            </a:r>
            <a:endParaRPr lang="en-US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latin typeface="Cambria" panose="02040503050406030204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1627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Nội dung bài học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Coding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mẫu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F31E53-2CCF-4881-8D75-F5CDF263C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981" y="1828800"/>
            <a:ext cx="8372475" cy="25431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D1316C-A719-45F8-9594-AEB69B0C5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7637" y="3896139"/>
            <a:ext cx="3697606" cy="242846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13710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1747837" y="762000"/>
            <a:ext cx="8615363" cy="190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4400" kern="0">
                <a:solidFill>
                  <a:srgbClr val="002060"/>
                </a:solidFill>
                <a:latin typeface="Cambria" panose="02040503050406030204" pitchFamily="18" charset="0"/>
              </a:rPr>
              <a:t>Cách đọc tập tin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026" name="Picture 2" descr="Image result for Python">
            <a:extLst>
              <a:ext uri="{FF2B5EF4-FFF2-40B4-BE49-F238E27FC236}">
                <a16:creationId xmlns:a16="http://schemas.microsoft.com/office/drawing/2014/main" id="{DB89E5ED-4BAE-4B8E-BE15-5C0C50797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4825" y="2514600"/>
            <a:ext cx="5169023" cy="260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5291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Nội dung bài học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Coding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đọc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tập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tin: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159FA2-05A1-4942-8DC2-ED9B049EE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03655"/>
            <a:ext cx="11201400" cy="259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853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1747837" y="762000"/>
            <a:ext cx="8615363" cy="190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44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Bài</a:t>
            </a:r>
            <a:r>
              <a:rPr lang="en-US" sz="4400" kern="0" dirty="0">
                <a:solidFill>
                  <a:srgbClr val="002060"/>
                </a:solidFill>
                <a:latin typeface="Cambria" panose="02040503050406030204" pitchFamily="18" charset="0"/>
              </a:rPr>
              <a:t> </a:t>
            </a:r>
            <a:r>
              <a:rPr lang="en-US" sz="44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tập</a:t>
            </a:r>
            <a:r>
              <a:rPr lang="en-US" sz="4400" kern="0" dirty="0">
                <a:solidFill>
                  <a:srgbClr val="002060"/>
                </a:solidFill>
                <a:latin typeface="Cambria" panose="02040503050406030204" pitchFamily="18" charset="0"/>
              </a:rPr>
              <a:t> </a:t>
            </a:r>
            <a:r>
              <a:rPr lang="en-US" sz="44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rèn</a:t>
            </a:r>
            <a:r>
              <a:rPr lang="en-US" sz="4400" kern="0" dirty="0">
                <a:solidFill>
                  <a:srgbClr val="002060"/>
                </a:solidFill>
                <a:latin typeface="Cambria" panose="02040503050406030204" pitchFamily="18" charset="0"/>
              </a:rPr>
              <a:t> </a:t>
            </a:r>
            <a:r>
              <a:rPr lang="en-US" sz="44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luyện</a:t>
            </a:r>
            <a:endParaRPr lang="en-US" sz="4400" kern="0" dirty="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>
              <a:defRPr/>
            </a:pPr>
            <a:r>
              <a:rPr lang="en-US" sz="44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Dữ</a:t>
            </a:r>
            <a:r>
              <a:rPr lang="en-US" sz="4400" kern="0" dirty="0">
                <a:solidFill>
                  <a:srgbClr val="002060"/>
                </a:solidFill>
                <a:latin typeface="Cambria" panose="02040503050406030204" pitchFamily="18" charset="0"/>
              </a:rPr>
              <a:t> </a:t>
            </a:r>
            <a:r>
              <a:rPr lang="en-US" sz="44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liệu</a:t>
            </a:r>
            <a:r>
              <a:rPr lang="en-US" sz="4400" kern="0" dirty="0">
                <a:solidFill>
                  <a:srgbClr val="002060"/>
                </a:solidFill>
                <a:latin typeface="Cambria" panose="02040503050406030204" pitchFamily="18" charset="0"/>
              </a:rPr>
              <a:t> </a:t>
            </a:r>
            <a:r>
              <a:rPr lang="en-US" sz="44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Sản</a:t>
            </a:r>
            <a:r>
              <a:rPr lang="en-US" sz="4400" kern="0" dirty="0">
                <a:solidFill>
                  <a:srgbClr val="002060"/>
                </a:solidFill>
                <a:latin typeface="Cambria" panose="02040503050406030204" pitchFamily="18" charset="0"/>
              </a:rPr>
              <a:t> </a:t>
            </a:r>
            <a:r>
              <a:rPr lang="en-US" sz="44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Phẩm</a:t>
            </a:r>
            <a:endParaRPr lang="en-US" sz="4400" kern="0" dirty="0">
              <a:solidFill>
                <a:srgbClr val="002060"/>
              </a:solidFill>
              <a:latin typeface="Cambria" panose="020405030504060302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026" name="Picture 2" descr="Image result for Python">
            <a:extLst>
              <a:ext uri="{FF2B5EF4-FFF2-40B4-BE49-F238E27FC236}">
                <a16:creationId xmlns:a16="http://schemas.microsoft.com/office/drawing/2014/main" id="{DB89E5ED-4BAE-4B8E-BE15-5C0C50797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4825" y="2514600"/>
            <a:ext cx="5169023" cy="260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5155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Nội dung bài học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Viết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ch</a:t>
            </a:r>
            <a:r>
              <a:rPr lang="vi-VN" dirty="0">
                <a:latin typeface="Cambria" panose="02040503050406030204" pitchFamily="18" charset="0"/>
                <a:cs typeface="Times New Roman" pitchFamily="18" charset="0"/>
              </a:rPr>
              <a:t>ư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ơng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trình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nhập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vào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thông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tin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của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một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sản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phẩm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:</a:t>
            </a:r>
          </a:p>
          <a:p>
            <a:pPr marL="0" indent="0" algn="just">
              <a:buNone/>
            </a:pPr>
            <a:r>
              <a:rPr lang="en-US" b="1" dirty="0" err="1">
                <a:latin typeface="Cambria" panose="02040503050406030204" pitchFamily="18" charset="0"/>
                <a:cs typeface="Times New Roman" pitchFamily="18" charset="0"/>
              </a:rPr>
              <a:t>Mã</a:t>
            </a:r>
            <a:r>
              <a:rPr lang="en-US" b="1" dirty="0">
                <a:latin typeface="Cambria" panose="02040503050406030204" pitchFamily="18" charset="0"/>
                <a:cs typeface="Times New Roman" pitchFamily="18" charset="0"/>
              </a:rPr>
              <a:t>: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Chuỗi</a:t>
            </a:r>
            <a:endParaRPr lang="en-US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b="1" dirty="0" err="1">
                <a:latin typeface="Cambria" panose="02040503050406030204" pitchFamily="18" charset="0"/>
                <a:cs typeface="Times New Roman" pitchFamily="18" charset="0"/>
              </a:rPr>
              <a:t>Tên</a:t>
            </a:r>
            <a:r>
              <a:rPr lang="en-US" b="1" dirty="0">
                <a:latin typeface="Cambria" panose="02040503050406030204" pitchFamily="18" charset="0"/>
                <a:cs typeface="Times New Roman" pitchFamily="18" charset="0"/>
              </a:rPr>
              <a:t>: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Chuỗi</a:t>
            </a:r>
            <a:endParaRPr lang="en-US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Cambria" panose="02040503050406030204" pitchFamily="18" charset="0"/>
                <a:cs typeface="Times New Roman" pitchFamily="18" charset="0"/>
              </a:rPr>
              <a:t>Đ</a:t>
            </a:r>
            <a:r>
              <a:rPr lang="vi-VN" b="1" dirty="0">
                <a:latin typeface="Cambria" panose="02040503050406030204" pitchFamily="18" charset="0"/>
                <a:cs typeface="Times New Roman" pitchFamily="18" charset="0"/>
              </a:rPr>
              <a:t>ơ</a:t>
            </a:r>
            <a:r>
              <a:rPr lang="en-US" b="1" dirty="0">
                <a:latin typeface="Cambria" panose="02040503050406030204" pitchFamily="18" charset="0"/>
                <a:cs typeface="Times New Roman" pitchFamily="18" charset="0"/>
              </a:rPr>
              <a:t>n </a:t>
            </a:r>
            <a:r>
              <a:rPr lang="en-US" b="1" dirty="0" err="1">
                <a:latin typeface="Cambria" panose="02040503050406030204" pitchFamily="18" charset="0"/>
                <a:cs typeface="Times New Roman" pitchFamily="18" charset="0"/>
              </a:rPr>
              <a:t>Giá</a:t>
            </a:r>
            <a:r>
              <a:rPr lang="en-US" b="1" dirty="0">
                <a:latin typeface="Cambria" panose="02040503050406030204" pitchFamily="18" charset="0"/>
                <a:cs typeface="Times New Roman" pitchFamily="18" charset="0"/>
              </a:rPr>
              <a:t>: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Số</a:t>
            </a:r>
            <a:endParaRPr lang="en-US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Mỗi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một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Sản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phẩm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sau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khi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nhập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thành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công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sẽ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l</a:t>
            </a:r>
            <a:r>
              <a:rPr lang="vi-VN" dirty="0">
                <a:latin typeface="Cambria" panose="02040503050406030204" pitchFamily="18" charset="0"/>
                <a:cs typeface="Times New Roman" pitchFamily="18" charset="0"/>
              </a:rPr>
              <a:t>ư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u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nối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đuôi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vào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File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theo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quy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tắc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:</a:t>
            </a:r>
          </a:p>
          <a:p>
            <a:pPr marL="0" indent="0" algn="ctr">
              <a:buNone/>
            </a:pPr>
            <a:r>
              <a:rPr lang="en-US" b="1" dirty="0" err="1">
                <a:latin typeface="Cambria" panose="02040503050406030204" pitchFamily="18" charset="0"/>
                <a:cs typeface="Times New Roman" pitchFamily="18" charset="0"/>
              </a:rPr>
              <a:t>MSSP;Tên</a:t>
            </a:r>
            <a:r>
              <a:rPr lang="en-US" b="1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cs typeface="Times New Roman" pitchFamily="18" charset="0"/>
              </a:rPr>
              <a:t>Sản</a:t>
            </a:r>
            <a:r>
              <a:rPr lang="en-US" b="1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cs typeface="Times New Roman" pitchFamily="18" charset="0"/>
              </a:rPr>
              <a:t>phẩm;Đ</a:t>
            </a:r>
            <a:r>
              <a:rPr lang="vi-VN" b="1" dirty="0">
                <a:latin typeface="Cambria" panose="02040503050406030204" pitchFamily="18" charset="0"/>
                <a:cs typeface="Times New Roman" pitchFamily="18" charset="0"/>
              </a:rPr>
              <a:t>ơ</a:t>
            </a:r>
            <a:r>
              <a:rPr lang="en-US" b="1" dirty="0">
                <a:latin typeface="Cambria" panose="02040503050406030204" pitchFamily="18" charset="0"/>
                <a:cs typeface="Times New Roman" pitchFamily="18" charset="0"/>
              </a:rPr>
              <a:t>n </a:t>
            </a:r>
            <a:r>
              <a:rPr lang="en-US" b="1" dirty="0" err="1">
                <a:latin typeface="Cambria" panose="02040503050406030204" pitchFamily="18" charset="0"/>
                <a:cs typeface="Times New Roman" pitchFamily="18" charset="0"/>
              </a:rPr>
              <a:t>giá</a:t>
            </a:r>
            <a:endParaRPr lang="en-US" b="1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457200" indent="-457200" algn="just">
              <a:buAutoNum type="arabicParenR"/>
            </a:pP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Xuất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danh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sách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sản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phẩm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từ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File.</a:t>
            </a:r>
          </a:p>
          <a:p>
            <a:pPr marL="457200" indent="-457200" algn="just">
              <a:buAutoNum type="arabicParenR"/>
            </a:pP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Sắp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xếp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Sản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phẩm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theo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đ</a:t>
            </a:r>
            <a:r>
              <a:rPr lang="vi-VN" dirty="0">
                <a:latin typeface="Cambria" panose="02040503050406030204" pitchFamily="18" charset="0"/>
                <a:cs typeface="Times New Roman" pitchFamily="18" charset="0"/>
              </a:rPr>
              <a:t>ơ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n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giá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giảm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dần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1522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1747837" y="762000"/>
            <a:ext cx="8615363" cy="190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44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Bài</a:t>
            </a:r>
            <a:r>
              <a:rPr lang="en-US" sz="4400" kern="0" dirty="0">
                <a:solidFill>
                  <a:srgbClr val="002060"/>
                </a:solidFill>
                <a:latin typeface="Cambria" panose="02040503050406030204" pitchFamily="18" charset="0"/>
              </a:rPr>
              <a:t> </a:t>
            </a:r>
            <a:r>
              <a:rPr lang="en-US" sz="44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tập</a:t>
            </a:r>
            <a:r>
              <a:rPr lang="en-US" sz="4400" kern="0" dirty="0">
                <a:solidFill>
                  <a:srgbClr val="002060"/>
                </a:solidFill>
                <a:latin typeface="Cambria" panose="02040503050406030204" pitchFamily="18" charset="0"/>
              </a:rPr>
              <a:t> </a:t>
            </a:r>
            <a:r>
              <a:rPr lang="en-US" sz="44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rèn</a:t>
            </a:r>
            <a:r>
              <a:rPr lang="en-US" sz="4400" kern="0" dirty="0">
                <a:solidFill>
                  <a:srgbClr val="002060"/>
                </a:solidFill>
                <a:latin typeface="Cambria" panose="02040503050406030204" pitchFamily="18" charset="0"/>
              </a:rPr>
              <a:t> </a:t>
            </a:r>
            <a:r>
              <a:rPr lang="en-US" sz="44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luyện</a:t>
            </a:r>
            <a:endParaRPr lang="en-US" sz="4400" kern="0" dirty="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>
              <a:defRPr/>
            </a:pPr>
            <a:r>
              <a:rPr lang="en-US" sz="44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Dữ</a:t>
            </a:r>
            <a:r>
              <a:rPr lang="en-US" sz="4400" kern="0" dirty="0">
                <a:solidFill>
                  <a:srgbClr val="002060"/>
                </a:solidFill>
                <a:latin typeface="Cambria" panose="02040503050406030204" pitchFamily="18" charset="0"/>
              </a:rPr>
              <a:t> </a:t>
            </a:r>
            <a:r>
              <a:rPr lang="en-US" sz="44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liệu</a:t>
            </a:r>
            <a:r>
              <a:rPr lang="en-US" sz="4400" kern="0" dirty="0">
                <a:solidFill>
                  <a:srgbClr val="002060"/>
                </a:solidFill>
                <a:latin typeface="Cambria" panose="02040503050406030204" pitchFamily="18" charset="0"/>
              </a:rPr>
              <a:t> </a:t>
            </a:r>
            <a:r>
              <a:rPr lang="en-US" sz="44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Chuỗi</a:t>
            </a:r>
            <a:r>
              <a:rPr lang="en-US" sz="4400" kern="0" dirty="0">
                <a:solidFill>
                  <a:srgbClr val="002060"/>
                </a:solidFill>
                <a:latin typeface="Cambria" panose="02040503050406030204" pitchFamily="18" charset="0"/>
              </a:rPr>
              <a:t> </a:t>
            </a:r>
            <a:r>
              <a:rPr lang="en-US" sz="44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số</a:t>
            </a:r>
            <a:endParaRPr lang="en-US" sz="4400" kern="0" dirty="0">
              <a:solidFill>
                <a:srgbClr val="002060"/>
              </a:solidFill>
              <a:latin typeface="Cambria" panose="020405030504060302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1026" name="Picture 2" descr="Image result for Python">
            <a:extLst>
              <a:ext uri="{FF2B5EF4-FFF2-40B4-BE49-F238E27FC236}">
                <a16:creationId xmlns:a16="http://schemas.microsoft.com/office/drawing/2014/main" id="{DB89E5ED-4BAE-4B8E-BE15-5C0C50797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4825" y="2514600"/>
            <a:ext cx="5169023" cy="260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9322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Nội dung bài học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Cho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một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tập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tin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có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dữ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liệu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trên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mỗi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dòng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nh</a:t>
            </a:r>
            <a:r>
              <a:rPr lang="vi-VN" dirty="0">
                <a:latin typeface="Cambria" panose="02040503050406030204" pitchFamily="18" charset="0"/>
                <a:cs typeface="Times New Roman" pitchFamily="18" charset="0"/>
              </a:rPr>
              <a:t>ư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d</a:t>
            </a:r>
            <a:r>
              <a:rPr lang="vi-VN" dirty="0">
                <a:latin typeface="Cambria" panose="02040503050406030204" pitchFamily="18" charset="0"/>
                <a:cs typeface="Times New Roman" pitchFamily="18" charset="0"/>
              </a:rPr>
              <a:t>ư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ới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đây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:</a:t>
            </a:r>
          </a:p>
          <a:p>
            <a:pPr marL="0" indent="0" algn="just">
              <a:buNone/>
            </a:pPr>
            <a:endParaRPr lang="en-US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5,6,8,9,-5</a:t>
            </a:r>
          </a:p>
          <a:p>
            <a:pPr marL="0" indent="0" algn="just">
              <a:buNone/>
            </a:pP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-9,5,4,7,8</a:t>
            </a:r>
          </a:p>
          <a:p>
            <a:pPr marL="0" indent="0" algn="just">
              <a:buNone/>
            </a:pP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6,7,8,3,6,46,7,2,-6,-7</a:t>
            </a:r>
          </a:p>
          <a:p>
            <a:pPr marL="0" indent="0" algn="just">
              <a:buNone/>
            </a:pPr>
            <a:endParaRPr lang="en-US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457200" indent="-457200" algn="just">
              <a:buAutoNum type="arabicParenR"/>
            </a:pP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Viết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hàm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đọc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file,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mỗi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dòng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khởi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tạo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thành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1 list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và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xuất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ra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màn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hình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.</a:t>
            </a:r>
          </a:p>
          <a:p>
            <a:pPr marL="457200" indent="-457200" algn="just">
              <a:buAutoNum type="arabicParenR"/>
            </a:pP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Xuất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các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số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âm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trên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mỗi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dòng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ra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màn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hình</a:t>
            </a:r>
            <a:endParaRPr lang="en-US" dirty="0">
              <a:latin typeface="Cambria" panose="02040503050406030204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649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1747837" y="762000"/>
            <a:ext cx="8615363" cy="190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44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Các</a:t>
            </a:r>
            <a:r>
              <a:rPr lang="en-US" sz="4400" kern="0" dirty="0">
                <a:solidFill>
                  <a:srgbClr val="002060"/>
                </a:solidFill>
                <a:latin typeface="Cambria" panose="02040503050406030204" pitchFamily="18" charset="0"/>
              </a:rPr>
              <a:t> </a:t>
            </a:r>
            <a:r>
              <a:rPr lang="en-US" sz="44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bài</a:t>
            </a:r>
            <a:r>
              <a:rPr lang="en-US" sz="4400" kern="0" dirty="0">
                <a:solidFill>
                  <a:srgbClr val="002060"/>
                </a:solidFill>
                <a:latin typeface="Cambria" panose="02040503050406030204" pitchFamily="18" charset="0"/>
              </a:rPr>
              <a:t> </a:t>
            </a:r>
            <a:r>
              <a:rPr lang="en-US" sz="44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tập</a:t>
            </a:r>
            <a:r>
              <a:rPr lang="en-US" sz="4400" kern="0" dirty="0">
                <a:solidFill>
                  <a:srgbClr val="002060"/>
                </a:solidFill>
                <a:latin typeface="Cambria" panose="02040503050406030204" pitchFamily="18" charset="0"/>
              </a:rPr>
              <a:t> </a:t>
            </a:r>
            <a:r>
              <a:rPr lang="en-US" sz="44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tự</a:t>
            </a:r>
            <a:r>
              <a:rPr lang="en-US" sz="4400" kern="0" dirty="0">
                <a:solidFill>
                  <a:srgbClr val="002060"/>
                </a:solidFill>
                <a:latin typeface="Cambria" panose="02040503050406030204" pitchFamily="18" charset="0"/>
              </a:rPr>
              <a:t> </a:t>
            </a:r>
            <a:r>
              <a:rPr lang="en-US" sz="44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rèn</a:t>
            </a:r>
            <a:r>
              <a:rPr lang="en-US" sz="4400" kern="0" dirty="0">
                <a:solidFill>
                  <a:srgbClr val="002060"/>
                </a:solidFill>
                <a:latin typeface="Cambria" panose="02040503050406030204" pitchFamily="18" charset="0"/>
              </a:rPr>
              <a:t> </a:t>
            </a:r>
            <a:r>
              <a:rPr lang="en-US" sz="44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luyện</a:t>
            </a:r>
            <a:endParaRPr lang="en-US" sz="4400" kern="0" dirty="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>
              <a:defRPr/>
            </a:pPr>
            <a:r>
              <a:rPr lang="en-US" sz="44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Xử</a:t>
            </a:r>
            <a:r>
              <a:rPr lang="en-US" sz="4400" kern="0" dirty="0">
                <a:solidFill>
                  <a:srgbClr val="002060"/>
                </a:solidFill>
                <a:latin typeface="Cambria" panose="02040503050406030204" pitchFamily="18" charset="0"/>
              </a:rPr>
              <a:t> </a:t>
            </a:r>
            <a:r>
              <a:rPr lang="en-US" sz="44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lý</a:t>
            </a:r>
            <a:r>
              <a:rPr lang="en-US" sz="4400" kern="0" dirty="0">
                <a:solidFill>
                  <a:srgbClr val="002060"/>
                </a:solidFill>
                <a:latin typeface="Cambria" panose="02040503050406030204" pitchFamily="18" charset="0"/>
              </a:rPr>
              <a:t> File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026" name="Picture 2" descr="Image result for Python">
            <a:extLst>
              <a:ext uri="{FF2B5EF4-FFF2-40B4-BE49-F238E27FC236}">
                <a16:creationId xmlns:a16="http://schemas.microsoft.com/office/drawing/2014/main" id="{DB89E5ED-4BAE-4B8E-BE15-5C0C50797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4825" y="2514600"/>
            <a:ext cx="5169023" cy="260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9524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Nội dung bài học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b="1" u="sng" dirty="0" err="1">
                <a:latin typeface="Cambria" panose="02040503050406030204" pitchFamily="18" charset="0"/>
                <a:cs typeface="Times New Roman" pitchFamily="18" charset="0"/>
              </a:rPr>
              <a:t>Câu</a:t>
            </a:r>
            <a:r>
              <a:rPr lang="en-US" b="1" u="sng" dirty="0">
                <a:latin typeface="Cambria" panose="02040503050406030204" pitchFamily="18" charset="0"/>
                <a:cs typeface="Times New Roman" pitchFamily="18" charset="0"/>
              </a:rPr>
              <a:t> 1: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Trình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bày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kỹ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thuật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l</a:t>
            </a:r>
            <a:r>
              <a:rPr lang="vi-VN" dirty="0">
                <a:latin typeface="Cambria" panose="02040503050406030204" pitchFamily="18" charset="0"/>
                <a:cs typeface="Times New Roman" pitchFamily="18" charset="0"/>
              </a:rPr>
              <a:t>ư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u file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và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đọc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file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trong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Python</a:t>
            </a:r>
          </a:p>
          <a:p>
            <a:pPr marL="0" indent="0">
              <a:buNone/>
            </a:pPr>
            <a:r>
              <a:rPr lang="en-US" b="1" u="sng" dirty="0" err="1">
                <a:latin typeface="Cambria" panose="02040503050406030204" pitchFamily="18" charset="0"/>
              </a:rPr>
              <a:t>Câu</a:t>
            </a:r>
            <a:r>
              <a:rPr lang="en-US" b="1" u="sng" dirty="0">
                <a:latin typeface="Cambria" panose="02040503050406030204" pitchFamily="18" charset="0"/>
              </a:rPr>
              <a:t> 2: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Viết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phần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mềm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Quản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Lý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sản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phẩm</a:t>
            </a:r>
            <a:endParaRPr lang="en-US" dirty="0">
              <a:latin typeface="Cambria" panose="02040503050406030204" pitchFamily="18" charset="0"/>
            </a:endParaRPr>
          </a:p>
          <a:p>
            <a:r>
              <a:rPr lang="en-US" dirty="0" err="1">
                <a:latin typeface="Cambria" panose="02040503050406030204" pitchFamily="18" charset="0"/>
              </a:rPr>
              <a:t>Mỗi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danh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mục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có</a:t>
            </a:r>
            <a:r>
              <a:rPr lang="en-US" dirty="0">
                <a:latin typeface="Cambria" panose="02040503050406030204" pitchFamily="18" charset="0"/>
              </a:rPr>
              <a:t>: </a:t>
            </a:r>
            <a:r>
              <a:rPr lang="en-US" dirty="0" err="1">
                <a:latin typeface="Cambria" panose="02040503050406030204" pitchFamily="18" charset="0"/>
              </a:rPr>
              <a:t>Mã</a:t>
            </a:r>
            <a:r>
              <a:rPr lang="en-US" dirty="0">
                <a:latin typeface="Cambria" panose="02040503050406030204" pitchFamily="18" charset="0"/>
              </a:rPr>
              <a:t> , </a:t>
            </a:r>
            <a:r>
              <a:rPr lang="en-US" dirty="0" err="1">
                <a:latin typeface="Cambria" panose="02040503050406030204" pitchFamily="18" charset="0"/>
              </a:rPr>
              <a:t>tên</a:t>
            </a:r>
            <a:r>
              <a:rPr lang="en-US" dirty="0">
                <a:latin typeface="Cambria" panose="02040503050406030204" pitchFamily="18" charset="0"/>
              </a:rPr>
              <a:t>; </a:t>
            </a:r>
            <a:r>
              <a:rPr lang="en-US" dirty="0" err="1">
                <a:latin typeface="Cambria" panose="02040503050406030204" pitchFamily="18" charset="0"/>
              </a:rPr>
              <a:t>Một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danh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mục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có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nhiều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sản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phẩm</a:t>
            </a:r>
            <a:r>
              <a:rPr lang="en-US" dirty="0">
                <a:latin typeface="Cambria" panose="02040503050406030204" pitchFamily="18" charset="0"/>
              </a:rPr>
              <a:t>	</a:t>
            </a:r>
          </a:p>
          <a:p>
            <a:r>
              <a:rPr lang="en-US" dirty="0" err="1">
                <a:latin typeface="Cambria" panose="02040503050406030204" pitchFamily="18" charset="0"/>
              </a:rPr>
              <a:t>Mỗi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sản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phẩm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có</a:t>
            </a:r>
            <a:r>
              <a:rPr lang="en-US" dirty="0">
                <a:latin typeface="Cambria" panose="02040503050406030204" pitchFamily="18" charset="0"/>
              </a:rPr>
              <a:t>: </a:t>
            </a:r>
            <a:r>
              <a:rPr lang="en-US" dirty="0" err="1">
                <a:latin typeface="Cambria" panose="02040503050406030204" pitchFamily="18" charset="0"/>
              </a:rPr>
              <a:t>Mã</a:t>
            </a:r>
            <a:r>
              <a:rPr lang="en-US" dirty="0">
                <a:latin typeface="Cambria" panose="02040503050406030204" pitchFamily="18" charset="0"/>
              </a:rPr>
              <a:t>, </a:t>
            </a:r>
            <a:r>
              <a:rPr lang="en-US" dirty="0" err="1">
                <a:latin typeface="Cambria" panose="02040503050406030204" pitchFamily="18" charset="0"/>
              </a:rPr>
              <a:t>tên</a:t>
            </a:r>
            <a:r>
              <a:rPr lang="en-US" dirty="0">
                <a:latin typeface="Cambria" panose="02040503050406030204" pitchFamily="18" charset="0"/>
              </a:rPr>
              <a:t>, </a:t>
            </a:r>
            <a:r>
              <a:rPr lang="en-US" dirty="0" err="1">
                <a:latin typeface="Cambria" panose="02040503050406030204" pitchFamily="18" charset="0"/>
              </a:rPr>
              <a:t>đơn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giá</a:t>
            </a:r>
            <a:r>
              <a:rPr lang="en-US" dirty="0">
                <a:latin typeface="Cambria" panose="02040503050406030204" pitchFamily="18" charset="0"/>
              </a:rPr>
              <a:t>; </a:t>
            </a:r>
            <a:r>
              <a:rPr lang="en-US" dirty="0" err="1">
                <a:latin typeface="Cambria" panose="02040503050406030204" pitchFamily="18" charset="0"/>
              </a:rPr>
              <a:t>Mỗi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một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sản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phẩm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thuộc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về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một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danh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mục</a:t>
            </a:r>
            <a:r>
              <a:rPr lang="en-US" dirty="0">
                <a:latin typeface="Cambria" panose="02040503050406030204" pitchFamily="18" charset="0"/>
              </a:rPr>
              <a:t>.</a:t>
            </a:r>
          </a:p>
          <a:p>
            <a:r>
              <a:rPr lang="en-US" dirty="0">
                <a:latin typeface="Cambria" panose="02040503050406030204" pitchFamily="18" charset="0"/>
              </a:rPr>
              <a:t>Cho </a:t>
            </a:r>
            <a:r>
              <a:rPr lang="en-US" dirty="0" err="1">
                <a:latin typeface="Cambria" panose="02040503050406030204" pitchFamily="18" charset="0"/>
              </a:rPr>
              <a:t>phép</a:t>
            </a:r>
            <a:r>
              <a:rPr lang="en-US" dirty="0">
                <a:latin typeface="Cambria" panose="02040503050406030204" pitchFamily="18" charset="0"/>
              </a:rPr>
              <a:t>: </a:t>
            </a:r>
            <a:r>
              <a:rPr lang="en-US" dirty="0" err="1">
                <a:latin typeface="Cambria" panose="02040503050406030204" pitchFamily="18" charset="0"/>
              </a:rPr>
              <a:t>lưu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mới</a:t>
            </a:r>
            <a:r>
              <a:rPr lang="en-US" dirty="0">
                <a:latin typeface="Cambria" panose="02040503050406030204" pitchFamily="18" charset="0"/>
              </a:rPr>
              <a:t>, </a:t>
            </a:r>
            <a:r>
              <a:rPr lang="en-US" dirty="0" err="1">
                <a:latin typeface="Cambria" panose="02040503050406030204" pitchFamily="18" charset="0"/>
              </a:rPr>
              <a:t>sửa</a:t>
            </a:r>
            <a:r>
              <a:rPr lang="en-US" dirty="0">
                <a:latin typeface="Cambria" panose="02040503050406030204" pitchFamily="18" charset="0"/>
              </a:rPr>
              <a:t>, </a:t>
            </a:r>
            <a:r>
              <a:rPr lang="en-US" dirty="0" err="1">
                <a:latin typeface="Cambria" panose="02040503050406030204" pitchFamily="18" charset="0"/>
              </a:rPr>
              <a:t>xóa</a:t>
            </a:r>
            <a:r>
              <a:rPr lang="en-US" dirty="0">
                <a:latin typeface="Cambria" panose="02040503050406030204" pitchFamily="18" charset="0"/>
              </a:rPr>
              <a:t>, </a:t>
            </a:r>
            <a:r>
              <a:rPr lang="en-US" dirty="0" err="1">
                <a:latin typeface="Cambria" panose="02040503050406030204" pitchFamily="18" charset="0"/>
              </a:rPr>
              <a:t>tìm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kiếm</a:t>
            </a:r>
            <a:r>
              <a:rPr lang="en-US" dirty="0">
                <a:latin typeface="Cambria" panose="02040503050406030204" pitchFamily="18" charset="0"/>
              </a:rPr>
              <a:t>, </a:t>
            </a:r>
            <a:r>
              <a:rPr lang="en-US" dirty="0" err="1">
                <a:latin typeface="Cambria" panose="02040503050406030204" pitchFamily="18" charset="0"/>
              </a:rPr>
              <a:t>sắp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xếp</a:t>
            </a:r>
            <a:r>
              <a:rPr lang="en-US" dirty="0">
                <a:latin typeface="Cambria" panose="02040503050406030204" pitchFamily="18" charset="0"/>
              </a:rPr>
              <a:t>, </a:t>
            </a:r>
            <a:r>
              <a:rPr lang="en-US" dirty="0" err="1">
                <a:latin typeface="Cambria" panose="02040503050406030204" pitchFamily="18" charset="0"/>
              </a:rPr>
              <a:t>lưu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và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đọc</a:t>
            </a:r>
            <a:r>
              <a:rPr lang="en-US" dirty="0">
                <a:latin typeface="Cambria" panose="02040503050406030204" pitchFamily="18" charset="0"/>
              </a:rPr>
              <a:t>  Text File</a:t>
            </a:r>
            <a:endParaRPr lang="en-US" dirty="0">
              <a:latin typeface="Cambria" panose="02040503050406030204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883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Nội dung bài học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u="sng" dirty="0" err="1">
                <a:latin typeface="Cambria" panose="02040503050406030204" pitchFamily="18" charset="0"/>
              </a:rPr>
              <a:t>Câu</a:t>
            </a:r>
            <a:r>
              <a:rPr lang="en-US" b="1" u="sng" dirty="0">
                <a:latin typeface="Cambria" panose="02040503050406030204" pitchFamily="18" charset="0"/>
              </a:rPr>
              <a:t> 3: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Viết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phần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mềm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quản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lý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Sinh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Viên</a:t>
            </a:r>
            <a:endParaRPr lang="en-US" dirty="0">
              <a:latin typeface="Cambria" panose="02040503050406030204" pitchFamily="18" charset="0"/>
            </a:endParaRPr>
          </a:p>
          <a:p>
            <a:r>
              <a:rPr lang="en-US" dirty="0" err="1">
                <a:latin typeface="Cambria" panose="02040503050406030204" pitchFamily="18" charset="0"/>
              </a:rPr>
              <a:t>Mỗi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một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lớp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có</a:t>
            </a:r>
            <a:r>
              <a:rPr lang="en-US" dirty="0">
                <a:latin typeface="Cambria" panose="02040503050406030204" pitchFamily="18" charset="0"/>
              </a:rPr>
              <a:t>: </a:t>
            </a:r>
            <a:r>
              <a:rPr lang="en-US" dirty="0" err="1">
                <a:latin typeface="Cambria" panose="02040503050406030204" pitchFamily="18" charset="0"/>
              </a:rPr>
              <a:t>Mã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lớp</a:t>
            </a:r>
            <a:r>
              <a:rPr lang="en-US" dirty="0">
                <a:latin typeface="Cambria" panose="02040503050406030204" pitchFamily="18" charset="0"/>
              </a:rPr>
              <a:t>, </a:t>
            </a:r>
            <a:r>
              <a:rPr lang="en-US" dirty="0" err="1">
                <a:latin typeface="Cambria" panose="02040503050406030204" pitchFamily="18" charset="0"/>
              </a:rPr>
              <a:t>tên</a:t>
            </a:r>
            <a:r>
              <a:rPr lang="en-US" dirty="0">
                <a:latin typeface="Cambria" panose="02040503050406030204" pitchFamily="18" charset="0"/>
              </a:rPr>
              <a:t>; </a:t>
            </a:r>
            <a:r>
              <a:rPr lang="en-US" dirty="0" err="1">
                <a:latin typeface="Cambria" panose="02040503050406030204" pitchFamily="18" charset="0"/>
              </a:rPr>
              <a:t>một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lớp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có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nhiều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Sinh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viên</a:t>
            </a:r>
            <a:endParaRPr lang="en-US" dirty="0">
              <a:latin typeface="Cambria" panose="02040503050406030204" pitchFamily="18" charset="0"/>
            </a:endParaRPr>
          </a:p>
          <a:p>
            <a:r>
              <a:rPr lang="en-US" dirty="0" err="1">
                <a:latin typeface="Cambria" panose="02040503050406030204" pitchFamily="18" charset="0"/>
              </a:rPr>
              <a:t>Mỗi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sinh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viên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có</a:t>
            </a:r>
            <a:r>
              <a:rPr lang="en-US" dirty="0">
                <a:latin typeface="Cambria" panose="02040503050406030204" pitchFamily="18" charset="0"/>
              </a:rPr>
              <a:t>: </a:t>
            </a:r>
            <a:r>
              <a:rPr lang="en-US" dirty="0" err="1">
                <a:latin typeface="Cambria" panose="02040503050406030204" pitchFamily="18" charset="0"/>
              </a:rPr>
              <a:t>mã</a:t>
            </a:r>
            <a:r>
              <a:rPr lang="en-US" dirty="0">
                <a:latin typeface="Cambria" panose="02040503050406030204" pitchFamily="18" charset="0"/>
              </a:rPr>
              <a:t>, </a:t>
            </a:r>
            <a:r>
              <a:rPr lang="en-US" dirty="0" err="1">
                <a:latin typeface="Cambria" panose="02040503050406030204" pitchFamily="18" charset="0"/>
              </a:rPr>
              <a:t>tên</a:t>
            </a:r>
            <a:r>
              <a:rPr lang="en-US" dirty="0">
                <a:latin typeface="Cambria" panose="02040503050406030204" pitchFamily="18" charset="0"/>
              </a:rPr>
              <a:t>, </a:t>
            </a:r>
            <a:r>
              <a:rPr lang="en-US" dirty="0" err="1">
                <a:latin typeface="Cambria" panose="02040503050406030204" pitchFamily="18" charset="0"/>
              </a:rPr>
              <a:t>năm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sinh</a:t>
            </a:r>
            <a:r>
              <a:rPr lang="en-US" dirty="0">
                <a:latin typeface="Cambria" panose="02040503050406030204" pitchFamily="18" charset="0"/>
              </a:rPr>
              <a:t>; </a:t>
            </a:r>
            <a:r>
              <a:rPr lang="en-US" dirty="0" err="1">
                <a:latin typeface="Cambria" panose="02040503050406030204" pitchFamily="18" charset="0"/>
              </a:rPr>
              <a:t>Mỗi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một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sinh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viên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thuộc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về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một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lớp</a:t>
            </a:r>
            <a:r>
              <a:rPr lang="en-US" dirty="0">
                <a:latin typeface="Cambria" panose="02040503050406030204" pitchFamily="18" charset="0"/>
              </a:rPr>
              <a:t>.</a:t>
            </a:r>
          </a:p>
          <a:p>
            <a:r>
              <a:rPr lang="en-US" dirty="0">
                <a:latin typeface="Cambria" panose="02040503050406030204" pitchFamily="18" charset="0"/>
              </a:rPr>
              <a:t> Cho </a:t>
            </a:r>
            <a:r>
              <a:rPr lang="en-US" dirty="0" err="1">
                <a:latin typeface="Cambria" panose="02040503050406030204" pitchFamily="18" charset="0"/>
              </a:rPr>
              <a:t>phép</a:t>
            </a:r>
            <a:r>
              <a:rPr lang="en-US" dirty="0">
                <a:latin typeface="Cambria" panose="02040503050406030204" pitchFamily="18" charset="0"/>
              </a:rPr>
              <a:t>: </a:t>
            </a:r>
            <a:r>
              <a:rPr lang="en-US" dirty="0" err="1">
                <a:latin typeface="Cambria" panose="02040503050406030204" pitchFamily="18" charset="0"/>
              </a:rPr>
              <a:t>lưu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mới</a:t>
            </a:r>
            <a:r>
              <a:rPr lang="en-US" dirty="0">
                <a:latin typeface="Cambria" panose="02040503050406030204" pitchFamily="18" charset="0"/>
              </a:rPr>
              <a:t>, </a:t>
            </a:r>
            <a:r>
              <a:rPr lang="en-US" dirty="0" err="1">
                <a:latin typeface="Cambria" panose="02040503050406030204" pitchFamily="18" charset="0"/>
              </a:rPr>
              <a:t>sửa</a:t>
            </a:r>
            <a:r>
              <a:rPr lang="en-US" dirty="0">
                <a:latin typeface="Cambria" panose="02040503050406030204" pitchFamily="18" charset="0"/>
              </a:rPr>
              <a:t>, </a:t>
            </a:r>
            <a:r>
              <a:rPr lang="en-US" dirty="0" err="1">
                <a:latin typeface="Cambria" panose="02040503050406030204" pitchFamily="18" charset="0"/>
              </a:rPr>
              <a:t>xóa</a:t>
            </a:r>
            <a:r>
              <a:rPr lang="en-US" dirty="0">
                <a:latin typeface="Cambria" panose="02040503050406030204" pitchFamily="18" charset="0"/>
              </a:rPr>
              <a:t>, </a:t>
            </a:r>
            <a:r>
              <a:rPr lang="en-US" dirty="0" err="1">
                <a:latin typeface="Cambria" panose="02040503050406030204" pitchFamily="18" charset="0"/>
              </a:rPr>
              <a:t>tìm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kiếm</a:t>
            </a:r>
            <a:r>
              <a:rPr lang="en-US" dirty="0">
                <a:latin typeface="Cambria" panose="02040503050406030204" pitchFamily="18" charset="0"/>
              </a:rPr>
              <a:t>, </a:t>
            </a:r>
            <a:r>
              <a:rPr lang="en-US" dirty="0" err="1">
                <a:latin typeface="Cambria" panose="02040503050406030204" pitchFamily="18" charset="0"/>
              </a:rPr>
              <a:t>sắp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xếp</a:t>
            </a:r>
            <a:r>
              <a:rPr lang="en-US" dirty="0">
                <a:latin typeface="Cambria" panose="02040503050406030204" pitchFamily="18" charset="0"/>
              </a:rPr>
              <a:t>, </a:t>
            </a:r>
            <a:r>
              <a:rPr lang="en-US" dirty="0" err="1">
                <a:latin typeface="Cambria" panose="02040503050406030204" pitchFamily="18" charset="0"/>
              </a:rPr>
              <a:t>lưu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và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đọc</a:t>
            </a:r>
            <a:r>
              <a:rPr lang="en-US" dirty="0">
                <a:latin typeface="Cambria" panose="02040503050406030204" pitchFamily="18" charset="0"/>
              </a:rPr>
              <a:t> File</a:t>
            </a:r>
          </a:p>
          <a:p>
            <a:pPr marL="0" indent="0" algn="just">
              <a:buNone/>
            </a:pPr>
            <a:endParaRPr lang="en-US" dirty="0">
              <a:latin typeface="Cambria" panose="02040503050406030204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573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Nội dung bài học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63246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b="1" u="sng" dirty="0" err="1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  <a:t>Câu</a:t>
            </a:r>
            <a:r>
              <a:rPr lang="en-US" b="1" u="sng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  <a:t> 4:</a:t>
            </a:r>
          </a:p>
          <a:p>
            <a:pPr marL="0" indent="0">
              <a:buNone/>
            </a:pP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a)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Viết hàm  cho phép lưu tập tin dưới dạng text file, yêu cầu khởi tạo là 10 dòng, mỗi dòng sẽ có 10 số ngẫu nhiên cách nhau bởi dấu “;”. Xem hình minh họa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vi-V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b)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Tiếp theo viết hàm cho phép đọc tập tin từ câu a, xuất ra tổng giá trị của các phần tử trên mỗi dòng.</a:t>
            </a:r>
          </a:p>
          <a:p>
            <a:pPr marL="0" indent="0" algn="just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B8D2819-DC05-491E-9CCA-1ACB375E57A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794500" y="1833562"/>
            <a:ext cx="51054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0844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1747837" y="762000"/>
            <a:ext cx="8615363" cy="190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4400" kern="0">
                <a:solidFill>
                  <a:srgbClr val="002060"/>
                </a:solidFill>
                <a:latin typeface="Cambria" panose="02040503050406030204" pitchFamily="18" charset="0"/>
              </a:rPr>
              <a:t>Giới thiệu tkinter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1026" name="Picture 2" descr="Image result for Python">
            <a:extLst>
              <a:ext uri="{FF2B5EF4-FFF2-40B4-BE49-F238E27FC236}">
                <a16:creationId xmlns:a16="http://schemas.microsoft.com/office/drawing/2014/main" id="{DB89E5ED-4BAE-4B8E-BE15-5C0C50797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4825" y="2514600"/>
            <a:ext cx="5169023" cy="260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51545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Nội dung bài học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tkinter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là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th</a:t>
            </a:r>
            <a:r>
              <a:rPr lang="vi-VN" dirty="0">
                <a:latin typeface="Cambria" panose="02040503050406030204" pitchFamily="18" charset="0"/>
                <a:cs typeface="Times New Roman" pitchFamily="18" charset="0"/>
              </a:rPr>
              <a:t>ư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viện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để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thiết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kế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giao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diện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t</a:t>
            </a:r>
            <a:r>
              <a:rPr lang="vi-VN" dirty="0">
                <a:latin typeface="Cambria" panose="02040503050406030204" pitchFamily="18" charset="0"/>
                <a:cs typeface="Times New Roman" pitchFamily="18" charset="0"/>
              </a:rPr>
              <a:t>ư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ơng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tác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ng</a:t>
            </a:r>
            <a:r>
              <a:rPr lang="vi-VN" dirty="0">
                <a:latin typeface="Cambria" panose="02040503050406030204" pitchFamily="18" charset="0"/>
                <a:cs typeface="Times New Roman" pitchFamily="18" charset="0"/>
              </a:rPr>
              <a:t>ư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ời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dùng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(GUI)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và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cũng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khá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đ</a:t>
            </a:r>
            <a:r>
              <a:rPr lang="vi-VN" dirty="0">
                <a:latin typeface="Cambria" panose="02040503050406030204" pitchFamily="18" charset="0"/>
                <a:cs typeface="Times New Roman" pitchFamily="18" charset="0"/>
              </a:rPr>
              <a:t>ơ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n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giản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9C21A6-71BE-4E58-80FD-86F645C0F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238374"/>
            <a:ext cx="3476625" cy="29241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0C47DD-E591-4D69-941C-699C44188F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1668324"/>
            <a:ext cx="4619625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9235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Nội dung bài học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Mô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hình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lớp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tkinter</a:t>
            </a:r>
            <a:endParaRPr lang="en-US" dirty="0">
              <a:latin typeface="Cambria" panose="02040503050406030204" pitchFamily="18" charset="0"/>
              <a:cs typeface="Times New Roman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45FE44-3AD5-45E9-B98E-AAD867F9F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730" y="1033994"/>
            <a:ext cx="7086600" cy="53329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A27E07D-64FC-47B6-8F80-1411BE36D1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729220"/>
            <a:ext cx="4619625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7220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Nội dung bài học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Một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số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màn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hình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ví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dụ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tkinter</a:t>
            </a:r>
            <a:endParaRPr lang="en-US" dirty="0">
              <a:latin typeface="Cambria" panose="02040503050406030204" pitchFamily="18" charset="0"/>
              <a:cs typeface="Times New Roman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C4DABD-1981-445D-8179-18CD7447C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66" y="1734792"/>
            <a:ext cx="2362200" cy="25812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ADAF95-3F35-45B9-A992-DF76A31DA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840" y="1676400"/>
            <a:ext cx="7019925" cy="26098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EACF32-E8AA-4058-9A07-0854816045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4379007"/>
            <a:ext cx="7977188" cy="209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9420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1747837" y="762000"/>
            <a:ext cx="8615363" cy="190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4400" kern="0">
                <a:solidFill>
                  <a:srgbClr val="002060"/>
                </a:solidFill>
                <a:latin typeface="Cambria" panose="02040503050406030204" pitchFamily="18" charset="0"/>
              </a:rPr>
              <a:t>Cách tạo cửa sổ với tkinter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1026" name="Picture 2" descr="Image result for Python">
            <a:extLst>
              <a:ext uri="{FF2B5EF4-FFF2-40B4-BE49-F238E27FC236}">
                <a16:creationId xmlns:a16="http://schemas.microsoft.com/office/drawing/2014/main" id="{DB89E5ED-4BAE-4B8E-BE15-5C0C50797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4825" y="2514600"/>
            <a:ext cx="5169023" cy="260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28640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Nội dung bài học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Để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tạo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cửa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sổ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bằng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tkinter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ta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viết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35905FC0-2877-40E8-8DC2-DBB396C14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941" y="1676400"/>
            <a:ext cx="10379765" cy="48320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tkinter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 =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Tk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root.title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"Hello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Tkinter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-http://communityuni.com/"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root.resizable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root.minsize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300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400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makecenter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(root):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root.update_idletasks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width =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root.winfo_width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height =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root.winfo_height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x = 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root.winfo_screenwidth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//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- (width //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y = 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root.winfo_screenheight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//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- (height //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root.geometry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'{}x{}+{}+{}'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.format(width, height, x, y))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makecenter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(root)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root.mainloop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9A7448B-1A01-44B7-83F6-F4B58E841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2737" y="1712663"/>
            <a:ext cx="2689434" cy="222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346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1747837" y="762000"/>
            <a:ext cx="8615363" cy="190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vi-VN" sz="4400" kern="0">
                <a:solidFill>
                  <a:srgbClr val="002060"/>
                </a:solidFill>
                <a:latin typeface="Cambria" panose="02040503050406030204" pitchFamily="18" charset="0"/>
              </a:rPr>
              <a:t>Các control cơ bản trong tkinter</a:t>
            </a:r>
            <a:endParaRPr lang="en-US" sz="4400" kern="0">
              <a:solidFill>
                <a:srgbClr val="002060"/>
              </a:solidFill>
              <a:latin typeface="Cambria" panose="020405030504060302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1026" name="Picture 2" descr="Image result for Python">
            <a:extLst>
              <a:ext uri="{FF2B5EF4-FFF2-40B4-BE49-F238E27FC236}">
                <a16:creationId xmlns:a16="http://schemas.microsoft.com/office/drawing/2014/main" id="{DB89E5ED-4BAE-4B8E-BE15-5C0C50797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4825" y="2514600"/>
            <a:ext cx="5169023" cy="260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05647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Nội dung bài học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Wingdings" panose="05000000000000000000" pitchFamily="2" charset="2"/>
              <a:buChar char="v"/>
            </a:pPr>
            <a:endParaRPr lang="en-US" dirty="0">
              <a:latin typeface="Cambria" panose="02040503050406030204" pitchFamily="18" charset="0"/>
              <a:cs typeface="Times New Roman" pitchFamily="18" charset="0"/>
            </a:endParaRPr>
          </a:p>
          <a:p>
            <a:pPr algn="ctr">
              <a:buFont typeface="Wingdings" panose="05000000000000000000" pitchFamily="2" charset="2"/>
              <a:buChar char="v"/>
            </a:pPr>
            <a:endParaRPr lang="en-US" dirty="0">
              <a:latin typeface="Cambria" panose="02040503050406030204" pitchFamily="18" charset="0"/>
              <a:cs typeface="Times New Roman" pitchFamily="18" charset="0"/>
            </a:endParaRPr>
          </a:p>
          <a:p>
            <a:pPr algn="ctr">
              <a:buFont typeface="Wingdings" panose="05000000000000000000" pitchFamily="2" charset="2"/>
              <a:buChar char="v"/>
            </a:pP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Label</a:t>
            </a:r>
          </a:p>
          <a:p>
            <a:pPr algn="ctr">
              <a:buFont typeface="Wingdings" panose="05000000000000000000" pitchFamily="2" charset="2"/>
              <a:buChar char="v"/>
            </a:pP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Button</a:t>
            </a:r>
          </a:p>
          <a:p>
            <a:pPr algn="ctr">
              <a:buFont typeface="Wingdings" panose="05000000000000000000" pitchFamily="2" charset="2"/>
              <a:buChar char="v"/>
            </a:pP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Entry</a:t>
            </a:r>
          </a:p>
          <a:p>
            <a:pPr algn="ctr">
              <a:buFont typeface="Wingdings" panose="05000000000000000000" pitchFamily="2" charset="2"/>
              <a:buChar char="v"/>
            </a:pPr>
            <a:endParaRPr lang="en-US" dirty="0">
              <a:latin typeface="Cambria" panose="02040503050406030204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5578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  <a:cs typeface="Times New Roman" pitchFamily="18" charset="0"/>
                </a:rPr>
                <a:t>Label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851856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Label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dùng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để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hiển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thị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text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hoặc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hình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ảnh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không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cho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phép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chỉnh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sửa</a:t>
            </a:r>
            <a:endParaRPr lang="en-US" dirty="0">
              <a:latin typeface="Cambria" panose="02040503050406030204" pitchFamily="18" charset="0"/>
              <a:cs typeface="Times New Roman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C7A2874-C146-47AE-A857-1D302E94F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73" y="2209800"/>
            <a:ext cx="11614077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tkinter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root=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Label(root,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Xin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chào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!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Tui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tkinter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justify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CENTER,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relief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=SUNKEN).pack(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pady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photo =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PhotoImage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"avatar1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.png"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Label(root,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image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=photo,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relief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=RAISED).pack(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LEFT,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padx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root.resizable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root.minsize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300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400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root.mainloop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4663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  <a:cs typeface="Times New Roman" pitchFamily="18" charset="0"/>
                </a:rPr>
                <a:t>Button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v"/>
            </a:pP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Là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control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cho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phép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ng</a:t>
            </a:r>
            <a:r>
              <a:rPr lang="vi-VN" dirty="0">
                <a:latin typeface="Cambria" panose="02040503050406030204" pitchFamily="18" charset="0"/>
                <a:cs typeface="Times New Roman" pitchFamily="18" charset="0"/>
              </a:rPr>
              <a:t>ư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ời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sử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dụng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nhấn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ra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lệnh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cho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ch</a:t>
            </a:r>
            <a:r>
              <a:rPr lang="vi-VN" dirty="0">
                <a:latin typeface="Cambria" panose="02040503050406030204" pitchFamily="18" charset="0"/>
                <a:cs typeface="Times New Roman" pitchFamily="18" charset="0"/>
              </a:rPr>
              <a:t>ư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ơng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trình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thực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hiện</a:t>
            </a:r>
            <a:endParaRPr lang="en-US" dirty="0">
              <a:latin typeface="Cambria" panose="02040503050406030204" pitchFamily="18" charset="0"/>
              <a:cs typeface="Times New Roman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685ABF-4706-42FC-8A72-22E871400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548" y="4590955"/>
            <a:ext cx="2791252" cy="1737109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67005A07-EE47-4ED7-B9B4-04E020B63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2424"/>
            <a:ext cx="10876695" cy="2677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tkinter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root=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Label(root,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Muốn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thoát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hả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).pack(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pady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Button(root,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Không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).pack(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=RIGHT)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Button(root,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CÓ"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command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root.quit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).pack(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=RIGHT)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root.mainloop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257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  <a:cs typeface="Times New Roman" pitchFamily="18" charset="0"/>
                </a:rPr>
                <a:t>Entry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v"/>
            </a:pP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Là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control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để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cho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phép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ng</a:t>
            </a:r>
            <a:r>
              <a:rPr lang="vi-VN" dirty="0">
                <a:latin typeface="Cambria" panose="02040503050406030204" pitchFamily="18" charset="0"/>
                <a:cs typeface="Times New Roman" pitchFamily="18" charset="0"/>
              </a:rPr>
              <a:t>ư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ời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dùng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nhập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liệu</a:t>
            </a:r>
            <a:endParaRPr lang="en-US" dirty="0">
              <a:latin typeface="Cambria" panose="02040503050406030204" pitchFamily="18" charset="0"/>
              <a:cs typeface="Times New Roman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E908FD8-AF31-4E1F-B5A4-B1693E9E6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810" y="1693037"/>
            <a:ext cx="10802957" cy="2862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tkinter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root=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Label(root,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"Enter your name:"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).pack(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side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=LEFT,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padx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pady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StringVar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Entry(root,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textvariable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=e).pack(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side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=LEFT)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e.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“Nguyen Van A"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Button(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root,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"Say OK"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).pack(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side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=LEFT)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root.mainloop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77648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1747837" y="762000"/>
            <a:ext cx="8615363" cy="190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4400" kern="0">
                <a:solidFill>
                  <a:srgbClr val="002060"/>
                </a:solidFill>
                <a:latin typeface="Cambria" panose="02040503050406030204" pitchFamily="18" charset="0"/>
              </a:rPr>
              <a:t>Bài tập rèn luyện</a:t>
            </a:r>
          </a:p>
          <a:p>
            <a:pPr>
              <a:defRPr/>
            </a:pPr>
            <a:r>
              <a:rPr lang="en-US" sz="4400" kern="0">
                <a:solidFill>
                  <a:srgbClr val="002060"/>
                </a:solidFill>
                <a:latin typeface="Cambria" panose="02040503050406030204" pitchFamily="18" charset="0"/>
              </a:rPr>
              <a:t>Giải ph</a:t>
            </a:r>
            <a:r>
              <a:rPr lang="vi-VN" sz="4400" kern="0">
                <a:solidFill>
                  <a:srgbClr val="002060"/>
                </a:solidFill>
                <a:latin typeface="Cambria" panose="02040503050406030204" pitchFamily="18" charset="0"/>
              </a:rPr>
              <a:t>ư</a:t>
            </a:r>
            <a:r>
              <a:rPr lang="en-US" sz="4400" kern="0">
                <a:solidFill>
                  <a:srgbClr val="002060"/>
                </a:solidFill>
                <a:latin typeface="Cambria" panose="02040503050406030204" pitchFamily="18" charset="0"/>
              </a:rPr>
              <a:t>ơng trình bậc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1026" name="Picture 2" descr="Image result for Python">
            <a:extLst>
              <a:ext uri="{FF2B5EF4-FFF2-40B4-BE49-F238E27FC236}">
                <a16:creationId xmlns:a16="http://schemas.microsoft.com/office/drawing/2014/main" id="{DB89E5ED-4BAE-4B8E-BE15-5C0C50797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4825" y="2514600"/>
            <a:ext cx="5169023" cy="260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45696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Nội dung bài học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Thiết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kế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màn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hình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giải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ph</a:t>
            </a:r>
            <a:r>
              <a:rPr lang="vi-VN" dirty="0">
                <a:latin typeface="Cambria" panose="02040503050406030204" pitchFamily="18" charset="0"/>
                <a:cs typeface="Times New Roman" pitchFamily="18" charset="0"/>
              </a:rPr>
              <a:t>ư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ơng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trình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bậc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1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nh</a:t>
            </a:r>
            <a:r>
              <a:rPr lang="vi-VN" dirty="0">
                <a:latin typeface="Cambria" panose="02040503050406030204" pitchFamily="18" charset="0"/>
                <a:cs typeface="Times New Roman" pitchFamily="18" charset="0"/>
              </a:rPr>
              <a:t>ư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d</a:t>
            </a:r>
            <a:r>
              <a:rPr lang="vi-VN" dirty="0">
                <a:latin typeface="Cambria" panose="02040503050406030204" pitchFamily="18" charset="0"/>
                <a:cs typeface="Times New Roman" pitchFamily="18" charset="0"/>
              </a:rPr>
              <a:t>ư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ới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đây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888244-43DD-4301-9493-694E05F35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1905000"/>
            <a:ext cx="5666372" cy="409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3012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Nội dung bài học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sz="2400">
              <a:latin typeface="Cambria" panose="02040503050406030204" pitchFamily="18" charset="0"/>
              <a:cs typeface="Times New Roman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E3827A8-E50E-4AB2-8895-FCBBB66C8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048" y="1085790"/>
            <a:ext cx="7373552" cy="53245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tkinter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buttonTiep():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stringHSA.set(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stringHSB.set(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stringKQ.set(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buttonGiai():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a=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(stringHSA.get())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b =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(stringHSB.get())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kq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""</a:t>
            </a:r>
            <a:b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a==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and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b==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kq=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"Vô số nghiệm"</a:t>
            </a:r>
            <a:b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elif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a==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and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b!=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kq=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"Vô nghiệm"</a:t>
            </a:r>
            <a:b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kq=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"x={0}"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.format(-b/a)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stringKQ.set(kq)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2353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Nội dung bài học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sz="2400">
              <a:latin typeface="Cambria" panose="02040503050406030204" pitchFamily="18" charset="0"/>
              <a:cs typeface="Times New Roman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E3827A8-E50E-4AB2-8895-FCBBB66C8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395" y="981112"/>
            <a:ext cx="11561868" cy="56323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root=Tk()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root.title(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"PTB1"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root.resizable(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root.minsize(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150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250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stringHSA = StringVar()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stringHSB = StringVar()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stringKQ = StringVar()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lblTitle=Label(root,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"Phương Trình Bậc 1"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fg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"red"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font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=(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"tahoma"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justify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=CENTER).grid(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columnspan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lblA=Label(root,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"Hệ số a:"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).grid(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entryA=Entry(root,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textvariable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=stringHSA).grid(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lblB=Label(root,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"Hệ số b:"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).grid(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entryB=Entry(root,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textvariable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=stringHSB).grid(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frmButton=Frame(root,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borderwidth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btnGiai=Button(frmButton,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"Giải"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command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=buttonGiai).pack(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side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=LEFT)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btnTiep=Button(frmButton,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"Tiếp"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command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=buttonTiep).pack(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side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=LEFT)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btnThoat=Button(frmButton,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"Thoát"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command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=root.quit).pack(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side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=LEFT)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frmButton.grid(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columnspan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5505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Nội dung bài học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sz="2400">
              <a:latin typeface="Cambria" panose="02040503050406030204" pitchFamily="18" charset="0"/>
              <a:cs typeface="Times New Roman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E3827A8-E50E-4AB2-8895-FCBBB66C8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754" y="1079297"/>
            <a:ext cx="11110734" cy="13234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lblKQ=Label(root,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"Kết quả:"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).grid(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entryKQ=Entry(root,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textvariable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=stringKQ).grid(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root.mainloop()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758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1747837" y="762000"/>
            <a:ext cx="8615363" cy="190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4400" kern="0">
                <a:solidFill>
                  <a:srgbClr val="002060"/>
                </a:solidFill>
                <a:latin typeface="Cambria" panose="02040503050406030204" pitchFamily="18" charset="0"/>
              </a:rPr>
              <a:t>Bài tập rèn luyện</a:t>
            </a:r>
          </a:p>
          <a:p>
            <a:pPr>
              <a:defRPr/>
            </a:pPr>
            <a:r>
              <a:rPr lang="en-US" sz="4400" kern="0">
                <a:solidFill>
                  <a:srgbClr val="002060"/>
                </a:solidFill>
                <a:latin typeface="Cambria" panose="02040503050406030204" pitchFamily="18" charset="0"/>
              </a:rPr>
              <a:t>Giải ph</a:t>
            </a:r>
            <a:r>
              <a:rPr lang="vi-VN" sz="4400" kern="0">
                <a:solidFill>
                  <a:srgbClr val="002060"/>
                </a:solidFill>
                <a:latin typeface="Cambria" panose="02040503050406030204" pitchFamily="18" charset="0"/>
              </a:rPr>
              <a:t>ư</a:t>
            </a:r>
            <a:r>
              <a:rPr lang="en-US" sz="4400" kern="0">
                <a:solidFill>
                  <a:srgbClr val="002060"/>
                </a:solidFill>
                <a:latin typeface="Cambria" panose="02040503050406030204" pitchFamily="18" charset="0"/>
              </a:rPr>
              <a:t>ơng trình bậc 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1026" name="Picture 2" descr="Image result for Python">
            <a:extLst>
              <a:ext uri="{FF2B5EF4-FFF2-40B4-BE49-F238E27FC236}">
                <a16:creationId xmlns:a16="http://schemas.microsoft.com/office/drawing/2014/main" id="{DB89E5ED-4BAE-4B8E-BE15-5C0C50797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4825" y="2514600"/>
            <a:ext cx="5169023" cy="260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61197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Nội dung bài học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Thiết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kế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màn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hình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giải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ph</a:t>
            </a:r>
            <a:r>
              <a:rPr lang="vi-VN" dirty="0">
                <a:latin typeface="Cambria" panose="02040503050406030204" pitchFamily="18" charset="0"/>
                <a:cs typeface="Times New Roman" pitchFamily="18" charset="0"/>
              </a:rPr>
              <a:t>ư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ơng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trình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bậc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2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nh</a:t>
            </a:r>
            <a:r>
              <a:rPr lang="vi-VN" dirty="0">
                <a:latin typeface="Cambria" panose="02040503050406030204" pitchFamily="18" charset="0"/>
                <a:cs typeface="Times New Roman" pitchFamily="18" charset="0"/>
              </a:rPr>
              <a:t>ư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d</a:t>
            </a:r>
            <a:r>
              <a:rPr lang="vi-VN" dirty="0">
                <a:latin typeface="Cambria" panose="02040503050406030204" pitchFamily="18" charset="0"/>
                <a:cs typeface="Times New Roman" pitchFamily="18" charset="0"/>
              </a:rPr>
              <a:t>ư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ới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đây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AD05B0-69E6-44AF-85D2-D5A45C03C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339" y="1905000"/>
            <a:ext cx="5921722" cy="427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3965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Nội dung bài học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sz="2400">
              <a:latin typeface="Cambria" panose="02040503050406030204" pitchFamily="18" charset="0"/>
              <a:cs typeface="Times New Roman" pitchFamily="18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681F5D0-CC6B-46C9-9AD3-18A7E095C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807" y="1161157"/>
            <a:ext cx="3416320" cy="2554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math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sqrt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tkinter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buttonTiep():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stringHSA.set(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stringHSB.set(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stringHSC.set(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stringKQ.set(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2003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Nội dung bài học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sz="2400">
              <a:latin typeface="Cambria" panose="02040503050406030204" pitchFamily="18" charset="0"/>
              <a:cs typeface="Times New Roman" pitchFamily="18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681F5D0-CC6B-46C9-9AD3-18A7E095C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921" y="990600"/>
            <a:ext cx="8107790" cy="57554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buttonGiai():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a=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(stringHSA.get())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b =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(stringHSB.get())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c =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(stringHSC.get())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kq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""</a:t>
            </a:r>
            <a:b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a==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 ==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and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 ==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kq =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"Vô số nghiệm"</a:t>
            </a:r>
            <a:b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elif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 ==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and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 !=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kq =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"Vô nghiệm"</a:t>
            </a:r>
            <a:b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kq =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"x={0}"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.format(-c / b)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delta=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pow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(b,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)-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*a*c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delta&lt;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kq=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"Vô nghiệm"</a:t>
            </a:r>
            <a:b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elif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delta==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kq=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"No kép x1=x2={0}"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.format(-b/(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*a))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x1=(-b-sqrt(delta))/(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*a)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x2 = (-b + sqrt(delta)) / (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 a)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kq=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"x1={0};x2={1}"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.format(x1,x2)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stringKQ.set(kq)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9402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Nội dung bài học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sz="2400">
              <a:latin typeface="Cambria" panose="02040503050406030204" pitchFamily="18" charset="0"/>
              <a:cs typeface="Times New Roman" pitchFamily="18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681F5D0-CC6B-46C9-9AD3-18A7E095C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43" y="1084682"/>
            <a:ext cx="11742057" cy="53245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root=Tk()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root.title(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"PTB1"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root.resizable(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root.minsize(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150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250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stringHSA = StringVar()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stringHSB = StringVar()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stringHSC = StringVar()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stringKQ = StringVar()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lblTitle=Label(root,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"Phương Trình Bậc 2"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fg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"blue"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font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=(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"tahoma"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justify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=CENTER).grid(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columnspan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lblA=Label(root,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"Hệ số a:"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).grid(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entryA=Entry(root,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textvariable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=stringHSA).grid(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lblB=Label(root,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"Hệ số b:"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).grid(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entryB=Entry(root,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textvariable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=stringHSB).grid(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lblC=Label(root,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"Hệ số c:"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).grid(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entryC=Entry(root,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textvariable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=stringHSC).grid(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4287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Nội dung bài học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sz="2400">
              <a:latin typeface="Cambria" panose="02040503050406030204" pitchFamily="18" charset="0"/>
              <a:cs typeface="Times New Roman" pitchFamily="18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681F5D0-CC6B-46C9-9AD3-18A7E095C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130" y="1094537"/>
            <a:ext cx="11418510" cy="2862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frmButton=Frame(root,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borderwidth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btnGiai=Button(frmButton,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"Giải"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command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=buttonGiai).pack(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side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=LEFT)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btnTiep=Button(frmButton,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"Tiếp"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command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=buttonTiep).pack(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side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=LEFT)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btnThoat=Button(frmButton,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"Thoát"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command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=root.quit).pack(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side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=LEFT)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frmButton.grid(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columnspan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lblKQ=Label(root,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"Kết quả:"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).grid(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entryKQ=Entry(root,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textvariable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=stringKQ).grid(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root.mainloop()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9802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1747837" y="762000"/>
            <a:ext cx="8615363" cy="190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4400" kern="0">
                <a:solidFill>
                  <a:srgbClr val="002060"/>
                </a:solidFill>
                <a:latin typeface="Cambria" panose="02040503050406030204" pitchFamily="18" charset="0"/>
              </a:rPr>
              <a:t>Bài tập rèn luyện</a:t>
            </a:r>
          </a:p>
          <a:p>
            <a:pPr>
              <a:defRPr/>
            </a:pPr>
            <a:r>
              <a:rPr lang="en-US" sz="4400" kern="0">
                <a:solidFill>
                  <a:srgbClr val="002060"/>
                </a:solidFill>
                <a:latin typeface="Cambria" panose="02040503050406030204" pitchFamily="18" charset="0"/>
              </a:rPr>
              <a:t>Cộng trừ nhân chia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1026" name="Picture 2" descr="Image result for Python">
            <a:extLst>
              <a:ext uri="{FF2B5EF4-FFF2-40B4-BE49-F238E27FC236}">
                <a16:creationId xmlns:a16="http://schemas.microsoft.com/office/drawing/2014/main" id="{DB89E5ED-4BAE-4B8E-BE15-5C0C50797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4825" y="2514600"/>
            <a:ext cx="5169023" cy="260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48670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Nội dung bài học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Thiết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kế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ch</a:t>
            </a:r>
            <a:r>
              <a:rPr lang="vi-VN" dirty="0">
                <a:latin typeface="Cambria" panose="02040503050406030204" pitchFamily="18" charset="0"/>
                <a:cs typeface="Times New Roman" pitchFamily="18" charset="0"/>
              </a:rPr>
              <a:t>ư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ơng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trình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cộng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trừ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nhân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chia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nh</a:t>
            </a:r>
            <a:r>
              <a:rPr lang="vi-VN" dirty="0">
                <a:latin typeface="Cambria" panose="02040503050406030204" pitchFamily="18" charset="0"/>
                <a:cs typeface="Times New Roman" pitchFamily="18" charset="0"/>
              </a:rPr>
              <a:t>ư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hình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d</a:t>
            </a:r>
            <a:r>
              <a:rPr lang="vi-VN" dirty="0">
                <a:latin typeface="Cambria" panose="02040503050406030204" pitchFamily="18" charset="0"/>
                <a:cs typeface="Times New Roman" pitchFamily="18" charset="0"/>
              </a:rPr>
              <a:t>ư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ới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đây</a:t>
            </a:r>
            <a:endParaRPr lang="en-US" dirty="0">
              <a:latin typeface="Cambria" panose="02040503050406030204" pitchFamily="18" charset="0"/>
              <a:cs typeface="Times New Roman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B57708-4EFB-439C-B3A2-C47104D57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8131" y="1849438"/>
            <a:ext cx="5328138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3975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Nội dung bài học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sz="2400">
              <a:latin typeface="Cambria" panose="02040503050406030204" pitchFamily="18" charset="0"/>
              <a:cs typeface="Times New Roman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49CF395-8C4B-44E5-810F-2B9E92AE0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409" y="1015218"/>
            <a:ext cx="5878532" cy="53245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tkinter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congAction():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a=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(stringA.get())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b =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(stringB.get())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stringKQ.set(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"{0}"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.format(a+b))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truAction():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a =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(stringA.get())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b =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(stringB.get())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stringKQ.set(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"{0}"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.format(a - b))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nhanAction():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a =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(stringA.get())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b =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(stringB.get())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stringKQ.set(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"{0}"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.format(a * b))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chiaAction():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a =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(stringA.get())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b =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(stringB.get())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stringKQ.set(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"{0}"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.format(a / b))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0464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Nội dung bài học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sz="2400">
              <a:latin typeface="Cambria" panose="02040503050406030204" pitchFamily="18" charset="0"/>
              <a:cs typeface="Times New Roman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49CF395-8C4B-44E5-810F-2B9E92AE0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71" y="1074509"/>
            <a:ext cx="11520929" cy="47089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root=Tk()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stringA=StringVar()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stringB=StringVar()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stringKQ=StringVar()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frameTitle=Frame(root)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Label(frameTitle,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"Cộng trừ nhân chia"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font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=(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"tahoma"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justify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=RIGHT).pack(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side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=TOP)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frameTitle.grid(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columnspan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frameButton=Frame(root)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Button(frameButton,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"Cộng"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command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=congAction).pack(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side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=TOP,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fill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=X)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Button(frameButton,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"Trừ"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command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=truAction).pack(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side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=TOP,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fill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=X)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Button(frameButton,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"Nhân"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command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=nhanAction).pack(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side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=TOP,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fill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=X)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Button(frameButton,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"Chia"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command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=chiaAction).pack(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side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=TOP,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fill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=X)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frameButton.grid(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rowspan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5914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Nội dung bài học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sz="2400">
              <a:latin typeface="Cambria" panose="02040503050406030204" pitchFamily="18" charset="0"/>
              <a:cs typeface="Times New Roman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49CF395-8C4B-44E5-810F-2B9E92AE0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76" y="1133476"/>
            <a:ext cx="10033516" cy="3170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Label(root,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"số a:"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).grid(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Entry(root,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textvariable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=stringA).grid(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Label(root,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"số b:"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).grid(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Entry(root,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textvariable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=stringB).grid(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Label(root,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"kết quả:"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).grid(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Entry(root,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textvariable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=stringKQ).grid(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Button(root,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"thoát"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command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=root.quit).grid(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root.minsize(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150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200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root.resizable(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root.mainloop()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3252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1747837" y="762000"/>
            <a:ext cx="8615363" cy="190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4400" kern="0">
                <a:solidFill>
                  <a:srgbClr val="002060"/>
                </a:solidFill>
                <a:latin typeface="Cambria" panose="02040503050406030204" pitchFamily="18" charset="0"/>
              </a:rPr>
              <a:t>Các bài tập tự rèn luyện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47</a:t>
            </a:fld>
            <a:endParaRPr lang="en-US"/>
          </a:p>
        </p:txBody>
      </p:sp>
      <p:pic>
        <p:nvPicPr>
          <p:cNvPr id="1026" name="Picture 2" descr="Image result for Python">
            <a:extLst>
              <a:ext uri="{FF2B5EF4-FFF2-40B4-BE49-F238E27FC236}">
                <a16:creationId xmlns:a16="http://schemas.microsoft.com/office/drawing/2014/main" id="{DB89E5ED-4BAE-4B8E-BE15-5C0C50797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4825" y="2514600"/>
            <a:ext cx="5169023" cy="260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93761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Nội dung bài học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b="1" u="sng" dirty="0" err="1">
                <a:latin typeface="Cambria" panose="02040503050406030204" pitchFamily="18" charset="0"/>
                <a:cs typeface="Times New Roman" pitchFamily="18" charset="0"/>
              </a:rPr>
              <a:t>Câu</a:t>
            </a:r>
            <a:r>
              <a:rPr lang="en-US" b="1" u="sng" dirty="0">
                <a:latin typeface="Cambria" panose="02040503050406030204" pitchFamily="18" charset="0"/>
                <a:cs typeface="Times New Roman" pitchFamily="18" charset="0"/>
              </a:rPr>
              <a:t> 1: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Trình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bày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cách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thức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tạo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cửa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sổ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bằng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tkinter</a:t>
            </a:r>
            <a:endParaRPr lang="en-US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b="1" u="sng" dirty="0" err="1">
                <a:latin typeface="Cambria" panose="02040503050406030204" pitchFamily="18" charset="0"/>
                <a:cs typeface="Times New Roman" pitchFamily="18" charset="0"/>
              </a:rPr>
              <a:t>Câu</a:t>
            </a:r>
            <a:r>
              <a:rPr lang="en-US" b="1" u="sng" dirty="0">
                <a:latin typeface="Cambria" panose="02040503050406030204" pitchFamily="18" charset="0"/>
                <a:cs typeface="Times New Roman" pitchFamily="18" charset="0"/>
              </a:rPr>
              <a:t> 2: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Trình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bày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cách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sử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dụng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label, button, entry</a:t>
            </a:r>
          </a:p>
          <a:p>
            <a:pPr marL="0" indent="0" algn="just">
              <a:buNone/>
            </a:pPr>
            <a:r>
              <a:rPr lang="en-US" b="1" u="sng" dirty="0" err="1">
                <a:latin typeface="Cambria" panose="02040503050406030204" pitchFamily="18" charset="0"/>
                <a:cs typeface="Times New Roman" pitchFamily="18" charset="0"/>
              </a:rPr>
              <a:t>Câu</a:t>
            </a:r>
            <a:r>
              <a:rPr lang="en-US" b="1" u="sng" dirty="0">
                <a:latin typeface="Cambria" panose="02040503050406030204" pitchFamily="18" charset="0"/>
                <a:cs typeface="Times New Roman" pitchFamily="18" charset="0"/>
              </a:rPr>
              <a:t> 3: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Trình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bày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cách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gán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sự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kiện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cho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Button</a:t>
            </a:r>
          </a:p>
          <a:p>
            <a:pPr marL="0" indent="0" algn="just">
              <a:buNone/>
            </a:pPr>
            <a:r>
              <a:rPr lang="en-US" b="1" u="sng" dirty="0" err="1">
                <a:latin typeface="Cambria" panose="02040503050406030204" pitchFamily="18" charset="0"/>
                <a:cs typeface="Times New Roman" pitchFamily="18" charset="0"/>
              </a:rPr>
              <a:t>Câu</a:t>
            </a:r>
            <a:r>
              <a:rPr lang="en-US" b="1" u="sng" dirty="0">
                <a:latin typeface="Cambria" panose="02040503050406030204" pitchFamily="18" charset="0"/>
                <a:cs typeface="Times New Roman" pitchFamily="18" charset="0"/>
              </a:rPr>
              <a:t> 4: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Thiết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kế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Calculator đ</a:t>
            </a:r>
            <a:r>
              <a:rPr lang="vi-VN" dirty="0">
                <a:latin typeface="Cambria" panose="02040503050406030204" pitchFamily="18" charset="0"/>
                <a:cs typeface="Times New Roman" pitchFamily="18" charset="0"/>
              </a:rPr>
              <a:t>ơ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n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giản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2BEBD9-55EF-4710-A64C-D3ADEE122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201" y="1925782"/>
            <a:ext cx="26670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0014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Nội dung bài học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b="1" u="sng" dirty="0" err="1">
                <a:latin typeface="Cambria" panose="02040503050406030204" pitchFamily="18" charset="0"/>
                <a:cs typeface="Times New Roman" pitchFamily="18" charset="0"/>
              </a:rPr>
              <a:t>Câu</a:t>
            </a:r>
            <a:r>
              <a:rPr lang="en-US" b="1" u="sng" dirty="0">
                <a:latin typeface="Cambria" panose="02040503050406030204" pitchFamily="18" charset="0"/>
                <a:cs typeface="Times New Roman" pitchFamily="18" charset="0"/>
              </a:rPr>
              <a:t> 5: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Viết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code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hiển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thị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các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loại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style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của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Button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trong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Python</a:t>
            </a:r>
          </a:p>
          <a:p>
            <a:pPr marL="0" indent="0" algn="just">
              <a:buNone/>
            </a:pPr>
            <a:endParaRPr lang="en-US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b="1" u="sng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b="1" u="sng" dirty="0" err="1">
                <a:latin typeface="Cambria" panose="02040503050406030204" pitchFamily="18" charset="0"/>
                <a:cs typeface="Times New Roman" pitchFamily="18" charset="0"/>
              </a:rPr>
              <a:t>Câu</a:t>
            </a:r>
            <a:r>
              <a:rPr lang="en-US" b="1" u="sng" dirty="0">
                <a:latin typeface="Cambria" panose="02040503050406030204" pitchFamily="18" charset="0"/>
                <a:cs typeface="Times New Roman" pitchFamily="18" charset="0"/>
              </a:rPr>
              <a:t> 6: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Thiết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kế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màn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hình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đăng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nhập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:</a:t>
            </a:r>
          </a:p>
          <a:p>
            <a:pPr marL="0" indent="0" algn="just">
              <a:buNone/>
            </a:pPr>
            <a:endParaRPr lang="en-US" dirty="0">
              <a:latin typeface="Cambria" panose="02040503050406030204" pitchFamily="18" charset="0"/>
              <a:cs typeface="Times New Roman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812983-4AC2-4F8D-80A5-5B4BCA19F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1752600"/>
            <a:ext cx="9221463" cy="33069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0465D5-95D5-4FF2-A8FC-69BCF611E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5171787"/>
            <a:ext cx="3228975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8991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Nội dung bài học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353376" y="1065229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400" b="1" u="sng" dirty="0" err="1">
                <a:latin typeface="Cambria" panose="02040503050406030204" pitchFamily="18" charset="0"/>
                <a:cs typeface="Times New Roman" pitchFamily="18" charset="0"/>
              </a:rPr>
              <a:t>Câu</a:t>
            </a:r>
            <a:r>
              <a:rPr lang="en-US" sz="2400" b="1" u="sng" dirty="0">
                <a:latin typeface="Cambria" panose="02040503050406030204" pitchFamily="18" charset="0"/>
                <a:cs typeface="Times New Roman" pitchFamily="18" charset="0"/>
              </a:rPr>
              <a:t> 7:</a:t>
            </a:r>
            <a:r>
              <a:rPr lang="en-US" sz="24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cs typeface="Times New Roman" pitchFamily="18" charset="0"/>
              </a:rPr>
              <a:t>Thiết</a:t>
            </a:r>
            <a:r>
              <a:rPr lang="en-US" sz="24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cs typeface="Times New Roman" pitchFamily="18" charset="0"/>
              </a:rPr>
              <a:t>kế</a:t>
            </a:r>
            <a:r>
              <a:rPr lang="en-US" sz="24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cs typeface="Times New Roman" pitchFamily="18" charset="0"/>
              </a:rPr>
              <a:t>màn</a:t>
            </a:r>
            <a:r>
              <a:rPr lang="en-US" sz="24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cs typeface="Times New Roman" pitchFamily="18" charset="0"/>
              </a:rPr>
              <a:t>hình</a:t>
            </a:r>
            <a:r>
              <a:rPr lang="en-US" sz="24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cs typeface="Times New Roman" pitchFamily="18" charset="0"/>
              </a:rPr>
              <a:t>chuyển</a:t>
            </a:r>
            <a:r>
              <a:rPr lang="en-US" sz="24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cs typeface="Times New Roman" pitchFamily="18" charset="0"/>
              </a:rPr>
              <a:t>năm</a:t>
            </a:r>
            <a:r>
              <a:rPr lang="en-US" sz="2400" dirty="0">
                <a:latin typeface="Cambria" panose="02040503050406030204" pitchFamily="18" charset="0"/>
                <a:cs typeface="Times New Roman" pitchFamily="18" charset="0"/>
              </a:rPr>
              <a:t> D</a:t>
            </a:r>
            <a:r>
              <a:rPr lang="vi-VN" sz="2400" dirty="0">
                <a:latin typeface="Cambria" panose="02040503050406030204" pitchFamily="18" charset="0"/>
                <a:cs typeface="Times New Roman" pitchFamily="18" charset="0"/>
              </a:rPr>
              <a:t>ư</a:t>
            </a:r>
            <a:r>
              <a:rPr lang="en-US" sz="2400" dirty="0" err="1">
                <a:latin typeface="Cambria" panose="02040503050406030204" pitchFamily="18" charset="0"/>
                <a:cs typeface="Times New Roman" pitchFamily="18" charset="0"/>
              </a:rPr>
              <a:t>ơng</a:t>
            </a:r>
            <a:r>
              <a:rPr lang="en-US" sz="24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cs typeface="Times New Roman" pitchFamily="18" charset="0"/>
              </a:rPr>
              <a:t>Lịch</a:t>
            </a:r>
            <a:r>
              <a:rPr lang="en-US" sz="24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cs typeface="Times New Roman" pitchFamily="18" charset="0"/>
              </a:rPr>
              <a:t>thành</a:t>
            </a:r>
            <a:r>
              <a:rPr lang="en-US" sz="24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cs typeface="Times New Roman" pitchFamily="18" charset="0"/>
              </a:rPr>
              <a:t>Âm</a:t>
            </a:r>
            <a:r>
              <a:rPr lang="en-US" sz="24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cs typeface="Times New Roman" pitchFamily="18" charset="0"/>
              </a:rPr>
              <a:t>Lịch</a:t>
            </a:r>
            <a:endParaRPr lang="en-US" sz="24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sz="2400" b="1" u="sng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sz="2400" b="1" u="sng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400" b="1" u="sng" dirty="0" err="1">
                <a:latin typeface="Cambria" panose="02040503050406030204" pitchFamily="18" charset="0"/>
                <a:cs typeface="Times New Roman" pitchFamily="18" charset="0"/>
              </a:rPr>
              <a:t>Câu</a:t>
            </a:r>
            <a:r>
              <a:rPr lang="en-US" sz="2400" b="1" u="sng" dirty="0">
                <a:latin typeface="Cambria" panose="02040503050406030204" pitchFamily="18" charset="0"/>
                <a:cs typeface="Times New Roman" pitchFamily="18" charset="0"/>
              </a:rPr>
              <a:t> 8:</a:t>
            </a:r>
            <a:r>
              <a:rPr lang="en-US" sz="24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cs typeface="Times New Roman" pitchFamily="18" charset="0"/>
              </a:rPr>
              <a:t>Thiết</a:t>
            </a:r>
            <a:r>
              <a:rPr lang="en-US" sz="24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cs typeface="Times New Roman" pitchFamily="18" charset="0"/>
              </a:rPr>
              <a:t>kế</a:t>
            </a:r>
            <a:r>
              <a:rPr lang="en-US" sz="24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cs typeface="Times New Roman" pitchFamily="18" charset="0"/>
              </a:rPr>
              <a:t>màn</a:t>
            </a:r>
            <a:r>
              <a:rPr lang="en-US" sz="24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cs typeface="Times New Roman" pitchFamily="18" charset="0"/>
              </a:rPr>
              <a:t>hình</a:t>
            </a:r>
            <a:r>
              <a:rPr lang="en-US" sz="24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cs typeface="Times New Roman" pitchFamily="18" charset="0"/>
              </a:rPr>
              <a:t>chuyển</a:t>
            </a:r>
            <a:r>
              <a:rPr lang="en-US" sz="24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cs typeface="Times New Roman" pitchFamily="18" charset="0"/>
              </a:rPr>
              <a:t>độ</a:t>
            </a:r>
            <a:r>
              <a:rPr lang="en-US" sz="2400" dirty="0">
                <a:latin typeface="Cambria" panose="02040503050406030204" pitchFamily="18" charset="0"/>
                <a:cs typeface="Times New Roman" pitchFamily="18" charset="0"/>
              </a:rPr>
              <a:t> F </a:t>
            </a:r>
            <a:r>
              <a:rPr lang="en-US" sz="2400" dirty="0" err="1">
                <a:latin typeface="Cambria" panose="02040503050406030204" pitchFamily="18" charset="0"/>
                <a:cs typeface="Times New Roman" pitchFamily="18" charset="0"/>
              </a:rPr>
              <a:t>thành</a:t>
            </a:r>
            <a:r>
              <a:rPr lang="en-US" sz="24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cs typeface="Times New Roman" pitchFamily="18" charset="0"/>
              </a:rPr>
              <a:t>độ</a:t>
            </a:r>
            <a:r>
              <a:rPr lang="en-US" sz="2400" dirty="0">
                <a:latin typeface="Cambria" panose="02040503050406030204" pitchFamily="18" charset="0"/>
                <a:cs typeface="Times New Roman" pitchFamily="18" charset="0"/>
              </a:rPr>
              <a:t> C:</a:t>
            </a:r>
          </a:p>
          <a:p>
            <a:pPr marL="0" indent="0" algn="just">
              <a:buNone/>
            </a:pPr>
            <a:endParaRPr lang="en-US" sz="24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Cambria" panose="02040503050406030204" pitchFamily="18" charset="0"/>
              <a:cs typeface="Times New Roman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B82595-44CE-4AD3-A110-5F55915C05F8}"/>
              </a:ext>
            </a:extLst>
          </p:cNvPr>
          <p:cNvSpPr/>
          <p:nvPr/>
        </p:nvSpPr>
        <p:spPr>
          <a:xfrm>
            <a:off x="3352800" y="1588476"/>
            <a:ext cx="4419600" cy="161192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F4AE84-36DA-4359-A570-A3BF3589A4AA}"/>
              </a:ext>
            </a:extLst>
          </p:cNvPr>
          <p:cNvSpPr txBox="1"/>
          <p:nvPr/>
        </p:nvSpPr>
        <p:spPr>
          <a:xfrm>
            <a:off x="3567588" y="1625020"/>
            <a:ext cx="1912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Nhập năm d</a:t>
            </a:r>
            <a:r>
              <a:rPr lang="vi-VN"/>
              <a:t>ư</a:t>
            </a:r>
            <a:r>
              <a:rPr lang="en-US"/>
              <a:t>ơng: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61825C-9095-4D78-BF64-56D0311FBFF9}"/>
              </a:ext>
            </a:extLst>
          </p:cNvPr>
          <p:cNvSpPr/>
          <p:nvPr/>
        </p:nvSpPr>
        <p:spPr>
          <a:xfrm>
            <a:off x="5562600" y="1600200"/>
            <a:ext cx="18288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0000"/>
                </a:solidFill>
              </a:rPr>
              <a:t>1982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19B594F-CB18-4641-8C86-0550170A3BFE}"/>
              </a:ext>
            </a:extLst>
          </p:cNvPr>
          <p:cNvSpPr/>
          <p:nvPr/>
        </p:nvSpPr>
        <p:spPr>
          <a:xfrm>
            <a:off x="5943600" y="2066925"/>
            <a:ext cx="10668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Chuyển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3493C5-2F8F-4C0C-B13D-FB6B23872E04}"/>
              </a:ext>
            </a:extLst>
          </p:cNvPr>
          <p:cNvSpPr txBox="1"/>
          <p:nvPr/>
        </p:nvSpPr>
        <p:spPr>
          <a:xfrm>
            <a:off x="3572278" y="2518226"/>
            <a:ext cx="1908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Năm âm: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370EAC-45FC-411F-9B2F-743A65295318}"/>
              </a:ext>
            </a:extLst>
          </p:cNvPr>
          <p:cNvSpPr txBox="1"/>
          <p:nvPr/>
        </p:nvSpPr>
        <p:spPr>
          <a:xfrm>
            <a:off x="5522993" y="2533650"/>
            <a:ext cx="1908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Nhâm Tuất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E09491-DA8E-47A5-A0B6-20F91FF44ED7}"/>
              </a:ext>
            </a:extLst>
          </p:cNvPr>
          <p:cNvSpPr/>
          <p:nvPr/>
        </p:nvSpPr>
        <p:spPr>
          <a:xfrm>
            <a:off x="3352800" y="3848156"/>
            <a:ext cx="4419600" cy="161192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D95AE0-FA47-49B8-AE6B-89BCACA67038}"/>
              </a:ext>
            </a:extLst>
          </p:cNvPr>
          <p:cNvSpPr txBox="1"/>
          <p:nvPr/>
        </p:nvSpPr>
        <p:spPr>
          <a:xfrm>
            <a:off x="3567588" y="3884700"/>
            <a:ext cx="1148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Nhập độ F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DFF1D8-7EB7-4FEB-B9E3-1BDD0FBFE38D}"/>
              </a:ext>
            </a:extLst>
          </p:cNvPr>
          <p:cNvSpPr/>
          <p:nvPr/>
        </p:nvSpPr>
        <p:spPr>
          <a:xfrm>
            <a:off x="5562600" y="3859880"/>
            <a:ext cx="18288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0000"/>
                </a:solidFill>
              </a:rPr>
              <a:t>350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88C8375-5536-4DDE-8C63-03530E384979}"/>
              </a:ext>
            </a:extLst>
          </p:cNvPr>
          <p:cNvSpPr/>
          <p:nvPr/>
        </p:nvSpPr>
        <p:spPr>
          <a:xfrm>
            <a:off x="5943600" y="4326605"/>
            <a:ext cx="10668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Chuyển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EEE0AE-87EB-4683-9369-D48AFCE48CAF}"/>
              </a:ext>
            </a:extLst>
          </p:cNvPr>
          <p:cNvSpPr txBox="1"/>
          <p:nvPr/>
        </p:nvSpPr>
        <p:spPr>
          <a:xfrm>
            <a:off x="3572278" y="4777906"/>
            <a:ext cx="1908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Độ 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3B911B-3A0F-4D32-83D0-085D0B52D812}"/>
              </a:ext>
            </a:extLst>
          </p:cNvPr>
          <p:cNvSpPr txBox="1"/>
          <p:nvPr/>
        </p:nvSpPr>
        <p:spPr>
          <a:xfrm>
            <a:off x="5522993" y="4793330"/>
            <a:ext cx="1908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Độ C ở đây</a:t>
            </a:r>
          </a:p>
        </p:txBody>
      </p:sp>
    </p:spTree>
    <p:extLst>
      <p:ext uri="{BB962C8B-B14F-4D97-AF65-F5344CB8AC3E}">
        <p14:creationId xmlns:p14="http://schemas.microsoft.com/office/powerpoint/2010/main" val="1951714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E69F0F-52DD-45B1-980D-577224751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EC3098-3E6C-4FF5-B27C-074350B9D84F}"/>
              </a:ext>
            </a:extLst>
          </p:cNvPr>
          <p:cNvSpPr/>
          <p:nvPr/>
        </p:nvSpPr>
        <p:spPr>
          <a:xfrm>
            <a:off x="335748" y="503214"/>
            <a:ext cx="619650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3200" b="1" u="sng" dirty="0" err="1">
                <a:latin typeface="Cambria" panose="02040503050406030204" pitchFamily="18" charset="0"/>
                <a:cs typeface="Times New Roman" pitchFamily="18" charset="0"/>
              </a:rPr>
              <a:t>Câu</a:t>
            </a:r>
            <a:r>
              <a:rPr lang="en-US" sz="3200" b="1" u="sng" dirty="0">
                <a:latin typeface="Cambria" panose="02040503050406030204" pitchFamily="18" charset="0"/>
                <a:cs typeface="Times New Roman" pitchFamily="18" charset="0"/>
              </a:rPr>
              <a:t> 9:</a:t>
            </a:r>
            <a:r>
              <a:rPr lang="en-US" sz="32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Cambria" panose="02040503050406030204" pitchFamily="18" charset="0"/>
                <a:cs typeface="Times New Roman" pitchFamily="18" charset="0"/>
              </a:rPr>
              <a:t>Thiết</a:t>
            </a:r>
            <a:r>
              <a:rPr lang="en-US" sz="32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Cambria" panose="02040503050406030204" pitchFamily="18" charset="0"/>
                <a:cs typeface="Times New Roman" pitchFamily="18" charset="0"/>
              </a:rPr>
              <a:t>kế</a:t>
            </a:r>
            <a:r>
              <a:rPr lang="en-US" sz="32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Cambria" panose="02040503050406030204" pitchFamily="18" charset="0"/>
                <a:cs typeface="Times New Roman" pitchFamily="18" charset="0"/>
              </a:rPr>
              <a:t>màn</a:t>
            </a:r>
            <a:r>
              <a:rPr lang="en-US" sz="32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Cambria" panose="02040503050406030204" pitchFamily="18" charset="0"/>
                <a:cs typeface="Times New Roman" pitchFamily="18" charset="0"/>
              </a:rPr>
              <a:t>hình</a:t>
            </a:r>
            <a:r>
              <a:rPr lang="en-US" sz="32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Cambria" panose="02040503050406030204" pitchFamily="18" charset="0"/>
                <a:cs typeface="Times New Roman" pitchFamily="18" charset="0"/>
              </a:rPr>
              <a:t>tính</a:t>
            </a:r>
            <a:r>
              <a:rPr lang="en-US" sz="3200" dirty="0">
                <a:latin typeface="Cambria" panose="02040503050406030204" pitchFamily="18" charset="0"/>
                <a:cs typeface="Times New Roman" pitchFamily="18" charset="0"/>
              </a:rPr>
              <a:t> BMI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C31023-A598-490E-BC5D-4CBEC487271B}"/>
              </a:ext>
            </a:extLst>
          </p:cNvPr>
          <p:cNvSpPr/>
          <p:nvPr/>
        </p:nvSpPr>
        <p:spPr>
          <a:xfrm>
            <a:off x="1905000" y="1219200"/>
            <a:ext cx="4876800" cy="4953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53829F-F5F7-4FC0-B894-08A3F7348D85}"/>
              </a:ext>
            </a:extLst>
          </p:cNvPr>
          <p:cNvSpPr txBox="1"/>
          <p:nvPr/>
        </p:nvSpPr>
        <p:spPr>
          <a:xfrm>
            <a:off x="2043588" y="1463095"/>
            <a:ext cx="1694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Nhâp chiều cao: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3F99B9-C782-4F2B-AD3F-A6DC6242DEB2}"/>
              </a:ext>
            </a:extLst>
          </p:cNvPr>
          <p:cNvSpPr/>
          <p:nvPr/>
        </p:nvSpPr>
        <p:spPr>
          <a:xfrm>
            <a:off x="4038600" y="1438275"/>
            <a:ext cx="18288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0000"/>
                </a:solidFill>
              </a:rPr>
              <a:t>1.8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D9B0256-AD89-4B34-B9EF-0BAAC1A58477}"/>
              </a:ext>
            </a:extLst>
          </p:cNvPr>
          <p:cNvSpPr/>
          <p:nvPr/>
        </p:nvSpPr>
        <p:spPr>
          <a:xfrm>
            <a:off x="4038600" y="2528539"/>
            <a:ext cx="10668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Tính BMI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7D38EE-6385-4395-9D92-A07B6FBACDD1}"/>
              </a:ext>
            </a:extLst>
          </p:cNvPr>
          <p:cNvSpPr txBox="1"/>
          <p:nvPr/>
        </p:nvSpPr>
        <p:spPr>
          <a:xfrm>
            <a:off x="2043588" y="1948224"/>
            <a:ext cx="1585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Nhâp cân nặng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ABE994-EB32-476A-A03E-DAE458586D27}"/>
              </a:ext>
            </a:extLst>
          </p:cNvPr>
          <p:cNvSpPr/>
          <p:nvPr/>
        </p:nvSpPr>
        <p:spPr>
          <a:xfrm>
            <a:off x="4038600" y="1923404"/>
            <a:ext cx="18288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0000"/>
                </a:solidFill>
              </a:rPr>
              <a:t>172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80DFE7-AE13-42BC-BA12-4872E286E5FD}"/>
              </a:ext>
            </a:extLst>
          </p:cNvPr>
          <p:cNvSpPr txBox="1"/>
          <p:nvPr/>
        </p:nvSpPr>
        <p:spPr>
          <a:xfrm>
            <a:off x="2016625" y="3174969"/>
            <a:ext cx="1417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BMI của bạn: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7F3B04-F82C-413A-AF14-874497A9859F}"/>
              </a:ext>
            </a:extLst>
          </p:cNvPr>
          <p:cNvSpPr/>
          <p:nvPr/>
        </p:nvSpPr>
        <p:spPr>
          <a:xfrm>
            <a:off x="4011637" y="3150149"/>
            <a:ext cx="18288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635FC8-17E1-4E0C-AD8E-FA6669D44462}"/>
              </a:ext>
            </a:extLst>
          </p:cNvPr>
          <p:cNvSpPr txBox="1"/>
          <p:nvPr/>
        </p:nvSpPr>
        <p:spPr>
          <a:xfrm>
            <a:off x="2043588" y="3879173"/>
            <a:ext cx="1934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Tình trạng của bạn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E13062-CF60-4536-9CB0-FF69CC90ED11}"/>
              </a:ext>
            </a:extLst>
          </p:cNvPr>
          <p:cNvSpPr/>
          <p:nvPr/>
        </p:nvSpPr>
        <p:spPr>
          <a:xfrm>
            <a:off x="4038600" y="3854353"/>
            <a:ext cx="18288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0000"/>
                </a:solidFill>
              </a:rPr>
              <a:t>H</a:t>
            </a:r>
            <a:r>
              <a:rPr lang="vi-VN">
                <a:solidFill>
                  <a:srgbClr val="FF0000"/>
                </a:solidFill>
              </a:rPr>
              <a:t>ơ</a:t>
            </a:r>
            <a:r>
              <a:rPr lang="en-US">
                <a:solidFill>
                  <a:srgbClr val="FF0000"/>
                </a:solidFill>
              </a:rPr>
              <a:t>i Béo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F7D63A-2A46-46E3-A4FC-81E767319A7E}"/>
              </a:ext>
            </a:extLst>
          </p:cNvPr>
          <p:cNvSpPr txBox="1"/>
          <p:nvPr/>
        </p:nvSpPr>
        <p:spPr>
          <a:xfrm>
            <a:off x="1983273" y="4499353"/>
            <a:ext cx="16476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Nguy c</a:t>
            </a:r>
            <a:r>
              <a:rPr lang="vi-VN"/>
              <a:t>ơ</a:t>
            </a:r>
            <a:r>
              <a:rPr lang="en-US"/>
              <a:t> </a:t>
            </a:r>
          </a:p>
          <a:p>
            <a:r>
              <a:rPr lang="en-US"/>
              <a:t>phát triển bệnh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73503A-4024-460A-80EF-8EE33470B418}"/>
              </a:ext>
            </a:extLst>
          </p:cNvPr>
          <p:cNvSpPr/>
          <p:nvPr/>
        </p:nvSpPr>
        <p:spPr>
          <a:xfrm>
            <a:off x="3978285" y="4616022"/>
            <a:ext cx="18288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0000"/>
                </a:solidFill>
              </a:rPr>
              <a:t>H</a:t>
            </a:r>
            <a:r>
              <a:rPr lang="vi-VN">
                <a:solidFill>
                  <a:srgbClr val="FF0000"/>
                </a:solidFill>
              </a:rPr>
              <a:t>ơ</a:t>
            </a:r>
            <a:r>
              <a:rPr lang="en-US">
                <a:solidFill>
                  <a:srgbClr val="FF0000"/>
                </a:solidFill>
              </a:rPr>
              <a:t>i h</a:t>
            </a:r>
            <a:r>
              <a:rPr lang="vi-VN">
                <a:solidFill>
                  <a:srgbClr val="FF0000"/>
                </a:solidFill>
              </a:rPr>
              <a:t>ơ</a:t>
            </a:r>
            <a:r>
              <a:rPr lang="en-US">
                <a:solidFill>
                  <a:srgbClr val="FF0000"/>
                </a:solidFill>
              </a:rPr>
              <a:t>i cao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409DC21-8018-4EFD-9CF9-9E1DE6DE8DD9}"/>
              </a:ext>
            </a:extLst>
          </p:cNvPr>
          <p:cNvSpPr/>
          <p:nvPr/>
        </p:nvSpPr>
        <p:spPr>
          <a:xfrm>
            <a:off x="3865216" y="5229225"/>
            <a:ext cx="10668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Thoát</a:t>
            </a:r>
          </a:p>
        </p:txBody>
      </p:sp>
    </p:spTree>
    <p:extLst>
      <p:ext uri="{BB962C8B-B14F-4D97-AF65-F5344CB8AC3E}">
        <p14:creationId xmlns:p14="http://schemas.microsoft.com/office/powerpoint/2010/main" val="9514350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1747837" y="762000"/>
            <a:ext cx="8615363" cy="190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4400" kern="0">
                <a:solidFill>
                  <a:srgbClr val="002060"/>
                </a:solidFill>
                <a:latin typeface="Cambria" panose="02040503050406030204" pitchFamily="18" charset="0"/>
              </a:rPr>
              <a:t>Bài tập tổng hợp</a:t>
            </a:r>
          </a:p>
          <a:p>
            <a:pPr>
              <a:defRPr/>
            </a:pPr>
            <a:r>
              <a:rPr lang="en-US" sz="4400" kern="0">
                <a:solidFill>
                  <a:srgbClr val="002060"/>
                </a:solidFill>
                <a:latin typeface="Cambria" panose="02040503050406030204" pitchFamily="18" charset="0"/>
              </a:rPr>
              <a:t>Quản lý Sách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52</a:t>
            </a:fld>
            <a:endParaRPr lang="en-US"/>
          </a:p>
        </p:txBody>
      </p:sp>
      <p:pic>
        <p:nvPicPr>
          <p:cNvPr id="1026" name="Picture 2" descr="Image result for Python">
            <a:extLst>
              <a:ext uri="{FF2B5EF4-FFF2-40B4-BE49-F238E27FC236}">
                <a16:creationId xmlns:a16="http://schemas.microsoft.com/office/drawing/2014/main" id="{DB89E5ED-4BAE-4B8E-BE15-5C0C50797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4825" y="2514600"/>
            <a:ext cx="5169023" cy="260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80798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6629400" cy="508000"/>
            <a:chOff x="789624" y="1191463"/>
            <a:chExt cx="6629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6428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Nội dung bài học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Tổng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hợp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kiến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thức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đã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học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viết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ch</a:t>
            </a:r>
            <a:r>
              <a:rPr lang="vi-VN" dirty="0">
                <a:latin typeface="Cambria" panose="02040503050406030204" pitchFamily="18" charset="0"/>
                <a:cs typeface="Times New Roman" pitchFamily="18" charset="0"/>
              </a:rPr>
              <a:t>ư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ơng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trình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quản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lý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Sách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(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mã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sách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tên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sách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năm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xuất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bản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)</a:t>
            </a:r>
          </a:p>
          <a:p>
            <a:pPr algn="just">
              <a:buFontTx/>
              <a:buChar char="-"/>
            </a:pP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Lưu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file</a:t>
            </a:r>
          </a:p>
          <a:p>
            <a:pPr algn="just">
              <a:buFontTx/>
              <a:buChar char="-"/>
            </a:pP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Đọc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file</a:t>
            </a:r>
          </a:p>
          <a:p>
            <a:pPr algn="just">
              <a:buFontTx/>
              <a:buChar char="-"/>
            </a:pP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Hiển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thị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lên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giao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diện</a:t>
            </a:r>
            <a:endParaRPr lang="en-US" dirty="0">
              <a:latin typeface="Cambria" panose="02040503050406030204" pitchFamily="18" charset="0"/>
              <a:cs typeface="Times New Roman" pitchFamily="18" charset="0"/>
            </a:endParaRPr>
          </a:p>
          <a:p>
            <a:pPr algn="just">
              <a:buFontTx/>
              <a:buChar char="-"/>
            </a:pP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Tìm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kiếm</a:t>
            </a:r>
            <a:endParaRPr lang="en-US" dirty="0">
              <a:latin typeface="Cambria" panose="02040503050406030204" pitchFamily="18" charset="0"/>
              <a:cs typeface="Times New Roman" pitchFamily="18" charset="0"/>
            </a:endParaRPr>
          </a:p>
          <a:p>
            <a:pPr algn="just">
              <a:buFontTx/>
              <a:buChar char="-"/>
            </a:pP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Sắp</a:t>
            </a:r>
            <a:r>
              <a:rPr lang="en-US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cs typeface="Times New Roman" pitchFamily="18" charset="0"/>
              </a:rPr>
              <a:t>xếp</a:t>
            </a:r>
            <a:endParaRPr lang="en-US" dirty="0">
              <a:latin typeface="Cambria" panose="02040503050406030204" pitchFamily="18" charset="0"/>
              <a:cs typeface="Times New Roman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64BFF1-44B9-44DF-B8E9-320D384C4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9" y="1676400"/>
            <a:ext cx="4845587" cy="515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1222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4495800" y="2555117"/>
            <a:ext cx="2667000" cy="109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600">
                <a:latin typeface="Cambria" panose="02040503050406030204" pitchFamily="18" charset="0"/>
                <a:cs typeface="Arial" charset="0"/>
              </a:rPr>
              <a:t>END</a:t>
            </a:r>
          </a:p>
        </p:txBody>
      </p:sp>
      <p:pic>
        <p:nvPicPr>
          <p:cNvPr id="8" name="Picture 2" descr="Image result for minion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1" y="3611303"/>
            <a:ext cx="2181225" cy="2343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Image result for minions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2310736"/>
            <a:ext cx="1905000" cy="1905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loud Callout 9"/>
          <p:cNvSpPr/>
          <p:nvPr/>
        </p:nvSpPr>
        <p:spPr>
          <a:xfrm>
            <a:off x="7010400" y="533400"/>
            <a:ext cx="1714500" cy="1745064"/>
          </a:xfrm>
          <a:prstGeom prst="cloudCallout">
            <a:avLst>
              <a:gd name="adj1" fmla="val 45968"/>
              <a:gd name="adj2" fmla="val 9235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>
                <a:latin typeface="Cambria" panose="02040503050406030204" pitchFamily="18" charset="0"/>
              </a:rPr>
              <a:t>Hey! Coding is easy!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980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3030</TotalTime>
  <Words>3248</Words>
  <Application>Microsoft Office PowerPoint</Application>
  <PresentationFormat>Widescreen</PresentationFormat>
  <Paragraphs>300</Paragraphs>
  <Slides>54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1" baseType="lpstr">
      <vt:lpstr>Arial</vt:lpstr>
      <vt:lpstr>Calibri</vt:lpstr>
      <vt:lpstr>Cambria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X280</cp:lastModifiedBy>
  <cp:revision>1683</cp:revision>
  <dcterms:created xsi:type="dcterms:W3CDTF">2011-04-06T04:04:31Z</dcterms:created>
  <dcterms:modified xsi:type="dcterms:W3CDTF">2023-11-01T09:07:14Z</dcterms:modified>
</cp:coreProperties>
</file>
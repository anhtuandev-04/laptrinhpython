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1"/>
  </p:notesMasterIdLst>
  <p:handoutMasterIdLst>
    <p:handoutMasterId r:id="rId92"/>
  </p:handoutMasterIdLst>
  <p:sldIdLst>
    <p:sldId id="273" r:id="rId2"/>
    <p:sldId id="331" r:id="rId3"/>
    <p:sldId id="332" r:id="rId4"/>
    <p:sldId id="333" r:id="rId5"/>
    <p:sldId id="334" r:id="rId6"/>
    <p:sldId id="335" r:id="rId7"/>
    <p:sldId id="336" r:id="rId8"/>
    <p:sldId id="337" r:id="rId9"/>
    <p:sldId id="338" r:id="rId10"/>
    <p:sldId id="339" r:id="rId11"/>
    <p:sldId id="340" r:id="rId12"/>
    <p:sldId id="341" r:id="rId13"/>
    <p:sldId id="342" r:id="rId14"/>
    <p:sldId id="343" r:id="rId15"/>
    <p:sldId id="344" r:id="rId16"/>
    <p:sldId id="345" r:id="rId17"/>
    <p:sldId id="346" r:id="rId18"/>
    <p:sldId id="347" r:id="rId19"/>
    <p:sldId id="348" r:id="rId20"/>
    <p:sldId id="349" r:id="rId21"/>
    <p:sldId id="350" r:id="rId22"/>
    <p:sldId id="351" r:id="rId23"/>
    <p:sldId id="352" r:id="rId24"/>
    <p:sldId id="353" r:id="rId25"/>
    <p:sldId id="354" r:id="rId26"/>
    <p:sldId id="355" r:id="rId27"/>
    <p:sldId id="356" r:id="rId28"/>
    <p:sldId id="256" r:id="rId29"/>
    <p:sldId id="269" r:id="rId30"/>
    <p:sldId id="270" r:id="rId31"/>
    <p:sldId id="271" r:id="rId32"/>
    <p:sldId id="272" r:id="rId33"/>
    <p:sldId id="274" r:id="rId34"/>
    <p:sldId id="326" r:id="rId35"/>
    <p:sldId id="275" r:id="rId36"/>
    <p:sldId id="280" r:id="rId37"/>
    <p:sldId id="276" r:id="rId38"/>
    <p:sldId id="277" r:id="rId39"/>
    <p:sldId id="278" r:id="rId40"/>
    <p:sldId id="279" r:id="rId41"/>
    <p:sldId id="281" r:id="rId42"/>
    <p:sldId id="282" r:id="rId43"/>
    <p:sldId id="283" r:id="rId44"/>
    <p:sldId id="327" r:id="rId45"/>
    <p:sldId id="328" r:id="rId46"/>
    <p:sldId id="284" r:id="rId47"/>
    <p:sldId id="329" r:id="rId48"/>
    <p:sldId id="285" r:id="rId49"/>
    <p:sldId id="286" r:id="rId50"/>
    <p:sldId id="287" r:id="rId51"/>
    <p:sldId id="288" r:id="rId52"/>
    <p:sldId id="289" r:id="rId53"/>
    <p:sldId id="290" r:id="rId54"/>
    <p:sldId id="291" r:id="rId55"/>
    <p:sldId id="292" r:id="rId56"/>
    <p:sldId id="293" r:id="rId57"/>
    <p:sldId id="294" r:id="rId58"/>
    <p:sldId id="295" r:id="rId59"/>
    <p:sldId id="296" r:id="rId60"/>
    <p:sldId id="297" r:id="rId61"/>
    <p:sldId id="298" r:id="rId62"/>
    <p:sldId id="299" r:id="rId63"/>
    <p:sldId id="300" r:id="rId64"/>
    <p:sldId id="301" r:id="rId65"/>
    <p:sldId id="302" r:id="rId66"/>
    <p:sldId id="303" r:id="rId67"/>
    <p:sldId id="304" r:id="rId68"/>
    <p:sldId id="305" r:id="rId69"/>
    <p:sldId id="306" r:id="rId70"/>
    <p:sldId id="307" r:id="rId71"/>
    <p:sldId id="308" r:id="rId72"/>
    <p:sldId id="309" r:id="rId73"/>
    <p:sldId id="310" r:id="rId74"/>
    <p:sldId id="311" r:id="rId75"/>
    <p:sldId id="312" r:id="rId76"/>
    <p:sldId id="313" r:id="rId77"/>
    <p:sldId id="314" r:id="rId78"/>
    <p:sldId id="315" r:id="rId79"/>
    <p:sldId id="316" r:id="rId80"/>
    <p:sldId id="317" r:id="rId81"/>
    <p:sldId id="318" r:id="rId82"/>
    <p:sldId id="319" r:id="rId83"/>
    <p:sldId id="320" r:id="rId84"/>
    <p:sldId id="321" r:id="rId85"/>
    <p:sldId id="322" r:id="rId86"/>
    <p:sldId id="323" r:id="rId87"/>
    <p:sldId id="324" r:id="rId88"/>
    <p:sldId id="325" r:id="rId89"/>
    <p:sldId id="260"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471" autoAdjust="0"/>
    <p:restoredTop sz="94249" autoAdjust="0"/>
  </p:normalViewPr>
  <p:slideViewPr>
    <p:cSldViewPr>
      <p:cViewPr varScale="1">
        <p:scale>
          <a:sx n="42" d="100"/>
          <a:sy n="42" d="100"/>
        </p:scale>
        <p:origin x="72" y="149"/>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70" d="100"/>
          <a:sy n="70" d="100"/>
        </p:scale>
        <p:origin x="3240" y="7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75D05B2-72BD-434D-B956-6A7ECCF53AAC}" type="datetimeFigureOut">
              <a:rPr lang="en-US" smtClean="0"/>
              <a:t>8/18/2025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CFCC033-5EA0-4BD5-B8F4-E35629C62798}" type="slidenum">
              <a:rPr lang="en-US" smtClean="0"/>
              <a:t>‹#›</a:t>
            </a:fld>
            <a:endParaRPr lang="en-US"/>
          </a:p>
        </p:txBody>
      </p:sp>
    </p:spTree>
    <p:extLst>
      <p:ext uri="{BB962C8B-B14F-4D97-AF65-F5344CB8AC3E}">
        <p14:creationId xmlns:p14="http://schemas.microsoft.com/office/powerpoint/2010/main" val="364128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9F7025-33D9-4E9F-9955-A14222A03D05}" type="datetimeFigureOut">
              <a:rPr lang="en-US" smtClean="0"/>
              <a:t>8/18/2025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D3E3EA-CC6A-448F-83C3-9A526F33CF9E}" type="slidenum">
              <a:rPr lang="en-US" smtClean="0"/>
              <a:t>‹#›</a:t>
            </a:fld>
            <a:endParaRPr lang="en-US"/>
          </a:p>
        </p:txBody>
      </p:sp>
    </p:spTree>
    <p:extLst>
      <p:ext uri="{BB962C8B-B14F-4D97-AF65-F5344CB8AC3E}">
        <p14:creationId xmlns:p14="http://schemas.microsoft.com/office/powerpoint/2010/main" val="135252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a:t>
            </a:fld>
            <a:endParaRPr lang="en-US"/>
          </a:p>
        </p:txBody>
      </p:sp>
    </p:spTree>
    <p:extLst>
      <p:ext uri="{BB962C8B-B14F-4D97-AF65-F5344CB8AC3E}">
        <p14:creationId xmlns:p14="http://schemas.microsoft.com/office/powerpoint/2010/main" val="2523111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a:t>
            </a:fld>
            <a:endParaRPr lang="en-US"/>
          </a:p>
        </p:txBody>
      </p:sp>
    </p:spTree>
    <p:extLst>
      <p:ext uri="{BB962C8B-B14F-4D97-AF65-F5344CB8AC3E}">
        <p14:creationId xmlns:p14="http://schemas.microsoft.com/office/powerpoint/2010/main" val="2731725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a:t>
            </a:fld>
            <a:endParaRPr lang="en-US"/>
          </a:p>
        </p:txBody>
      </p:sp>
    </p:spTree>
    <p:extLst>
      <p:ext uri="{BB962C8B-B14F-4D97-AF65-F5344CB8AC3E}">
        <p14:creationId xmlns:p14="http://schemas.microsoft.com/office/powerpoint/2010/main" val="154228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a:t>
            </a:fld>
            <a:endParaRPr lang="en-US"/>
          </a:p>
        </p:txBody>
      </p:sp>
    </p:spTree>
    <p:extLst>
      <p:ext uri="{BB962C8B-B14F-4D97-AF65-F5344CB8AC3E}">
        <p14:creationId xmlns:p14="http://schemas.microsoft.com/office/powerpoint/2010/main" val="7092971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a:t>
            </a:fld>
            <a:endParaRPr lang="en-US"/>
          </a:p>
        </p:txBody>
      </p:sp>
    </p:spTree>
    <p:extLst>
      <p:ext uri="{BB962C8B-B14F-4D97-AF65-F5344CB8AC3E}">
        <p14:creationId xmlns:p14="http://schemas.microsoft.com/office/powerpoint/2010/main" val="37663485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a:t>
            </a:fld>
            <a:endParaRPr lang="en-US"/>
          </a:p>
        </p:txBody>
      </p:sp>
    </p:spTree>
    <p:extLst>
      <p:ext uri="{BB962C8B-B14F-4D97-AF65-F5344CB8AC3E}">
        <p14:creationId xmlns:p14="http://schemas.microsoft.com/office/powerpoint/2010/main" val="4133153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a:t>
            </a:fld>
            <a:endParaRPr lang="en-US"/>
          </a:p>
        </p:txBody>
      </p:sp>
    </p:spTree>
    <p:extLst>
      <p:ext uri="{BB962C8B-B14F-4D97-AF65-F5344CB8AC3E}">
        <p14:creationId xmlns:p14="http://schemas.microsoft.com/office/powerpoint/2010/main" val="10843950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a:t>
            </a:fld>
            <a:endParaRPr lang="en-US"/>
          </a:p>
        </p:txBody>
      </p:sp>
    </p:spTree>
    <p:extLst>
      <p:ext uri="{BB962C8B-B14F-4D97-AF65-F5344CB8AC3E}">
        <p14:creationId xmlns:p14="http://schemas.microsoft.com/office/powerpoint/2010/main" val="20745823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9</a:t>
            </a:fld>
            <a:endParaRPr lang="en-US"/>
          </a:p>
        </p:txBody>
      </p:sp>
    </p:spTree>
    <p:extLst>
      <p:ext uri="{BB962C8B-B14F-4D97-AF65-F5344CB8AC3E}">
        <p14:creationId xmlns:p14="http://schemas.microsoft.com/office/powerpoint/2010/main" val="1586765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10</a:t>
            </a:fld>
            <a:endParaRPr lang="en-US"/>
          </a:p>
        </p:txBody>
      </p:sp>
    </p:spTree>
    <p:extLst>
      <p:ext uri="{BB962C8B-B14F-4D97-AF65-F5344CB8AC3E}">
        <p14:creationId xmlns:p14="http://schemas.microsoft.com/office/powerpoint/2010/main" val="18942080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11</a:t>
            </a:fld>
            <a:endParaRPr lang="en-US"/>
          </a:p>
        </p:txBody>
      </p:sp>
    </p:spTree>
    <p:extLst>
      <p:ext uri="{BB962C8B-B14F-4D97-AF65-F5344CB8AC3E}">
        <p14:creationId xmlns:p14="http://schemas.microsoft.com/office/powerpoint/2010/main" val="2003746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12</a:t>
            </a:fld>
            <a:endParaRPr lang="en-US"/>
          </a:p>
        </p:txBody>
      </p:sp>
    </p:spTree>
    <p:extLst>
      <p:ext uri="{BB962C8B-B14F-4D97-AF65-F5344CB8AC3E}">
        <p14:creationId xmlns:p14="http://schemas.microsoft.com/office/powerpoint/2010/main" val="33062102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13</a:t>
            </a:fld>
            <a:endParaRPr lang="en-US"/>
          </a:p>
        </p:txBody>
      </p:sp>
    </p:spTree>
    <p:extLst>
      <p:ext uri="{BB962C8B-B14F-4D97-AF65-F5344CB8AC3E}">
        <p14:creationId xmlns:p14="http://schemas.microsoft.com/office/powerpoint/2010/main" val="28468419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14</a:t>
            </a:fld>
            <a:endParaRPr lang="en-US"/>
          </a:p>
        </p:txBody>
      </p:sp>
    </p:spTree>
    <p:extLst>
      <p:ext uri="{BB962C8B-B14F-4D97-AF65-F5344CB8AC3E}">
        <p14:creationId xmlns:p14="http://schemas.microsoft.com/office/powerpoint/2010/main" val="34868065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15</a:t>
            </a:fld>
            <a:endParaRPr lang="en-US"/>
          </a:p>
        </p:txBody>
      </p:sp>
    </p:spTree>
    <p:extLst>
      <p:ext uri="{BB962C8B-B14F-4D97-AF65-F5344CB8AC3E}">
        <p14:creationId xmlns:p14="http://schemas.microsoft.com/office/powerpoint/2010/main" val="31125996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16</a:t>
            </a:fld>
            <a:endParaRPr lang="en-US"/>
          </a:p>
        </p:txBody>
      </p:sp>
    </p:spTree>
    <p:extLst>
      <p:ext uri="{BB962C8B-B14F-4D97-AF65-F5344CB8AC3E}">
        <p14:creationId xmlns:p14="http://schemas.microsoft.com/office/powerpoint/2010/main" val="4574857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17</a:t>
            </a:fld>
            <a:endParaRPr lang="en-US"/>
          </a:p>
        </p:txBody>
      </p:sp>
    </p:spTree>
    <p:extLst>
      <p:ext uri="{BB962C8B-B14F-4D97-AF65-F5344CB8AC3E}">
        <p14:creationId xmlns:p14="http://schemas.microsoft.com/office/powerpoint/2010/main" val="42414587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18</a:t>
            </a:fld>
            <a:endParaRPr lang="en-US"/>
          </a:p>
        </p:txBody>
      </p:sp>
    </p:spTree>
    <p:extLst>
      <p:ext uri="{BB962C8B-B14F-4D97-AF65-F5344CB8AC3E}">
        <p14:creationId xmlns:p14="http://schemas.microsoft.com/office/powerpoint/2010/main" val="19606968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19</a:t>
            </a:fld>
            <a:endParaRPr lang="en-US"/>
          </a:p>
        </p:txBody>
      </p:sp>
    </p:spTree>
    <p:extLst>
      <p:ext uri="{BB962C8B-B14F-4D97-AF65-F5344CB8AC3E}">
        <p14:creationId xmlns:p14="http://schemas.microsoft.com/office/powerpoint/2010/main" val="17668167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20</a:t>
            </a:fld>
            <a:endParaRPr lang="en-US"/>
          </a:p>
        </p:txBody>
      </p:sp>
    </p:spTree>
    <p:extLst>
      <p:ext uri="{BB962C8B-B14F-4D97-AF65-F5344CB8AC3E}">
        <p14:creationId xmlns:p14="http://schemas.microsoft.com/office/powerpoint/2010/main" val="23617627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21</a:t>
            </a:fld>
            <a:endParaRPr lang="en-US"/>
          </a:p>
        </p:txBody>
      </p:sp>
    </p:spTree>
    <p:extLst>
      <p:ext uri="{BB962C8B-B14F-4D97-AF65-F5344CB8AC3E}">
        <p14:creationId xmlns:p14="http://schemas.microsoft.com/office/powerpoint/2010/main" val="16644241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22</a:t>
            </a:fld>
            <a:endParaRPr lang="en-US"/>
          </a:p>
        </p:txBody>
      </p:sp>
    </p:spTree>
    <p:extLst>
      <p:ext uri="{BB962C8B-B14F-4D97-AF65-F5344CB8AC3E}">
        <p14:creationId xmlns:p14="http://schemas.microsoft.com/office/powerpoint/2010/main" val="16226029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23</a:t>
            </a:fld>
            <a:endParaRPr lang="en-US"/>
          </a:p>
        </p:txBody>
      </p:sp>
    </p:spTree>
    <p:extLst>
      <p:ext uri="{BB962C8B-B14F-4D97-AF65-F5344CB8AC3E}">
        <p14:creationId xmlns:p14="http://schemas.microsoft.com/office/powerpoint/2010/main" val="575363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24</a:t>
            </a:fld>
            <a:endParaRPr lang="en-US"/>
          </a:p>
        </p:txBody>
      </p:sp>
    </p:spTree>
    <p:extLst>
      <p:ext uri="{BB962C8B-B14F-4D97-AF65-F5344CB8AC3E}">
        <p14:creationId xmlns:p14="http://schemas.microsoft.com/office/powerpoint/2010/main" val="5921250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25</a:t>
            </a:fld>
            <a:endParaRPr lang="en-US"/>
          </a:p>
        </p:txBody>
      </p:sp>
    </p:spTree>
    <p:extLst>
      <p:ext uri="{BB962C8B-B14F-4D97-AF65-F5344CB8AC3E}">
        <p14:creationId xmlns:p14="http://schemas.microsoft.com/office/powerpoint/2010/main" val="3572671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26</a:t>
            </a:fld>
            <a:endParaRPr lang="en-US"/>
          </a:p>
        </p:txBody>
      </p:sp>
    </p:spTree>
    <p:extLst>
      <p:ext uri="{BB962C8B-B14F-4D97-AF65-F5344CB8AC3E}">
        <p14:creationId xmlns:p14="http://schemas.microsoft.com/office/powerpoint/2010/main" val="14856575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27</a:t>
            </a:fld>
            <a:endParaRPr lang="en-US"/>
          </a:p>
        </p:txBody>
      </p:sp>
    </p:spTree>
    <p:extLst>
      <p:ext uri="{BB962C8B-B14F-4D97-AF65-F5344CB8AC3E}">
        <p14:creationId xmlns:p14="http://schemas.microsoft.com/office/powerpoint/2010/main" val="42204395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28</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29</a:t>
            </a:fld>
            <a:endParaRPr lang="en-US"/>
          </a:p>
        </p:txBody>
      </p:sp>
    </p:spTree>
    <p:extLst>
      <p:ext uri="{BB962C8B-B14F-4D97-AF65-F5344CB8AC3E}">
        <p14:creationId xmlns:p14="http://schemas.microsoft.com/office/powerpoint/2010/main" val="8494659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30</a:t>
            </a:fld>
            <a:endParaRPr lang="en-US"/>
          </a:p>
        </p:txBody>
      </p:sp>
    </p:spTree>
    <p:extLst>
      <p:ext uri="{BB962C8B-B14F-4D97-AF65-F5344CB8AC3E}">
        <p14:creationId xmlns:p14="http://schemas.microsoft.com/office/powerpoint/2010/main" val="32923018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31</a:t>
            </a:fld>
            <a:endParaRPr lang="en-US"/>
          </a:p>
        </p:txBody>
      </p:sp>
    </p:spTree>
    <p:extLst>
      <p:ext uri="{BB962C8B-B14F-4D97-AF65-F5344CB8AC3E}">
        <p14:creationId xmlns:p14="http://schemas.microsoft.com/office/powerpoint/2010/main" val="31562167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32</a:t>
            </a:fld>
            <a:endParaRPr lang="en-US"/>
          </a:p>
        </p:txBody>
      </p:sp>
    </p:spTree>
    <p:extLst>
      <p:ext uri="{BB962C8B-B14F-4D97-AF65-F5344CB8AC3E}">
        <p14:creationId xmlns:p14="http://schemas.microsoft.com/office/powerpoint/2010/main" val="36764714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33</a:t>
            </a:fld>
            <a:endParaRPr lang="en-US"/>
          </a:p>
        </p:txBody>
      </p:sp>
    </p:spTree>
    <p:extLst>
      <p:ext uri="{BB962C8B-B14F-4D97-AF65-F5344CB8AC3E}">
        <p14:creationId xmlns:p14="http://schemas.microsoft.com/office/powerpoint/2010/main" val="27055630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34</a:t>
            </a:fld>
            <a:endParaRPr lang="en-US"/>
          </a:p>
        </p:txBody>
      </p:sp>
    </p:spTree>
    <p:extLst>
      <p:ext uri="{BB962C8B-B14F-4D97-AF65-F5344CB8AC3E}">
        <p14:creationId xmlns:p14="http://schemas.microsoft.com/office/powerpoint/2010/main" val="40314554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35</a:t>
            </a:fld>
            <a:endParaRPr lang="en-US"/>
          </a:p>
        </p:txBody>
      </p:sp>
    </p:spTree>
    <p:extLst>
      <p:ext uri="{BB962C8B-B14F-4D97-AF65-F5344CB8AC3E}">
        <p14:creationId xmlns:p14="http://schemas.microsoft.com/office/powerpoint/2010/main" val="11043779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36</a:t>
            </a:fld>
            <a:endParaRPr lang="en-US"/>
          </a:p>
        </p:txBody>
      </p:sp>
    </p:spTree>
    <p:extLst>
      <p:ext uri="{BB962C8B-B14F-4D97-AF65-F5344CB8AC3E}">
        <p14:creationId xmlns:p14="http://schemas.microsoft.com/office/powerpoint/2010/main" val="23410203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37</a:t>
            </a:fld>
            <a:endParaRPr lang="en-US"/>
          </a:p>
        </p:txBody>
      </p:sp>
    </p:spTree>
    <p:extLst>
      <p:ext uri="{BB962C8B-B14F-4D97-AF65-F5344CB8AC3E}">
        <p14:creationId xmlns:p14="http://schemas.microsoft.com/office/powerpoint/2010/main" val="39133797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38</a:t>
            </a:fld>
            <a:endParaRPr lang="en-US"/>
          </a:p>
        </p:txBody>
      </p:sp>
    </p:spTree>
    <p:extLst>
      <p:ext uri="{BB962C8B-B14F-4D97-AF65-F5344CB8AC3E}">
        <p14:creationId xmlns:p14="http://schemas.microsoft.com/office/powerpoint/2010/main" val="22820957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39</a:t>
            </a:fld>
            <a:endParaRPr lang="en-US"/>
          </a:p>
        </p:txBody>
      </p:sp>
    </p:spTree>
    <p:extLst>
      <p:ext uri="{BB962C8B-B14F-4D97-AF65-F5344CB8AC3E}">
        <p14:creationId xmlns:p14="http://schemas.microsoft.com/office/powerpoint/2010/main" val="37749232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40</a:t>
            </a:fld>
            <a:endParaRPr lang="en-US"/>
          </a:p>
        </p:txBody>
      </p:sp>
    </p:spTree>
    <p:extLst>
      <p:ext uri="{BB962C8B-B14F-4D97-AF65-F5344CB8AC3E}">
        <p14:creationId xmlns:p14="http://schemas.microsoft.com/office/powerpoint/2010/main" val="35441280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41</a:t>
            </a:fld>
            <a:endParaRPr lang="en-US"/>
          </a:p>
        </p:txBody>
      </p:sp>
    </p:spTree>
    <p:extLst>
      <p:ext uri="{BB962C8B-B14F-4D97-AF65-F5344CB8AC3E}">
        <p14:creationId xmlns:p14="http://schemas.microsoft.com/office/powerpoint/2010/main" val="2271729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42</a:t>
            </a:fld>
            <a:endParaRPr lang="en-US"/>
          </a:p>
        </p:txBody>
      </p:sp>
    </p:spTree>
    <p:extLst>
      <p:ext uri="{BB962C8B-B14F-4D97-AF65-F5344CB8AC3E}">
        <p14:creationId xmlns:p14="http://schemas.microsoft.com/office/powerpoint/2010/main" val="17089862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43</a:t>
            </a:fld>
            <a:endParaRPr lang="en-US"/>
          </a:p>
        </p:txBody>
      </p:sp>
    </p:spTree>
    <p:extLst>
      <p:ext uri="{BB962C8B-B14F-4D97-AF65-F5344CB8AC3E}">
        <p14:creationId xmlns:p14="http://schemas.microsoft.com/office/powerpoint/2010/main" val="32671656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44</a:t>
            </a:fld>
            <a:endParaRPr lang="en-US"/>
          </a:p>
        </p:txBody>
      </p:sp>
    </p:spTree>
    <p:extLst>
      <p:ext uri="{BB962C8B-B14F-4D97-AF65-F5344CB8AC3E}">
        <p14:creationId xmlns:p14="http://schemas.microsoft.com/office/powerpoint/2010/main" val="9065982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45</a:t>
            </a:fld>
            <a:endParaRPr lang="en-US"/>
          </a:p>
        </p:txBody>
      </p:sp>
    </p:spTree>
    <p:extLst>
      <p:ext uri="{BB962C8B-B14F-4D97-AF65-F5344CB8AC3E}">
        <p14:creationId xmlns:p14="http://schemas.microsoft.com/office/powerpoint/2010/main" val="305936108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46</a:t>
            </a:fld>
            <a:endParaRPr lang="en-US"/>
          </a:p>
        </p:txBody>
      </p:sp>
    </p:spTree>
    <p:extLst>
      <p:ext uri="{BB962C8B-B14F-4D97-AF65-F5344CB8AC3E}">
        <p14:creationId xmlns:p14="http://schemas.microsoft.com/office/powerpoint/2010/main" val="372502083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47</a:t>
            </a:fld>
            <a:endParaRPr lang="en-US"/>
          </a:p>
        </p:txBody>
      </p:sp>
    </p:spTree>
    <p:extLst>
      <p:ext uri="{BB962C8B-B14F-4D97-AF65-F5344CB8AC3E}">
        <p14:creationId xmlns:p14="http://schemas.microsoft.com/office/powerpoint/2010/main" val="27457950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48</a:t>
            </a:fld>
            <a:endParaRPr lang="en-US"/>
          </a:p>
        </p:txBody>
      </p:sp>
    </p:spTree>
    <p:extLst>
      <p:ext uri="{BB962C8B-B14F-4D97-AF65-F5344CB8AC3E}">
        <p14:creationId xmlns:p14="http://schemas.microsoft.com/office/powerpoint/2010/main" val="21773626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49</a:t>
            </a:fld>
            <a:endParaRPr lang="en-US"/>
          </a:p>
        </p:txBody>
      </p:sp>
    </p:spTree>
    <p:extLst>
      <p:ext uri="{BB962C8B-B14F-4D97-AF65-F5344CB8AC3E}">
        <p14:creationId xmlns:p14="http://schemas.microsoft.com/office/powerpoint/2010/main" val="13052562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50</a:t>
            </a:fld>
            <a:endParaRPr lang="en-US"/>
          </a:p>
        </p:txBody>
      </p:sp>
    </p:spTree>
    <p:extLst>
      <p:ext uri="{BB962C8B-B14F-4D97-AF65-F5344CB8AC3E}">
        <p14:creationId xmlns:p14="http://schemas.microsoft.com/office/powerpoint/2010/main" val="20485998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51</a:t>
            </a:fld>
            <a:endParaRPr lang="en-US"/>
          </a:p>
        </p:txBody>
      </p:sp>
    </p:spTree>
    <p:extLst>
      <p:ext uri="{BB962C8B-B14F-4D97-AF65-F5344CB8AC3E}">
        <p14:creationId xmlns:p14="http://schemas.microsoft.com/office/powerpoint/2010/main" val="362235904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52</a:t>
            </a:fld>
            <a:endParaRPr lang="en-US"/>
          </a:p>
        </p:txBody>
      </p:sp>
    </p:spTree>
    <p:extLst>
      <p:ext uri="{BB962C8B-B14F-4D97-AF65-F5344CB8AC3E}">
        <p14:creationId xmlns:p14="http://schemas.microsoft.com/office/powerpoint/2010/main" val="229833206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53</a:t>
            </a:fld>
            <a:endParaRPr lang="en-US"/>
          </a:p>
        </p:txBody>
      </p:sp>
    </p:spTree>
    <p:extLst>
      <p:ext uri="{BB962C8B-B14F-4D97-AF65-F5344CB8AC3E}">
        <p14:creationId xmlns:p14="http://schemas.microsoft.com/office/powerpoint/2010/main" val="333143494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54</a:t>
            </a:fld>
            <a:endParaRPr lang="en-US"/>
          </a:p>
        </p:txBody>
      </p:sp>
    </p:spTree>
    <p:extLst>
      <p:ext uri="{BB962C8B-B14F-4D97-AF65-F5344CB8AC3E}">
        <p14:creationId xmlns:p14="http://schemas.microsoft.com/office/powerpoint/2010/main" val="396378923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55</a:t>
            </a:fld>
            <a:endParaRPr lang="en-US"/>
          </a:p>
        </p:txBody>
      </p:sp>
    </p:spTree>
    <p:extLst>
      <p:ext uri="{BB962C8B-B14F-4D97-AF65-F5344CB8AC3E}">
        <p14:creationId xmlns:p14="http://schemas.microsoft.com/office/powerpoint/2010/main" val="42866189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56</a:t>
            </a:fld>
            <a:endParaRPr lang="en-US"/>
          </a:p>
        </p:txBody>
      </p:sp>
    </p:spTree>
    <p:extLst>
      <p:ext uri="{BB962C8B-B14F-4D97-AF65-F5344CB8AC3E}">
        <p14:creationId xmlns:p14="http://schemas.microsoft.com/office/powerpoint/2010/main" val="213392275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57</a:t>
            </a:fld>
            <a:endParaRPr lang="en-US"/>
          </a:p>
        </p:txBody>
      </p:sp>
    </p:spTree>
    <p:extLst>
      <p:ext uri="{BB962C8B-B14F-4D97-AF65-F5344CB8AC3E}">
        <p14:creationId xmlns:p14="http://schemas.microsoft.com/office/powerpoint/2010/main" val="113663996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58</a:t>
            </a:fld>
            <a:endParaRPr lang="en-US"/>
          </a:p>
        </p:txBody>
      </p:sp>
    </p:spTree>
    <p:extLst>
      <p:ext uri="{BB962C8B-B14F-4D97-AF65-F5344CB8AC3E}">
        <p14:creationId xmlns:p14="http://schemas.microsoft.com/office/powerpoint/2010/main" val="124130731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59</a:t>
            </a:fld>
            <a:endParaRPr lang="en-US"/>
          </a:p>
        </p:txBody>
      </p:sp>
    </p:spTree>
    <p:extLst>
      <p:ext uri="{BB962C8B-B14F-4D97-AF65-F5344CB8AC3E}">
        <p14:creationId xmlns:p14="http://schemas.microsoft.com/office/powerpoint/2010/main" val="339963071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60</a:t>
            </a:fld>
            <a:endParaRPr lang="en-US"/>
          </a:p>
        </p:txBody>
      </p:sp>
    </p:spTree>
    <p:extLst>
      <p:ext uri="{BB962C8B-B14F-4D97-AF65-F5344CB8AC3E}">
        <p14:creationId xmlns:p14="http://schemas.microsoft.com/office/powerpoint/2010/main" val="323399492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61</a:t>
            </a:fld>
            <a:endParaRPr lang="en-US"/>
          </a:p>
        </p:txBody>
      </p:sp>
    </p:spTree>
    <p:extLst>
      <p:ext uri="{BB962C8B-B14F-4D97-AF65-F5344CB8AC3E}">
        <p14:creationId xmlns:p14="http://schemas.microsoft.com/office/powerpoint/2010/main" val="182188862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62</a:t>
            </a:fld>
            <a:endParaRPr lang="en-US"/>
          </a:p>
        </p:txBody>
      </p:sp>
    </p:spTree>
    <p:extLst>
      <p:ext uri="{BB962C8B-B14F-4D97-AF65-F5344CB8AC3E}">
        <p14:creationId xmlns:p14="http://schemas.microsoft.com/office/powerpoint/2010/main" val="320520533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63</a:t>
            </a:fld>
            <a:endParaRPr lang="en-US"/>
          </a:p>
        </p:txBody>
      </p:sp>
    </p:spTree>
    <p:extLst>
      <p:ext uri="{BB962C8B-B14F-4D97-AF65-F5344CB8AC3E}">
        <p14:creationId xmlns:p14="http://schemas.microsoft.com/office/powerpoint/2010/main" val="123678117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64</a:t>
            </a:fld>
            <a:endParaRPr lang="en-US"/>
          </a:p>
        </p:txBody>
      </p:sp>
    </p:spTree>
    <p:extLst>
      <p:ext uri="{BB962C8B-B14F-4D97-AF65-F5344CB8AC3E}">
        <p14:creationId xmlns:p14="http://schemas.microsoft.com/office/powerpoint/2010/main" val="79418943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65</a:t>
            </a:fld>
            <a:endParaRPr lang="en-US"/>
          </a:p>
        </p:txBody>
      </p:sp>
    </p:spTree>
    <p:extLst>
      <p:ext uri="{BB962C8B-B14F-4D97-AF65-F5344CB8AC3E}">
        <p14:creationId xmlns:p14="http://schemas.microsoft.com/office/powerpoint/2010/main" val="89311680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66</a:t>
            </a:fld>
            <a:endParaRPr lang="en-US"/>
          </a:p>
        </p:txBody>
      </p:sp>
    </p:spTree>
    <p:extLst>
      <p:ext uri="{BB962C8B-B14F-4D97-AF65-F5344CB8AC3E}">
        <p14:creationId xmlns:p14="http://schemas.microsoft.com/office/powerpoint/2010/main" val="139211107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67</a:t>
            </a:fld>
            <a:endParaRPr lang="en-US"/>
          </a:p>
        </p:txBody>
      </p:sp>
    </p:spTree>
    <p:extLst>
      <p:ext uri="{BB962C8B-B14F-4D97-AF65-F5344CB8AC3E}">
        <p14:creationId xmlns:p14="http://schemas.microsoft.com/office/powerpoint/2010/main" val="319760345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68</a:t>
            </a:fld>
            <a:endParaRPr lang="en-US"/>
          </a:p>
        </p:txBody>
      </p:sp>
    </p:spTree>
    <p:extLst>
      <p:ext uri="{BB962C8B-B14F-4D97-AF65-F5344CB8AC3E}">
        <p14:creationId xmlns:p14="http://schemas.microsoft.com/office/powerpoint/2010/main" val="234589657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69</a:t>
            </a:fld>
            <a:endParaRPr lang="en-US"/>
          </a:p>
        </p:txBody>
      </p:sp>
    </p:spTree>
    <p:extLst>
      <p:ext uri="{BB962C8B-B14F-4D97-AF65-F5344CB8AC3E}">
        <p14:creationId xmlns:p14="http://schemas.microsoft.com/office/powerpoint/2010/main" val="58560354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70</a:t>
            </a:fld>
            <a:endParaRPr lang="en-US"/>
          </a:p>
        </p:txBody>
      </p:sp>
    </p:spTree>
    <p:extLst>
      <p:ext uri="{BB962C8B-B14F-4D97-AF65-F5344CB8AC3E}">
        <p14:creationId xmlns:p14="http://schemas.microsoft.com/office/powerpoint/2010/main" val="23847788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71</a:t>
            </a:fld>
            <a:endParaRPr lang="en-US"/>
          </a:p>
        </p:txBody>
      </p:sp>
    </p:spTree>
    <p:extLst>
      <p:ext uri="{BB962C8B-B14F-4D97-AF65-F5344CB8AC3E}">
        <p14:creationId xmlns:p14="http://schemas.microsoft.com/office/powerpoint/2010/main" val="53797703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72</a:t>
            </a:fld>
            <a:endParaRPr lang="en-US"/>
          </a:p>
        </p:txBody>
      </p:sp>
    </p:spTree>
    <p:extLst>
      <p:ext uri="{BB962C8B-B14F-4D97-AF65-F5344CB8AC3E}">
        <p14:creationId xmlns:p14="http://schemas.microsoft.com/office/powerpoint/2010/main" val="85602006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73</a:t>
            </a:fld>
            <a:endParaRPr lang="en-US"/>
          </a:p>
        </p:txBody>
      </p:sp>
    </p:spTree>
    <p:extLst>
      <p:ext uri="{BB962C8B-B14F-4D97-AF65-F5344CB8AC3E}">
        <p14:creationId xmlns:p14="http://schemas.microsoft.com/office/powerpoint/2010/main" val="203137111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74</a:t>
            </a:fld>
            <a:endParaRPr lang="en-US"/>
          </a:p>
        </p:txBody>
      </p:sp>
    </p:spTree>
    <p:extLst>
      <p:ext uri="{BB962C8B-B14F-4D97-AF65-F5344CB8AC3E}">
        <p14:creationId xmlns:p14="http://schemas.microsoft.com/office/powerpoint/2010/main" val="270761686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75</a:t>
            </a:fld>
            <a:endParaRPr lang="en-US"/>
          </a:p>
        </p:txBody>
      </p:sp>
    </p:spTree>
    <p:extLst>
      <p:ext uri="{BB962C8B-B14F-4D97-AF65-F5344CB8AC3E}">
        <p14:creationId xmlns:p14="http://schemas.microsoft.com/office/powerpoint/2010/main" val="20033068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76</a:t>
            </a:fld>
            <a:endParaRPr lang="en-US"/>
          </a:p>
        </p:txBody>
      </p:sp>
    </p:spTree>
    <p:extLst>
      <p:ext uri="{BB962C8B-B14F-4D97-AF65-F5344CB8AC3E}">
        <p14:creationId xmlns:p14="http://schemas.microsoft.com/office/powerpoint/2010/main" val="238058206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77</a:t>
            </a:fld>
            <a:endParaRPr lang="en-US"/>
          </a:p>
        </p:txBody>
      </p:sp>
    </p:spTree>
    <p:extLst>
      <p:ext uri="{BB962C8B-B14F-4D97-AF65-F5344CB8AC3E}">
        <p14:creationId xmlns:p14="http://schemas.microsoft.com/office/powerpoint/2010/main" val="179242663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78</a:t>
            </a:fld>
            <a:endParaRPr lang="en-US"/>
          </a:p>
        </p:txBody>
      </p:sp>
    </p:spTree>
    <p:extLst>
      <p:ext uri="{BB962C8B-B14F-4D97-AF65-F5344CB8AC3E}">
        <p14:creationId xmlns:p14="http://schemas.microsoft.com/office/powerpoint/2010/main" val="69692833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79</a:t>
            </a:fld>
            <a:endParaRPr lang="en-US"/>
          </a:p>
        </p:txBody>
      </p:sp>
    </p:spTree>
    <p:extLst>
      <p:ext uri="{BB962C8B-B14F-4D97-AF65-F5344CB8AC3E}">
        <p14:creationId xmlns:p14="http://schemas.microsoft.com/office/powerpoint/2010/main" val="242263616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80</a:t>
            </a:fld>
            <a:endParaRPr lang="en-US"/>
          </a:p>
        </p:txBody>
      </p:sp>
    </p:spTree>
    <p:extLst>
      <p:ext uri="{BB962C8B-B14F-4D97-AF65-F5344CB8AC3E}">
        <p14:creationId xmlns:p14="http://schemas.microsoft.com/office/powerpoint/2010/main" val="130823940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81</a:t>
            </a:fld>
            <a:endParaRPr lang="en-US"/>
          </a:p>
        </p:txBody>
      </p:sp>
    </p:spTree>
    <p:extLst>
      <p:ext uri="{BB962C8B-B14F-4D97-AF65-F5344CB8AC3E}">
        <p14:creationId xmlns:p14="http://schemas.microsoft.com/office/powerpoint/2010/main" val="394360272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82</a:t>
            </a:fld>
            <a:endParaRPr lang="en-US"/>
          </a:p>
        </p:txBody>
      </p:sp>
    </p:spTree>
    <p:extLst>
      <p:ext uri="{BB962C8B-B14F-4D97-AF65-F5344CB8AC3E}">
        <p14:creationId xmlns:p14="http://schemas.microsoft.com/office/powerpoint/2010/main" val="106086219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83</a:t>
            </a:fld>
            <a:endParaRPr lang="en-US"/>
          </a:p>
        </p:txBody>
      </p:sp>
    </p:spTree>
    <p:extLst>
      <p:ext uri="{BB962C8B-B14F-4D97-AF65-F5344CB8AC3E}">
        <p14:creationId xmlns:p14="http://schemas.microsoft.com/office/powerpoint/2010/main" val="165684964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84</a:t>
            </a:fld>
            <a:endParaRPr lang="en-US"/>
          </a:p>
        </p:txBody>
      </p:sp>
    </p:spTree>
    <p:extLst>
      <p:ext uri="{BB962C8B-B14F-4D97-AF65-F5344CB8AC3E}">
        <p14:creationId xmlns:p14="http://schemas.microsoft.com/office/powerpoint/2010/main" val="281878263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85</a:t>
            </a:fld>
            <a:endParaRPr lang="en-US"/>
          </a:p>
        </p:txBody>
      </p:sp>
    </p:spTree>
    <p:extLst>
      <p:ext uri="{BB962C8B-B14F-4D97-AF65-F5344CB8AC3E}">
        <p14:creationId xmlns:p14="http://schemas.microsoft.com/office/powerpoint/2010/main" val="342896495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86</a:t>
            </a:fld>
            <a:endParaRPr lang="en-US"/>
          </a:p>
        </p:txBody>
      </p:sp>
    </p:spTree>
    <p:extLst>
      <p:ext uri="{BB962C8B-B14F-4D97-AF65-F5344CB8AC3E}">
        <p14:creationId xmlns:p14="http://schemas.microsoft.com/office/powerpoint/2010/main" val="276180353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87</a:t>
            </a:fld>
            <a:endParaRPr lang="en-US"/>
          </a:p>
        </p:txBody>
      </p:sp>
    </p:spTree>
    <p:extLst>
      <p:ext uri="{BB962C8B-B14F-4D97-AF65-F5344CB8AC3E}">
        <p14:creationId xmlns:p14="http://schemas.microsoft.com/office/powerpoint/2010/main" val="29468887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88</a:t>
            </a:fld>
            <a:endParaRPr lang="en-US"/>
          </a:p>
        </p:txBody>
      </p:sp>
    </p:spTree>
    <p:extLst>
      <p:ext uri="{BB962C8B-B14F-4D97-AF65-F5344CB8AC3E}">
        <p14:creationId xmlns:p14="http://schemas.microsoft.com/office/powerpoint/2010/main" val="288150593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89</a:t>
            </a:fld>
            <a:endParaRPr lang="en-US"/>
          </a:p>
        </p:txBody>
      </p:sp>
    </p:spTree>
    <p:extLst>
      <p:ext uri="{BB962C8B-B14F-4D97-AF65-F5344CB8AC3E}">
        <p14:creationId xmlns:p14="http://schemas.microsoft.com/office/powerpoint/2010/main" val="1427860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3636725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37"/>
          <p:cNvSpPr>
            <a:spLocks noChangeArrowheads="1"/>
          </p:cNvSpPr>
          <p:nvPr userDrawn="1"/>
        </p:nvSpPr>
        <p:spPr bwMode="auto">
          <a:xfrm flipH="1">
            <a:off x="0" y="6460968"/>
            <a:ext cx="12192000" cy="397032"/>
          </a:xfrm>
          <a:prstGeom prst="rect">
            <a:avLst/>
          </a:prstGeom>
          <a:gradFill rotWithShape="1">
            <a:gsLst>
              <a:gs pos="0">
                <a:schemeClr val="bg1"/>
              </a:gs>
              <a:gs pos="100000">
                <a:srgbClr val="FF660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lgn="r">
              <a:lnSpc>
                <a:spcPct val="180000"/>
              </a:lnSpc>
            </a:pPr>
            <a:endParaRPr lang="en-US" sz="1100" b="1" baseline="0">
              <a:solidFill>
                <a:srgbClr val="0070C0"/>
              </a:solidFill>
              <a:latin typeface="Times New Roman" pitchFamily="18" charset="0"/>
              <a:cs typeface="Times New Roman" pitchFamily="18" charset="0"/>
            </a:endParaRPr>
          </a:p>
        </p:txBody>
      </p:sp>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100668"/>
            <a:ext cx="12192000" cy="525400"/>
          </a:xfrm>
          <a:prstGeom prst="rect">
            <a:avLst/>
          </a:prstGeom>
          <a:gradFill rotWithShape="1">
            <a:gsLst>
              <a:gs pos="0">
                <a:schemeClr val="bg1"/>
              </a:gs>
              <a:gs pos="100000">
                <a:srgbClr val="FF660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800" b="1" i="0" kern="1200">
                <a:solidFill>
                  <a:schemeClr val="tx1"/>
                </a:solidFill>
                <a:effectLst/>
                <a:latin typeface="Cambria" panose="02040503050406030204" pitchFamily="18" charset="0"/>
                <a:ea typeface="+mn-ea"/>
                <a:cs typeface="+mn-cs"/>
              </a:rPr>
              <a:t>Ngôn ngữ lập trình 1</a:t>
            </a:r>
            <a:endParaRPr lang="en-US" sz="1400" b="1" baseline="0" dirty="0">
              <a:solidFill>
                <a:srgbClr val="0070C0"/>
              </a:solidFill>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2055692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4115203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1362123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3526098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232146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4163858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4198128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869714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2941193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4231218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E5571-560F-4DFC-BA97-61ACA5F7ADE1}" type="slidenum">
              <a:rPr lang="en-US" smtClean="0"/>
              <a:t>‹#›</a:t>
            </a:fld>
            <a:endParaRPr lang="en-US"/>
          </a:p>
        </p:txBody>
      </p:sp>
    </p:spTree>
    <p:extLst>
      <p:ext uri="{BB962C8B-B14F-4D97-AF65-F5344CB8AC3E}">
        <p14:creationId xmlns:p14="http://schemas.microsoft.com/office/powerpoint/2010/main" val="25488443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6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6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7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21654" y="609601"/>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Ngôn </a:t>
            </a:r>
            <a:r>
              <a:rPr lang="en-US" sz="4400" kern="0" dirty="0" err="1">
                <a:solidFill>
                  <a:srgbClr val="002060"/>
                </a:solidFill>
                <a:latin typeface="Cambria" panose="02040503050406030204" pitchFamily="18" charset="0"/>
              </a:rPr>
              <a:t>ngữ</a:t>
            </a:r>
            <a:r>
              <a:rPr lang="en-US" sz="4400" kern="0" dirty="0">
                <a:solidFill>
                  <a:srgbClr val="002060"/>
                </a:solidFill>
                <a:latin typeface="Cambria" panose="02040503050406030204" pitchFamily="18" charset="0"/>
              </a:rPr>
              <a:t> </a:t>
            </a:r>
            <a:r>
              <a:rPr lang="en-US" sz="4400" kern="0" err="1">
                <a:solidFill>
                  <a:srgbClr val="002060"/>
                </a:solidFill>
                <a:latin typeface="Cambria" panose="02040503050406030204" pitchFamily="18" charset="0"/>
              </a:rPr>
              <a:t>lập</a:t>
            </a:r>
            <a:r>
              <a:rPr lang="en-US" sz="4400" kern="0">
                <a:solidFill>
                  <a:srgbClr val="002060"/>
                </a:solidFill>
                <a:latin typeface="Cambria" panose="02040503050406030204" pitchFamily="18" charset="0"/>
              </a:rPr>
              <a:t> trình 1</a:t>
            </a:r>
            <a:endParaRPr lang="en-US" sz="4400" kern="0" dirty="0">
              <a:solidFill>
                <a:srgbClr val="002060"/>
              </a:solidFill>
              <a:latin typeface="Cambria" panose="02040503050406030204" pitchFamily="18" charset="0"/>
            </a:endParaRPr>
          </a:p>
          <a:p>
            <a:pPr>
              <a:defRPr/>
            </a:pPr>
            <a:r>
              <a:rPr lang="en-US" sz="4400" kern="0" dirty="0" err="1">
                <a:solidFill>
                  <a:srgbClr val="002060"/>
                </a:solidFill>
                <a:latin typeface="Cambria" panose="02040503050406030204" pitchFamily="18" charset="0"/>
              </a:rPr>
              <a:t>Chương</a:t>
            </a:r>
            <a:r>
              <a:rPr lang="en-US" sz="4400" kern="0" dirty="0">
                <a:solidFill>
                  <a:srgbClr val="002060"/>
                </a:solidFill>
                <a:latin typeface="Cambria" panose="02040503050406030204" pitchFamily="18" charset="0"/>
              </a:rPr>
              <a:t> 4</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1</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3274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dirty="0" err="1">
                <a:latin typeface="Cambria" panose="02040503050406030204" pitchFamily="18" charset="0"/>
                <a:ea typeface="Cambria" panose="02040503050406030204" pitchFamily="18" charset="0"/>
                <a:cs typeface="Times New Roman" pitchFamily="18" charset="0"/>
              </a:rPr>
              <a:t>Hàm</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là</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một</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khối</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lệnh</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thực</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hiện</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một</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công</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việc</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hoàn</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chỉnh</a:t>
            </a:r>
            <a:r>
              <a:rPr lang="en-US" sz="2800" dirty="0">
                <a:latin typeface="Cambria" panose="02040503050406030204" pitchFamily="18" charset="0"/>
                <a:ea typeface="Cambria" panose="02040503050406030204" pitchFamily="18" charset="0"/>
                <a:cs typeface="Times New Roman" pitchFamily="18" charset="0"/>
              </a:rPr>
              <a:t> (module), </a:t>
            </a:r>
            <a:r>
              <a:rPr lang="en-US" sz="2800" dirty="0" err="1">
                <a:latin typeface="Cambria" panose="02040503050406030204" pitchFamily="18" charset="0"/>
                <a:ea typeface="Cambria" panose="02040503050406030204" pitchFamily="18" charset="0"/>
                <a:cs typeface="Times New Roman" pitchFamily="18" charset="0"/>
              </a:rPr>
              <a:t>được</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đặt</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tên</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và</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được</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gọi</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thực</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thi</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nhiều</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lần</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tại</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nhiều</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vị</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trí</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trong</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chương</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trình</a:t>
            </a:r>
            <a:r>
              <a:rPr lang="en-US" sz="2800" dirty="0">
                <a:latin typeface="Cambria" panose="02040503050406030204" pitchFamily="18" charset="0"/>
                <a:ea typeface="Cambria" panose="02040503050406030204" pitchFamily="18" charset="0"/>
                <a:cs typeface="Times New Roman" pitchFamily="18" charset="0"/>
              </a:rPr>
              <a:t>.</a:t>
            </a:r>
          </a:p>
          <a:p>
            <a:pPr marL="457200" indent="-457200">
              <a:buFont typeface="Wingdings" pitchFamily="2" charset="2"/>
              <a:buChar char="Ø"/>
            </a:pPr>
            <a:r>
              <a:rPr lang="en-US" sz="2800" dirty="0" err="1">
                <a:latin typeface="Cambria" panose="02040503050406030204" pitchFamily="18" charset="0"/>
                <a:ea typeface="Cambria" panose="02040503050406030204" pitchFamily="18" charset="0"/>
                <a:cs typeface="Times New Roman" pitchFamily="18" charset="0"/>
              </a:rPr>
              <a:t>Hàm</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còn</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gọi</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là</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chương</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trình</a:t>
            </a:r>
            <a:r>
              <a:rPr lang="en-US" sz="2800" dirty="0">
                <a:latin typeface="Cambria" panose="02040503050406030204" pitchFamily="18" charset="0"/>
                <a:ea typeface="Cambria" panose="02040503050406030204" pitchFamily="18" charset="0"/>
                <a:cs typeface="Times New Roman" pitchFamily="18" charset="0"/>
              </a:rPr>
              <a:t> con </a:t>
            </a:r>
            <a:r>
              <a:rPr lang="en-US" sz="2400" dirty="0">
                <a:latin typeface="Cambria" panose="02040503050406030204" pitchFamily="18" charset="0"/>
                <a:ea typeface="Cambria" panose="02040503050406030204" pitchFamily="18" charset="0"/>
                <a:cs typeface="Times New Roman" pitchFamily="18" charset="0"/>
              </a:rPr>
              <a:t>(</a:t>
            </a:r>
            <a:r>
              <a:rPr lang="en-US" sz="2400" i="1" dirty="0">
                <a:latin typeface="Cambria" panose="02040503050406030204" pitchFamily="18" charset="0"/>
                <a:ea typeface="Cambria" panose="02040503050406030204" pitchFamily="18" charset="0"/>
                <a:cs typeface="Times New Roman" pitchFamily="18" charset="0"/>
              </a:rPr>
              <a:t>subroutine)</a:t>
            </a:r>
          </a:p>
          <a:p>
            <a:pPr marL="457200" indent="-457200">
              <a:buFont typeface="Wingdings" pitchFamily="2" charset="2"/>
              <a:buChar char="Ø"/>
            </a:pPr>
            <a:r>
              <a:rPr lang="en-US" b="1" i="1" dirty="0" err="1">
                <a:latin typeface="Cambria" panose="02040503050406030204" pitchFamily="18" charset="0"/>
                <a:ea typeface="Cambria" panose="02040503050406030204" pitchFamily="18" charset="0"/>
                <a:cs typeface="Times New Roman" pitchFamily="18" charset="0"/>
              </a:rPr>
              <a:t>Nếu</a:t>
            </a:r>
            <a:r>
              <a:rPr lang="en-US" b="1" i="1" dirty="0">
                <a:latin typeface="Cambria" panose="02040503050406030204" pitchFamily="18" charset="0"/>
                <a:ea typeface="Cambria" panose="02040503050406030204" pitchFamily="18" charset="0"/>
                <a:cs typeface="Times New Roman" pitchFamily="18" charset="0"/>
              </a:rPr>
              <a:t> </a:t>
            </a:r>
            <a:r>
              <a:rPr lang="en-US" b="1" i="1" dirty="0" err="1">
                <a:latin typeface="Cambria" panose="02040503050406030204" pitchFamily="18" charset="0"/>
                <a:ea typeface="Cambria" panose="02040503050406030204" pitchFamily="18" charset="0"/>
                <a:cs typeface="Times New Roman" pitchFamily="18" charset="0"/>
              </a:rPr>
              <a:t>không</a:t>
            </a:r>
            <a:r>
              <a:rPr lang="en-US" b="1" i="1" dirty="0">
                <a:latin typeface="Cambria" panose="02040503050406030204" pitchFamily="18" charset="0"/>
                <a:ea typeface="Cambria" panose="02040503050406030204" pitchFamily="18" charset="0"/>
                <a:cs typeface="Times New Roman" pitchFamily="18" charset="0"/>
              </a:rPr>
              <a:t> </a:t>
            </a:r>
            <a:r>
              <a:rPr lang="en-US" b="1" i="1" dirty="0" err="1">
                <a:latin typeface="Cambria" panose="02040503050406030204" pitchFamily="18" charset="0"/>
                <a:ea typeface="Cambria" panose="02040503050406030204" pitchFamily="18" charset="0"/>
                <a:cs typeface="Times New Roman" pitchFamily="18" charset="0"/>
              </a:rPr>
              <a:t>viết</a:t>
            </a:r>
            <a:r>
              <a:rPr lang="en-US" b="1" i="1" dirty="0">
                <a:latin typeface="Cambria" panose="02040503050406030204" pitchFamily="18" charset="0"/>
                <a:ea typeface="Cambria" panose="02040503050406030204" pitchFamily="18" charset="0"/>
                <a:cs typeface="Times New Roman" pitchFamily="18" charset="0"/>
              </a:rPr>
              <a:t> </a:t>
            </a:r>
            <a:r>
              <a:rPr lang="en-US" b="1" i="1" dirty="0" err="1">
                <a:latin typeface="Cambria" panose="02040503050406030204" pitchFamily="18" charset="0"/>
                <a:ea typeface="Cambria" panose="02040503050406030204" pitchFamily="18" charset="0"/>
                <a:cs typeface="Times New Roman" pitchFamily="18" charset="0"/>
              </a:rPr>
              <a:t>hàm</a:t>
            </a:r>
            <a:r>
              <a:rPr lang="en-US" b="1" i="1" dirty="0">
                <a:latin typeface="Cambria" panose="02040503050406030204" pitchFamily="18" charset="0"/>
                <a:ea typeface="Cambria" panose="02040503050406030204" pitchFamily="18" charset="0"/>
                <a:cs typeface="Times New Roman" pitchFamily="18" charset="0"/>
              </a:rPr>
              <a:t> </a:t>
            </a:r>
            <a:r>
              <a:rPr lang="en-US" b="1" i="1" dirty="0" err="1">
                <a:latin typeface="Cambria" panose="02040503050406030204" pitchFamily="18" charset="0"/>
                <a:ea typeface="Cambria" panose="02040503050406030204" pitchFamily="18" charset="0"/>
                <a:cs typeface="Times New Roman" pitchFamily="18" charset="0"/>
              </a:rPr>
              <a:t>thì</a:t>
            </a:r>
            <a:r>
              <a:rPr lang="en-US" b="1" i="1" dirty="0">
                <a:latin typeface="Cambria" panose="02040503050406030204" pitchFamily="18" charset="0"/>
                <a:ea typeface="Cambria" panose="02040503050406030204" pitchFamily="18" charset="0"/>
                <a:cs typeface="Times New Roman" pitchFamily="18" charset="0"/>
              </a:rPr>
              <a:t> </a:t>
            </a:r>
            <a:r>
              <a:rPr lang="en-US" b="1" i="1" dirty="0" err="1">
                <a:latin typeface="Cambria" panose="02040503050406030204" pitchFamily="18" charset="0"/>
                <a:ea typeface="Cambria" panose="02040503050406030204" pitchFamily="18" charset="0"/>
                <a:cs typeface="Times New Roman" pitchFamily="18" charset="0"/>
              </a:rPr>
              <a:t>sẽ</a:t>
            </a:r>
            <a:r>
              <a:rPr lang="en-US" b="1" i="1" dirty="0">
                <a:latin typeface="Cambria" panose="02040503050406030204" pitchFamily="18" charset="0"/>
                <a:ea typeface="Cambria" panose="02040503050406030204" pitchFamily="18" charset="0"/>
                <a:cs typeface="Times New Roman" pitchFamily="18" charset="0"/>
              </a:rPr>
              <a:t> </a:t>
            </a:r>
            <a:r>
              <a:rPr lang="en-US" b="1" i="1" dirty="0" err="1">
                <a:latin typeface="Cambria" panose="02040503050406030204" pitchFamily="18" charset="0"/>
                <a:ea typeface="Cambria" panose="02040503050406030204" pitchFamily="18" charset="0"/>
                <a:cs typeface="Times New Roman" pitchFamily="18" charset="0"/>
              </a:rPr>
              <a:t>gặp</a:t>
            </a:r>
            <a:r>
              <a:rPr lang="en-US" b="1" i="1" dirty="0">
                <a:latin typeface="Cambria" panose="02040503050406030204" pitchFamily="18" charset="0"/>
                <a:ea typeface="Cambria" panose="02040503050406030204" pitchFamily="18" charset="0"/>
                <a:cs typeface="Times New Roman" pitchFamily="18" charset="0"/>
              </a:rPr>
              <a:t> </a:t>
            </a:r>
            <a:r>
              <a:rPr lang="en-US" b="1" i="1" dirty="0" err="1">
                <a:latin typeface="Cambria" panose="02040503050406030204" pitchFamily="18" charset="0"/>
                <a:ea typeface="Cambria" panose="02040503050406030204" pitchFamily="18" charset="0"/>
                <a:cs typeface="Times New Roman" pitchFamily="18" charset="0"/>
              </a:rPr>
              <a:t>những</a:t>
            </a:r>
            <a:r>
              <a:rPr lang="en-US" b="1" i="1" dirty="0">
                <a:latin typeface="Cambria" panose="02040503050406030204" pitchFamily="18" charset="0"/>
                <a:ea typeface="Cambria" panose="02040503050406030204" pitchFamily="18" charset="0"/>
                <a:cs typeface="Times New Roman" pitchFamily="18" charset="0"/>
              </a:rPr>
              <a:t> </a:t>
            </a:r>
            <a:r>
              <a:rPr lang="en-US" b="1" i="1" dirty="0" err="1">
                <a:latin typeface="Cambria" panose="02040503050406030204" pitchFamily="18" charset="0"/>
                <a:ea typeface="Cambria" panose="02040503050406030204" pitchFamily="18" charset="0"/>
                <a:cs typeface="Times New Roman" pitchFamily="18" charset="0"/>
              </a:rPr>
              <a:t>khó</a:t>
            </a:r>
            <a:r>
              <a:rPr lang="en-US" b="1" i="1" dirty="0">
                <a:latin typeface="Cambria" panose="02040503050406030204" pitchFamily="18" charset="0"/>
                <a:ea typeface="Cambria" panose="02040503050406030204" pitchFamily="18" charset="0"/>
                <a:cs typeface="Times New Roman" pitchFamily="18" charset="0"/>
              </a:rPr>
              <a:t> </a:t>
            </a:r>
            <a:r>
              <a:rPr lang="en-US" b="1" i="1" dirty="0" err="1">
                <a:latin typeface="Cambria" panose="02040503050406030204" pitchFamily="18" charset="0"/>
                <a:ea typeface="Cambria" panose="02040503050406030204" pitchFamily="18" charset="0"/>
                <a:cs typeface="Times New Roman" pitchFamily="18" charset="0"/>
              </a:rPr>
              <a:t>khăn</a:t>
            </a:r>
            <a:r>
              <a:rPr lang="en-US" b="1" i="1" dirty="0">
                <a:latin typeface="Cambria" panose="02040503050406030204" pitchFamily="18" charset="0"/>
                <a:ea typeface="Cambria" panose="02040503050406030204" pitchFamily="18" charset="0"/>
                <a:cs typeface="Times New Roman" pitchFamily="18" charset="0"/>
              </a:rPr>
              <a:t> </a:t>
            </a:r>
            <a:r>
              <a:rPr lang="en-US" b="1" i="1" dirty="0" err="1">
                <a:latin typeface="Cambria" panose="02040503050406030204" pitchFamily="18" charset="0"/>
                <a:ea typeface="Cambria" panose="02040503050406030204" pitchFamily="18" charset="0"/>
                <a:cs typeface="Times New Roman" pitchFamily="18" charset="0"/>
              </a:rPr>
              <a:t>gì</a:t>
            </a:r>
            <a:r>
              <a:rPr lang="en-US" b="1" i="1" dirty="0">
                <a:latin typeface="Cambria" panose="02040503050406030204" pitchFamily="18" charset="0"/>
                <a:ea typeface="Cambria" panose="02040503050406030204" pitchFamily="18" charset="0"/>
                <a:cs typeface="Times New Roman" pitchFamily="18" charset="0"/>
              </a:rPr>
              <a:t>?</a:t>
            </a:r>
          </a:p>
          <a:p>
            <a:pPr lvl="1" indent="-342900"/>
            <a:r>
              <a:rPr lang="en-US" sz="2400" dirty="0" err="1">
                <a:latin typeface="Cambria" panose="02040503050406030204" pitchFamily="18" charset="0"/>
                <a:ea typeface="Cambria" panose="02040503050406030204" pitchFamily="18" charset="0"/>
                <a:cs typeface="Times New Roman" pitchFamily="18" charset="0"/>
              </a:rPr>
              <a:t>Rất</a:t>
            </a:r>
            <a:r>
              <a:rPr lang="en-US" sz="2400" dirty="0">
                <a:latin typeface="Cambria" panose="02040503050406030204" pitchFamily="18" charset="0"/>
                <a:ea typeface="Cambria" panose="02040503050406030204" pitchFamily="18" charset="0"/>
                <a:cs typeface="Times New Roman" pitchFamily="18" charset="0"/>
              </a:rPr>
              <a:t> </a:t>
            </a:r>
            <a:r>
              <a:rPr lang="en-US" sz="2400" dirty="0" err="1">
                <a:latin typeface="Cambria" panose="02040503050406030204" pitchFamily="18" charset="0"/>
                <a:ea typeface="Cambria" panose="02040503050406030204" pitchFamily="18" charset="0"/>
                <a:cs typeface="Times New Roman" pitchFamily="18" charset="0"/>
              </a:rPr>
              <a:t>khó</a:t>
            </a:r>
            <a:r>
              <a:rPr lang="en-US" sz="2400" dirty="0">
                <a:latin typeface="Cambria" panose="02040503050406030204" pitchFamily="18" charset="0"/>
                <a:ea typeface="Cambria" panose="02040503050406030204" pitchFamily="18" charset="0"/>
                <a:cs typeface="Times New Roman" pitchFamily="18" charset="0"/>
              </a:rPr>
              <a:t> </a:t>
            </a:r>
            <a:r>
              <a:rPr lang="en-US" sz="2400" dirty="0" err="1">
                <a:latin typeface="Cambria" panose="02040503050406030204" pitchFamily="18" charset="0"/>
                <a:ea typeface="Cambria" panose="02040503050406030204" pitchFamily="18" charset="0"/>
                <a:cs typeface="Times New Roman" pitchFamily="18" charset="0"/>
              </a:rPr>
              <a:t>để</a:t>
            </a:r>
            <a:r>
              <a:rPr lang="en-US" sz="2400" dirty="0">
                <a:latin typeface="Cambria" panose="02040503050406030204" pitchFamily="18" charset="0"/>
                <a:ea typeface="Cambria" panose="02040503050406030204" pitchFamily="18" charset="0"/>
                <a:cs typeface="Times New Roman" pitchFamily="18" charset="0"/>
              </a:rPr>
              <a:t> </a:t>
            </a:r>
            <a:r>
              <a:rPr lang="en-US" sz="2400" dirty="0" err="1">
                <a:latin typeface="Cambria" panose="02040503050406030204" pitchFamily="18" charset="0"/>
                <a:ea typeface="Cambria" panose="02040503050406030204" pitchFamily="18" charset="0"/>
                <a:cs typeface="Times New Roman" pitchFamily="18" charset="0"/>
              </a:rPr>
              <a:t>viết</a:t>
            </a:r>
            <a:r>
              <a:rPr lang="en-US" sz="2400" dirty="0">
                <a:latin typeface="Cambria" panose="02040503050406030204" pitchFamily="18" charset="0"/>
                <a:ea typeface="Cambria" panose="02040503050406030204" pitchFamily="18" charset="0"/>
                <a:cs typeface="Times New Roman" pitchFamily="18" charset="0"/>
              </a:rPr>
              <a:t> </a:t>
            </a:r>
            <a:r>
              <a:rPr lang="en-US" sz="2400" dirty="0" err="1">
                <a:latin typeface="Cambria" panose="02040503050406030204" pitchFamily="18" charset="0"/>
                <a:ea typeface="Cambria" panose="02040503050406030204" pitchFamily="18" charset="0"/>
                <a:cs typeface="Times New Roman" pitchFamily="18" charset="0"/>
              </a:rPr>
              <a:t>chính</a:t>
            </a:r>
            <a:r>
              <a:rPr lang="en-US" sz="2400" dirty="0">
                <a:latin typeface="Cambria" panose="02040503050406030204" pitchFamily="18" charset="0"/>
                <a:ea typeface="Cambria" panose="02040503050406030204" pitchFamily="18" charset="0"/>
                <a:cs typeface="Times New Roman" pitchFamily="18" charset="0"/>
              </a:rPr>
              <a:t> </a:t>
            </a:r>
            <a:r>
              <a:rPr lang="en-US" sz="2400" dirty="0" err="1">
                <a:latin typeface="Cambria" panose="02040503050406030204" pitchFamily="18" charset="0"/>
                <a:ea typeface="Cambria" panose="02040503050406030204" pitchFamily="18" charset="0"/>
                <a:cs typeface="Times New Roman" pitchFamily="18" charset="0"/>
              </a:rPr>
              <a:t>xác</a:t>
            </a:r>
            <a:r>
              <a:rPr lang="en-US" sz="2400" dirty="0">
                <a:latin typeface="Cambria" panose="02040503050406030204" pitchFamily="18" charset="0"/>
                <a:ea typeface="Cambria" panose="02040503050406030204" pitchFamily="18" charset="0"/>
                <a:cs typeface="Times New Roman" pitchFamily="18" charset="0"/>
              </a:rPr>
              <a:t> </a:t>
            </a:r>
            <a:r>
              <a:rPr lang="en-US" sz="2400" dirty="0" err="1">
                <a:latin typeface="Cambria" panose="02040503050406030204" pitchFamily="18" charset="0"/>
                <a:ea typeface="Cambria" panose="02040503050406030204" pitchFamily="18" charset="0"/>
                <a:cs typeface="Times New Roman" pitchFamily="18" charset="0"/>
              </a:rPr>
              <a:t>khi</a:t>
            </a:r>
            <a:r>
              <a:rPr lang="en-US" sz="2400" dirty="0">
                <a:latin typeface="Cambria" panose="02040503050406030204" pitchFamily="18" charset="0"/>
                <a:ea typeface="Cambria" panose="02040503050406030204" pitchFamily="18" charset="0"/>
                <a:cs typeface="Times New Roman" pitchFamily="18" charset="0"/>
              </a:rPr>
              <a:t> </a:t>
            </a:r>
            <a:r>
              <a:rPr lang="en-US" sz="2400" dirty="0" err="1">
                <a:latin typeface="Cambria" panose="02040503050406030204" pitchFamily="18" charset="0"/>
                <a:ea typeface="Cambria" panose="02040503050406030204" pitchFamily="18" charset="0"/>
                <a:cs typeface="Times New Roman" pitchFamily="18" charset="0"/>
              </a:rPr>
              <a:t>dự</a:t>
            </a:r>
            <a:r>
              <a:rPr lang="en-US" sz="2400" dirty="0">
                <a:latin typeface="Cambria" panose="02040503050406030204" pitchFamily="18" charset="0"/>
                <a:ea typeface="Cambria" panose="02040503050406030204" pitchFamily="18" charset="0"/>
                <a:cs typeface="Times New Roman" pitchFamily="18" charset="0"/>
              </a:rPr>
              <a:t> </a:t>
            </a:r>
            <a:r>
              <a:rPr lang="en-US" sz="2400" dirty="0" err="1">
                <a:latin typeface="Cambria" panose="02040503050406030204" pitchFamily="18" charset="0"/>
                <a:ea typeface="Cambria" panose="02040503050406030204" pitchFamily="18" charset="0"/>
                <a:cs typeface="Times New Roman" pitchFamily="18" charset="0"/>
              </a:rPr>
              <a:t>án</a:t>
            </a:r>
            <a:r>
              <a:rPr lang="en-US" sz="2400" dirty="0">
                <a:latin typeface="Cambria" panose="02040503050406030204" pitchFamily="18" charset="0"/>
                <a:ea typeface="Cambria" panose="02040503050406030204" pitchFamily="18" charset="0"/>
                <a:cs typeface="Times New Roman" pitchFamily="18" charset="0"/>
              </a:rPr>
              <a:t> </a:t>
            </a:r>
            <a:r>
              <a:rPr lang="en-US" sz="2400" dirty="0" err="1">
                <a:latin typeface="Cambria" panose="02040503050406030204" pitchFamily="18" charset="0"/>
                <a:ea typeface="Cambria" panose="02040503050406030204" pitchFamily="18" charset="0"/>
                <a:cs typeface="Times New Roman" pitchFamily="18" charset="0"/>
              </a:rPr>
              <a:t>lớn</a:t>
            </a:r>
            <a:endParaRPr lang="en-US" sz="2400" dirty="0">
              <a:latin typeface="Cambria" panose="02040503050406030204" pitchFamily="18" charset="0"/>
              <a:ea typeface="Cambria" panose="02040503050406030204" pitchFamily="18" charset="0"/>
              <a:cs typeface="Times New Roman" pitchFamily="18" charset="0"/>
            </a:endParaRPr>
          </a:p>
          <a:p>
            <a:pPr lvl="1" indent="-342900"/>
            <a:r>
              <a:rPr lang="en-US" sz="2400" dirty="0" err="1">
                <a:latin typeface="Cambria" panose="02040503050406030204" pitchFamily="18" charset="0"/>
                <a:ea typeface="Cambria" panose="02040503050406030204" pitchFamily="18" charset="0"/>
                <a:cs typeface="Times New Roman" pitchFamily="18" charset="0"/>
              </a:rPr>
              <a:t>Rất</a:t>
            </a:r>
            <a:r>
              <a:rPr lang="en-US" sz="2400" dirty="0">
                <a:latin typeface="Cambria" panose="02040503050406030204" pitchFamily="18" charset="0"/>
                <a:ea typeface="Cambria" panose="02040503050406030204" pitchFamily="18" charset="0"/>
                <a:cs typeface="Times New Roman" pitchFamily="18" charset="0"/>
              </a:rPr>
              <a:t> </a:t>
            </a:r>
            <a:r>
              <a:rPr lang="en-US" sz="2400" dirty="0" err="1">
                <a:latin typeface="Cambria" panose="02040503050406030204" pitchFamily="18" charset="0"/>
                <a:ea typeface="Cambria" panose="02040503050406030204" pitchFamily="18" charset="0"/>
                <a:cs typeface="Times New Roman" pitchFamily="18" charset="0"/>
              </a:rPr>
              <a:t>khó</a:t>
            </a:r>
            <a:r>
              <a:rPr lang="en-US" sz="2400" dirty="0">
                <a:latin typeface="Cambria" panose="02040503050406030204" pitchFamily="18" charset="0"/>
                <a:ea typeface="Cambria" panose="02040503050406030204" pitchFamily="18" charset="0"/>
                <a:cs typeface="Times New Roman" pitchFamily="18" charset="0"/>
              </a:rPr>
              <a:t> debug</a:t>
            </a:r>
          </a:p>
          <a:p>
            <a:pPr lvl="1" indent="-342900"/>
            <a:r>
              <a:rPr lang="en-US" sz="2400" dirty="0" err="1">
                <a:latin typeface="Cambria" panose="02040503050406030204" pitchFamily="18" charset="0"/>
                <a:ea typeface="Cambria" panose="02040503050406030204" pitchFamily="18" charset="0"/>
                <a:cs typeface="Times New Roman" pitchFamily="18" charset="0"/>
              </a:rPr>
              <a:t>Rất</a:t>
            </a:r>
            <a:r>
              <a:rPr lang="en-US" sz="2400" dirty="0">
                <a:latin typeface="Cambria" panose="02040503050406030204" pitchFamily="18" charset="0"/>
                <a:ea typeface="Cambria" panose="02040503050406030204" pitchFamily="18" charset="0"/>
                <a:cs typeface="Times New Roman" pitchFamily="18" charset="0"/>
              </a:rPr>
              <a:t> </a:t>
            </a:r>
            <a:r>
              <a:rPr lang="en-US" sz="2400" dirty="0" err="1">
                <a:latin typeface="Cambria" panose="02040503050406030204" pitchFamily="18" charset="0"/>
                <a:ea typeface="Cambria" panose="02040503050406030204" pitchFamily="18" charset="0"/>
                <a:cs typeface="Times New Roman" pitchFamily="18" charset="0"/>
              </a:rPr>
              <a:t>khó</a:t>
            </a:r>
            <a:r>
              <a:rPr lang="en-US" sz="2400" dirty="0">
                <a:latin typeface="Cambria" panose="02040503050406030204" pitchFamily="18" charset="0"/>
                <a:ea typeface="Cambria" panose="02040503050406030204" pitchFamily="18" charset="0"/>
                <a:cs typeface="Times New Roman" pitchFamily="18" charset="0"/>
              </a:rPr>
              <a:t> </a:t>
            </a:r>
            <a:r>
              <a:rPr lang="en-US" sz="2400" dirty="0" err="1">
                <a:latin typeface="Cambria" panose="02040503050406030204" pitchFamily="18" charset="0"/>
                <a:ea typeface="Cambria" panose="02040503050406030204" pitchFamily="18" charset="0"/>
                <a:cs typeface="Times New Roman" pitchFamily="18" charset="0"/>
              </a:rPr>
              <a:t>mở</a:t>
            </a:r>
            <a:r>
              <a:rPr lang="en-US" sz="2400" dirty="0">
                <a:latin typeface="Cambria" panose="02040503050406030204" pitchFamily="18" charset="0"/>
                <a:ea typeface="Cambria" panose="02040503050406030204" pitchFamily="18" charset="0"/>
                <a:cs typeface="Times New Roman" pitchFamily="18" charset="0"/>
              </a:rPr>
              <a:t> </a:t>
            </a:r>
            <a:r>
              <a:rPr lang="en-US" sz="2400" dirty="0" err="1">
                <a:latin typeface="Cambria" panose="02040503050406030204" pitchFamily="18" charset="0"/>
                <a:ea typeface="Cambria" panose="02040503050406030204" pitchFamily="18" charset="0"/>
                <a:cs typeface="Times New Roman" pitchFamily="18" charset="0"/>
              </a:rPr>
              <a:t>rộng</a:t>
            </a:r>
            <a:endParaRPr lang="en-US" sz="2400" dirty="0">
              <a:latin typeface="Cambria" panose="02040503050406030204" pitchFamily="18" charset="0"/>
              <a:ea typeface="Cambria" panose="02040503050406030204" pitchFamily="18" charset="0"/>
              <a:cs typeface="Times New Roman" pitchFamily="18" charset="0"/>
            </a:endParaRPr>
          </a:p>
        </p:txBody>
      </p:sp>
    </p:spTree>
    <p:extLst>
      <p:ext uri="{BB962C8B-B14F-4D97-AF65-F5344CB8AC3E}">
        <p14:creationId xmlns:p14="http://schemas.microsoft.com/office/powerpoint/2010/main" val="3895888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3600" dirty="0" err="1">
                <a:latin typeface="Cambria" panose="02040503050406030204" pitchFamily="18" charset="0"/>
                <a:ea typeface="Cambria" panose="02040503050406030204" pitchFamily="18" charset="0"/>
                <a:cs typeface="Times New Roman" pitchFamily="18" charset="0"/>
              </a:rPr>
              <a:t>Có</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hai</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loại</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hàm</a:t>
            </a:r>
            <a:r>
              <a:rPr lang="en-US" sz="3600" dirty="0">
                <a:latin typeface="Cambria" panose="02040503050406030204" pitchFamily="18" charset="0"/>
                <a:ea typeface="Cambria" panose="02040503050406030204" pitchFamily="18" charset="0"/>
                <a:cs typeface="Times New Roman" pitchFamily="18" charset="0"/>
              </a:rPr>
              <a:t>: </a:t>
            </a:r>
          </a:p>
          <a:p>
            <a:pPr lvl="1" algn="just"/>
            <a:r>
              <a:rPr lang="en-US" sz="3600" i="1" dirty="0" err="1">
                <a:latin typeface="Cambria" panose="02040503050406030204" pitchFamily="18" charset="0"/>
                <a:ea typeface="Cambria" panose="02040503050406030204" pitchFamily="18" charset="0"/>
                <a:cs typeface="Times New Roman" pitchFamily="18" charset="0"/>
              </a:rPr>
              <a:t>Hàm</a:t>
            </a:r>
            <a:r>
              <a:rPr lang="en-US" sz="3600" i="1" dirty="0">
                <a:latin typeface="Cambria" panose="02040503050406030204" pitchFamily="18" charset="0"/>
                <a:ea typeface="Cambria" panose="02040503050406030204" pitchFamily="18" charset="0"/>
                <a:cs typeface="Times New Roman" pitchFamily="18" charset="0"/>
              </a:rPr>
              <a:t> </a:t>
            </a:r>
            <a:r>
              <a:rPr lang="en-US" sz="3600" i="1" dirty="0" err="1">
                <a:latin typeface="Cambria" panose="02040503050406030204" pitchFamily="18" charset="0"/>
                <a:ea typeface="Cambria" panose="02040503050406030204" pitchFamily="18" charset="0"/>
                <a:cs typeface="Times New Roman" pitchFamily="18" charset="0"/>
              </a:rPr>
              <a:t>thư</a:t>
            </a:r>
            <a:r>
              <a:rPr lang="en-US" sz="3600" i="1" dirty="0">
                <a:latin typeface="Cambria" panose="02040503050406030204" pitchFamily="18" charset="0"/>
                <a:ea typeface="Cambria" panose="02040503050406030204" pitchFamily="18" charset="0"/>
                <a:cs typeface="Times New Roman" pitchFamily="18" charset="0"/>
              </a:rPr>
              <a:t> </a:t>
            </a:r>
            <a:r>
              <a:rPr lang="en-US" sz="3600" i="1" dirty="0" err="1">
                <a:latin typeface="Cambria" panose="02040503050406030204" pitchFamily="18" charset="0"/>
                <a:ea typeface="Cambria" panose="02040503050406030204" pitchFamily="18" charset="0"/>
                <a:cs typeface="Times New Roman" pitchFamily="18" charset="0"/>
              </a:rPr>
              <a:t>viện</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là</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những</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hàm</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đã</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được</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xây</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dựng</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sẵn</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Muốn</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sử</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dụng</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các</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hàm</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thư</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viện</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phải</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khai</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báo</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thư</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viện</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chứa</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nó</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trong</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phần</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khai</a:t>
            </a:r>
            <a:r>
              <a:rPr lang="en-US" sz="3600" dirty="0">
                <a:latin typeface="Cambria" panose="02040503050406030204" pitchFamily="18" charset="0"/>
                <a:ea typeface="Cambria" panose="02040503050406030204" pitchFamily="18" charset="0"/>
                <a:cs typeface="Times New Roman" pitchFamily="18" charset="0"/>
              </a:rPr>
              <a:t> </a:t>
            </a:r>
            <a:r>
              <a:rPr lang="en-US" sz="3600" dirty="0" err="1">
                <a:latin typeface="Cambria" panose="02040503050406030204" pitchFamily="18" charset="0"/>
                <a:ea typeface="Cambria" panose="02040503050406030204" pitchFamily="18" charset="0"/>
                <a:cs typeface="Times New Roman" pitchFamily="18" charset="0"/>
              </a:rPr>
              <a:t>báo</a:t>
            </a:r>
            <a:r>
              <a:rPr lang="en-US" sz="3600" dirty="0">
                <a:latin typeface="Cambria" panose="02040503050406030204" pitchFamily="18" charset="0"/>
                <a:ea typeface="Cambria" panose="02040503050406030204" pitchFamily="18" charset="0"/>
                <a:cs typeface="Times New Roman" pitchFamily="18" charset="0"/>
              </a:rPr>
              <a:t> from … import.</a:t>
            </a:r>
          </a:p>
          <a:p>
            <a:pPr lvl="1" algn="just"/>
            <a:r>
              <a:rPr lang="en-US" sz="3600" i="1" dirty="0" err="1">
                <a:latin typeface="Cambria" panose="02040503050406030204" pitchFamily="18" charset="0"/>
                <a:ea typeface="Cambria" panose="02040503050406030204" pitchFamily="18" charset="0"/>
                <a:cs typeface="Times New Roman" pitchFamily="18" charset="0"/>
              </a:rPr>
              <a:t>Hàm</a:t>
            </a:r>
            <a:r>
              <a:rPr lang="en-US" sz="3600" i="1" dirty="0">
                <a:latin typeface="Cambria" panose="02040503050406030204" pitchFamily="18" charset="0"/>
                <a:ea typeface="Cambria" panose="02040503050406030204" pitchFamily="18" charset="0"/>
                <a:cs typeface="Times New Roman" pitchFamily="18" charset="0"/>
              </a:rPr>
              <a:t> do </a:t>
            </a:r>
            <a:r>
              <a:rPr lang="en-US" sz="3600" i="1" dirty="0" err="1">
                <a:latin typeface="Cambria" panose="02040503050406030204" pitchFamily="18" charset="0"/>
                <a:ea typeface="Cambria" panose="02040503050406030204" pitchFamily="18" charset="0"/>
                <a:cs typeface="Times New Roman" pitchFamily="18" charset="0"/>
              </a:rPr>
              <a:t>người</a:t>
            </a:r>
            <a:r>
              <a:rPr lang="en-US" sz="3600" i="1" dirty="0">
                <a:latin typeface="Cambria" panose="02040503050406030204" pitchFamily="18" charset="0"/>
                <a:ea typeface="Cambria" panose="02040503050406030204" pitchFamily="18" charset="0"/>
                <a:cs typeface="Times New Roman" pitchFamily="18" charset="0"/>
              </a:rPr>
              <a:t> </a:t>
            </a:r>
            <a:r>
              <a:rPr lang="en-US" sz="3600" i="1" dirty="0" err="1">
                <a:latin typeface="Cambria" panose="02040503050406030204" pitchFamily="18" charset="0"/>
                <a:ea typeface="Cambria" panose="02040503050406030204" pitchFamily="18" charset="0"/>
                <a:cs typeface="Times New Roman" pitchFamily="18" charset="0"/>
              </a:rPr>
              <a:t>dùng</a:t>
            </a:r>
            <a:r>
              <a:rPr lang="en-US" sz="3600" i="1" dirty="0">
                <a:latin typeface="Cambria" panose="02040503050406030204" pitchFamily="18" charset="0"/>
                <a:ea typeface="Cambria" panose="02040503050406030204" pitchFamily="18" charset="0"/>
                <a:cs typeface="Times New Roman" pitchFamily="18" charset="0"/>
              </a:rPr>
              <a:t> </a:t>
            </a:r>
            <a:r>
              <a:rPr lang="en-US" sz="3600" i="1" dirty="0" err="1">
                <a:latin typeface="Cambria" panose="02040503050406030204" pitchFamily="18" charset="0"/>
                <a:ea typeface="Cambria" panose="02040503050406030204" pitchFamily="18" charset="0"/>
                <a:cs typeface="Times New Roman" pitchFamily="18" charset="0"/>
              </a:rPr>
              <a:t>định</a:t>
            </a:r>
            <a:r>
              <a:rPr lang="en-US" sz="3600" i="1" dirty="0">
                <a:latin typeface="Cambria" panose="02040503050406030204" pitchFamily="18" charset="0"/>
                <a:ea typeface="Cambria" panose="02040503050406030204" pitchFamily="18" charset="0"/>
                <a:cs typeface="Times New Roman" pitchFamily="18" charset="0"/>
              </a:rPr>
              <a:t> </a:t>
            </a:r>
            <a:r>
              <a:rPr lang="en-US" sz="3600" i="1" dirty="0" err="1">
                <a:latin typeface="Cambria" panose="02040503050406030204" pitchFamily="18" charset="0"/>
                <a:ea typeface="Cambria" panose="02040503050406030204" pitchFamily="18" charset="0"/>
                <a:cs typeface="Times New Roman" pitchFamily="18" charset="0"/>
              </a:rPr>
              <a:t>nghĩa</a:t>
            </a:r>
            <a:r>
              <a:rPr lang="en-US" sz="3600" dirty="0">
                <a:latin typeface="Cambria" panose="02040503050406030204" pitchFamily="18" charset="0"/>
                <a:ea typeface="Cambria" panose="02040503050406030204" pitchFamily="18" charset="0"/>
                <a:cs typeface="Times New Roman" pitchFamily="18" charset="0"/>
              </a:rPr>
              <a:t>.</a:t>
            </a:r>
          </a:p>
          <a:p>
            <a:pPr marL="0" indent="0" algn="just">
              <a:buNone/>
            </a:pPr>
            <a:endParaRPr lang="en-US" sz="2400" dirty="0">
              <a:latin typeface="Cambria" panose="02040503050406030204" pitchFamily="18" charset="0"/>
              <a:ea typeface="Cambria" panose="02040503050406030204" pitchFamily="18" charset="0"/>
              <a:cs typeface="Times New Roman" pitchFamily="18" charset="0"/>
            </a:endParaRPr>
          </a:p>
        </p:txBody>
      </p:sp>
    </p:spTree>
    <p:extLst>
      <p:ext uri="{BB962C8B-B14F-4D97-AF65-F5344CB8AC3E}">
        <p14:creationId xmlns:p14="http://schemas.microsoft.com/office/powerpoint/2010/main" val="1123978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800" dirty="0" err="1">
                <a:latin typeface="Cambria" panose="02040503050406030204" pitchFamily="18" charset="0"/>
                <a:ea typeface="Cambria" panose="02040503050406030204" pitchFamily="18" charset="0"/>
                <a:cs typeface="Times New Roman" pitchFamily="18" charset="0"/>
              </a:rPr>
              <a:t>Ví</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dụ</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hàm</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th</a:t>
            </a:r>
            <a:r>
              <a:rPr lang="vi-VN" sz="2800" dirty="0">
                <a:latin typeface="Cambria" panose="02040503050406030204" pitchFamily="18" charset="0"/>
                <a:ea typeface="Cambria" panose="02040503050406030204" pitchFamily="18" charset="0"/>
                <a:cs typeface="Times New Roman" pitchFamily="18" charset="0"/>
              </a:rPr>
              <a:t>ư</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viện</a:t>
            </a:r>
            <a:r>
              <a:rPr lang="en-US" sz="2800" dirty="0">
                <a:latin typeface="Cambria" panose="02040503050406030204" pitchFamily="18" charset="0"/>
                <a:ea typeface="Cambria" panose="02040503050406030204" pitchFamily="18" charset="0"/>
                <a:cs typeface="Times New Roman" pitchFamily="18" charset="0"/>
              </a:rPr>
              <a:t>:</a:t>
            </a:r>
          </a:p>
          <a:p>
            <a:pPr algn="just"/>
            <a:endParaRPr lang="en-US" sz="2800" dirty="0">
              <a:latin typeface="Cambria" panose="02040503050406030204" pitchFamily="18" charset="0"/>
              <a:ea typeface="Cambria" panose="02040503050406030204" pitchFamily="18" charset="0"/>
              <a:cs typeface="Times New Roman" pitchFamily="18" charset="0"/>
            </a:endParaRPr>
          </a:p>
          <a:p>
            <a:pPr algn="just"/>
            <a:endParaRPr lang="en-US" sz="2800" dirty="0">
              <a:latin typeface="Cambria" panose="02040503050406030204" pitchFamily="18" charset="0"/>
              <a:ea typeface="Cambria" panose="02040503050406030204" pitchFamily="18" charset="0"/>
              <a:cs typeface="Times New Roman" pitchFamily="18" charset="0"/>
            </a:endParaRPr>
          </a:p>
          <a:p>
            <a:pPr algn="just"/>
            <a:endParaRPr lang="en-US" sz="2800" dirty="0">
              <a:latin typeface="Cambria" panose="02040503050406030204" pitchFamily="18" charset="0"/>
              <a:ea typeface="Cambria" panose="02040503050406030204" pitchFamily="18" charset="0"/>
              <a:cs typeface="Times New Roman" pitchFamily="18" charset="0"/>
            </a:endParaRPr>
          </a:p>
          <a:p>
            <a:pPr algn="just"/>
            <a:endParaRPr lang="en-US" sz="2800" dirty="0">
              <a:latin typeface="Cambria" panose="02040503050406030204" pitchFamily="18" charset="0"/>
              <a:ea typeface="Cambria" panose="02040503050406030204" pitchFamily="18" charset="0"/>
              <a:cs typeface="Times New Roman" pitchFamily="18" charset="0"/>
            </a:endParaRPr>
          </a:p>
          <a:p>
            <a:pPr algn="just"/>
            <a:endParaRPr lang="en-US" sz="2800" dirty="0">
              <a:latin typeface="Cambria" panose="02040503050406030204" pitchFamily="18" charset="0"/>
              <a:ea typeface="Cambria" panose="02040503050406030204" pitchFamily="18" charset="0"/>
              <a:cs typeface="Times New Roman" pitchFamily="18" charset="0"/>
            </a:endParaRPr>
          </a:p>
          <a:p>
            <a:pPr algn="just"/>
            <a:r>
              <a:rPr lang="en-US" sz="2800" dirty="0" err="1">
                <a:latin typeface="Cambria" panose="02040503050406030204" pitchFamily="18" charset="0"/>
                <a:ea typeface="Cambria" panose="02040503050406030204" pitchFamily="18" charset="0"/>
                <a:cs typeface="Times New Roman" pitchFamily="18" charset="0"/>
              </a:rPr>
              <a:t>Ví</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dụ</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hàm</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tự</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định</a:t>
            </a:r>
            <a:r>
              <a:rPr lang="en-US" sz="2800" dirty="0">
                <a:latin typeface="Cambria" panose="02040503050406030204" pitchFamily="18" charset="0"/>
                <a:ea typeface="Cambria" panose="02040503050406030204" pitchFamily="18" charset="0"/>
                <a:cs typeface="Times New Roman" pitchFamily="18" charset="0"/>
              </a:rPr>
              <a:t> </a:t>
            </a:r>
            <a:r>
              <a:rPr lang="en-US" sz="2800" dirty="0" err="1">
                <a:latin typeface="Cambria" panose="02040503050406030204" pitchFamily="18" charset="0"/>
                <a:ea typeface="Cambria" panose="02040503050406030204" pitchFamily="18" charset="0"/>
                <a:cs typeface="Times New Roman" pitchFamily="18" charset="0"/>
              </a:rPr>
              <a:t>nghĩa</a:t>
            </a:r>
            <a:r>
              <a:rPr lang="en-US" sz="2800" dirty="0">
                <a:latin typeface="Cambria" panose="02040503050406030204" pitchFamily="18" charset="0"/>
                <a:ea typeface="Cambria" panose="02040503050406030204" pitchFamily="18" charset="0"/>
                <a:cs typeface="Times New Roman" pitchFamily="18" charset="0"/>
              </a:rPr>
              <a:t>:</a:t>
            </a:r>
            <a:endParaRPr lang="en-US" sz="1800" dirty="0">
              <a:latin typeface="Cambria" panose="02040503050406030204" pitchFamily="18" charset="0"/>
              <a:ea typeface="Cambria" panose="02040503050406030204" pitchFamily="18" charset="0"/>
              <a:cs typeface="Times New Roman" pitchFamily="18" charset="0"/>
            </a:endParaRPr>
          </a:p>
        </p:txBody>
      </p:sp>
      <p:pic>
        <p:nvPicPr>
          <p:cNvPr id="8" name="Picture 7">
            <a:extLst>
              <a:ext uri="{FF2B5EF4-FFF2-40B4-BE49-F238E27FC236}">
                <a16:creationId xmlns:a16="http://schemas.microsoft.com/office/drawing/2014/main" id="{854457F3-BB9C-45F9-A596-D90DDFBE9FDB}"/>
              </a:ext>
            </a:extLst>
          </p:cNvPr>
          <p:cNvPicPr>
            <a:picLocks noChangeAspect="1"/>
          </p:cNvPicPr>
          <p:nvPr/>
        </p:nvPicPr>
        <p:blipFill>
          <a:blip r:embed="rId3"/>
          <a:stretch>
            <a:fillRect/>
          </a:stretch>
        </p:blipFill>
        <p:spPr>
          <a:xfrm>
            <a:off x="4800600" y="1133476"/>
            <a:ext cx="6753225" cy="2428875"/>
          </a:xfrm>
          <a:prstGeom prst="rect">
            <a:avLst/>
          </a:prstGeom>
        </p:spPr>
      </p:pic>
      <p:pic>
        <p:nvPicPr>
          <p:cNvPr id="10" name="Picture 9">
            <a:extLst>
              <a:ext uri="{FF2B5EF4-FFF2-40B4-BE49-F238E27FC236}">
                <a16:creationId xmlns:a16="http://schemas.microsoft.com/office/drawing/2014/main" id="{85F65888-379F-420C-816E-79A3E94213AF}"/>
              </a:ext>
            </a:extLst>
          </p:cNvPr>
          <p:cNvPicPr>
            <a:picLocks noChangeAspect="1"/>
          </p:cNvPicPr>
          <p:nvPr/>
        </p:nvPicPr>
        <p:blipFill>
          <a:blip r:embed="rId4"/>
          <a:stretch>
            <a:fillRect/>
          </a:stretch>
        </p:blipFill>
        <p:spPr>
          <a:xfrm>
            <a:off x="4800599" y="4546117"/>
            <a:ext cx="3637261" cy="1235558"/>
          </a:xfrm>
          <a:prstGeom prst="rect">
            <a:avLst/>
          </a:prstGeom>
        </p:spPr>
      </p:pic>
    </p:spTree>
    <p:extLst>
      <p:ext uri="{BB962C8B-B14F-4D97-AF65-F5344CB8AC3E}">
        <p14:creationId xmlns:p14="http://schemas.microsoft.com/office/powerpoint/2010/main" val="3874158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Cấu trúc tổng quát của hàm</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5</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5712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Times New Roman" pitchFamily="18" charset="0"/>
                <a:cs typeface="Times New Roman" pitchFamily="18" charset="0"/>
              </a:rPr>
              <a:t>Python có cấu trúc tổng quát khi khai báo Hàm nh</a:t>
            </a:r>
            <a:r>
              <a:rPr lang="vi-VN" sz="2800">
                <a:latin typeface="Times New Roman" pitchFamily="18" charset="0"/>
                <a:cs typeface="Times New Roman" pitchFamily="18" charset="0"/>
              </a:rPr>
              <a:t>ư</a:t>
            </a:r>
            <a:r>
              <a:rPr lang="en-US" sz="2800">
                <a:latin typeface="Times New Roman" pitchFamily="18" charset="0"/>
                <a:cs typeface="Times New Roman" pitchFamily="18" charset="0"/>
              </a:rPr>
              <a:t> sau:</a:t>
            </a: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r>
              <a:rPr lang="en-US" sz="2800">
                <a:latin typeface="Times New Roman" pitchFamily="18" charset="0"/>
                <a:cs typeface="Times New Roman" pitchFamily="18" charset="0"/>
              </a:rPr>
              <a:t>Dùng từ khóa </a:t>
            </a:r>
            <a:r>
              <a:rPr lang="en-US" sz="2800" b="1">
                <a:solidFill>
                  <a:srgbClr val="FF0000"/>
                </a:solidFill>
                <a:latin typeface="Times New Roman" pitchFamily="18" charset="0"/>
                <a:cs typeface="Times New Roman" pitchFamily="18" charset="0"/>
              </a:rPr>
              <a:t>def</a:t>
            </a:r>
            <a:r>
              <a:rPr lang="en-US" sz="2800">
                <a:latin typeface="Times New Roman" pitchFamily="18" charset="0"/>
                <a:cs typeface="Times New Roman" pitchFamily="18" charset="0"/>
              </a:rPr>
              <a:t> để định nghĩa hàm, các hàm có thể có đối số hoặc không. Có thể trả về kết quả hoặc không</a:t>
            </a:r>
            <a:endParaRPr lang="en-US" sz="2400">
              <a:latin typeface="Times New Roman" pitchFamily="18" charset="0"/>
              <a:cs typeface="Times New Roman" pitchFamily="18" charset="0"/>
            </a:endParaRPr>
          </a:p>
        </p:txBody>
      </p:sp>
      <p:pic>
        <p:nvPicPr>
          <p:cNvPr id="8" name="Picture 7">
            <a:extLst>
              <a:ext uri="{FF2B5EF4-FFF2-40B4-BE49-F238E27FC236}">
                <a16:creationId xmlns:a16="http://schemas.microsoft.com/office/drawing/2014/main" id="{6015FE5B-9AA6-4FBB-BC06-E4C13585B595}"/>
              </a:ext>
            </a:extLst>
          </p:cNvPr>
          <p:cNvPicPr>
            <a:picLocks noChangeAspect="1"/>
          </p:cNvPicPr>
          <p:nvPr/>
        </p:nvPicPr>
        <p:blipFill>
          <a:blip r:embed="rId3"/>
          <a:stretch>
            <a:fillRect/>
          </a:stretch>
        </p:blipFill>
        <p:spPr>
          <a:xfrm>
            <a:off x="2971800" y="1765230"/>
            <a:ext cx="5010150" cy="1590675"/>
          </a:xfrm>
          <a:prstGeom prst="rect">
            <a:avLst/>
          </a:prstGeom>
        </p:spPr>
      </p:pic>
    </p:spTree>
    <p:extLst>
      <p:ext uri="{BB962C8B-B14F-4D97-AF65-F5344CB8AC3E}">
        <p14:creationId xmlns:p14="http://schemas.microsoft.com/office/powerpoint/2010/main" val="2376688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Times New Roman" pitchFamily="18" charset="0"/>
                <a:cs typeface="Times New Roman" pitchFamily="18" charset="0"/>
              </a:rPr>
              <a:t>Ví dụ : Viết hàm tính giải ph</a:t>
            </a:r>
            <a:r>
              <a:rPr lang="vi-VN" sz="2800">
                <a:latin typeface="Times New Roman" pitchFamily="18" charset="0"/>
                <a:cs typeface="Times New Roman" pitchFamily="18" charset="0"/>
              </a:rPr>
              <a:t>ư</a:t>
            </a:r>
            <a:r>
              <a:rPr lang="en-US" sz="2800">
                <a:latin typeface="Times New Roman" pitchFamily="18" charset="0"/>
                <a:cs typeface="Times New Roman" pitchFamily="18" charset="0"/>
              </a:rPr>
              <a:t>ơng trình bậc 1</a:t>
            </a: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r>
              <a:rPr lang="en-US" sz="2800">
                <a:latin typeface="Times New Roman" pitchFamily="18" charset="0"/>
                <a:cs typeface="Times New Roman" pitchFamily="18" charset="0"/>
              </a:rPr>
              <a:t>Ví dụ: Viết hàm xuất dữ liệu ra màn hình</a:t>
            </a: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400">
              <a:latin typeface="Times New Roman" pitchFamily="18" charset="0"/>
              <a:cs typeface="Times New Roman" pitchFamily="18" charset="0"/>
            </a:endParaRPr>
          </a:p>
        </p:txBody>
      </p:sp>
      <p:pic>
        <p:nvPicPr>
          <p:cNvPr id="10" name="Picture 9">
            <a:extLst>
              <a:ext uri="{FF2B5EF4-FFF2-40B4-BE49-F238E27FC236}">
                <a16:creationId xmlns:a16="http://schemas.microsoft.com/office/drawing/2014/main" id="{5E946297-7A3C-4BB2-985E-A5465A815C1B}"/>
              </a:ext>
            </a:extLst>
          </p:cNvPr>
          <p:cNvPicPr>
            <a:picLocks noChangeAspect="1"/>
          </p:cNvPicPr>
          <p:nvPr/>
        </p:nvPicPr>
        <p:blipFill>
          <a:blip r:embed="rId3"/>
          <a:stretch>
            <a:fillRect/>
          </a:stretch>
        </p:blipFill>
        <p:spPr>
          <a:xfrm>
            <a:off x="2613853" y="1752600"/>
            <a:ext cx="7108658" cy="2286000"/>
          </a:xfrm>
          <a:prstGeom prst="rect">
            <a:avLst/>
          </a:prstGeom>
        </p:spPr>
      </p:pic>
      <p:pic>
        <p:nvPicPr>
          <p:cNvPr id="8" name="Picture 7">
            <a:extLst>
              <a:ext uri="{FF2B5EF4-FFF2-40B4-BE49-F238E27FC236}">
                <a16:creationId xmlns:a16="http://schemas.microsoft.com/office/drawing/2014/main" id="{23D548C7-0CF1-4AF8-B7DA-51DD74E842D5}"/>
              </a:ext>
            </a:extLst>
          </p:cNvPr>
          <p:cNvPicPr>
            <a:picLocks noChangeAspect="1"/>
          </p:cNvPicPr>
          <p:nvPr/>
        </p:nvPicPr>
        <p:blipFill>
          <a:blip r:embed="rId4"/>
          <a:stretch>
            <a:fillRect/>
          </a:stretch>
        </p:blipFill>
        <p:spPr>
          <a:xfrm>
            <a:off x="2580723" y="4714874"/>
            <a:ext cx="4367068" cy="847725"/>
          </a:xfrm>
          <a:prstGeom prst="rect">
            <a:avLst/>
          </a:prstGeom>
        </p:spPr>
      </p:pic>
    </p:spTree>
    <p:extLst>
      <p:ext uri="{BB962C8B-B14F-4D97-AF65-F5344CB8AC3E}">
        <p14:creationId xmlns:p14="http://schemas.microsoft.com/office/powerpoint/2010/main" val="1523709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Cách gọi hàm</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8</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6152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dirty="0" err="1">
                <a:latin typeface="Cambria" panose="02040503050406030204" pitchFamily="18" charset="0"/>
                <a:cs typeface="Times New Roman" pitchFamily="18" charset="0"/>
              </a:rPr>
              <a:t>Để</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gọi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 ta </a:t>
            </a:r>
            <a:r>
              <a:rPr lang="en-US" sz="2800" dirty="0" err="1">
                <a:latin typeface="Cambria" panose="02040503050406030204" pitchFamily="18" charset="0"/>
                <a:cs typeface="Times New Roman" pitchFamily="18" charset="0"/>
              </a:rPr>
              <a:t>cũng</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cần</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phải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kiểm</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tra</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đó</a:t>
            </a:r>
            <a:r>
              <a:rPr lang="en-US" sz="2800" dirty="0">
                <a:latin typeface="Cambria" panose="02040503050406030204" pitchFamily="18" charset="0"/>
                <a:cs typeface="Times New Roman" pitchFamily="18" charset="0"/>
              </a:rPr>
              <a:t> đ</a:t>
            </a:r>
            <a:r>
              <a:rPr lang="vi-VN" sz="2800" dirty="0">
                <a:latin typeface="Cambria" panose="02040503050406030204" pitchFamily="18" charset="0"/>
                <a:cs typeface="Times New Roman" pitchFamily="18" charset="0"/>
              </a:rPr>
              <a:t>ư</a:t>
            </a:r>
            <a:r>
              <a:rPr lang="en-US" sz="2800" dirty="0" err="1">
                <a:latin typeface="Cambria" panose="02040503050406030204" pitchFamily="18" charset="0"/>
                <a:cs typeface="Times New Roman" pitchFamily="18" charset="0"/>
              </a:rPr>
              <a:t>ợc</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định</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nghĩa</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nh</a:t>
            </a:r>
            <a:r>
              <a:rPr lang="vi-VN" sz="2800" dirty="0">
                <a:latin typeface="Cambria" panose="02040503050406030204" pitchFamily="18" charset="0"/>
                <a:cs typeface="Times New Roman" pitchFamily="18" charset="0"/>
              </a:rPr>
              <a:t>ư</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thế</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nào</a:t>
            </a:r>
            <a:r>
              <a:rPr lang="en-US" sz="2800" dirty="0">
                <a:latin typeface="Cambria" panose="02040503050406030204" pitchFamily="18" charset="0"/>
                <a:cs typeface="Times New Roman" pitchFamily="18" charset="0"/>
              </a:rPr>
              <a:t>?</a:t>
            </a:r>
          </a:p>
          <a:p>
            <a:pPr lvl="1" algn="just">
              <a:buFont typeface="Wingdings" panose="05000000000000000000" pitchFamily="2" charset="2"/>
              <a:buChar char="ü"/>
            </a:pPr>
            <a:r>
              <a:rPr lang="en-US" sz="2400" dirty="0" err="1">
                <a:latin typeface="Cambria" panose="02040503050406030204" pitchFamily="18" charset="0"/>
                <a:cs typeface="Times New Roman" pitchFamily="18" charset="0"/>
              </a:rPr>
              <a:t>Có</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đối</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số</a:t>
            </a:r>
            <a:r>
              <a:rPr lang="en-US" sz="2400" dirty="0">
                <a:latin typeface="Cambria" panose="02040503050406030204" pitchFamily="18" charset="0"/>
                <a:cs typeface="Times New Roman" pitchFamily="18" charset="0"/>
              </a:rPr>
              <a:t> hay </a:t>
            </a:r>
            <a:r>
              <a:rPr lang="en-US" sz="2400" dirty="0" err="1">
                <a:latin typeface="Cambria" panose="02040503050406030204" pitchFamily="18" charset="0"/>
                <a:cs typeface="Times New Roman" pitchFamily="18" charset="0"/>
              </a:rPr>
              <a:t>không</a:t>
            </a:r>
            <a:r>
              <a:rPr lang="en-US" sz="2400" dirty="0">
                <a:latin typeface="Cambria" panose="02040503050406030204" pitchFamily="18" charset="0"/>
                <a:cs typeface="Times New Roman" pitchFamily="18" charset="0"/>
              </a:rPr>
              <a:t>?</a:t>
            </a:r>
          </a:p>
          <a:p>
            <a:pPr lvl="1" algn="just">
              <a:buFont typeface="Wingdings" panose="05000000000000000000" pitchFamily="2" charset="2"/>
              <a:buChar char="ü"/>
            </a:pPr>
            <a:r>
              <a:rPr lang="en-US" sz="2400" dirty="0" err="1">
                <a:latin typeface="Cambria" panose="02040503050406030204" pitchFamily="18" charset="0"/>
                <a:cs typeface="Times New Roman" pitchFamily="18" charset="0"/>
              </a:rPr>
              <a:t>Có</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trả</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về</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kết</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quả</a:t>
            </a:r>
            <a:r>
              <a:rPr lang="en-US" sz="2400" dirty="0">
                <a:latin typeface="Cambria" panose="02040503050406030204" pitchFamily="18" charset="0"/>
                <a:cs typeface="Times New Roman" pitchFamily="18" charset="0"/>
              </a:rPr>
              <a:t> hay </a:t>
            </a:r>
            <a:r>
              <a:rPr lang="en-US" sz="2400" dirty="0" err="1">
                <a:latin typeface="Cambria" panose="02040503050406030204" pitchFamily="18" charset="0"/>
                <a:cs typeface="Times New Roman" pitchFamily="18" charset="0"/>
              </a:rPr>
              <a:t>không</a:t>
            </a:r>
            <a:r>
              <a:rPr lang="en-US" sz="2000" dirty="0">
                <a:latin typeface="Cambria" panose="02040503050406030204" pitchFamily="18" charset="0"/>
                <a:cs typeface="Times New Roman" pitchFamily="18" charset="0"/>
              </a:rPr>
              <a:t>?</a:t>
            </a:r>
          </a:p>
          <a:p>
            <a:pPr marL="457200" lvl="1" indent="0" algn="just">
              <a:buNone/>
            </a:pPr>
            <a:endParaRPr lang="en-US" sz="2000" dirty="0">
              <a:latin typeface="Cambria" panose="02040503050406030204" pitchFamily="18" charset="0"/>
              <a:cs typeface="Times New Roman" pitchFamily="18" charset="0"/>
            </a:endParaRPr>
          </a:p>
          <a:p>
            <a:pPr marL="57150" indent="0" algn="just">
              <a:buNone/>
            </a:pPr>
            <a:r>
              <a:rPr lang="en-US" sz="2800" b="1" u="sng" dirty="0" err="1">
                <a:latin typeface="Cambria" panose="02040503050406030204" pitchFamily="18" charset="0"/>
                <a:cs typeface="Times New Roman" pitchFamily="18" charset="0"/>
              </a:rPr>
              <a:t>Nếu</a:t>
            </a:r>
            <a:r>
              <a:rPr lang="en-US" sz="2800" b="1" u="sng" dirty="0">
                <a:latin typeface="Cambria" panose="02040503050406030204" pitchFamily="18" charset="0"/>
                <a:cs typeface="Times New Roman" pitchFamily="18" charset="0"/>
              </a:rPr>
              <a:t> </a:t>
            </a:r>
            <a:r>
              <a:rPr lang="en-US" sz="2800" b="1" u="sng" dirty="0" err="1">
                <a:latin typeface="Cambria" panose="02040503050406030204" pitchFamily="18" charset="0"/>
                <a:cs typeface="Times New Roman" pitchFamily="18" charset="0"/>
              </a:rPr>
              <a:t>có</a:t>
            </a:r>
            <a:r>
              <a:rPr lang="en-US" sz="2800" b="1" u="sng" dirty="0">
                <a:latin typeface="Cambria" panose="02040503050406030204" pitchFamily="18" charset="0"/>
                <a:cs typeface="Times New Roman" pitchFamily="18" charset="0"/>
              </a:rPr>
              <a:t> </a:t>
            </a:r>
            <a:r>
              <a:rPr lang="en-US" sz="2800" b="1" u="sng" dirty="0" err="1">
                <a:latin typeface="Cambria" panose="02040503050406030204" pitchFamily="18" charset="0"/>
                <a:cs typeface="Times New Roman" pitchFamily="18" charset="0"/>
              </a:rPr>
              <a:t>kết</a:t>
            </a:r>
            <a:r>
              <a:rPr lang="en-US" sz="2800" b="1" u="sng" dirty="0">
                <a:latin typeface="Cambria" panose="02040503050406030204" pitchFamily="18" charset="0"/>
                <a:cs typeface="Times New Roman" pitchFamily="18" charset="0"/>
              </a:rPr>
              <a:t> </a:t>
            </a:r>
            <a:r>
              <a:rPr lang="en-US" sz="2800" b="1" u="sng" dirty="0" err="1">
                <a:latin typeface="Cambria" panose="02040503050406030204" pitchFamily="18" charset="0"/>
                <a:cs typeface="Times New Roman" pitchFamily="18" charset="0"/>
              </a:rPr>
              <a:t>quả</a:t>
            </a:r>
            <a:r>
              <a:rPr lang="en-US" sz="2800" b="1" u="sng" dirty="0">
                <a:latin typeface="Cambria" panose="02040503050406030204" pitchFamily="18" charset="0"/>
                <a:cs typeface="Times New Roman" pitchFamily="18" charset="0"/>
              </a:rPr>
              <a:t> </a:t>
            </a:r>
            <a:r>
              <a:rPr lang="en-US" sz="2800" b="1" u="sng" dirty="0" err="1">
                <a:latin typeface="Cambria" panose="02040503050406030204" pitchFamily="18" charset="0"/>
                <a:cs typeface="Times New Roman" pitchFamily="18" charset="0"/>
              </a:rPr>
              <a:t>trả</a:t>
            </a:r>
            <a:r>
              <a:rPr lang="en-US" sz="2800" b="1" u="sng" dirty="0">
                <a:latin typeface="Cambria" panose="02040503050406030204" pitchFamily="18" charset="0"/>
                <a:cs typeface="Times New Roman" pitchFamily="18" charset="0"/>
              </a:rPr>
              <a:t> </a:t>
            </a:r>
            <a:r>
              <a:rPr lang="en-US" sz="2800" b="1" u="sng" dirty="0" err="1">
                <a:latin typeface="Cambria" panose="02040503050406030204" pitchFamily="18" charset="0"/>
                <a:cs typeface="Times New Roman" pitchFamily="18" charset="0"/>
              </a:rPr>
              <a:t>về</a:t>
            </a:r>
            <a:r>
              <a:rPr lang="en-US" sz="2800" b="1" u="sng" dirty="0">
                <a:latin typeface="Cambria" panose="02040503050406030204" pitchFamily="18" charset="0"/>
                <a:cs typeface="Times New Roman" pitchFamily="18" charset="0"/>
              </a:rPr>
              <a:t>:</a:t>
            </a:r>
          </a:p>
          <a:p>
            <a:pPr marL="57150" indent="0" algn="just">
              <a:buNone/>
            </a:pPr>
            <a:r>
              <a:rPr lang="en-US" sz="2800" dirty="0">
                <a:latin typeface="Cambria" panose="02040503050406030204" pitchFamily="18" charset="0"/>
                <a:cs typeface="Times New Roman" pitchFamily="18" charset="0"/>
              </a:rPr>
              <a:t>Result=</a:t>
            </a:r>
            <a:r>
              <a:rPr lang="en-US" sz="2800" dirty="0" err="1">
                <a:latin typeface="Cambria" panose="02040503050406030204" pitchFamily="18" charset="0"/>
                <a:cs typeface="Times New Roman" pitchFamily="18" charset="0"/>
              </a:rPr>
              <a:t>FunctionName</a:t>
            </a:r>
            <a:r>
              <a:rPr lang="en-US" sz="2800" dirty="0">
                <a:latin typeface="Cambria" panose="02040503050406030204" pitchFamily="18" charset="0"/>
                <a:cs typeface="Times New Roman" pitchFamily="18" charset="0"/>
              </a:rPr>
              <a:t> ([parameter])</a:t>
            </a:r>
          </a:p>
          <a:p>
            <a:pPr marL="57150" indent="0" algn="just">
              <a:buNone/>
            </a:pPr>
            <a:r>
              <a:rPr lang="en-US" sz="2800" b="1" u="sng" dirty="0" err="1">
                <a:latin typeface="Cambria" panose="02040503050406030204" pitchFamily="18" charset="0"/>
                <a:cs typeface="Times New Roman" pitchFamily="18" charset="0"/>
              </a:rPr>
              <a:t>Nếu</a:t>
            </a:r>
            <a:r>
              <a:rPr lang="en-US" sz="2800" b="1" u="sng" dirty="0">
                <a:latin typeface="Cambria" panose="02040503050406030204" pitchFamily="18" charset="0"/>
                <a:cs typeface="Times New Roman" pitchFamily="18" charset="0"/>
              </a:rPr>
              <a:t> </a:t>
            </a:r>
            <a:r>
              <a:rPr lang="en-US" sz="2800" b="1" u="sng" dirty="0" err="1">
                <a:latin typeface="Cambria" panose="02040503050406030204" pitchFamily="18" charset="0"/>
                <a:cs typeface="Times New Roman" pitchFamily="18" charset="0"/>
              </a:rPr>
              <a:t>không</a:t>
            </a:r>
            <a:r>
              <a:rPr lang="en-US" sz="2800" b="1" u="sng" dirty="0">
                <a:latin typeface="Cambria" panose="02040503050406030204" pitchFamily="18" charset="0"/>
                <a:cs typeface="Times New Roman" pitchFamily="18" charset="0"/>
              </a:rPr>
              <a:t> </a:t>
            </a:r>
            <a:r>
              <a:rPr lang="en-US" sz="2800" b="1" u="sng" dirty="0" err="1">
                <a:latin typeface="Cambria" panose="02040503050406030204" pitchFamily="18" charset="0"/>
                <a:cs typeface="Times New Roman" pitchFamily="18" charset="0"/>
              </a:rPr>
              <a:t>có</a:t>
            </a:r>
            <a:r>
              <a:rPr lang="en-US" sz="2800" b="1" u="sng" dirty="0">
                <a:latin typeface="Cambria" panose="02040503050406030204" pitchFamily="18" charset="0"/>
                <a:cs typeface="Times New Roman" pitchFamily="18" charset="0"/>
              </a:rPr>
              <a:t> </a:t>
            </a:r>
            <a:r>
              <a:rPr lang="en-US" sz="2800" b="1" u="sng" dirty="0" err="1">
                <a:latin typeface="Cambria" panose="02040503050406030204" pitchFamily="18" charset="0"/>
                <a:cs typeface="Times New Roman" pitchFamily="18" charset="0"/>
              </a:rPr>
              <a:t>kết</a:t>
            </a:r>
            <a:r>
              <a:rPr lang="en-US" sz="2800" b="1" u="sng" dirty="0">
                <a:latin typeface="Cambria" panose="02040503050406030204" pitchFamily="18" charset="0"/>
                <a:cs typeface="Times New Roman" pitchFamily="18" charset="0"/>
              </a:rPr>
              <a:t> </a:t>
            </a:r>
            <a:r>
              <a:rPr lang="en-US" sz="2800" b="1" u="sng" dirty="0" err="1">
                <a:latin typeface="Cambria" panose="02040503050406030204" pitchFamily="18" charset="0"/>
                <a:cs typeface="Times New Roman" pitchFamily="18" charset="0"/>
              </a:rPr>
              <a:t>quả</a:t>
            </a:r>
            <a:r>
              <a:rPr lang="en-US" sz="2800" b="1" u="sng" dirty="0">
                <a:latin typeface="Cambria" panose="02040503050406030204" pitchFamily="18" charset="0"/>
                <a:cs typeface="Times New Roman" pitchFamily="18" charset="0"/>
              </a:rPr>
              <a:t> </a:t>
            </a:r>
            <a:r>
              <a:rPr lang="en-US" sz="2800" b="1" u="sng" dirty="0" err="1">
                <a:latin typeface="Cambria" panose="02040503050406030204" pitchFamily="18" charset="0"/>
                <a:cs typeface="Times New Roman" pitchFamily="18" charset="0"/>
              </a:rPr>
              <a:t>trả</a:t>
            </a:r>
            <a:r>
              <a:rPr lang="en-US" sz="2800" b="1" u="sng" dirty="0">
                <a:latin typeface="Cambria" panose="02040503050406030204" pitchFamily="18" charset="0"/>
                <a:cs typeface="Times New Roman" pitchFamily="18" charset="0"/>
              </a:rPr>
              <a:t> </a:t>
            </a:r>
            <a:r>
              <a:rPr lang="en-US" sz="2800" b="1" u="sng" dirty="0" err="1">
                <a:latin typeface="Cambria" panose="02040503050406030204" pitchFamily="18" charset="0"/>
                <a:cs typeface="Times New Roman" pitchFamily="18" charset="0"/>
              </a:rPr>
              <a:t>về</a:t>
            </a:r>
            <a:r>
              <a:rPr lang="en-US" sz="2800" b="1" u="sng" dirty="0">
                <a:latin typeface="Cambria" panose="02040503050406030204" pitchFamily="18" charset="0"/>
                <a:cs typeface="Times New Roman" pitchFamily="18" charset="0"/>
              </a:rPr>
              <a:t>:</a:t>
            </a:r>
          </a:p>
          <a:p>
            <a:pPr marL="57150" indent="0" algn="just">
              <a:buNone/>
            </a:pPr>
            <a:r>
              <a:rPr lang="en-US" sz="2800" dirty="0" err="1">
                <a:latin typeface="Cambria" panose="02040503050406030204" pitchFamily="18" charset="0"/>
                <a:cs typeface="Times New Roman" pitchFamily="18" charset="0"/>
              </a:rPr>
              <a:t>FunctionName</a:t>
            </a:r>
            <a:r>
              <a:rPr lang="en-US" sz="2800" dirty="0">
                <a:latin typeface="Cambria" panose="02040503050406030204" pitchFamily="18" charset="0"/>
                <a:cs typeface="Times New Roman" pitchFamily="18" charset="0"/>
              </a:rPr>
              <a:t>([parameter])</a:t>
            </a:r>
          </a:p>
          <a:p>
            <a:pPr marL="57150" indent="0" algn="just">
              <a:buNone/>
            </a:pPr>
            <a:endParaRPr lang="en-US" sz="2400" dirty="0">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3309743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Ở bài học tr</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ớc ta có ví dụ về ph</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ơng trình bậc 1 và xuất dữ liệu </a:t>
            </a: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r>
              <a:rPr lang="en-US" sz="2800">
                <a:latin typeface="Cambria" panose="02040503050406030204" pitchFamily="18" charset="0"/>
                <a:cs typeface="Times New Roman" pitchFamily="18" charset="0"/>
              </a:rPr>
              <a:t>Hàm PTB1 vừa có đối số vừa có kết quả trả về. Ta có thể gọi nh</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 sau:</a:t>
            </a:r>
          </a:p>
          <a:p>
            <a:pPr marL="0" indent="0" algn="just">
              <a:buNone/>
            </a:pPr>
            <a:r>
              <a:rPr lang="en-US" sz="2800">
                <a:latin typeface="Cambria" panose="02040503050406030204" pitchFamily="18" charset="0"/>
                <a:cs typeface="Times New Roman" pitchFamily="18" charset="0"/>
              </a:rPr>
              <a:t>	kq=PTB1(5,8)</a:t>
            </a:r>
            <a:endParaRPr lang="en-US" sz="2000">
              <a:latin typeface="Cambria" panose="02040503050406030204" pitchFamily="18" charset="0"/>
              <a:cs typeface="Times New Roman" pitchFamily="18" charset="0"/>
            </a:endParaRPr>
          </a:p>
        </p:txBody>
      </p:sp>
      <p:pic>
        <p:nvPicPr>
          <p:cNvPr id="8" name="Picture 7">
            <a:extLst>
              <a:ext uri="{FF2B5EF4-FFF2-40B4-BE49-F238E27FC236}">
                <a16:creationId xmlns:a16="http://schemas.microsoft.com/office/drawing/2014/main" id="{72264417-5EA2-42F8-8806-CDE2ECF31C4F}"/>
              </a:ext>
            </a:extLst>
          </p:cNvPr>
          <p:cNvPicPr>
            <a:picLocks noChangeAspect="1"/>
          </p:cNvPicPr>
          <p:nvPr/>
        </p:nvPicPr>
        <p:blipFill>
          <a:blip r:embed="rId3"/>
          <a:stretch>
            <a:fillRect/>
          </a:stretch>
        </p:blipFill>
        <p:spPr>
          <a:xfrm>
            <a:off x="2667000" y="1752600"/>
            <a:ext cx="6181725" cy="2200275"/>
          </a:xfrm>
          <a:prstGeom prst="rect">
            <a:avLst/>
          </a:prstGeom>
        </p:spPr>
      </p:pic>
    </p:spTree>
    <p:extLst>
      <p:ext uri="{BB962C8B-B14F-4D97-AF65-F5344CB8AC3E}">
        <p14:creationId xmlns:p14="http://schemas.microsoft.com/office/powerpoint/2010/main" val="1492200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11</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Hàm xuất dữ liệu</a:t>
            </a: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0" indent="0" algn="just">
              <a:buNone/>
            </a:pPr>
            <a:r>
              <a:rPr lang="en-US" sz="2800">
                <a:latin typeface="Cambria" panose="02040503050406030204" pitchFamily="18" charset="0"/>
                <a:cs typeface="Times New Roman" pitchFamily="18" charset="0"/>
              </a:rPr>
              <a:t>Ta có thể gọi: </a:t>
            </a:r>
          </a:p>
          <a:p>
            <a:pPr marL="0" indent="0" algn="just">
              <a:buNone/>
            </a:pPr>
            <a:r>
              <a:rPr lang="en-US" sz="2800">
                <a:latin typeface="Cambria" panose="02040503050406030204" pitchFamily="18" charset="0"/>
                <a:cs typeface="Times New Roman" pitchFamily="18" charset="0"/>
              </a:rPr>
              <a:t>	XuatDuLieu(“hello”)</a:t>
            </a:r>
            <a:endParaRPr lang="en-US" sz="3600">
              <a:latin typeface="Cambria" panose="02040503050406030204" pitchFamily="18" charset="0"/>
              <a:cs typeface="Times New Roman" pitchFamily="18" charset="0"/>
            </a:endParaRPr>
          </a:p>
        </p:txBody>
      </p:sp>
      <p:pic>
        <p:nvPicPr>
          <p:cNvPr id="9" name="Picture 8">
            <a:extLst>
              <a:ext uri="{FF2B5EF4-FFF2-40B4-BE49-F238E27FC236}">
                <a16:creationId xmlns:a16="http://schemas.microsoft.com/office/drawing/2014/main" id="{6AB94F84-51C8-4A90-9BD5-3C47CD7AC93C}"/>
              </a:ext>
            </a:extLst>
          </p:cNvPr>
          <p:cNvPicPr>
            <a:picLocks noChangeAspect="1"/>
          </p:cNvPicPr>
          <p:nvPr/>
        </p:nvPicPr>
        <p:blipFill>
          <a:blip r:embed="rId3"/>
          <a:stretch>
            <a:fillRect/>
          </a:stretch>
        </p:blipFill>
        <p:spPr>
          <a:xfrm>
            <a:off x="3567588" y="1600200"/>
            <a:ext cx="3352800" cy="704850"/>
          </a:xfrm>
          <a:prstGeom prst="rect">
            <a:avLst/>
          </a:prstGeom>
        </p:spPr>
      </p:pic>
    </p:spTree>
    <p:extLst>
      <p:ext uri="{BB962C8B-B14F-4D97-AF65-F5344CB8AC3E}">
        <p14:creationId xmlns:p14="http://schemas.microsoft.com/office/powerpoint/2010/main" val="4247885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Nguyên tắc hoạt động của hàm</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12</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4285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Hàm trong Python cũng nh</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 trong các ngôn ngữ lập trình khác, đều hoạt động theo Nguyên tắc LIFO (LAST IN FIRST OUT)</a:t>
            </a:r>
          </a:p>
          <a:p>
            <a:pPr marL="457200" indent="-457200" algn="just">
              <a:buFont typeface="Wingdings" pitchFamily="2" charset="2"/>
              <a:buChar char="Ø"/>
            </a:pPr>
            <a:r>
              <a:rPr lang="en-US" sz="2800">
                <a:latin typeface="Cambria" panose="02040503050406030204" pitchFamily="18" charset="0"/>
                <a:cs typeface="Times New Roman" pitchFamily="18" charset="0"/>
              </a:rPr>
              <a:t>Ví dụ ta có các mã lệnh d</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ới đây:</a:t>
            </a: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r>
              <a:rPr lang="en-US" sz="2800">
                <a:latin typeface="Cambria" panose="02040503050406030204" pitchFamily="18" charset="0"/>
                <a:cs typeface="Times New Roman" pitchFamily="18" charset="0"/>
              </a:rPr>
              <a:t>Theo LIFO thì nó xảy ra nh</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 thế nào?</a:t>
            </a:r>
            <a:endParaRPr lang="en-US" sz="2400">
              <a:latin typeface="Cambria" panose="02040503050406030204" pitchFamily="18" charset="0"/>
              <a:cs typeface="Times New Roman" pitchFamily="18" charset="0"/>
            </a:endParaRPr>
          </a:p>
        </p:txBody>
      </p:sp>
      <p:pic>
        <p:nvPicPr>
          <p:cNvPr id="8" name="Picture 7">
            <a:extLst>
              <a:ext uri="{FF2B5EF4-FFF2-40B4-BE49-F238E27FC236}">
                <a16:creationId xmlns:a16="http://schemas.microsoft.com/office/drawing/2014/main" id="{8780935C-4B5B-4DB2-B634-C0B0C2262DB1}"/>
              </a:ext>
            </a:extLst>
          </p:cNvPr>
          <p:cNvPicPr>
            <a:picLocks noChangeAspect="1"/>
          </p:cNvPicPr>
          <p:nvPr/>
        </p:nvPicPr>
        <p:blipFill>
          <a:blip r:embed="rId3"/>
          <a:stretch>
            <a:fillRect/>
          </a:stretch>
        </p:blipFill>
        <p:spPr>
          <a:xfrm>
            <a:off x="3429000" y="2667000"/>
            <a:ext cx="4087813" cy="1905000"/>
          </a:xfrm>
          <a:prstGeom prst="rect">
            <a:avLst/>
          </a:prstGeom>
          <a:ln>
            <a:solidFill>
              <a:srgbClr val="FF0000"/>
            </a:solidFill>
          </a:ln>
        </p:spPr>
      </p:pic>
    </p:spTree>
    <p:extLst>
      <p:ext uri="{BB962C8B-B14F-4D97-AF65-F5344CB8AC3E}">
        <p14:creationId xmlns:p14="http://schemas.microsoft.com/office/powerpoint/2010/main" val="359340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Minh họa nguyên tắc hoạt động khi gọi hàm</a:t>
            </a:r>
          </a:p>
        </p:txBody>
      </p:sp>
      <p:pic>
        <p:nvPicPr>
          <p:cNvPr id="9" name="Picture 8">
            <a:extLst>
              <a:ext uri="{FF2B5EF4-FFF2-40B4-BE49-F238E27FC236}">
                <a16:creationId xmlns:a16="http://schemas.microsoft.com/office/drawing/2014/main" id="{5629CB45-A5F3-4C05-BE40-EF9927539D2F}"/>
              </a:ext>
            </a:extLst>
          </p:cNvPr>
          <p:cNvPicPr>
            <a:picLocks noChangeAspect="1"/>
          </p:cNvPicPr>
          <p:nvPr/>
        </p:nvPicPr>
        <p:blipFill>
          <a:blip r:embed="rId3"/>
          <a:stretch>
            <a:fillRect/>
          </a:stretch>
        </p:blipFill>
        <p:spPr>
          <a:xfrm>
            <a:off x="838200" y="1828800"/>
            <a:ext cx="5619750" cy="4133850"/>
          </a:xfrm>
          <a:prstGeom prst="rect">
            <a:avLst/>
          </a:prstGeom>
        </p:spPr>
      </p:pic>
      <p:pic>
        <p:nvPicPr>
          <p:cNvPr id="11" name="Picture 10">
            <a:extLst>
              <a:ext uri="{FF2B5EF4-FFF2-40B4-BE49-F238E27FC236}">
                <a16:creationId xmlns:a16="http://schemas.microsoft.com/office/drawing/2014/main" id="{5A39D697-DF6E-4DA8-8216-9AEC9707394B}"/>
              </a:ext>
            </a:extLst>
          </p:cNvPr>
          <p:cNvPicPr>
            <a:picLocks noChangeAspect="1"/>
          </p:cNvPicPr>
          <p:nvPr/>
        </p:nvPicPr>
        <p:blipFill>
          <a:blip r:embed="rId4"/>
          <a:stretch>
            <a:fillRect/>
          </a:stretch>
        </p:blipFill>
        <p:spPr>
          <a:xfrm>
            <a:off x="7646987" y="1795462"/>
            <a:ext cx="4087813" cy="1905000"/>
          </a:xfrm>
          <a:prstGeom prst="rect">
            <a:avLst/>
          </a:prstGeom>
          <a:ln>
            <a:solidFill>
              <a:srgbClr val="FF0000"/>
            </a:solidFill>
          </a:ln>
        </p:spPr>
      </p:pic>
    </p:spTree>
    <p:extLst>
      <p:ext uri="{BB962C8B-B14F-4D97-AF65-F5344CB8AC3E}">
        <p14:creationId xmlns:p14="http://schemas.microsoft.com/office/powerpoint/2010/main" val="3595077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Viết tài liệu cho hàm</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15</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34370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Python hỗ trợ ta bổ sung tài liệu cho hàm, việc này rất thuận lợi cho đối tác sử dụng các function do ta làm ra. Dựa vào những tài liệu này mà Partner có thể dễ dàng biết cách sử dụng.</a:t>
            </a:r>
          </a:p>
          <a:p>
            <a:pPr marL="457200" indent="-457200" algn="just">
              <a:buFont typeface="Wingdings" pitchFamily="2" charset="2"/>
              <a:buChar char="Ø"/>
            </a:pPr>
            <a:r>
              <a:rPr lang="en-US" sz="2800">
                <a:latin typeface="Cambria" panose="02040503050406030204" pitchFamily="18" charset="0"/>
                <a:cs typeface="Times New Roman" pitchFamily="18" charset="0"/>
              </a:rPr>
              <a:t>Ta có thể sử dụng 3 dấu nháy kép hoặc 3 dấu nháy đ</a:t>
            </a:r>
            <a:r>
              <a:rPr lang="vi-VN" sz="2800">
                <a:latin typeface="Cambria" panose="02040503050406030204" pitchFamily="18" charset="0"/>
                <a:cs typeface="Times New Roman" pitchFamily="18" charset="0"/>
              </a:rPr>
              <a:t>ơ</a:t>
            </a:r>
            <a:r>
              <a:rPr lang="en-US" sz="2800">
                <a:latin typeface="Cambria" panose="02040503050406030204" pitchFamily="18" charset="0"/>
                <a:cs typeface="Times New Roman" pitchFamily="18" charset="0"/>
              </a:rPr>
              <a:t>n để viết tài liệu cho hàm. Tuy nhiên theo kinh nghiệm thì các bạn nên dùng 3 dấu nháy kép.</a:t>
            </a:r>
          </a:p>
          <a:p>
            <a:pPr marL="457200" indent="-457200" algn="just">
              <a:buFont typeface="Wingdings" pitchFamily="2" charset="2"/>
              <a:buChar char="Ø"/>
            </a:pPr>
            <a:r>
              <a:rPr lang="en-US" sz="2800">
                <a:latin typeface="Cambria" panose="02040503050406030204" pitchFamily="18" charset="0"/>
                <a:cs typeface="Times New Roman" pitchFamily="18" charset="0"/>
              </a:rPr>
              <a:t>Các ghi chú (tài liệu) phải đ</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ợc viết ở những dòng đầu tiên khi khai báo hàm</a:t>
            </a:r>
            <a:endParaRPr lang="en-US" sz="2400">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1211700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a:latin typeface="Cambria" panose="02040503050406030204" pitchFamily="18" charset="0"/>
                <a:cs typeface="Times New Roman" pitchFamily="18" charset="0"/>
              </a:rPr>
              <a:t>Ví dụ ta tạo 1 file</a:t>
            </a:r>
          </a:p>
          <a:p>
            <a:pPr marL="0" indent="0" algn="just">
              <a:buNone/>
            </a:pPr>
            <a:r>
              <a:rPr lang="en-US" sz="2400">
                <a:solidFill>
                  <a:srgbClr val="FF0000"/>
                </a:solidFill>
                <a:latin typeface="Cambria" panose="02040503050406030204" pitchFamily="18" charset="0"/>
                <a:cs typeface="Times New Roman" pitchFamily="18" charset="0"/>
              </a:rPr>
              <a:t>DocumentFunction.py</a:t>
            </a:r>
          </a:p>
          <a:p>
            <a:pPr marL="0" indent="0" algn="just">
              <a:buNone/>
            </a:pPr>
            <a:r>
              <a:rPr lang="en-US" sz="2400">
                <a:latin typeface="Cambria" panose="02040503050406030204" pitchFamily="18" charset="0"/>
                <a:cs typeface="Times New Roman" pitchFamily="18" charset="0"/>
              </a:rPr>
              <a:t>Có 2 hàm </a:t>
            </a:r>
            <a:r>
              <a:rPr lang="en-US" sz="2400">
                <a:solidFill>
                  <a:srgbClr val="FF0000"/>
                </a:solidFill>
                <a:latin typeface="Cambria" panose="02040503050406030204" pitchFamily="18" charset="0"/>
                <a:cs typeface="Times New Roman" pitchFamily="18" charset="0"/>
              </a:rPr>
              <a:t>gcd</a:t>
            </a:r>
            <a:r>
              <a:rPr lang="en-US" sz="2400">
                <a:latin typeface="Cambria" panose="02040503050406030204" pitchFamily="18" charset="0"/>
                <a:cs typeface="Times New Roman" pitchFamily="18" charset="0"/>
              </a:rPr>
              <a:t> và </a:t>
            </a:r>
            <a:r>
              <a:rPr lang="en-US" sz="2400">
                <a:solidFill>
                  <a:srgbClr val="FF0000"/>
                </a:solidFill>
                <a:latin typeface="Cambria" panose="02040503050406030204" pitchFamily="18" charset="0"/>
                <a:cs typeface="Times New Roman" pitchFamily="18" charset="0"/>
              </a:rPr>
              <a:t>ptb1</a:t>
            </a:r>
          </a:p>
          <a:p>
            <a:pPr marL="0" indent="0" algn="just">
              <a:buNone/>
            </a:pPr>
            <a:endParaRPr lang="en-US" sz="2400">
              <a:latin typeface="Cambria" panose="02040503050406030204" pitchFamily="18" charset="0"/>
              <a:cs typeface="Times New Roman" pitchFamily="18" charset="0"/>
            </a:endParaRPr>
          </a:p>
          <a:p>
            <a:pPr marL="0" indent="0" algn="just">
              <a:buNone/>
            </a:pPr>
            <a:endParaRPr lang="en-US" sz="2400">
              <a:latin typeface="Cambria" panose="02040503050406030204" pitchFamily="18" charset="0"/>
              <a:cs typeface="Times New Roman" pitchFamily="18" charset="0"/>
            </a:endParaRPr>
          </a:p>
        </p:txBody>
      </p:sp>
      <p:pic>
        <p:nvPicPr>
          <p:cNvPr id="8" name="Picture 7">
            <a:extLst>
              <a:ext uri="{FF2B5EF4-FFF2-40B4-BE49-F238E27FC236}">
                <a16:creationId xmlns:a16="http://schemas.microsoft.com/office/drawing/2014/main" id="{BC110425-F1A5-4FE6-B6BE-4AB15BA587F5}"/>
              </a:ext>
            </a:extLst>
          </p:cNvPr>
          <p:cNvPicPr>
            <a:picLocks noChangeAspect="1"/>
          </p:cNvPicPr>
          <p:nvPr/>
        </p:nvPicPr>
        <p:blipFill>
          <a:blip r:embed="rId3"/>
          <a:stretch>
            <a:fillRect/>
          </a:stretch>
        </p:blipFill>
        <p:spPr>
          <a:xfrm>
            <a:off x="4495800" y="1053134"/>
            <a:ext cx="7127174" cy="5248274"/>
          </a:xfrm>
          <a:prstGeom prst="rect">
            <a:avLst/>
          </a:prstGeom>
        </p:spPr>
      </p:pic>
    </p:spTree>
    <p:extLst>
      <p:ext uri="{BB962C8B-B14F-4D97-AF65-F5344CB8AC3E}">
        <p14:creationId xmlns:p14="http://schemas.microsoft.com/office/powerpoint/2010/main" val="11180750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18</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cs typeface="Times New Roman" pitchFamily="18" charset="0"/>
              </a:rPr>
              <a:t>Ta chạy command line để xem cách lấy tài liệu cho các hàm trên. Ta vào menu tools/chọn Python Console…</a:t>
            </a:r>
          </a:p>
        </p:txBody>
      </p:sp>
      <p:pic>
        <p:nvPicPr>
          <p:cNvPr id="9" name="Picture 8">
            <a:extLst>
              <a:ext uri="{FF2B5EF4-FFF2-40B4-BE49-F238E27FC236}">
                <a16:creationId xmlns:a16="http://schemas.microsoft.com/office/drawing/2014/main" id="{64E82B43-992A-44EE-9C86-B56CF2A141D2}"/>
              </a:ext>
            </a:extLst>
          </p:cNvPr>
          <p:cNvPicPr>
            <a:picLocks noChangeAspect="1"/>
          </p:cNvPicPr>
          <p:nvPr/>
        </p:nvPicPr>
        <p:blipFill>
          <a:blip r:embed="rId3"/>
          <a:stretch>
            <a:fillRect/>
          </a:stretch>
        </p:blipFill>
        <p:spPr>
          <a:xfrm>
            <a:off x="2590800" y="2133600"/>
            <a:ext cx="6153150" cy="2152650"/>
          </a:xfrm>
          <a:prstGeom prst="rect">
            <a:avLst/>
          </a:prstGeom>
        </p:spPr>
      </p:pic>
    </p:spTree>
    <p:extLst>
      <p:ext uri="{BB962C8B-B14F-4D97-AF65-F5344CB8AC3E}">
        <p14:creationId xmlns:p14="http://schemas.microsoft.com/office/powerpoint/2010/main" val="557591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cs typeface="Times New Roman" pitchFamily="18" charset="0"/>
              </a:rPr>
              <a:t>Ta chạy command line để xem cách lấy tài liệu cho các hàm trên. Ta vào menu tools/chọn Python Console…</a:t>
            </a:r>
          </a:p>
        </p:txBody>
      </p:sp>
      <p:pic>
        <p:nvPicPr>
          <p:cNvPr id="8" name="Picture 7">
            <a:extLst>
              <a:ext uri="{FF2B5EF4-FFF2-40B4-BE49-F238E27FC236}">
                <a16:creationId xmlns:a16="http://schemas.microsoft.com/office/drawing/2014/main" id="{81159456-1B1C-49F1-894C-91E7F294D3EE}"/>
              </a:ext>
            </a:extLst>
          </p:cNvPr>
          <p:cNvPicPr>
            <a:picLocks noChangeAspect="1"/>
          </p:cNvPicPr>
          <p:nvPr/>
        </p:nvPicPr>
        <p:blipFill>
          <a:blip r:embed="rId3"/>
          <a:stretch>
            <a:fillRect/>
          </a:stretch>
        </p:blipFill>
        <p:spPr>
          <a:xfrm>
            <a:off x="2690813" y="2057400"/>
            <a:ext cx="6656388" cy="3894559"/>
          </a:xfrm>
          <a:prstGeom prst="rect">
            <a:avLst/>
          </a:prstGeom>
        </p:spPr>
      </p:pic>
      <p:sp>
        <p:nvSpPr>
          <p:cNvPr id="10" name="Rectangle 9">
            <a:extLst>
              <a:ext uri="{FF2B5EF4-FFF2-40B4-BE49-F238E27FC236}">
                <a16:creationId xmlns:a16="http://schemas.microsoft.com/office/drawing/2014/main" id="{7042D678-EE73-49BE-8784-4F613E049C6B}"/>
              </a:ext>
            </a:extLst>
          </p:cNvPr>
          <p:cNvSpPr/>
          <p:nvPr/>
        </p:nvSpPr>
        <p:spPr>
          <a:xfrm>
            <a:off x="363315" y="5955268"/>
            <a:ext cx="4394344" cy="461665"/>
          </a:xfrm>
          <a:prstGeom prst="rect">
            <a:avLst/>
          </a:prstGeom>
        </p:spPr>
        <p:txBody>
          <a:bodyPr wrap="none">
            <a:spAutoFit/>
          </a:bodyPr>
          <a:lstStyle/>
          <a:p>
            <a:r>
              <a:rPr lang="en-US" sz="2400"/>
              <a:t>from DocumentFunction import *</a:t>
            </a:r>
          </a:p>
        </p:txBody>
      </p:sp>
    </p:spTree>
    <p:extLst>
      <p:ext uri="{BB962C8B-B14F-4D97-AF65-F5344CB8AC3E}">
        <p14:creationId xmlns:p14="http://schemas.microsoft.com/office/powerpoint/2010/main" val="4093383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cs typeface="Times New Roman" pitchFamily="18" charset="0"/>
              </a:rPr>
              <a:t>Muốn xem tài liệu của hàm nào thì gõ : </a:t>
            </a:r>
            <a:r>
              <a:rPr lang="en-US" sz="2800">
                <a:solidFill>
                  <a:srgbClr val="FF0000"/>
                </a:solidFill>
                <a:latin typeface="Cambria" panose="02040503050406030204" pitchFamily="18" charset="0"/>
                <a:cs typeface="Times New Roman" pitchFamily="18" charset="0"/>
              </a:rPr>
              <a:t>help</a:t>
            </a:r>
            <a:r>
              <a:rPr lang="en-US" sz="2800">
                <a:latin typeface="Cambria" panose="02040503050406030204" pitchFamily="18" charset="0"/>
                <a:cs typeface="Times New Roman" pitchFamily="18" charset="0"/>
              </a:rPr>
              <a:t>(function name)</a:t>
            </a:r>
          </a:p>
        </p:txBody>
      </p:sp>
      <p:pic>
        <p:nvPicPr>
          <p:cNvPr id="9" name="Picture 8">
            <a:extLst>
              <a:ext uri="{FF2B5EF4-FFF2-40B4-BE49-F238E27FC236}">
                <a16:creationId xmlns:a16="http://schemas.microsoft.com/office/drawing/2014/main" id="{02109368-F9DF-4D96-B6B9-3CCE2F022DD4}"/>
              </a:ext>
            </a:extLst>
          </p:cNvPr>
          <p:cNvPicPr>
            <a:picLocks noChangeAspect="1"/>
          </p:cNvPicPr>
          <p:nvPr/>
        </p:nvPicPr>
        <p:blipFill>
          <a:blip r:embed="rId3"/>
          <a:stretch>
            <a:fillRect/>
          </a:stretch>
        </p:blipFill>
        <p:spPr>
          <a:xfrm>
            <a:off x="1079358" y="1828800"/>
            <a:ext cx="6762750" cy="2324100"/>
          </a:xfrm>
          <a:prstGeom prst="rect">
            <a:avLst/>
          </a:prstGeom>
        </p:spPr>
      </p:pic>
      <p:pic>
        <p:nvPicPr>
          <p:cNvPr id="11" name="Picture 10">
            <a:extLst>
              <a:ext uri="{FF2B5EF4-FFF2-40B4-BE49-F238E27FC236}">
                <a16:creationId xmlns:a16="http://schemas.microsoft.com/office/drawing/2014/main" id="{7B09C680-67B2-414F-B766-0E08B1FCC2C7}"/>
              </a:ext>
            </a:extLst>
          </p:cNvPr>
          <p:cNvPicPr>
            <a:picLocks noChangeAspect="1"/>
          </p:cNvPicPr>
          <p:nvPr/>
        </p:nvPicPr>
        <p:blipFill>
          <a:blip r:embed="rId4"/>
          <a:stretch>
            <a:fillRect/>
          </a:stretch>
        </p:blipFill>
        <p:spPr>
          <a:xfrm>
            <a:off x="3797300" y="4365349"/>
            <a:ext cx="6972300" cy="1952625"/>
          </a:xfrm>
          <a:prstGeom prst="rect">
            <a:avLst/>
          </a:prstGeom>
        </p:spPr>
      </p:pic>
      <p:sp>
        <p:nvSpPr>
          <p:cNvPr id="12" name="Rectangle 11">
            <a:extLst>
              <a:ext uri="{FF2B5EF4-FFF2-40B4-BE49-F238E27FC236}">
                <a16:creationId xmlns:a16="http://schemas.microsoft.com/office/drawing/2014/main" id="{35AFB8DB-8871-4B22-A7E4-B49FB0BBCA80}"/>
              </a:ext>
            </a:extLst>
          </p:cNvPr>
          <p:cNvSpPr/>
          <p:nvPr/>
        </p:nvSpPr>
        <p:spPr>
          <a:xfrm>
            <a:off x="1676400" y="2133600"/>
            <a:ext cx="2057400"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E06296-DC02-4D9B-96CD-CADD679E045B}"/>
              </a:ext>
            </a:extLst>
          </p:cNvPr>
          <p:cNvSpPr/>
          <p:nvPr/>
        </p:nvSpPr>
        <p:spPr>
          <a:xfrm>
            <a:off x="4419600" y="4358723"/>
            <a:ext cx="2057400"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53693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Global Variable</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21</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69218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Tất cả các biến khai báo trong hàm chỉ có phạm vi ảnh hưởng trong hàm, các biến này gọi là biến local. Khi thoát khỏi hàm thì các biến này không thể truy suất đ</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ợc.</a:t>
            </a:r>
          </a:p>
          <a:p>
            <a:pPr marL="457200" indent="-457200" algn="just">
              <a:buFont typeface="Wingdings" pitchFamily="2" charset="2"/>
              <a:buChar char="Ø"/>
            </a:pPr>
            <a:r>
              <a:rPr lang="en-US" sz="2800">
                <a:latin typeface="Cambria" panose="02040503050406030204" pitchFamily="18" charset="0"/>
                <a:cs typeface="Times New Roman" pitchFamily="18" charset="0"/>
              </a:rPr>
              <a:t>Xem ví dụ sau:</a:t>
            </a: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r>
              <a:rPr lang="en-US" sz="2400">
                <a:latin typeface="Cambria" panose="02040503050406030204" pitchFamily="18" charset="0"/>
                <a:cs typeface="Times New Roman" pitchFamily="18" charset="0"/>
              </a:rPr>
              <a:t>Theo bạn thì chạy xong 6 dòng lệnh ở trên, giá trị g xuất ra màn hình bao nhiêu?</a:t>
            </a:r>
            <a:endParaRPr lang="en-US" sz="2800">
              <a:latin typeface="Cambria" panose="02040503050406030204" pitchFamily="18" charset="0"/>
              <a:cs typeface="Times New Roman" pitchFamily="18" charset="0"/>
            </a:endParaRPr>
          </a:p>
        </p:txBody>
      </p:sp>
      <p:pic>
        <p:nvPicPr>
          <p:cNvPr id="8" name="Picture 7">
            <a:extLst>
              <a:ext uri="{FF2B5EF4-FFF2-40B4-BE49-F238E27FC236}">
                <a16:creationId xmlns:a16="http://schemas.microsoft.com/office/drawing/2014/main" id="{9345B602-3BEE-485B-95EC-50138DEAEEEF}"/>
              </a:ext>
            </a:extLst>
          </p:cNvPr>
          <p:cNvPicPr>
            <a:picLocks noChangeAspect="1"/>
          </p:cNvPicPr>
          <p:nvPr/>
        </p:nvPicPr>
        <p:blipFill>
          <a:blip r:embed="rId3"/>
          <a:stretch>
            <a:fillRect/>
          </a:stretch>
        </p:blipFill>
        <p:spPr>
          <a:xfrm>
            <a:off x="3733800" y="2500312"/>
            <a:ext cx="3181350" cy="1857375"/>
          </a:xfrm>
          <a:prstGeom prst="rect">
            <a:avLst/>
          </a:prstGeom>
        </p:spPr>
      </p:pic>
      <p:cxnSp>
        <p:nvCxnSpPr>
          <p:cNvPr id="10" name="Straight Arrow Connector 9">
            <a:extLst>
              <a:ext uri="{FF2B5EF4-FFF2-40B4-BE49-F238E27FC236}">
                <a16:creationId xmlns:a16="http://schemas.microsoft.com/office/drawing/2014/main" id="{E5325917-978E-4C23-B920-D3D0D4D5CBC4}"/>
              </a:ext>
            </a:extLst>
          </p:cNvPr>
          <p:cNvCxnSpPr/>
          <p:nvPr/>
        </p:nvCxnSpPr>
        <p:spPr>
          <a:xfrm>
            <a:off x="4953000" y="2590800"/>
            <a:ext cx="21336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E6470A3-8115-4035-921B-CCEB7B58136F}"/>
              </a:ext>
            </a:extLst>
          </p:cNvPr>
          <p:cNvSpPr txBox="1"/>
          <p:nvPr/>
        </p:nvSpPr>
        <p:spPr>
          <a:xfrm>
            <a:off x="7057869" y="2357735"/>
            <a:ext cx="2152962" cy="461665"/>
          </a:xfrm>
          <a:prstGeom prst="rect">
            <a:avLst/>
          </a:prstGeom>
          <a:noFill/>
        </p:spPr>
        <p:txBody>
          <a:bodyPr wrap="none" rtlCol="0">
            <a:spAutoFit/>
          </a:bodyPr>
          <a:lstStyle/>
          <a:p>
            <a:r>
              <a:rPr lang="en-US" sz="2400">
                <a:latin typeface="Cambria" panose="02040503050406030204" pitchFamily="18" charset="0"/>
              </a:rPr>
              <a:t>Global variable</a:t>
            </a:r>
          </a:p>
        </p:txBody>
      </p:sp>
      <p:cxnSp>
        <p:nvCxnSpPr>
          <p:cNvPr id="15" name="Straight Arrow Connector 14">
            <a:extLst>
              <a:ext uri="{FF2B5EF4-FFF2-40B4-BE49-F238E27FC236}">
                <a16:creationId xmlns:a16="http://schemas.microsoft.com/office/drawing/2014/main" id="{8F130EA9-CAA8-47B7-B51E-0EC2B3E5416D}"/>
              </a:ext>
            </a:extLst>
          </p:cNvPr>
          <p:cNvCxnSpPr/>
          <p:nvPr/>
        </p:nvCxnSpPr>
        <p:spPr>
          <a:xfrm>
            <a:off x="5715000" y="4251788"/>
            <a:ext cx="21336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E5B4151-B0CE-42DD-9508-DDDC3F0D0513}"/>
              </a:ext>
            </a:extLst>
          </p:cNvPr>
          <p:cNvSpPr txBox="1"/>
          <p:nvPr/>
        </p:nvSpPr>
        <p:spPr>
          <a:xfrm>
            <a:off x="7819869" y="4018723"/>
            <a:ext cx="2152962" cy="461665"/>
          </a:xfrm>
          <a:prstGeom prst="rect">
            <a:avLst/>
          </a:prstGeom>
          <a:noFill/>
        </p:spPr>
        <p:txBody>
          <a:bodyPr wrap="none" rtlCol="0">
            <a:spAutoFit/>
          </a:bodyPr>
          <a:lstStyle/>
          <a:p>
            <a:r>
              <a:rPr lang="en-US" sz="2400">
                <a:latin typeface="Cambria" panose="02040503050406030204" pitchFamily="18" charset="0"/>
              </a:rPr>
              <a:t>Global variable</a:t>
            </a:r>
          </a:p>
        </p:txBody>
      </p:sp>
      <p:cxnSp>
        <p:nvCxnSpPr>
          <p:cNvPr id="17" name="Straight Arrow Connector 16">
            <a:extLst>
              <a:ext uri="{FF2B5EF4-FFF2-40B4-BE49-F238E27FC236}">
                <a16:creationId xmlns:a16="http://schemas.microsoft.com/office/drawing/2014/main" id="{8BD03133-298F-4361-B652-D01B8FF9E3B2}"/>
              </a:ext>
            </a:extLst>
          </p:cNvPr>
          <p:cNvCxnSpPr/>
          <p:nvPr/>
        </p:nvCxnSpPr>
        <p:spPr>
          <a:xfrm>
            <a:off x="5686269" y="3228059"/>
            <a:ext cx="21336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0A27513-7853-4880-A12F-0C398ABD2BDA}"/>
              </a:ext>
            </a:extLst>
          </p:cNvPr>
          <p:cNvSpPr txBox="1"/>
          <p:nvPr/>
        </p:nvSpPr>
        <p:spPr>
          <a:xfrm>
            <a:off x="7791138" y="2994994"/>
            <a:ext cx="2015103" cy="461665"/>
          </a:xfrm>
          <a:prstGeom prst="rect">
            <a:avLst/>
          </a:prstGeom>
          <a:noFill/>
        </p:spPr>
        <p:txBody>
          <a:bodyPr wrap="none" rtlCol="0">
            <a:spAutoFit/>
          </a:bodyPr>
          <a:lstStyle/>
          <a:p>
            <a:r>
              <a:rPr lang="en-US" sz="2400">
                <a:latin typeface="Cambria" panose="02040503050406030204" pitchFamily="18" charset="0"/>
              </a:rPr>
              <a:t>Local variable</a:t>
            </a:r>
          </a:p>
        </p:txBody>
      </p:sp>
    </p:spTree>
    <p:extLst>
      <p:ext uri="{BB962C8B-B14F-4D97-AF65-F5344CB8AC3E}">
        <p14:creationId xmlns:p14="http://schemas.microsoft.com/office/powerpoint/2010/main" val="2913231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Xem ví dụ 2 sau:</a:t>
            </a: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r>
              <a:rPr lang="en-US" sz="2400">
                <a:latin typeface="Cambria" panose="02040503050406030204" pitchFamily="18" charset="0"/>
                <a:cs typeface="Times New Roman" pitchFamily="18" charset="0"/>
              </a:rPr>
              <a:t>Theo bạn thì chạy xong 7 dòng lệnh ở trên, giá trị g xuất ra màn hình bao nhiêu?</a:t>
            </a:r>
          </a:p>
          <a:p>
            <a:pPr marL="457200" indent="-457200" algn="just">
              <a:buFont typeface="Wingdings" pitchFamily="2" charset="2"/>
              <a:buChar char="Ø"/>
            </a:pPr>
            <a:r>
              <a:rPr lang="en-US" sz="2400">
                <a:latin typeface="Cambria" panose="02040503050406030204" pitchFamily="18" charset="0"/>
                <a:cs typeface="Times New Roman" pitchFamily="18" charset="0"/>
              </a:rPr>
              <a:t>Global cho phép ta tham chiếu sử dụng đ</a:t>
            </a:r>
            <a:r>
              <a:rPr lang="vi-VN" sz="2400">
                <a:latin typeface="Cambria" panose="02040503050406030204" pitchFamily="18" charset="0"/>
                <a:cs typeface="Times New Roman" pitchFamily="18" charset="0"/>
              </a:rPr>
              <a:t>ư</a:t>
            </a:r>
            <a:r>
              <a:rPr lang="en-US" sz="2400">
                <a:latin typeface="Cambria" panose="02040503050406030204" pitchFamily="18" charset="0"/>
                <a:cs typeface="Times New Roman" pitchFamily="18" charset="0"/>
              </a:rPr>
              <a:t>ợc biến Global</a:t>
            </a:r>
            <a:endParaRPr lang="en-US" sz="2800">
              <a:latin typeface="Cambria" panose="02040503050406030204" pitchFamily="18" charset="0"/>
              <a:cs typeface="Times New Roman" pitchFamily="18" charset="0"/>
            </a:endParaRPr>
          </a:p>
        </p:txBody>
      </p:sp>
      <p:pic>
        <p:nvPicPr>
          <p:cNvPr id="8" name="Picture 7">
            <a:extLst>
              <a:ext uri="{FF2B5EF4-FFF2-40B4-BE49-F238E27FC236}">
                <a16:creationId xmlns:a16="http://schemas.microsoft.com/office/drawing/2014/main" id="{67AEF579-BEA2-42C7-86CE-344F3386F433}"/>
              </a:ext>
            </a:extLst>
          </p:cNvPr>
          <p:cNvPicPr>
            <a:picLocks noChangeAspect="1"/>
          </p:cNvPicPr>
          <p:nvPr/>
        </p:nvPicPr>
        <p:blipFill>
          <a:blip r:embed="rId3"/>
          <a:stretch>
            <a:fillRect/>
          </a:stretch>
        </p:blipFill>
        <p:spPr>
          <a:xfrm>
            <a:off x="3886200" y="1143000"/>
            <a:ext cx="3400425" cy="2095500"/>
          </a:xfrm>
          <a:prstGeom prst="rect">
            <a:avLst/>
          </a:prstGeom>
        </p:spPr>
      </p:pic>
    </p:spTree>
    <p:extLst>
      <p:ext uri="{BB962C8B-B14F-4D97-AF65-F5344CB8AC3E}">
        <p14:creationId xmlns:p14="http://schemas.microsoft.com/office/powerpoint/2010/main" val="35928169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Xem ví dụ 3 sau:</a:t>
            </a: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r>
              <a:rPr lang="en-US" sz="2400">
                <a:latin typeface="Cambria" panose="02040503050406030204" pitchFamily="18" charset="0"/>
                <a:cs typeface="Times New Roman" pitchFamily="18" charset="0"/>
              </a:rPr>
              <a:t>G dòng 3 Báo lỗi nha, vì g ở trong hàm không có lấy g ở ngoài (khai báo ở dòng 1)</a:t>
            </a:r>
            <a:endParaRPr lang="en-US" sz="2800">
              <a:latin typeface="Cambria" panose="02040503050406030204" pitchFamily="18" charset="0"/>
              <a:cs typeface="Times New Roman" pitchFamily="18" charset="0"/>
            </a:endParaRPr>
          </a:p>
        </p:txBody>
      </p:sp>
      <p:pic>
        <p:nvPicPr>
          <p:cNvPr id="9" name="Picture 8">
            <a:extLst>
              <a:ext uri="{FF2B5EF4-FFF2-40B4-BE49-F238E27FC236}">
                <a16:creationId xmlns:a16="http://schemas.microsoft.com/office/drawing/2014/main" id="{992909F9-EBA0-4265-BA85-7D6C93030BB6}"/>
              </a:ext>
            </a:extLst>
          </p:cNvPr>
          <p:cNvPicPr>
            <a:picLocks noChangeAspect="1"/>
          </p:cNvPicPr>
          <p:nvPr/>
        </p:nvPicPr>
        <p:blipFill>
          <a:blip r:embed="rId3"/>
          <a:stretch>
            <a:fillRect/>
          </a:stretch>
        </p:blipFill>
        <p:spPr>
          <a:xfrm>
            <a:off x="3886200" y="1438275"/>
            <a:ext cx="3305175" cy="1457325"/>
          </a:xfrm>
          <a:prstGeom prst="rect">
            <a:avLst/>
          </a:prstGeom>
        </p:spPr>
      </p:pic>
    </p:spTree>
    <p:extLst>
      <p:ext uri="{BB962C8B-B14F-4D97-AF65-F5344CB8AC3E}">
        <p14:creationId xmlns:p14="http://schemas.microsoft.com/office/powerpoint/2010/main" val="4789119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Parameter mặc định</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25</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5809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dirty="0">
                <a:latin typeface="Cambria" panose="02040503050406030204" pitchFamily="18" charset="0"/>
                <a:cs typeface="Times New Roman" pitchFamily="18" charset="0"/>
              </a:rPr>
              <a:t>Python </a:t>
            </a:r>
            <a:r>
              <a:rPr lang="en-US" sz="2800" dirty="0" err="1">
                <a:latin typeface="Cambria" panose="02040503050406030204" pitchFamily="18" charset="0"/>
                <a:cs typeface="Times New Roman" pitchFamily="18" charset="0"/>
              </a:rPr>
              <a:t>cũng</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tương</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tự</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như</a:t>
            </a:r>
            <a:r>
              <a:rPr lang="en-US" sz="2800" dirty="0">
                <a:latin typeface="Cambria" panose="02040503050406030204" pitchFamily="18" charset="0"/>
                <a:cs typeface="Times New Roman" pitchFamily="18" charset="0"/>
              </a:rPr>
              <a:t> C++, </a:t>
            </a:r>
            <a:r>
              <a:rPr lang="en-US" sz="2800" dirty="0" err="1">
                <a:latin typeface="Cambria" panose="02040503050406030204" pitchFamily="18" charset="0"/>
                <a:cs typeface="Times New Roman" pitchFamily="18" charset="0"/>
              </a:rPr>
              <a:t>có</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hỗ</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trợ</a:t>
            </a:r>
            <a:r>
              <a:rPr lang="en-US" sz="2800" dirty="0">
                <a:latin typeface="Cambria" panose="02040503050406030204" pitchFamily="18" charset="0"/>
                <a:cs typeface="Times New Roman" pitchFamily="18" charset="0"/>
              </a:rPr>
              <a:t> Parameter </a:t>
            </a:r>
            <a:r>
              <a:rPr lang="en-US" sz="2800" dirty="0" err="1">
                <a:latin typeface="Cambria" panose="02040503050406030204" pitchFamily="18" charset="0"/>
                <a:cs typeface="Times New Roman" pitchFamily="18" charset="0"/>
              </a:rPr>
              <a:t>mặc</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định</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khi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Khai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báo</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a:t>
            </a:r>
          </a:p>
          <a:p>
            <a:pPr marL="457200" indent="-457200" algn="just">
              <a:buFont typeface="Wingdings" pitchFamily="2" charset="2"/>
              <a:buChar char="Ø"/>
            </a:pP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 print ta </a:t>
            </a:r>
            <a:r>
              <a:rPr lang="en-US" sz="2800" dirty="0" err="1">
                <a:latin typeface="Cambria" panose="02040503050406030204" pitchFamily="18" charset="0"/>
                <a:cs typeface="Times New Roman" pitchFamily="18" charset="0"/>
              </a:rPr>
              <a:t>sử</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dụng</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cũng</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có</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các</a:t>
            </a:r>
            <a:r>
              <a:rPr lang="en-US" sz="2800" dirty="0">
                <a:latin typeface="Cambria" panose="02040503050406030204" pitchFamily="18" charset="0"/>
                <a:cs typeface="Times New Roman" pitchFamily="18" charset="0"/>
              </a:rPr>
              <a:t> parameter </a:t>
            </a:r>
            <a:r>
              <a:rPr lang="en-US" sz="2800" dirty="0" err="1">
                <a:latin typeface="Cambria" panose="02040503050406030204" pitchFamily="18" charset="0"/>
                <a:cs typeface="Times New Roman" pitchFamily="18" charset="0"/>
              </a:rPr>
              <a:t>mặc</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định</a:t>
            </a:r>
            <a:endParaRPr lang="en-US" dirty="0">
              <a:latin typeface="Cambria" panose="02040503050406030204" pitchFamily="18" charset="0"/>
              <a:cs typeface="Times New Roman" pitchFamily="18" charset="0"/>
            </a:endParaRPr>
          </a:p>
        </p:txBody>
      </p:sp>
      <p:pic>
        <p:nvPicPr>
          <p:cNvPr id="8" name="Picture 7">
            <a:extLst>
              <a:ext uri="{FF2B5EF4-FFF2-40B4-BE49-F238E27FC236}">
                <a16:creationId xmlns:a16="http://schemas.microsoft.com/office/drawing/2014/main" id="{8E1E0A84-7483-4E84-A0DA-62E9F9680901}"/>
              </a:ext>
            </a:extLst>
          </p:cNvPr>
          <p:cNvPicPr>
            <a:picLocks noChangeAspect="1"/>
          </p:cNvPicPr>
          <p:nvPr/>
        </p:nvPicPr>
        <p:blipFill>
          <a:blip r:embed="rId3"/>
          <a:stretch>
            <a:fillRect/>
          </a:stretch>
        </p:blipFill>
        <p:spPr>
          <a:xfrm>
            <a:off x="1447800" y="2790825"/>
            <a:ext cx="7791450" cy="1276350"/>
          </a:xfrm>
          <a:prstGeom prst="rect">
            <a:avLst/>
          </a:prstGeom>
        </p:spPr>
      </p:pic>
    </p:spTree>
    <p:extLst>
      <p:ext uri="{BB962C8B-B14F-4D97-AF65-F5344CB8AC3E}">
        <p14:creationId xmlns:p14="http://schemas.microsoft.com/office/powerpoint/2010/main" val="8239912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dirty="0" err="1">
                <a:latin typeface="Cambria" panose="02040503050406030204" pitchFamily="18" charset="0"/>
                <a:cs typeface="Times New Roman" pitchFamily="18" charset="0"/>
              </a:rPr>
              <a:t>Vậy</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nếu</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tự</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viết</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thì</a:t>
            </a:r>
            <a:r>
              <a:rPr lang="en-US" sz="2800" dirty="0">
                <a:latin typeface="Cambria" panose="02040503050406030204" pitchFamily="18" charset="0"/>
                <a:cs typeface="Times New Roman" pitchFamily="18" charset="0"/>
              </a:rPr>
              <a:t> ta </a:t>
            </a:r>
            <a:r>
              <a:rPr lang="en-US" sz="2800" dirty="0" err="1">
                <a:latin typeface="Cambria" panose="02040503050406030204" pitchFamily="18" charset="0"/>
                <a:cs typeface="Times New Roman" pitchFamily="18" charset="0"/>
              </a:rPr>
              <a:t>sẽ</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định</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nghĩa</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các</a:t>
            </a:r>
            <a:r>
              <a:rPr lang="en-US" sz="2800" dirty="0">
                <a:latin typeface="Cambria" panose="02040503050406030204" pitchFamily="18" charset="0"/>
                <a:cs typeface="Times New Roman" pitchFamily="18" charset="0"/>
              </a:rPr>
              <a:t> Parameter </a:t>
            </a:r>
            <a:r>
              <a:rPr lang="en-US" sz="2800" dirty="0" err="1">
                <a:latin typeface="Cambria" panose="02040503050406030204" pitchFamily="18" charset="0"/>
                <a:cs typeface="Times New Roman" pitchFamily="18" charset="0"/>
              </a:rPr>
              <a:t>mặc</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định</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này</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nh</a:t>
            </a:r>
            <a:r>
              <a:rPr lang="vi-VN" sz="2800" dirty="0">
                <a:latin typeface="Cambria" panose="02040503050406030204" pitchFamily="18" charset="0"/>
                <a:cs typeface="Times New Roman" pitchFamily="18" charset="0"/>
              </a:rPr>
              <a:t>ư</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thế</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nào</a:t>
            </a:r>
            <a:r>
              <a:rPr lang="en-US" sz="2800" dirty="0">
                <a:latin typeface="Cambria" panose="02040503050406030204" pitchFamily="18" charset="0"/>
                <a:cs typeface="Times New Roman" pitchFamily="18" charset="0"/>
              </a:rPr>
              <a:t>?</a:t>
            </a:r>
            <a:endParaRPr lang="en-US" dirty="0">
              <a:latin typeface="Cambria" panose="02040503050406030204" pitchFamily="18" charset="0"/>
              <a:cs typeface="Times New Roman" pitchFamily="18" charset="0"/>
            </a:endParaRPr>
          </a:p>
        </p:txBody>
      </p:sp>
      <p:pic>
        <p:nvPicPr>
          <p:cNvPr id="9" name="Picture 8">
            <a:extLst>
              <a:ext uri="{FF2B5EF4-FFF2-40B4-BE49-F238E27FC236}">
                <a16:creationId xmlns:a16="http://schemas.microsoft.com/office/drawing/2014/main" id="{F227C3A6-397F-4ED6-B203-D137B0BB7C04}"/>
              </a:ext>
            </a:extLst>
          </p:cNvPr>
          <p:cNvPicPr>
            <a:picLocks noChangeAspect="1"/>
          </p:cNvPicPr>
          <p:nvPr/>
        </p:nvPicPr>
        <p:blipFill>
          <a:blip r:embed="rId3"/>
          <a:stretch>
            <a:fillRect/>
          </a:stretch>
        </p:blipFill>
        <p:spPr>
          <a:xfrm>
            <a:off x="1828800" y="2362200"/>
            <a:ext cx="4667250" cy="3133725"/>
          </a:xfrm>
          <a:prstGeom prst="rect">
            <a:avLst/>
          </a:prstGeom>
        </p:spPr>
      </p:pic>
      <p:pic>
        <p:nvPicPr>
          <p:cNvPr id="10" name="Picture 9">
            <a:extLst>
              <a:ext uri="{FF2B5EF4-FFF2-40B4-BE49-F238E27FC236}">
                <a16:creationId xmlns:a16="http://schemas.microsoft.com/office/drawing/2014/main" id="{02F07EE8-FD0C-42EB-9ECC-32E3EB4293AD}"/>
              </a:ext>
            </a:extLst>
          </p:cNvPr>
          <p:cNvPicPr>
            <a:picLocks noChangeAspect="1"/>
          </p:cNvPicPr>
          <p:nvPr/>
        </p:nvPicPr>
        <p:blipFill>
          <a:blip r:embed="rId4"/>
          <a:stretch>
            <a:fillRect/>
          </a:stretch>
        </p:blipFill>
        <p:spPr>
          <a:xfrm>
            <a:off x="7477125" y="3929062"/>
            <a:ext cx="1714500" cy="590550"/>
          </a:xfrm>
          <a:prstGeom prst="rect">
            <a:avLst/>
          </a:prstGeom>
        </p:spPr>
      </p:pic>
    </p:spTree>
    <p:extLst>
      <p:ext uri="{BB962C8B-B14F-4D97-AF65-F5344CB8AC3E}">
        <p14:creationId xmlns:p14="http://schemas.microsoft.com/office/powerpoint/2010/main" val="28857929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Lambda expression</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28</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14599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err="1">
                  <a:latin typeface="Cambria" panose="02040503050406030204" pitchFamily="18" charset="0"/>
                </a:rPr>
                <a:t>Nội</a:t>
              </a:r>
              <a:r>
                <a:rPr lang="en-US" sz="2800" b="1" dirty="0">
                  <a:latin typeface="Cambria" panose="02040503050406030204" pitchFamily="18" charset="0"/>
                </a:rPr>
                <a:t> dung </a:t>
              </a:r>
              <a:r>
                <a:rPr lang="en-US" sz="2800" b="1" dirty="0" err="1">
                  <a:latin typeface="Cambria" panose="02040503050406030204" pitchFamily="18" charset="0"/>
                </a:rPr>
                <a:t>bài</a:t>
              </a:r>
              <a:r>
                <a:rPr lang="en-US" sz="2800" b="1" dirty="0">
                  <a:latin typeface="Cambria" panose="02040503050406030204" pitchFamily="18" charset="0"/>
                </a:rPr>
                <a:t> </a:t>
              </a:r>
              <a:r>
                <a:rPr lang="en-US" sz="2800" b="1" dirty="0" err="1">
                  <a:latin typeface="Cambria" panose="02040503050406030204" pitchFamily="18" charset="0"/>
                </a:rPr>
                <a:t>học</a:t>
              </a:r>
              <a:endParaRPr lang="en-US" sz="28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dirty="0">
                <a:latin typeface="Cambria" panose="02040503050406030204" pitchFamily="18" charset="0"/>
                <a:cs typeface="Times New Roman" pitchFamily="18" charset="0"/>
              </a:rPr>
              <a:t>Python </a:t>
            </a:r>
            <a:r>
              <a:rPr lang="en-US" dirty="0" err="1">
                <a:latin typeface="Cambria" panose="02040503050406030204" pitchFamily="18" charset="0"/>
                <a:cs typeface="Times New Roman" pitchFamily="18" charset="0"/>
              </a:rPr>
              <a:t>hỗ</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trợ</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kiểu</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khai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báo</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hàm</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nặc</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danh</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thông</a:t>
            </a:r>
            <a:r>
              <a:rPr lang="en-US" dirty="0">
                <a:latin typeface="Cambria" panose="02040503050406030204" pitchFamily="18" charset="0"/>
                <a:cs typeface="Times New Roman" pitchFamily="18" charset="0"/>
              </a:rPr>
              <a:t> qua Lambda expression:</a:t>
            </a:r>
          </a:p>
          <a:p>
            <a:pPr marL="457200" indent="-457200" algn="just">
              <a:buFont typeface="Wingdings" pitchFamily="2" charset="2"/>
              <a:buChar char="Ø"/>
            </a:pPr>
            <a:endParaRPr lang="en-US" dirty="0">
              <a:latin typeface="Cambria" panose="02040503050406030204" pitchFamily="18" charset="0"/>
              <a:cs typeface="Times New Roman" pitchFamily="18" charset="0"/>
            </a:endParaRPr>
          </a:p>
          <a:p>
            <a:pPr marL="0" indent="0" algn="just">
              <a:buNone/>
            </a:pPr>
            <a:r>
              <a:rPr lang="en-US" b="1" dirty="0">
                <a:solidFill>
                  <a:srgbClr val="FF0000"/>
                </a:solidFill>
                <a:latin typeface="Cambria" panose="02040503050406030204" pitchFamily="18" charset="0"/>
                <a:cs typeface="Times New Roman" pitchFamily="18" charset="0"/>
              </a:rPr>
              <a:t>lambda</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là</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từ</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khóa</a:t>
            </a:r>
            <a:endParaRPr lang="en-US" dirty="0">
              <a:latin typeface="Cambria" panose="02040503050406030204" pitchFamily="18" charset="0"/>
              <a:cs typeface="Times New Roman" pitchFamily="18" charset="0"/>
            </a:endParaRPr>
          </a:p>
          <a:p>
            <a:pPr marL="0" indent="0" algn="just">
              <a:buNone/>
            </a:pPr>
            <a:r>
              <a:rPr lang="en-US" b="1" dirty="0" err="1">
                <a:solidFill>
                  <a:srgbClr val="FF0000"/>
                </a:solidFill>
                <a:latin typeface="Cambria" panose="02040503050406030204" pitchFamily="18" charset="0"/>
                <a:cs typeface="Times New Roman" pitchFamily="18" charset="0"/>
              </a:rPr>
              <a:t>paramaterlist</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tập</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hợp</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các</a:t>
            </a:r>
            <a:r>
              <a:rPr lang="en-US" dirty="0">
                <a:latin typeface="Cambria" panose="02040503050406030204" pitchFamily="18" charset="0"/>
                <a:cs typeface="Times New Roman" pitchFamily="18" charset="0"/>
              </a:rPr>
              <a:t> </a:t>
            </a:r>
            <a:r>
              <a:rPr lang="en-US" b="1" dirty="0">
                <a:latin typeface="Cambria" panose="02040503050406030204" pitchFamily="18" charset="0"/>
                <a:cs typeface="Times New Roman" pitchFamily="18" charset="0"/>
              </a:rPr>
              <a:t>parameter</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mà</a:t>
            </a:r>
            <a:r>
              <a:rPr lang="en-US" dirty="0">
                <a:latin typeface="Cambria" panose="02040503050406030204" pitchFamily="18" charset="0"/>
                <a:cs typeface="Times New Roman" pitchFamily="18" charset="0"/>
              </a:rPr>
              <a:t> ta </a:t>
            </a:r>
            <a:r>
              <a:rPr lang="en-US" dirty="0" err="1">
                <a:latin typeface="Cambria" panose="02040503050406030204" pitchFamily="18" charset="0"/>
                <a:cs typeface="Times New Roman" pitchFamily="18" charset="0"/>
              </a:rPr>
              <a:t>muốn</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định</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nghĩa</a:t>
            </a:r>
            <a:endParaRPr lang="en-US" dirty="0">
              <a:latin typeface="Cambria" panose="02040503050406030204" pitchFamily="18" charset="0"/>
              <a:cs typeface="Times New Roman" pitchFamily="18" charset="0"/>
            </a:endParaRPr>
          </a:p>
          <a:p>
            <a:pPr marL="0" indent="0" algn="just">
              <a:buNone/>
            </a:pPr>
            <a:r>
              <a:rPr lang="en-US" b="1" dirty="0">
                <a:solidFill>
                  <a:srgbClr val="FF0000"/>
                </a:solidFill>
                <a:latin typeface="Cambria" panose="02040503050406030204" pitchFamily="18" charset="0"/>
                <a:cs typeface="Times New Roman" pitchFamily="18" charset="0"/>
              </a:rPr>
              <a:t>expression</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biểu</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thức</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đơn</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trong</a:t>
            </a:r>
            <a:r>
              <a:rPr lang="en-US" dirty="0">
                <a:latin typeface="Cambria" panose="02040503050406030204" pitchFamily="18" charset="0"/>
                <a:cs typeface="Times New Roman" pitchFamily="18" charset="0"/>
              </a:rPr>
              <a:t> Python (</a:t>
            </a:r>
            <a:r>
              <a:rPr lang="en-US" dirty="0" err="1">
                <a:latin typeface="Cambria" panose="02040503050406030204" pitchFamily="18" charset="0"/>
                <a:cs typeface="Times New Roman" pitchFamily="18" charset="0"/>
              </a:rPr>
              <a:t>không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nhập</a:t>
            </a:r>
            <a:r>
              <a:rPr lang="en-US" dirty="0">
                <a:latin typeface="Cambria" panose="02040503050406030204" pitchFamily="18" charset="0"/>
                <a:cs typeface="Times New Roman" pitchFamily="18" charset="0"/>
              </a:rPr>
              <a:t> complex)</a:t>
            </a:r>
            <a:endParaRPr lang="en-US" sz="3600" dirty="0">
              <a:latin typeface="Cambria" panose="02040503050406030204" pitchFamily="18" charset="0"/>
              <a:cs typeface="Times New Roman" pitchFamily="18" charset="0"/>
            </a:endParaRPr>
          </a:p>
        </p:txBody>
      </p:sp>
      <p:pic>
        <p:nvPicPr>
          <p:cNvPr id="8" name="Picture 7">
            <a:extLst>
              <a:ext uri="{FF2B5EF4-FFF2-40B4-BE49-F238E27FC236}">
                <a16:creationId xmlns:a16="http://schemas.microsoft.com/office/drawing/2014/main" id="{BF51C4DD-C6D2-48BF-A91C-BE1797BCB3FC}"/>
              </a:ext>
            </a:extLst>
          </p:cNvPr>
          <p:cNvPicPr>
            <a:picLocks noChangeAspect="1"/>
          </p:cNvPicPr>
          <p:nvPr/>
        </p:nvPicPr>
        <p:blipFill>
          <a:blip r:embed="rId3"/>
          <a:stretch>
            <a:fillRect/>
          </a:stretch>
        </p:blipFill>
        <p:spPr>
          <a:xfrm>
            <a:off x="3505200" y="1752600"/>
            <a:ext cx="6172200" cy="1143000"/>
          </a:xfrm>
          <a:prstGeom prst="rect">
            <a:avLst/>
          </a:prstGeom>
        </p:spPr>
      </p:pic>
    </p:spTree>
    <p:extLst>
      <p:ext uri="{BB962C8B-B14F-4D97-AF65-F5344CB8AC3E}">
        <p14:creationId xmlns:p14="http://schemas.microsoft.com/office/powerpoint/2010/main" val="18786581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dirty="0" err="1"/>
              <a:t>Trang</a:t>
            </a:r>
            <a:r>
              <a:rPr lang="en-US" dirty="0"/>
              <a:t> </a:t>
            </a:r>
            <a:fld id="{99166BD8-DA3C-4BE0-9C00-AA0485D1F6DE}" type="slidenum">
              <a:rPr lang="en-US" smtClean="0"/>
              <a:pPr/>
              <a:t>30</a:t>
            </a:fld>
            <a:endParaRPr lang="en-US" dirty="0"/>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dirty="0" err="1">
                <a:latin typeface="Cambria" panose="02040503050406030204" pitchFamily="18" charset="0"/>
                <a:cs typeface="Times New Roman" pitchFamily="18" charset="0"/>
              </a:rPr>
              <a:t>Ví</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dụ</a:t>
            </a:r>
            <a:r>
              <a:rPr lang="en-US" sz="2800" dirty="0">
                <a:latin typeface="Cambria" panose="02040503050406030204" pitchFamily="18" charset="0"/>
                <a:cs typeface="Times New Roman" pitchFamily="18" charset="0"/>
              </a:rPr>
              <a:t> ta </a:t>
            </a:r>
            <a:r>
              <a:rPr lang="en-US" sz="2800" dirty="0" err="1">
                <a:latin typeface="Cambria" panose="02040503050406030204" pitchFamily="18" charset="0"/>
                <a:cs typeface="Times New Roman" pitchFamily="18" charset="0"/>
              </a:rPr>
              <a:t>định</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nghĩa</a:t>
            </a:r>
            <a:r>
              <a:rPr lang="en-US" sz="2800" dirty="0">
                <a:latin typeface="Cambria" panose="02040503050406030204" pitchFamily="18" charset="0"/>
                <a:cs typeface="Times New Roman" pitchFamily="18" charset="0"/>
              </a:rPr>
              <a:t> 1 </a:t>
            </a: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 </a:t>
            </a:r>
          </a:p>
          <a:p>
            <a:pPr marL="457200" indent="-457200" algn="just">
              <a:buFont typeface="Wingdings" pitchFamily="2" charset="2"/>
              <a:buChar char="Ø"/>
            </a:pPr>
            <a:r>
              <a:rPr lang="en-US" sz="2800" dirty="0">
                <a:latin typeface="Cambria" panose="02040503050406030204" pitchFamily="18" charset="0"/>
                <a:cs typeface="Times New Roman" pitchFamily="18" charset="0"/>
              </a:rPr>
              <a:t>Ta </a:t>
            </a:r>
            <a:r>
              <a:rPr lang="en-US" sz="2800" dirty="0" err="1">
                <a:latin typeface="Cambria" panose="02040503050406030204" pitchFamily="18" charset="0"/>
                <a:cs typeface="Times New Roman" pitchFamily="18" charset="0"/>
              </a:rPr>
              <a:t>thấy</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đối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số</a:t>
            </a:r>
            <a:r>
              <a:rPr lang="en-US" sz="2800" dirty="0">
                <a:latin typeface="Cambria" panose="02040503050406030204" pitchFamily="18" charset="0"/>
                <a:cs typeface="Times New Roman" pitchFamily="18" charset="0"/>
              </a:rPr>
              <a:t> 1 </a:t>
            </a:r>
            <a:r>
              <a:rPr lang="en-US" sz="2800" dirty="0" err="1">
                <a:latin typeface="Cambria" panose="02040503050406030204" pitchFamily="18" charset="0"/>
                <a:cs typeface="Times New Roman" pitchFamily="18" charset="0"/>
              </a:rPr>
              <a:t>là</a:t>
            </a:r>
            <a:r>
              <a:rPr lang="en-US" sz="2800" dirty="0">
                <a:latin typeface="Cambria" panose="02040503050406030204" pitchFamily="18" charset="0"/>
                <a:cs typeface="Times New Roman" pitchFamily="18" charset="0"/>
              </a:rPr>
              <a:t> 1 </a:t>
            </a: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 f </a:t>
            </a:r>
            <a:r>
              <a:rPr lang="en-US" sz="2800" dirty="0" err="1">
                <a:latin typeface="Cambria" panose="02040503050406030204" pitchFamily="18" charset="0"/>
                <a:cs typeface="Times New Roman" pitchFamily="18" charset="0"/>
              </a:rPr>
              <a:t>nào</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đó</a:t>
            </a: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r>
              <a:rPr lang="en-US" sz="2800" dirty="0" err="1">
                <a:latin typeface="Cambria" panose="02040503050406030204" pitchFamily="18" charset="0"/>
                <a:cs typeface="Times New Roman" pitchFamily="18" charset="0"/>
              </a:rPr>
              <a:t>Từ</a:t>
            </a:r>
            <a:r>
              <a:rPr lang="en-US" sz="2800" dirty="0">
                <a:latin typeface="Cambria" panose="02040503050406030204" pitchFamily="18" charset="0"/>
                <a:cs typeface="Times New Roman" pitchFamily="18" charset="0"/>
              </a:rPr>
              <a:t> handle </a:t>
            </a:r>
            <a:r>
              <a:rPr lang="en-US" sz="2800" dirty="0" err="1">
                <a:latin typeface="Cambria" panose="02040503050406030204" pitchFamily="18" charset="0"/>
                <a:cs typeface="Times New Roman" pitchFamily="18" charset="0"/>
              </a:rPr>
              <a:t>này</a:t>
            </a:r>
            <a:r>
              <a:rPr lang="en-US" sz="2800" dirty="0">
                <a:latin typeface="Cambria" panose="02040503050406030204" pitchFamily="18" charset="0"/>
                <a:cs typeface="Times New Roman" pitchFamily="18" charset="0"/>
              </a:rPr>
              <a:t> ta </a:t>
            </a:r>
            <a:r>
              <a:rPr lang="en-US" sz="2800" dirty="0" err="1">
                <a:latin typeface="Cambria" panose="02040503050406030204" pitchFamily="18" charset="0"/>
                <a:cs typeface="Times New Roman" pitchFamily="18" charset="0"/>
              </a:rPr>
              <a:t>có</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thể</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gọi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tùy</a:t>
            </a:r>
            <a:r>
              <a:rPr lang="en-US" sz="2800" dirty="0">
                <a:latin typeface="Cambria" panose="02040503050406030204" pitchFamily="18" charset="0"/>
                <a:cs typeface="Times New Roman" pitchFamily="18" charset="0"/>
              </a:rPr>
              <a:t> ý </a:t>
            </a:r>
            <a:r>
              <a:rPr lang="en-US" sz="2800" dirty="0" err="1">
                <a:latin typeface="Cambria" panose="02040503050406030204" pitchFamily="18" charset="0"/>
                <a:cs typeface="Times New Roman" pitchFamily="18" charset="0"/>
              </a:rPr>
              <a:t>các</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giao</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tác</a:t>
            </a:r>
            <a:r>
              <a:rPr lang="en-US" sz="2800" dirty="0">
                <a:latin typeface="Cambria" panose="02040503050406030204" pitchFamily="18" charset="0"/>
                <a:cs typeface="Times New Roman" pitchFamily="18" charset="0"/>
              </a:rPr>
              <a:t>:</a:t>
            </a:r>
          </a:p>
          <a:p>
            <a:pPr marL="457200" indent="-457200" algn="just">
              <a:buFont typeface="Wingdings" pitchFamily="2" charset="2"/>
              <a:buChar char="Ø"/>
            </a:pP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r>
              <a:rPr lang="en-US" sz="2800" dirty="0" err="1">
                <a:latin typeface="Cambria" panose="02040503050406030204" pitchFamily="18" charset="0"/>
                <a:cs typeface="Times New Roman" pitchFamily="18" charset="0"/>
              </a:rPr>
              <a:t>Tr</a:t>
            </a:r>
            <a:r>
              <a:rPr lang="vi-VN" sz="2800" dirty="0">
                <a:latin typeface="Cambria" panose="02040503050406030204" pitchFamily="18" charset="0"/>
                <a:cs typeface="Times New Roman" pitchFamily="18" charset="0"/>
              </a:rPr>
              <a:t>ư</a:t>
            </a:r>
            <a:r>
              <a:rPr lang="en-US" sz="2800" dirty="0" err="1">
                <a:latin typeface="Cambria" panose="02040503050406030204" pitchFamily="18" charset="0"/>
                <a:cs typeface="Times New Roman" pitchFamily="18" charset="0"/>
              </a:rPr>
              <a:t>ớc</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dấu</a:t>
            </a:r>
            <a:r>
              <a:rPr lang="en-US" sz="2800" dirty="0">
                <a:latin typeface="Cambria" panose="02040503050406030204" pitchFamily="18" charset="0"/>
                <a:cs typeface="Times New Roman" pitchFamily="18" charset="0"/>
              </a:rPr>
              <a:t> 2 </a:t>
            </a:r>
            <a:r>
              <a:rPr lang="en-US" sz="2800" dirty="0" err="1">
                <a:latin typeface="Cambria" panose="02040503050406030204" pitchFamily="18" charset="0"/>
                <a:cs typeface="Times New Roman" pitchFamily="18" charset="0"/>
              </a:rPr>
              <a:t>chấm</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là</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từ</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khóa</a:t>
            </a:r>
            <a:r>
              <a:rPr lang="en-US" sz="2800" dirty="0">
                <a:latin typeface="Cambria" panose="02040503050406030204" pitchFamily="18" charset="0"/>
                <a:cs typeface="Times New Roman" pitchFamily="18" charset="0"/>
              </a:rPr>
              <a:t> lambda, </a:t>
            </a:r>
            <a:r>
              <a:rPr lang="en-US" sz="2800" dirty="0" err="1">
                <a:latin typeface="Cambria" panose="02040503050406030204" pitchFamily="18" charset="0"/>
                <a:cs typeface="Times New Roman" pitchFamily="18" charset="0"/>
              </a:rPr>
              <a:t>đằng</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sau</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nó</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là</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số</a:t>
            </a:r>
            <a:r>
              <a:rPr lang="en-US" sz="2800" dirty="0">
                <a:latin typeface="Cambria" panose="02040503050406030204" pitchFamily="18" charset="0"/>
                <a:cs typeface="Times New Roman" pitchFamily="18" charset="0"/>
              </a:rPr>
              <a:t> l</a:t>
            </a:r>
            <a:r>
              <a:rPr lang="vi-VN" sz="2800" dirty="0">
                <a:latin typeface="Cambria" panose="02040503050406030204" pitchFamily="18" charset="0"/>
                <a:cs typeface="Times New Roman" pitchFamily="18" charset="0"/>
              </a:rPr>
              <a:t>ư</a:t>
            </a:r>
            <a:r>
              <a:rPr lang="en-US" sz="2800" dirty="0" err="1">
                <a:latin typeface="Cambria" panose="02040503050406030204" pitchFamily="18" charset="0"/>
                <a:cs typeface="Times New Roman" pitchFamily="18" charset="0"/>
              </a:rPr>
              <a:t>ợng</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các</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biến</a:t>
            </a:r>
            <a:r>
              <a:rPr lang="en-US" sz="2800" dirty="0">
                <a:latin typeface="Cambria" panose="02040503050406030204" pitchFamily="18" charset="0"/>
                <a:cs typeface="Times New Roman" pitchFamily="18" charset="0"/>
              </a:rPr>
              <a:t> đ</a:t>
            </a:r>
            <a:r>
              <a:rPr lang="vi-VN" sz="2800" dirty="0">
                <a:latin typeface="Cambria" panose="02040503050406030204" pitchFamily="18" charset="0"/>
                <a:cs typeface="Times New Roman" pitchFamily="18" charset="0"/>
              </a:rPr>
              <a:t>ư</a:t>
            </a:r>
            <a:r>
              <a:rPr lang="en-US" sz="2800" dirty="0" err="1">
                <a:latin typeface="Cambria" panose="02040503050406030204" pitchFamily="18" charset="0"/>
                <a:cs typeface="Times New Roman" pitchFamily="18" charset="0"/>
              </a:rPr>
              <a:t>ợc</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khai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báo</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trong</a:t>
            </a:r>
            <a:r>
              <a:rPr lang="en-US" sz="2800" dirty="0">
                <a:latin typeface="Cambria" panose="02040503050406030204" pitchFamily="18" charset="0"/>
                <a:cs typeface="Times New Roman" pitchFamily="18" charset="0"/>
              </a:rPr>
              <a:t> handle (</a:t>
            </a:r>
            <a:r>
              <a:rPr lang="en-US" sz="2800" dirty="0" err="1">
                <a:latin typeface="Cambria" panose="02040503050406030204" pitchFamily="18" charset="0"/>
                <a:cs typeface="Times New Roman" pitchFamily="18" charset="0"/>
              </a:rPr>
              <a:t>tính</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sau</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chữ</a:t>
            </a:r>
            <a:r>
              <a:rPr lang="en-US" sz="2800" dirty="0">
                <a:latin typeface="Cambria" panose="02040503050406030204" pitchFamily="18" charset="0"/>
                <a:cs typeface="Times New Roman" pitchFamily="18" charset="0"/>
              </a:rPr>
              <a:t> f). </a:t>
            </a:r>
            <a:r>
              <a:rPr lang="en-US" sz="2800" dirty="0" err="1">
                <a:latin typeface="Cambria" panose="02040503050406030204" pitchFamily="18" charset="0"/>
                <a:cs typeface="Times New Roman" pitchFamily="18" charset="0"/>
              </a:rPr>
              <a:t>Tức</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là</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nếu</a:t>
            </a:r>
            <a:r>
              <a:rPr lang="en-US" sz="2800" dirty="0">
                <a:latin typeface="Cambria" panose="02040503050406030204" pitchFamily="18" charset="0"/>
                <a:cs typeface="Times New Roman" pitchFamily="18" charset="0"/>
              </a:rPr>
              <a:t> ta handle(</a:t>
            </a:r>
            <a:r>
              <a:rPr lang="en-US" sz="2800" dirty="0" err="1">
                <a:latin typeface="Cambria" panose="02040503050406030204" pitchFamily="18" charset="0"/>
                <a:cs typeface="Times New Roman" pitchFamily="18" charset="0"/>
              </a:rPr>
              <a:t>f,x,y</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thì</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viết</a:t>
            </a:r>
            <a:r>
              <a:rPr lang="en-US" sz="2800" dirty="0">
                <a:latin typeface="Cambria" panose="02040503050406030204" pitchFamily="18" charset="0"/>
                <a:cs typeface="Times New Roman" pitchFamily="18" charset="0"/>
              </a:rPr>
              <a:t> lambda x, y:</a:t>
            </a:r>
          </a:p>
          <a:p>
            <a:pPr marL="0" indent="0" algn="just">
              <a:buNone/>
            </a:pPr>
            <a:endParaRPr lang="en-US" dirty="0">
              <a:latin typeface="Cambria" panose="02040503050406030204" pitchFamily="18" charset="0"/>
              <a:cs typeface="Times New Roman" pitchFamily="18" charset="0"/>
            </a:endParaRPr>
          </a:p>
        </p:txBody>
      </p:sp>
      <p:pic>
        <p:nvPicPr>
          <p:cNvPr id="9" name="Picture 8">
            <a:extLst>
              <a:ext uri="{FF2B5EF4-FFF2-40B4-BE49-F238E27FC236}">
                <a16:creationId xmlns:a16="http://schemas.microsoft.com/office/drawing/2014/main" id="{2EDEA68B-7828-46F6-8E43-D0446155AABD}"/>
              </a:ext>
            </a:extLst>
          </p:cNvPr>
          <p:cNvPicPr>
            <a:picLocks noChangeAspect="1"/>
          </p:cNvPicPr>
          <p:nvPr/>
        </p:nvPicPr>
        <p:blipFill>
          <a:blip r:embed="rId3"/>
          <a:stretch>
            <a:fillRect/>
          </a:stretch>
        </p:blipFill>
        <p:spPr>
          <a:xfrm>
            <a:off x="5410200" y="1076325"/>
            <a:ext cx="3181350" cy="590550"/>
          </a:xfrm>
          <a:prstGeom prst="rect">
            <a:avLst/>
          </a:prstGeom>
        </p:spPr>
      </p:pic>
      <p:sp>
        <p:nvSpPr>
          <p:cNvPr id="11" name="Rectangle 2">
            <a:extLst>
              <a:ext uri="{FF2B5EF4-FFF2-40B4-BE49-F238E27FC236}">
                <a16:creationId xmlns:a16="http://schemas.microsoft.com/office/drawing/2014/main" id="{34E346FC-007C-413C-9DC0-52EE81B0049C}"/>
              </a:ext>
            </a:extLst>
          </p:cNvPr>
          <p:cNvSpPr>
            <a:spLocks noChangeArrowheads="1"/>
          </p:cNvSpPr>
          <p:nvPr/>
        </p:nvSpPr>
        <p:spPr bwMode="auto">
          <a:xfrm>
            <a:off x="3810000" y="2749242"/>
            <a:ext cx="5715026"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a:solidFill>
                  <a:srgbClr val="000000"/>
                </a:solidFill>
                <a:latin typeface="Courier New" panose="02070309020205020404" pitchFamily="49" charset="0"/>
                <a:cs typeface="Courier New" panose="02070309020205020404" pitchFamily="49" charset="0"/>
              </a:rPr>
              <a:t>ret1</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=handle(</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lambda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x:x%</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2</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0</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7</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p>
          <a:p>
            <a:pPr eaLnBrk="0" fontAlgn="base" hangingPunct="0">
              <a:spcBef>
                <a:spcPct val="0"/>
              </a:spcBef>
              <a:spcAft>
                <a:spcPct val="0"/>
              </a:spcAft>
            </a:pPr>
            <a:r>
              <a:rPr lang="en-US" altLang="en-US" sz="2400">
                <a:solidFill>
                  <a:srgbClr val="000000"/>
                </a:solidFill>
                <a:latin typeface="Courier New" panose="02070309020205020404" pitchFamily="49" charset="0"/>
                <a:cs typeface="Courier New" panose="02070309020205020404" pitchFamily="49" charset="0"/>
              </a:rPr>
              <a:t>ret2=handle(</a:t>
            </a:r>
            <a:r>
              <a:rPr lang="en-US" altLang="en-US" sz="2400" b="1">
                <a:solidFill>
                  <a:srgbClr val="000080"/>
                </a:solidFill>
                <a:latin typeface="Courier New" panose="02070309020205020404" pitchFamily="49" charset="0"/>
                <a:cs typeface="Courier New" panose="02070309020205020404" pitchFamily="49" charset="0"/>
              </a:rPr>
              <a:t>lambda </a:t>
            </a:r>
            <a:r>
              <a:rPr lang="en-US" altLang="en-US" sz="2400">
                <a:solidFill>
                  <a:srgbClr val="000000"/>
                </a:solidFill>
                <a:latin typeface="Courier New" panose="02070309020205020404" pitchFamily="49" charset="0"/>
                <a:cs typeface="Courier New" panose="02070309020205020404" pitchFamily="49" charset="0"/>
              </a:rPr>
              <a:t>x:x%</a:t>
            </a:r>
            <a:r>
              <a:rPr lang="en-US" altLang="en-US" sz="2400">
                <a:solidFill>
                  <a:srgbClr val="0000FF"/>
                </a:solidFill>
                <a:latin typeface="Courier New" panose="02070309020205020404" pitchFamily="49" charset="0"/>
                <a:cs typeface="Courier New" panose="02070309020205020404" pitchFamily="49" charset="0"/>
              </a:rPr>
              <a:t>2</a:t>
            </a:r>
            <a:r>
              <a:rPr lang="en-US" altLang="en-US" sz="2400">
                <a:solidFill>
                  <a:srgbClr val="000000"/>
                </a:solidFill>
                <a:latin typeface="Courier New" panose="02070309020205020404" pitchFamily="49" charset="0"/>
                <a:cs typeface="Courier New" panose="02070309020205020404" pitchFamily="49" charset="0"/>
              </a:rPr>
              <a:t>!=</a:t>
            </a:r>
            <a:r>
              <a:rPr lang="en-US" altLang="en-US" sz="2400">
                <a:solidFill>
                  <a:srgbClr val="0000FF"/>
                </a:solidFill>
                <a:latin typeface="Courier New" panose="02070309020205020404" pitchFamily="49" charset="0"/>
                <a:cs typeface="Courier New" panose="02070309020205020404" pitchFamily="49" charset="0"/>
              </a:rPr>
              <a:t>0</a:t>
            </a:r>
            <a:r>
              <a:rPr lang="en-US" altLang="en-US" sz="2400">
                <a:solidFill>
                  <a:srgbClr val="000000"/>
                </a:solidFill>
                <a:latin typeface="Courier New" panose="02070309020205020404" pitchFamily="49" charset="0"/>
                <a:cs typeface="Courier New" panose="02070309020205020404" pitchFamily="49" charset="0"/>
              </a:rPr>
              <a:t>,</a:t>
            </a:r>
            <a:r>
              <a:rPr lang="en-US" altLang="en-US" sz="2400">
                <a:solidFill>
                  <a:srgbClr val="0000FF"/>
                </a:solidFill>
                <a:latin typeface="Courier New" panose="02070309020205020404" pitchFamily="49" charset="0"/>
                <a:cs typeface="Courier New" panose="02070309020205020404" pitchFamily="49" charset="0"/>
              </a:rPr>
              <a:t>7</a:t>
            </a:r>
            <a:r>
              <a:rPr lang="en-US" altLang="en-US" sz="2400">
                <a:solidFill>
                  <a:srgbClr val="000000"/>
                </a:solidFill>
                <a:latin typeface="Courier New" panose="02070309020205020404" pitchFamily="49" charset="0"/>
                <a:cs typeface="Courier New" panose="02070309020205020404" pitchFamily="49" charset="0"/>
              </a:rPr>
              <a:t>)</a:t>
            </a:r>
            <a:endParaRPr kumimoji="0" lang="en-US" altLang="en-US" sz="2400" b="0" i="0" u="none" strike="noStrike" cap="none" normalizeH="0" baseline="0">
              <a:ln>
                <a:noFill/>
              </a:ln>
              <a:solidFill>
                <a:schemeClr val="tx1"/>
              </a:solidFill>
              <a:effectLst/>
              <a:latin typeface="Arial" panose="020B0604020202020204" pitchFamily="34" charset="0"/>
            </a:endParaRPr>
          </a:p>
        </p:txBody>
      </p:sp>
      <p:pic>
        <p:nvPicPr>
          <p:cNvPr id="12" name="Picture 11">
            <a:extLst>
              <a:ext uri="{FF2B5EF4-FFF2-40B4-BE49-F238E27FC236}">
                <a16:creationId xmlns:a16="http://schemas.microsoft.com/office/drawing/2014/main" id="{534B4DD4-4FD3-48B9-AA29-0ED1ED49DFDC}"/>
              </a:ext>
            </a:extLst>
          </p:cNvPr>
          <p:cNvPicPr>
            <a:picLocks noChangeAspect="1"/>
          </p:cNvPicPr>
          <p:nvPr/>
        </p:nvPicPr>
        <p:blipFill>
          <a:blip r:embed="rId4"/>
          <a:stretch>
            <a:fillRect/>
          </a:stretch>
        </p:blipFill>
        <p:spPr>
          <a:xfrm>
            <a:off x="4191000" y="4662606"/>
            <a:ext cx="4629150" cy="1400175"/>
          </a:xfrm>
          <a:prstGeom prst="rect">
            <a:avLst/>
          </a:prstGeom>
        </p:spPr>
      </p:pic>
    </p:spTree>
    <p:extLst>
      <p:ext uri="{BB962C8B-B14F-4D97-AF65-F5344CB8AC3E}">
        <p14:creationId xmlns:p14="http://schemas.microsoft.com/office/powerpoint/2010/main" val="33989566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31</a:t>
            </a:fld>
            <a:endParaRPr lang="en-US"/>
          </a:p>
        </p:txBody>
      </p:sp>
      <p:sp>
        <p:nvSpPr>
          <p:cNvPr id="14" name="Content Placeholder 2"/>
          <p:cNvSpPr txBox="1">
            <a:spLocks/>
          </p:cNvSpPr>
          <p:nvPr/>
        </p:nvSpPr>
        <p:spPr>
          <a:xfrm>
            <a:off x="457200" y="1076325"/>
            <a:ext cx="5715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dirty="0" err="1">
                <a:latin typeface="Cambria" panose="02040503050406030204" pitchFamily="18" charset="0"/>
                <a:cs typeface="Times New Roman" pitchFamily="18" charset="0"/>
              </a:rPr>
              <a:t>Vì</a:t>
            </a:r>
            <a:r>
              <a:rPr lang="en-US" sz="2800" dirty="0">
                <a:latin typeface="Cambria" panose="02040503050406030204" pitchFamily="18" charset="0"/>
                <a:cs typeface="Times New Roman" pitchFamily="18" charset="0"/>
              </a:rPr>
              <a:t> lambda expression </a:t>
            </a:r>
            <a:r>
              <a:rPr lang="en-US" sz="2800" dirty="0" err="1">
                <a:latin typeface="Cambria" panose="02040503050406030204" pitchFamily="18" charset="0"/>
                <a:cs typeface="Times New Roman" pitchFamily="18" charset="0"/>
              </a:rPr>
              <a:t>không</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nhận</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cách</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viết</a:t>
            </a:r>
            <a:r>
              <a:rPr lang="en-US" sz="2800" dirty="0">
                <a:latin typeface="Cambria" panose="02040503050406030204" pitchFamily="18" charset="0"/>
                <a:cs typeface="Times New Roman" pitchFamily="18" charset="0"/>
              </a:rPr>
              <a:t> complex, do </a:t>
            </a:r>
            <a:r>
              <a:rPr lang="en-US" sz="2800" dirty="0" err="1">
                <a:latin typeface="Cambria" panose="02040503050406030204" pitchFamily="18" charset="0"/>
                <a:cs typeface="Times New Roman" pitchFamily="18" charset="0"/>
              </a:rPr>
              <a:t>đó</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nếu</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muốn</a:t>
            </a:r>
            <a:r>
              <a:rPr lang="en-US" sz="2800" dirty="0">
                <a:latin typeface="Cambria" panose="02040503050406030204" pitchFamily="18" charset="0"/>
                <a:cs typeface="Times New Roman" pitchFamily="18" charset="0"/>
              </a:rPr>
              <a:t> complex </a:t>
            </a:r>
            <a:r>
              <a:rPr lang="en-US" sz="2800" dirty="0" err="1">
                <a:latin typeface="Cambria" panose="02040503050406030204" pitchFamily="18" charset="0"/>
                <a:cs typeface="Times New Roman" pitchFamily="18" charset="0"/>
              </a:rPr>
              <a:t>thì</a:t>
            </a:r>
            <a:r>
              <a:rPr lang="en-US" sz="2800" dirty="0">
                <a:latin typeface="Cambria" panose="02040503050406030204" pitchFamily="18" charset="0"/>
                <a:cs typeface="Times New Roman" pitchFamily="18" charset="0"/>
              </a:rPr>
              <a:t> ta </a:t>
            </a:r>
            <a:r>
              <a:rPr lang="en-US" sz="2800" dirty="0" err="1">
                <a:latin typeface="Cambria" panose="02040503050406030204" pitchFamily="18" charset="0"/>
                <a:cs typeface="Times New Roman" pitchFamily="18" charset="0"/>
              </a:rPr>
              <a:t>nên</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định</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nghĩa</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các</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độc</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lập</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rồi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truyền</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vào</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cho</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Lamba</a:t>
            </a:r>
            <a:r>
              <a:rPr lang="en-US" sz="2800" dirty="0">
                <a:latin typeface="Cambria" panose="02040503050406030204" pitchFamily="18" charset="0"/>
                <a:cs typeface="Times New Roman" pitchFamily="18" charset="0"/>
              </a:rPr>
              <a:t> expression. </a:t>
            </a:r>
            <a:r>
              <a:rPr lang="en-US" sz="2800" dirty="0" err="1">
                <a:latin typeface="Cambria" panose="02040503050406030204" pitchFamily="18" charset="0"/>
                <a:cs typeface="Times New Roman" pitchFamily="18" charset="0"/>
              </a:rPr>
              <a:t>Ví</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dụ</a:t>
            </a:r>
            <a:r>
              <a:rPr lang="en-US" sz="2800" dirty="0">
                <a:latin typeface="Cambria" panose="02040503050406030204" pitchFamily="18" charset="0"/>
                <a:cs typeface="Times New Roman" pitchFamily="18" charset="0"/>
              </a:rPr>
              <a:t>:</a:t>
            </a:r>
          </a:p>
          <a:p>
            <a:pPr marL="457200" indent="-457200" algn="just">
              <a:buFont typeface="Wingdings" pitchFamily="2" charset="2"/>
              <a:buChar char="Ø"/>
            </a:pPr>
            <a:r>
              <a:rPr lang="en-US" sz="2800" dirty="0">
                <a:latin typeface="Cambria" panose="02040503050406030204" pitchFamily="18" charset="0"/>
                <a:cs typeface="Times New Roman" pitchFamily="18" charset="0"/>
              </a:rPr>
              <a:t>Ở </a:t>
            </a:r>
            <a:r>
              <a:rPr lang="en-US" sz="2800" dirty="0" err="1">
                <a:latin typeface="Cambria" panose="02040503050406030204" pitchFamily="18" charset="0"/>
                <a:cs typeface="Times New Roman" pitchFamily="18" charset="0"/>
              </a:rPr>
              <a:t>bên</a:t>
            </a:r>
            <a:r>
              <a:rPr lang="en-US" sz="2800" dirty="0">
                <a:latin typeface="Cambria" panose="02040503050406030204" pitchFamily="18" charset="0"/>
                <a:cs typeface="Times New Roman" pitchFamily="18" charset="0"/>
              </a:rPr>
              <a:t> ta </a:t>
            </a:r>
            <a:r>
              <a:rPr lang="en-US" sz="2800" dirty="0" err="1">
                <a:latin typeface="Cambria" panose="02040503050406030204" pitchFamily="18" charset="0"/>
                <a:cs typeface="Times New Roman" pitchFamily="18" charset="0"/>
              </a:rPr>
              <a:t>có</a:t>
            </a:r>
            <a:r>
              <a:rPr lang="en-US" sz="2800" dirty="0">
                <a:latin typeface="Cambria" panose="02040503050406030204" pitchFamily="18" charset="0"/>
                <a:cs typeface="Times New Roman" pitchFamily="18" charset="0"/>
              </a:rPr>
              <a:t> 4 </a:t>
            </a: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trong</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đó</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soChan</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soLe</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SoNguyenTo</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sẽ</a:t>
            </a:r>
            <a:r>
              <a:rPr lang="en-US" sz="2800" dirty="0">
                <a:latin typeface="Cambria" panose="02040503050406030204" pitchFamily="18" charset="0"/>
                <a:cs typeface="Times New Roman" pitchFamily="18" charset="0"/>
              </a:rPr>
              <a:t> đ</a:t>
            </a:r>
            <a:r>
              <a:rPr lang="vi-VN" sz="2800" dirty="0">
                <a:latin typeface="Cambria" panose="02040503050406030204" pitchFamily="18" charset="0"/>
                <a:cs typeface="Times New Roman" pitchFamily="18" charset="0"/>
              </a:rPr>
              <a:t>ư</a:t>
            </a:r>
            <a:r>
              <a:rPr lang="en-US" sz="2800" dirty="0" err="1">
                <a:latin typeface="Cambria" panose="02040503050406030204" pitchFamily="18" charset="0"/>
                <a:cs typeface="Times New Roman" pitchFamily="18" charset="0"/>
              </a:rPr>
              <a:t>ợc</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gọi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vào</a:t>
            </a:r>
            <a:r>
              <a:rPr lang="en-US" sz="2800" dirty="0">
                <a:latin typeface="Cambria" panose="02040503050406030204" pitchFamily="18" charset="0"/>
                <a:cs typeface="Times New Roman" pitchFamily="18" charset="0"/>
              </a:rPr>
              <a:t> handle</a:t>
            </a:r>
            <a:endParaRPr lang="en-US" dirty="0">
              <a:latin typeface="Cambria" panose="02040503050406030204" pitchFamily="18" charset="0"/>
              <a:cs typeface="Times New Roman" pitchFamily="18" charset="0"/>
            </a:endParaRPr>
          </a:p>
        </p:txBody>
      </p:sp>
      <p:pic>
        <p:nvPicPr>
          <p:cNvPr id="8" name="Picture 7">
            <a:extLst>
              <a:ext uri="{FF2B5EF4-FFF2-40B4-BE49-F238E27FC236}">
                <a16:creationId xmlns:a16="http://schemas.microsoft.com/office/drawing/2014/main" id="{FD578B12-AEE1-434B-9495-3FF3E51B4C35}"/>
              </a:ext>
            </a:extLst>
          </p:cNvPr>
          <p:cNvPicPr>
            <a:picLocks noChangeAspect="1"/>
          </p:cNvPicPr>
          <p:nvPr/>
        </p:nvPicPr>
        <p:blipFill>
          <a:blip r:embed="rId3"/>
          <a:stretch>
            <a:fillRect/>
          </a:stretch>
        </p:blipFill>
        <p:spPr>
          <a:xfrm>
            <a:off x="6400800" y="1190625"/>
            <a:ext cx="4762500" cy="4476750"/>
          </a:xfrm>
          <a:prstGeom prst="rect">
            <a:avLst/>
          </a:prstGeom>
        </p:spPr>
      </p:pic>
    </p:spTree>
    <p:extLst>
      <p:ext uri="{BB962C8B-B14F-4D97-AF65-F5344CB8AC3E}">
        <p14:creationId xmlns:p14="http://schemas.microsoft.com/office/powerpoint/2010/main" val="8233753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32</a:t>
            </a:fld>
            <a:endParaRPr lang="en-US"/>
          </a:p>
        </p:txBody>
      </p:sp>
      <p:sp>
        <p:nvSpPr>
          <p:cNvPr id="14" name="Content Placeholder 2"/>
          <p:cNvSpPr txBox="1">
            <a:spLocks/>
          </p:cNvSpPr>
          <p:nvPr/>
        </p:nvSpPr>
        <p:spPr>
          <a:xfrm>
            <a:off x="457200" y="1076325"/>
            <a:ext cx="111252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cs typeface="Times New Roman" pitchFamily="18" charset="0"/>
              </a:rPr>
              <a:t>Một số Cách sử dụng:</a:t>
            </a:r>
          </a:p>
        </p:txBody>
      </p:sp>
      <p:pic>
        <p:nvPicPr>
          <p:cNvPr id="9" name="Picture 8">
            <a:extLst>
              <a:ext uri="{FF2B5EF4-FFF2-40B4-BE49-F238E27FC236}">
                <a16:creationId xmlns:a16="http://schemas.microsoft.com/office/drawing/2014/main" id="{7302E115-6E20-4FE1-A093-3147CA328608}"/>
              </a:ext>
            </a:extLst>
          </p:cNvPr>
          <p:cNvPicPr>
            <a:picLocks noChangeAspect="1"/>
          </p:cNvPicPr>
          <p:nvPr/>
        </p:nvPicPr>
        <p:blipFill>
          <a:blip r:embed="rId3"/>
          <a:stretch>
            <a:fillRect/>
          </a:stretch>
        </p:blipFill>
        <p:spPr>
          <a:xfrm>
            <a:off x="886300" y="1809749"/>
            <a:ext cx="6520891" cy="4598213"/>
          </a:xfrm>
          <a:prstGeom prst="rect">
            <a:avLst/>
          </a:prstGeom>
        </p:spPr>
      </p:pic>
      <p:pic>
        <p:nvPicPr>
          <p:cNvPr id="10" name="Picture 9">
            <a:extLst>
              <a:ext uri="{FF2B5EF4-FFF2-40B4-BE49-F238E27FC236}">
                <a16:creationId xmlns:a16="http://schemas.microsoft.com/office/drawing/2014/main" id="{5E6DB463-EC4B-4F69-9C33-9420E0AD82EC}"/>
              </a:ext>
            </a:extLst>
          </p:cNvPr>
          <p:cNvPicPr>
            <a:picLocks noChangeAspect="1"/>
          </p:cNvPicPr>
          <p:nvPr/>
        </p:nvPicPr>
        <p:blipFill>
          <a:blip r:embed="rId4"/>
          <a:stretch>
            <a:fillRect/>
          </a:stretch>
        </p:blipFill>
        <p:spPr>
          <a:xfrm>
            <a:off x="9994900" y="1992312"/>
            <a:ext cx="1587500" cy="3416300"/>
          </a:xfrm>
          <a:prstGeom prst="rect">
            <a:avLst/>
          </a:prstGeom>
        </p:spPr>
      </p:pic>
      <p:sp>
        <p:nvSpPr>
          <p:cNvPr id="11" name="Arrow: Right 10">
            <a:extLst>
              <a:ext uri="{FF2B5EF4-FFF2-40B4-BE49-F238E27FC236}">
                <a16:creationId xmlns:a16="http://schemas.microsoft.com/office/drawing/2014/main" id="{F92BDEBB-E85F-4EB0-AB98-FAED0297AE59}"/>
              </a:ext>
            </a:extLst>
          </p:cNvPr>
          <p:cNvSpPr/>
          <p:nvPr/>
        </p:nvSpPr>
        <p:spPr>
          <a:xfrm>
            <a:off x="8229600" y="3528233"/>
            <a:ext cx="1389310" cy="34445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83670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Giới thiệu về hàm đệ qui</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33</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30853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34</a:t>
            </a:fld>
            <a:endParaRPr lang="en-US"/>
          </a:p>
        </p:txBody>
      </p:sp>
      <p:pic>
        <p:nvPicPr>
          <p:cNvPr id="1028" name="Picture 4" descr="Hình ảnh có liên qua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1440"/>
            <a:ext cx="12192000" cy="6949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234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dirty="0" err="1">
                <a:latin typeface="Cambria" panose="02040503050406030204" pitchFamily="18" charset="0"/>
                <a:cs typeface="Times New Roman" pitchFamily="18" charset="0"/>
              </a:rPr>
              <a:t>Đệ</a:t>
            </a:r>
            <a:r>
              <a:rPr lang="en-US" dirty="0">
                <a:latin typeface="Cambria" panose="02040503050406030204" pitchFamily="18" charset="0"/>
                <a:cs typeface="Times New Roman" pitchFamily="18" charset="0"/>
              </a:rPr>
              <a:t> qui </a:t>
            </a:r>
            <a:r>
              <a:rPr lang="en-US" dirty="0" err="1">
                <a:latin typeface="Cambria" panose="02040503050406030204" pitchFamily="18" charset="0"/>
                <a:cs typeface="Times New Roman" pitchFamily="18" charset="0"/>
              </a:rPr>
              <a:t>là</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cách</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mà</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hàm</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tự</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gọi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lại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chính</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nó</a:t>
            </a:r>
            <a:r>
              <a:rPr lang="en-US" dirty="0">
                <a:latin typeface="Cambria" panose="02040503050406030204" pitchFamily="18" charset="0"/>
                <a:cs typeface="Times New Roman" pitchFamily="18" charset="0"/>
              </a:rPr>
              <a:t>.</a:t>
            </a:r>
          </a:p>
          <a:p>
            <a:pPr marL="457200" indent="-457200" algn="just">
              <a:buFont typeface="Wingdings" pitchFamily="2" charset="2"/>
              <a:buChar char="Ø"/>
            </a:pPr>
            <a:r>
              <a:rPr lang="en-US" dirty="0" err="1">
                <a:latin typeface="Cambria" panose="02040503050406030204" pitchFamily="18" charset="0"/>
                <a:cs typeface="Times New Roman" pitchFamily="18" charset="0"/>
              </a:rPr>
              <a:t>Trong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nhiều</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tr</a:t>
            </a:r>
            <a:r>
              <a:rPr lang="vi-VN" dirty="0">
                <a:latin typeface="Cambria" panose="02040503050406030204" pitchFamily="18" charset="0"/>
                <a:cs typeface="Times New Roman" pitchFamily="18" charset="0"/>
              </a:rPr>
              <a:t>ư</a:t>
            </a:r>
            <a:r>
              <a:rPr lang="en-US" dirty="0" err="1">
                <a:latin typeface="Cambria" panose="02040503050406030204" pitchFamily="18" charset="0"/>
                <a:cs typeface="Times New Roman" pitchFamily="18" charset="0"/>
              </a:rPr>
              <a:t>ờng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hợp</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đệ</a:t>
            </a:r>
            <a:r>
              <a:rPr lang="en-US" dirty="0">
                <a:latin typeface="Cambria" panose="02040503050406030204" pitchFamily="18" charset="0"/>
                <a:cs typeface="Times New Roman" pitchFamily="18" charset="0"/>
              </a:rPr>
              <a:t> qui </a:t>
            </a:r>
            <a:r>
              <a:rPr lang="en-US" dirty="0" err="1">
                <a:latin typeface="Cambria" panose="02040503050406030204" pitchFamily="18" charset="0"/>
                <a:cs typeface="Times New Roman" pitchFamily="18" charset="0"/>
              </a:rPr>
              <a:t>giúp</a:t>
            </a:r>
            <a:r>
              <a:rPr lang="en-US" dirty="0">
                <a:latin typeface="Cambria" panose="02040503050406030204" pitchFamily="18" charset="0"/>
                <a:cs typeface="Times New Roman" pitchFamily="18" charset="0"/>
              </a:rPr>
              <a:t> ta </a:t>
            </a:r>
            <a:r>
              <a:rPr lang="en-US" dirty="0" err="1">
                <a:latin typeface="Cambria" panose="02040503050406030204" pitchFamily="18" charset="0"/>
                <a:cs typeface="Times New Roman" pitchFamily="18" charset="0"/>
              </a:rPr>
              <a:t>giải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quyết</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những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bài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toán</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hóc</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búa</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và</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theo</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tự</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nhiên</a:t>
            </a:r>
            <a:r>
              <a:rPr lang="en-US" dirty="0">
                <a:latin typeface="Cambria" panose="02040503050406030204" pitchFamily="18" charset="0"/>
                <a:cs typeface="Times New Roman" pitchFamily="18" charset="0"/>
              </a:rPr>
              <a:t>”. </a:t>
            </a:r>
          </a:p>
          <a:p>
            <a:pPr marL="457200" indent="-457200" algn="just">
              <a:buFont typeface="Wingdings" pitchFamily="2" charset="2"/>
              <a:buChar char="Ø"/>
            </a:pPr>
            <a:r>
              <a:rPr lang="en-US" dirty="0" err="1">
                <a:latin typeface="Cambria" panose="02040503050406030204" pitchFamily="18" charset="0"/>
                <a:cs typeface="Times New Roman" pitchFamily="18" charset="0"/>
              </a:rPr>
              <a:t>Tuy</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nhiên</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đệ</a:t>
            </a:r>
            <a:r>
              <a:rPr lang="en-US" dirty="0">
                <a:latin typeface="Cambria" panose="02040503050406030204" pitchFamily="18" charset="0"/>
                <a:cs typeface="Times New Roman" pitchFamily="18" charset="0"/>
              </a:rPr>
              <a:t> qui </a:t>
            </a:r>
            <a:r>
              <a:rPr lang="en-US" dirty="0" err="1">
                <a:latin typeface="Cambria" panose="02040503050406030204" pitchFamily="18" charset="0"/>
                <a:cs typeface="Times New Roman" pitchFamily="18" charset="0"/>
              </a:rPr>
              <a:t>nếu</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xử</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lý</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không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khéo</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sẽ</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bị</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tràn</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bộ</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đệm</a:t>
            </a:r>
            <a:r>
              <a:rPr lang="en-US" dirty="0">
                <a:latin typeface="Cambria" panose="02040503050406030204" pitchFamily="18" charset="0"/>
                <a:cs typeface="Times New Roman" pitchFamily="18" charset="0"/>
              </a:rPr>
              <a:t>. </a:t>
            </a:r>
          </a:p>
          <a:p>
            <a:pPr marL="457200" indent="-457200" algn="just">
              <a:buFont typeface="Wingdings" pitchFamily="2" charset="2"/>
              <a:buChar char="Ø"/>
            </a:pPr>
            <a:r>
              <a:rPr lang="en-US" dirty="0" err="1">
                <a:latin typeface="Cambria" panose="02040503050406030204" pitchFamily="18" charset="0"/>
                <a:cs typeface="Times New Roman" pitchFamily="18" charset="0"/>
              </a:rPr>
              <a:t>Thông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th</a:t>
            </a:r>
            <a:r>
              <a:rPr lang="vi-VN" dirty="0">
                <a:latin typeface="Cambria" panose="02040503050406030204" pitchFamily="18" charset="0"/>
                <a:cs typeface="Times New Roman" pitchFamily="18" charset="0"/>
              </a:rPr>
              <a:t>ư</a:t>
            </a:r>
            <a:r>
              <a:rPr lang="en-US" dirty="0" err="1">
                <a:latin typeface="Cambria" panose="02040503050406030204" pitchFamily="18" charset="0"/>
                <a:cs typeface="Times New Roman" pitchFamily="18" charset="0"/>
              </a:rPr>
              <a:t>ờng</a:t>
            </a:r>
            <a:r>
              <a:rPr lang="en-US" dirty="0">
                <a:latin typeface="Cambria" panose="02040503050406030204" pitchFamily="18" charset="0"/>
                <a:cs typeface="Times New Roman" pitchFamily="18" charset="0"/>
              </a:rPr>
              <a:t> ta </a:t>
            </a:r>
            <a:r>
              <a:rPr lang="en-US" dirty="0" err="1">
                <a:latin typeface="Cambria" panose="02040503050406030204" pitchFamily="18" charset="0"/>
                <a:cs typeface="Times New Roman" pitchFamily="18" charset="0"/>
              </a:rPr>
              <a:t>nên</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cố</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gắng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giải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quyết</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bài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toán</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đệ</a:t>
            </a:r>
            <a:r>
              <a:rPr lang="en-US" dirty="0">
                <a:latin typeface="Cambria" panose="02040503050406030204" pitchFamily="18" charset="0"/>
                <a:cs typeface="Times New Roman" pitchFamily="18" charset="0"/>
              </a:rPr>
              <a:t> qui </a:t>
            </a:r>
            <a:r>
              <a:rPr lang="en-US" dirty="0" err="1">
                <a:latin typeface="Cambria" panose="02040503050406030204" pitchFamily="18" charset="0"/>
                <a:cs typeface="Times New Roman" pitchFamily="18" charset="0"/>
              </a:rPr>
              <a:t>bằng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các</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vòng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lặp</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khi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nào</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không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thể</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giải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quyết</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bằng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vòng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lặp</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thì</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mới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nghĩ</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tới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đệ</a:t>
            </a:r>
            <a:r>
              <a:rPr lang="en-US" dirty="0">
                <a:latin typeface="Cambria" panose="02040503050406030204" pitchFamily="18" charset="0"/>
                <a:cs typeface="Times New Roman" pitchFamily="18" charset="0"/>
              </a:rPr>
              <a:t> qui.</a:t>
            </a:r>
          </a:p>
          <a:p>
            <a:pPr marL="457200" indent="-457200" algn="just">
              <a:buFont typeface="Wingdings" pitchFamily="2" charset="2"/>
              <a:buChar char="Ø"/>
            </a:pPr>
            <a:r>
              <a:rPr lang="en-US" dirty="0">
                <a:latin typeface="Cambria" panose="02040503050406030204" pitchFamily="18" charset="0"/>
                <a:cs typeface="Times New Roman" pitchFamily="18" charset="0"/>
              </a:rPr>
              <a:t>Do </a:t>
            </a:r>
            <a:r>
              <a:rPr lang="en-US" dirty="0" err="1">
                <a:latin typeface="Cambria" panose="02040503050406030204" pitchFamily="18" charset="0"/>
                <a:cs typeface="Times New Roman" pitchFamily="18" charset="0"/>
              </a:rPr>
              <a:t>đó</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có</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những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bài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toán</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Khử</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đệ</a:t>
            </a:r>
            <a:r>
              <a:rPr lang="en-US" dirty="0">
                <a:latin typeface="Cambria" panose="02040503050406030204" pitchFamily="18" charset="0"/>
                <a:cs typeface="Times New Roman" pitchFamily="18" charset="0"/>
              </a:rPr>
              <a:t> qui” </a:t>
            </a:r>
            <a:r>
              <a:rPr lang="en-US" dirty="0" err="1">
                <a:latin typeface="Cambria" panose="02040503050406030204" pitchFamily="18" charset="0"/>
                <a:cs typeface="Times New Roman" pitchFamily="18" charset="0"/>
              </a:rPr>
              <a:t>thì</a:t>
            </a:r>
            <a:r>
              <a:rPr lang="en-US" dirty="0">
                <a:latin typeface="Cambria" panose="02040503050406030204" pitchFamily="18" charset="0"/>
                <a:cs typeface="Times New Roman" pitchFamily="18" charset="0"/>
              </a:rPr>
              <a:t> ta </a:t>
            </a:r>
            <a:r>
              <a:rPr lang="en-US" dirty="0" err="1">
                <a:latin typeface="Cambria" panose="02040503050406030204" pitchFamily="18" charset="0"/>
                <a:cs typeface="Times New Roman" pitchFamily="18" charset="0"/>
              </a:rPr>
              <a:t>nên</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nghĩ</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về</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các</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vòng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lặp</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để</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khử</a:t>
            </a:r>
            <a:r>
              <a:rPr lang="en-US" dirty="0">
                <a:latin typeface="Cambria" panose="02040503050406030204" pitchFamily="18" charset="0"/>
                <a:cs typeface="Times New Roman" pitchFamily="18" charset="0"/>
              </a:rPr>
              <a:t>.</a:t>
            </a:r>
          </a:p>
          <a:p>
            <a:pPr marL="457200" indent="-457200" algn="just">
              <a:buFont typeface="Wingdings" pitchFamily="2" charset="2"/>
              <a:buChar char="Ø"/>
            </a:pPr>
            <a:endParaRPr lang="en-US" sz="3600" dirty="0">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19028934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endParaRPr lang="en-US" dirty="0">
              <a:latin typeface="Cambria" panose="02040503050406030204" pitchFamily="18" charset="0"/>
              <a:cs typeface="Times New Roman" pitchFamily="18" charset="0"/>
            </a:endParaRPr>
          </a:p>
          <a:p>
            <a:pPr marL="0" indent="0" algn="just">
              <a:buNone/>
            </a:pPr>
            <a:r>
              <a:rPr lang="en-US" dirty="0" err="1">
                <a:latin typeface="Cambria" panose="02040503050406030204" pitchFamily="18" charset="0"/>
                <a:cs typeface="Times New Roman" pitchFamily="18" charset="0"/>
              </a:rPr>
              <a:t>Một</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vài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ví</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dụ</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kinh</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điển</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về</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đệ</a:t>
            </a:r>
            <a:r>
              <a:rPr lang="en-US" dirty="0">
                <a:latin typeface="Cambria" panose="02040503050406030204" pitchFamily="18" charset="0"/>
                <a:cs typeface="Times New Roman" pitchFamily="18" charset="0"/>
              </a:rPr>
              <a:t> qui </a:t>
            </a:r>
            <a:r>
              <a:rPr lang="en-US" dirty="0" err="1">
                <a:latin typeface="Cambria" panose="02040503050406030204" pitchFamily="18" charset="0"/>
                <a:cs typeface="Times New Roman" pitchFamily="18" charset="0"/>
              </a:rPr>
              <a:t>nh</a:t>
            </a:r>
            <a:r>
              <a:rPr lang="vi-VN" dirty="0">
                <a:latin typeface="Cambria" panose="02040503050406030204" pitchFamily="18" charset="0"/>
                <a:cs typeface="Times New Roman" pitchFamily="18" charset="0"/>
              </a:rPr>
              <a:t>ư</a:t>
            </a:r>
            <a:r>
              <a:rPr lang="en-US" dirty="0">
                <a:latin typeface="Cambria" panose="02040503050406030204" pitchFamily="18" charset="0"/>
                <a:cs typeface="Times New Roman" pitchFamily="18" charset="0"/>
              </a:rPr>
              <a:t>:</a:t>
            </a:r>
          </a:p>
          <a:p>
            <a:pPr marL="457200" indent="-457200" algn="just">
              <a:buFont typeface="Wingdings" pitchFamily="2" charset="2"/>
              <a:buChar char="Ø"/>
            </a:pPr>
            <a:r>
              <a:rPr lang="en-US" dirty="0" err="1">
                <a:latin typeface="Cambria" panose="02040503050406030204" pitchFamily="18" charset="0"/>
                <a:cs typeface="Times New Roman" pitchFamily="18" charset="0"/>
              </a:rPr>
              <a:t>Tính</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giai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thừa</a:t>
            </a:r>
            <a:r>
              <a:rPr lang="en-US" dirty="0">
                <a:latin typeface="Cambria" panose="02040503050406030204" pitchFamily="18" charset="0"/>
                <a:cs typeface="Times New Roman" pitchFamily="18" charset="0"/>
              </a:rPr>
              <a:t>: N!=N*(N-1)! </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Đệ</a:t>
            </a:r>
            <a:r>
              <a:rPr lang="en-US" dirty="0">
                <a:latin typeface="Cambria" panose="02040503050406030204" pitchFamily="18" charset="0"/>
                <a:cs typeface="Times New Roman" pitchFamily="18" charset="0"/>
                <a:sym typeface="Wingdings" panose="05000000000000000000" pitchFamily="2" charset="2"/>
              </a:rPr>
              <a:t> qui: </a:t>
            </a:r>
            <a:r>
              <a:rPr lang="en-US" dirty="0" err="1">
                <a:latin typeface="Cambria" panose="02040503050406030204" pitchFamily="18" charset="0"/>
                <a:cs typeface="Times New Roman" pitchFamily="18" charset="0"/>
                <a:sym typeface="Wingdings" panose="05000000000000000000" pitchFamily="2" charset="2"/>
              </a:rPr>
              <a:t>Nếu</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biết</a:t>
            </a:r>
            <a:r>
              <a:rPr lang="en-US" dirty="0">
                <a:latin typeface="Cambria" panose="02040503050406030204" pitchFamily="18" charset="0"/>
                <a:cs typeface="Times New Roman" pitchFamily="18" charset="0"/>
                <a:sym typeface="Wingdings" panose="05000000000000000000" pitchFamily="2" charset="2"/>
              </a:rPr>
              <a:t> đ</a:t>
            </a:r>
            <a:r>
              <a:rPr lang="vi-VN" dirty="0">
                <a:latin typeface="Cambria" panose="02040503050406030204" pitchFamily="18" charset="0"/>
                <a:cs typeface="Times New Roman" pitchFamily="18" charset="0"/>
                <a:sym typeface="Wingdings" panose="05000000000000000000" pitchFamily="2" charset="2"/>
              </a:rPr>
              <a:t>ư</a:t>
            </a:r>
            <a:r>
              <a:rPr lang="en-US" dirty="0" err="1">
                <a:latin typeface="Cambria" panose="02040503050406030204" pitchFamily="18" charset="0"/>
                <a:cs typeface="Times New Roman" pitchFamily="18" charset="0"/>
                <a:sym typeface="Wingdings" panose="05000000000000000000" pitchFamily="2" charset="2"/>
              </a:rPr>
              <a:t>ợc</a:t>
            </a:r>
            <a:r>
              <a:rPr lang="en-US" dirty="0">
                <a:latin typeface="Cambria" panose="02040503050406030204" pitchFamily="18" charset="0"/>
                <a:cs typeface="Times New Roman" pitchFamily="18" charset="0"/>
                <a:sym typeface="Wingdings" panose="05000000000000000000" pitchFamily="2" charset="2"/>
              </a:rPr>
              <a:t> (N-1)! </a:t>
            </a:r>
            <a:r>
              <a:rPr lang="en-US" dirty="0" err="1">
                <a:latin typeface="Cambria" panose="02040503050406030204" pitchFamily="18" charset="0"/>
                <a:cs typeface="Times New Roman" pitchFamily="18" charset="0"/>
                <a:sym typeface="Wingdings" panose="05000000000000000000" pitchFamily="2" charset="2"/>
              </a:rPr>
              <a:t>Thì</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sẽ</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tính</a:t>
            </a:r>
            <a:r>
              <a:rPr lang="en-US" dirty="0">
                <a:latin typeface="Cambria" panose="02040503050406030204" pitchFamily="18" charset="0"/>
                <a:cs typeface="Times New Roman" pitchFamily="18" charset="0"/>
                <a:sym typeface="Wingdings" panose="05000000000000000000" pitchFamily="2" charset="2"/>
              </a:rPr>
              <a:t> đ</a:t>
            </a:r>
            <a:r>
              <a:rPr lang="vi-VN" dirty="0">
                <a:latin typeface="Cambria" panose="02040503050406030204" pitchFamily="18" charset="0"/>
                <a:cs typeface="Times New Roman" pitchFamily="18" charset="0"/>
                <a:sym typeface="Wingdings" panose="05000000000000000000" pitchFamily="2" charset="2"/>
              </a:rPr>
              <a:t>ư</a:t>
            </a:r>
            <a:r>
              <a:rPr lang="en-US" dirty="0" err="1">
                <a:latin typeface="Cambria" panose="02040503050406030204" pitchFamily="18" charset="0"/>
                <a:cs typeface="Times New Roman" pitchFamily="18" charset="0"/>
                <a:sym typeface="Wingdings" panose="05000000000000000000" pitchFamily="2" charset="2"/>
              </a:rPr>
              <a:t>ợc</a:t>
            </a:r>
            <a:r>
              <a:rPr lang="en-US" dirty="0">
                <a:latin typeface="Cambria" panose="02040503050406030204" pitchFamily="18" charset="0"/>
                <a:cs typeface="Times New Roman" pitchFamily="18" charset="0"/>
                <a:sym typeface="Wingdings" panose="05000000000000000000" pitchFamily="2" charset="2"/>
              </a:rPr>
              <a:t> N!</a:t>
            </a:r>
          </a:p>
          <a:p>
            <a:pPr marL="457200" indent="-457200" algn="just">
              <a:buFont typeface="Wingdings" pitchFamily="2" charset="2"/>
              <a:buChar char="Ø"/>
            </a:pPr>
            <a:r>
              <a:rPr lang="en-US" dirty="0" err="1">
                <a:latin typeface="Cambria" panose="02040503050406030204" pitchFamily="18" charset="0"/>
                <a:cs typeface="Times New Roman" pitchFamily="18" charset="0"/>
              </a:rPr>
              <a:t>Tính</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dãy</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số</a:t>
            </a:r>
            <a:r>
              <a:rPr lang="en-US" dirty="0">
                <a:latin typeface="Cambria" panose="02040503050406030204" pitchFamily="18" charset="0"/>
                <a:cs typeface="Times New Roman" pitchFamily="18" charset="0"/>
              </a:rPr>
              <a:t> Fibonacci: </a:t>
            </a:r>
            <a:r>
              <a:rPr lang="en-US" dirty="0">
                <a:latin typeface="Cambria" panose="02040503050406030204" pitchFamily="18" charset="0"/>
                <a:cs typeface="Times New Roman" pitchFamily="18" charset="0"/>
                <a:sym typeface="Wingdings" panose="05000000000000000000" pitchFamily="2" charset="2"/>
              </a:rPr>
              <a:t>F1=1, F2=1, F</a:t>
            </a:r>
            <a:r>
              <a:rPr lang="en-US" baseline="-25000" dirty="0">
                <a:latin typeface="Cambria" panose="02040503050406030204" pitchFamily="18" charset="0"/>
                <a:cs typeface="Times New Roman" pitchFamily="18" charset="0"/>
                <a:sym typeface="Wingdings" panose="05000000000000000000" pitchFamily="2" charset="2"/>
              </a:rPr>
              <a:t>N</a:t>
            </a:r>
            <a:r>
              <a:rPr lang="en-US" dirty="0">
                <a:latin typeface="Cambria" panose="02040503050406030204" pitchFamily="18" charset="0"/>
                <a:cs typeface="Times New Roman" pitchFamily="18" charset="0"/>
                <a:sym typeface="Wingdings" panose="05000000000000000000" pitchFamily="2" charset="2"/>
              </a:rPr>
              <a:t>=F</a:t>
            </a:r>
            <a:r>
              <a:rPr lang="en-US" baseline="-25000" dirty="0">
                <a:latin typeface="Cambria" panose="02040503050406030204" pitchFamily="18" charset="0"/>
                <a:cs typeface="Times New Roman" pitchFamily="18" charset="0"/>
                <a:sym typeface="Wingdings" panose="05000000000000000000" pitchFamily="2" charset="2"/>
              </a:rPr>
              <a:t>N-1</a:t>
            </a:r>
            <a:r>
              <a:rPr lang="en-US" dirty="0">
                <a:latin typeface="Cambria" panose="02040503050406030204" pitchFamily="18" charset="0"/>
                <a:cs typeface="Times New Roman" pitchFamily="18" charset="0"/>
                <a:sym typeface="Wingdings" panose="05000000000000000000" pitchFamily="2" charset="2"/>
              </a:rPr>
              <a:t>+F</a:t>
            </a:r>
            <a:r>
              <a:rPr lang="en-US" baseline="-25000" dirty="0">
                <a:latin typeface="Cambria" panose="02040503050406030204" pitchFamily="18" charset="0"/>
                <a:cs typeface="Times New Roman" pitchFamily="18" charset="0"/>
                <a:sym typeface="Wingdings" panose="05000000000000000000" pitchFamily="2" charset="2"/>
              </a:rPr>
              <a:t>N-2</a:t>
            </a:r>
            <a:r>
              <a:rPr lang="en-US" dirty="0">
                <a:latin typeface="Cambria" panose="02040503050406030204" pitchFamily="18" charset="0"/>
                <a:cs typeface="Times New Roman" pitchFamily="18" charset="0"/>
                <a:sym typeface="Wingdings" panose="05000000000000000000" pitchFamily="2" charset="2"/>
              </a:rPr>
              <a:t> </a:t>
            </a:r>
          </a:p>
          <a:p>
            <a:pPr marL="457200" indent="-457200" algn="just">
              <a:buFont typeface="Wingdings" pitchFamily="2" charset="2"/>
              <a:buChar char="Ø"/>
            </a:pPr>
            <a:endParaRPr lang="en-US" sz="3600" dirty="0">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2675954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dirty="0" err="1">
                <a:latin typeface="Cambria" panose="02040503050406030204" pitchFamily="18" charset="0"/>
                <a:cs typeface="Times New Roman" pitchFamily="18" charset="0"/>
              </a:rPr>
              <a:t>Khi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quyết</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định</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giải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quyết</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bài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toán</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theo</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Đệ</a:t>
            </a:r>
            <a:r>
              <a:rPr lang="en-US" dirty="0">
                <a:latin typeface="Cambria" panose="02040503050406030204" pitchFamily="18" charset="0"/>
                <a:cs typeface="Times New Roman" pitchFamily="18" charset="0"/>
              </a:rPr>
              <a:t> Qui </a:t>
            </a:r>
            <a:r>
              <a:rPr lang="en-US" dirty="0" err="1">
                <a:latin typeface="Cambria" panose="02040503050406030204" pitchFamily="18" charset="0"/>
                <a:cs typeface="Times New Roman" pitchFamily="18" charset="0"/>
              </a:rPr>
              <a:t>thì</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điều</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quan</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trọng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phải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nghĩ</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tới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đó</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là</a:t>
            </a:r>
            <a:r>
              <a:rPr lang="en-US" dirty="0">
                <a:latin typeface="Cambria" panose="02040503050406030204" pitchFamily="18" charset="0"/>
                <a:cs typeface="Times New Roman" pitchFamily="18" charset="0"/>
              </a:rPr>
              <a:t>:</a:t>
            </a:r>
          </a:p>
          <a:p>
            <a:pPr marL="514350" indent="-514350" algn="just">
              <a:buFont typeface="+mj-lt"/>
              <a:buAutoNum type="arabicParenR"/>
            </a:pPr>
            <a:r>
              <a:rPr lang="en-US" dirty="0" err="1">
                <a:solidFill>
                  <a:srgbClr val="FF0000"/>
                </a:solidFill>
                <a:latin typeface="Cambria" panose="02040503050406030204" pitchFamily="18" charset="0"/>
                <a:cs typeface="Times New Roman" pitchFamily="18" charset="0"/>
              </a:rPr>
              <a:t>Điểm</a:t>
            </a:r>
            <a:r>
              <a:rPr lang="en-US" dirty="0">
                <a:solidFill>
                  <a:srgbClr val="FF0000"/>
                </a:solidFill>
                <a:latin typeface="Cambria" panose="02040503050406030204" pitchFamily="18" charset="0"/>
                <a:cs typeface="Times New Roman" pitchFamily="18" charset="0"/>
              </a:rPr>
              <a:t> </a:t>
            </a:r>
            <a:r>
              <a:rPr lang="en-US" dirty="0" err="1">
                <a:solidFill>
                  <a:srgbClr val="FF0000"/>
                </a:solidFill>
                <a:latin typeface="Cambria" panose="02040503050406030204" pitchFamily="18" charset="0"/>
                <a:cs typeface="Times New Roman" pitchFamily="18" charset="0"/>
              </a:rPr>
              <a:t>dừng</a:t>
            </a:r>
            <a:r>
              <a:rPr lang="en-US" dirty="0">
                <a:solidFill>
                  <a:srgbClr val="FF0000"/>
                </a:solidFill>
                <a:latin typeface="Cambria" panose="02040503050406030204" pitchFamily="18" charset="0"/>
                <a:cs typeface="Times New Roman" pitchFamily="18" charset="0"/>
              </a:rPr>
              <a:t> </a:t>
            </a:r>
            <a:r>
              <a:rPr lang="en-US" dirty="0" err="1">
                <a:solidFill>
                  <a:srgbClr val="FF0000"/>
                </a:solidFill>
                <a:latin typeface="Cambria" panose="02040503050406030204" pitchFamily="18" charset="0"/>
                <a:cs typeface="Times New Roman" pitchFamily="18" charset="0"/>
              </a:rPr>
              <a:t>của</a:t>
            </a:r>
            <a:r>
              <a:rPr lang="en-US" dirty="0">
                <a:solidFill>
                  <a:srgbClr val="FF0000"/>
                </a:solidFill>
                <a:latin typeface="Cambria" panose="02040503050406030204" pitchFamily="18" charset="0"/>
                <a:cs typeface="Times New Roman" pitchFamily="18" charset="0"/>
              </a:rPr>
              <a:t> </a:t>
            </a:r>
            <a:r>
              <a:rPr lang="en-US" dirty="0" err="1">
                <a:solidFill>
                  <a:srgbClr val="FF0000"/>
                </a:solidFill>
                <a:latin typeface="Cambria" panose="02040503050406030204" pitchFamily="18" charset="0"/>
                <a:cs typeface="Times New Roman" pitchFamily="18" charset="0"/>
              </a:rPr>
              <a:t>bài</a:t>
            </a:r>
            <a:r>
              <a:rPr lang="en-US" dirty="0">
                <a:solidFill>
                  <a:srgbClr val="FF0000"/>
                </a:solidFill>
                <a:latin typeface="Cambria" panose="02040503050406030204" pitchFamily="18" charset="0"/>
                <a:cs typeface="Times New Roman" pitchFamily="18" charset="0"/>
              </a:rPr>
              <a:t> </a:t>
            </a:r>
            <a:r>
              <a:rPr lang="en-US" dirty="0" err="1">
                <a:solidFill>
                  <a:srgbClr val="FF0000"/>
                </a:solidFill>
                <a:latin typeface="Cambria" panose="02040503050406030204" pitchFamily="18" charset="0"/>
                <a:cs typeface="Times New Roman" pitchFamily="18" charset="0"/>
              </a:rPr>
              <a:t>toán</a:t>
            </a:r>
            <a:r>
              <a:rPr lang="en-US" dirty="0">
                <a:solidFill>
                  <a:srgbClr val="FF0000"/>
                </a:solidFill>
                <a:latin typeface="Cambria" panose="02040503050406030204" pitchFamily="18" charset="0"/>
                <a:cs typeface="Times New Roman" pitchFamily="18" charset="0"/>
              </a:rPr>
              <a:t> </a:t>
            </a:r>
            <a:r>
              <a:rPr lang="en-US" dirty="0" err="1">
                <a:solidFill>
                  <a:srgbClr val="FF0000"/>
                </a:solidFill>
                <a:latin typeface="Cambria" panose="02040503050406030204" pitchFamily="18" charset="0"/>
                <a:cs typeface="Times New Roman" pitchFamily="18" charset="0"/>
              </a:rPr>
              <a:t>là</a:t>
            </a:r>
            <a:r>
              <a:rPr lang="en-US" dirty="0">
                <a:solidFill>
                  <a:srgbClr val="FF0000"/>
                </a:solidFill>
                <a:latin typeface="Cambria" panose="02040503050406030204" pitchFamily="18" charset="0"/>
                <a:cs typeface="Times New Roman" pitchFamily="18" charset="0"/>
              </a:rPr>
              <a:t> </a:t>
            </a:r>
            <a:r>
              <a:rPr lang="en-US" dirty="0" err="1">
                <a:solidFill>
                  <a:srgbClr val="FF0000"/>
                </a:solidFill>
                <a:latin typeface="Cambria" panose="02040503050406030204" pitchFamily="18" charset="0"/>
                <a:cs typeface="Times New Roman" pitchFamily="18" charset="0"/>
              </a:rPr>
              <a:t>gì</a:t>
            </a:r>
            <a:r>
              <a:rPr lang="en-US" dirty="0">
                <a:solidFill>
                  <a:srgbClr val="FF0000"/>
                </a:solidFill>
                <a:latin typeface="Cambria" panose="02040503050406030204" pitchFamily="18" charset="0"/>
                <a:cs typeface="Times New Roman" pitchFamily="18" charset="0"/>
              </a:rPr>
              <a:t>?</a:t>
            </a:r>
            <a:r>
              <a:rPr lang="en-US" dirty="0">
                <a:latin typeface="Cambria" panose="02040503050406030204" pitchFamily="18" charset="0"/>
                <a:cs typeface="Times New Roman" pitchFamily="18" charset="0"/>
              </a:rPr>
              <a:t> </a:t>
            </a:r>
          </a:p>
          <a:p>
            <a:pPr marL="514350" indent="-514350" algn="just">
              <a:buFont typeface="+mj-lt"/>
              <a:buAutoNum type="arabicParenR"/>
            </a:pPr>
            <a:r>
              <a:rPr lang="en-US" dirty="0" err="1">
                <a:solidFill>
                  <a:srgbClr val="FF0000"/>
                </a:solidFill>
                <a:latin typeface="Cambria" panose="02040503050406030204" pitchFamily="18" charset="0"/>
                <a:cs typeface="Times New Roman" pitchFamily="18" charset="0"/>
              </a:rPr>
              <a:t>Biết</a:t>
            </a:r>
            <a:r>
              <a:rPr lang="en-US" dirty="0">
                <a:solidFill>
                  <a:srgbClr val="FF0000"/>
                </a:solidFill>
                <a:latin typeface="Cambria" panose="02040503050406030204" pitchFamily="18" charset="0"/>
                <a:cs typeface="Times New Roman" pitchFamily="18" charset="0"/>
              </a:rPr>
              <a:t> đ</a:t>
            </a:r>
            <a:r>
              <a:rPr lang="vi-VN" dirty="0">
                <a:solidFill>
                  <a:srgbClr val="FF0000"/>
                </a:solidFill>
                <a:latin typeface="Cambria" panose="02040503050406030204" pitchFamily="18" charset="0"/>
                <a:cs typeface="Times New Roman" pitchFamily="18" charset="0"/>
              </a:rPr>
              <a:t>ư</a:t>
            </a:r>
            <a:r>
              <a:rPr lang="en-US" dirty="0" err="1">
                <a:solidFill>
                  <a:srgbClr val="FF0000"/>
                </a:solidFill>
                <a:latin typeface="Cambria" panose="02040503050406030204" pitchFamily="18" charset="0"/>
                <a:cs typeface="Times New Roman" pitchFamily="18" charset="0"/>
              </a:rPr>
              <a:t>ợc</a:t>
            </a:r>
            <a:r>
              <a:rPr lang="en-US" dirty="0">
                <a:solidFill>
                  <a:srgbClr val="FF0000"/>
                </a:solidFill>
                <a:latin typeface="Cambria" panose="02040503050406030204" pitchFamily="18" charset="0"/>
                <a:cs typeface="Times New Roman" pitchFamily="18" charset="0"/>
              </a:rPr>
              <a:t> qui </a:t>
            </a:r>
            <a:r>
              <a:rPr lang="en-US" dirty="0" err="1">
                <a:solidFill>
                  <a:srgbClr val="FF0000"/>
                </a:solidFill>
                <a:latin typeface="Cambria" panose="02040503050406030204" pitchFamily="18" charset="0"/>
                <a:cs typeface="Times New Roman" pitchFamily="18" charset="0"/>
              </a:rPr>
              <a:t>luật</a:t>
            </a:r>
            <a:r>
              <a:rPr lang="en-US" dirty="0">
                <a:solidFill>
                  <a:srgbClr val="FF0000"/>
                </a:solidFill>
                <a:latin typeface="Cambria" panose="02040503050406030204" pitchFamily="18" charset="0"/>
                <a:cs typeface="Times New Roman" pitchFamily="18" charset="0"/>
              </a:rPr>
              <a:t> </a:t>
            </a:r>
            <a:r>
              <a:rPr lang="en-US" dirty="0" err="1">
                <a:solidFill>
                  <a:srgbClr val="FF0000"/>
                </a:solidFill>
                <a:latin typeface="Cambria" panose="02040503050406030204" pitchFamily="18" charset="0"/>
                <a:cs typeface="Times New Roman" pitchFamily="18" charset="0"/>
              </a:rPr>
              <a:t>thực</a:t>
            </a:r>
            <a:r>
              <a:rPr lang="en-US" dirty="0">
                <a:solidFill>
                  <a:srgbClr val="FF0000"/>
                </a:solidFill>
                <a:latin typeface="Cambria" panose="02040503050406030204" pitchFamily="18" charset="0"/>
                <a:cs typeface="Times New Roman" pitchFamily="18" charset="0"/>
              </a:rPr>
              <a:t> </a:t>
            </a:r>
            <a:r>
              <a:rPr lang="en-US" dirty="0" err="1">
                <a:solidFill>
                  <a:srgbClr val="FF0000"/>
                </a:solidFill>
                <a:latin typeface="Cambria" panose="02040503050406030204" pitchFamily="18" charset="0"/>
                <a:cs typeface="Times New Roman" pitchFamily="18" charset="0"/>
              </a:rPr>
              <a:t>hiện</a:t>
            </a:r>
            <a:r>
              <a:rPr lang="en-US" dirty="0">
                <a:solidFill>
                  <a:srgbClr val="FF0000"/>
                </a:solidFill>
                <a:latin typeface="Cambria" panose="02040503050406030204" pitchFamily="18" charset="0"/>
                <a:cs typeface="Times New Roman" pitchFamily="18" charset="0"/>
              </a:rPr>
              <a:t> </a:t>
            </a:r>
            <a:r>
              <a:rPr lang="en-US" dirty="0" err="1">
                <a:solidFill>
                  <a:srgbClr val="FF0000"/>
                </a:solidFill>
                <a:latin typeface="Cambria" panose="02040503050406030204" pitchFamily="18" charset="0"/>
                <a:cs typeface="Times New Roman" pitchFamily="18" charset="0"/>
              </a:rPr>
              <a:t>của</a:t>
            </a:r>
            <a:r>
              <a:rPr lang="en-US" dirty="0">
                <a:solidFill>
                  <a:srgbClr val="FF0000"/>
                </a:solidFill>
                <a:latin typeface="Cambria" panose="02040503050406030204" pitchFamily="18" charset="0"/>
                <a:cs typeface="Times New Roman" pitchFamily="18" charset="0"/>
              </a:rPr>
              <a:t> </a:t>
            </a:r>
            <a:r>
              <a:rPr lang="en-US" dirty="0" err="1">
                <a:solidFill>
                  <a:srgbClr val="FF0000"/>
                </a:solidFill>
                <a:latin typeface="Cambria" panose="02040503050406030204" pitchFamily="18" charset="0"/>
                <a:cs typeface="Times New Roman" pitchFamily="18" charset="0"/>
              </a:rPr>
              <a:t>bài</a:t>
            </a:r>
            <a:r>
              <a:rPr lang="en-US" dirty="0">
                <a:solidFill>
                  <a:srgbClr val="FF0000"/>
                </a:solidFill>
                <a:latin typeface="Cambria" panose="02040503050406030204" pitchFamily="18" charset="0"/>
                <a:cs typeface="Times New Roman" pitchFamily="18" charset="0"/>
              </a:rPr>
              <a:t> </a:t>
            </a:r>
            <a:r>
              <a:rPr lang="en-US" dirty="0" err="1">
                <a:solidFill>
                  <a:srgbClr val="FF0000"/>
                </a:solidFill>
                <a:latin typeface="Cambria" panose="02040503050406030204" pitchFamily="18" charset="0"/>
                <a:cs typeface="Times New Roman" pitchFamily="18" charset="0"/>
              </a:rPr>
              <a:t>toán</a:t>
            </a:r>
            <a:r>
              <a:rPr lang="en-US" dirty="0">
                <a:solidFill>
                  <a:srgbClr val="FF0000"/>
                </a:solidFill>
                <a:latin typeface="Cambria" panose="02040503050406030204" pitchFamily="18" charset="0"/>
                <a:cs typeface="Times New Roman" pitchFamily="18" charset="0"/>
              </a:rPr>
              <a:t>? </a:t>
            </a:r>
          </a:p>
          <a:p>
            <a:pPr marL="457200" indent="-457200" algn="just">
              <a:buFont typeface="Wingdings" pitchFamily="2" charset="2"/>
              <a:buChar char="Ø"/>
            </a:pPr>
            <a:r>
              <a:rPr lang="en-US" dirty="0" err="1">
                <a:latin typeface="Cambria" panose="02040503050406030204" pitchFamily="18" charset="0"/>
                <a:cs typeface="Times New Roman" pitchFamily="18" charset="0"/>
              </a:rPr>
              <a:t>Nếu</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không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tìm</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ra</a:t>
            </a:r>
            <a:r>
              <a:rPr lang="en-US" dirty="0">
                <a:latin typeface="Cambria" panose="02040503050406030204" pitchFamily="18" charset="0"/>
                <a:cs typeface="Times New Roman" pitchFamily="18" charset="0"/>
              </a:rPr>
              <a:t> đ</a:t>
            </a:r>
            <a:r>
              <a:rPr lang="vi-VN" dirty="0">
                <a:latin typeface="Cambria" panose="02040503050406030204" pitchFamily="18" charset="0"/>
                <a:cs typeface="Times New Roman" pitchFamily="18" charset="0"/>
              </a:rPr>
              <a:t>ư</a:t>
            </a:r>
            <a:r>
              <a:rPr lang="en-US" dirty="0" err="1">
                <a:latin typeface="Cambria" panose="02040503050406030204" pitchFamily="18" charset="0"/>
                <a:cs typeface="Times New Roman" pitchFamily="18" charset="0"/>
              </a:rPr>
              <a:t>ợc</a:t>
            </a:r>
            <a:r>
              <a:rPr lang="en-US" dirty="0">
                <a:latin typeface="Cambria" panose="02040503050406030204" pitchFamily="18" charset="0"/>
                <a:cs typeface="Times New Roman" pitchFamily="18" charset="0"/>
              </a:rPr>
              <a:t> 2 </a:t>
            </a:r>
            <a:r>
              <a:rPr lang="en-US" dirty="0" err="1">
                <a:latin typeface="Cambria" panose="02040503050406030204" pitchFamily="18" charset="0"/>
                <a:cs typeface="Times New Roman" pitchFamily="18" charset="0"/>
              </a:rPr>
              <a:t>dấu</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hiệu</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này</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thì</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không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thể</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giải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quyết</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bài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toán</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bằng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cách</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dùng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đệ</a:t>
            </a:r>
            <a:r>
              <a:rPr lang="en-US" dirty="0">
                <a:latin typeface="Cambria" panose="02040503050406030204" pitchFamily="18" charset="0"/>
                <a:cs typeface="Times New Roman" pitchFamily="18" charset="0"/>
              </a:rPr>
              <a:t> qui.</a:t>
            </a:r>
          </a:p>
          <a:p>
            <a:pPr marL="457200" indent="-457200" algn="just">
              <a:buFont typeface="Wingdings" pitchFamily="2" charset="2"/>
              <a:buChar char="Ø"/>
            </a:pPr>
            <a:endParaRPr lang="en-US" sz="3600" dirty="0">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4653718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38</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dirty="0" err="1">
                <a:latin typeface="Cambria" panose="02040503050406030204" pitchFamily="18" charset="0"/>
                <a:cs typeface="Times New Roman" pitchFamily="18" charset="0"/>
              </a:rPr>
              <a:t>Ví</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dụ</a:t>
            </a:r>
            <a:r>
              <a:rPr lang="en-US" sz="2800" dirty="0">
                <a:latin typeface="Cambria" panose="02040503050406030204" pitchFamily="18" charset="0"/>
                <a:cs typeface="Times New Roman" pitchFamily="18" charset="0"/>
              </a:rPr>
              <a:t> ta </a:t>
            </a:r>
            <a:r>
              <a:rPr lang="en-US" sz="2800" dirty="0" err="1">
                <a:latin typeface="Cambria" panose="02040503050406030204" pitchFamily="18" charset="0"/>
                <a:cs typeface="Times New Roman" pitchFamily="18" charset="0"/>
              </a:rPr>
              <a:t>thử</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phân</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tích</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bài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giai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thừa</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theo</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cách</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đệ</a:t>
            </a:r>
            <a:r>
              <a:rPr lang="en-US" sz="2800" dirty="0">
                <a:latin typeface="Cambria" panose="02040503050406030204" pitchFamily="18" charset="0"/>
                <a:cs typeface="Times New Roman" pitchFamily="18" charset="0"/>
              </a:rPr>
              <a:t> qui?</a:t>
            </a:r>
          </a:p>
          <a:p>
            <a:pPr marL="457200" indent="-457200" algn="just">
              <a:buFont typeface="Wingdings" pitchFamily="2" charset="2"/>
              <a:buChar char="Ø"/>
            </a:pPr>
            <a:endParaRPr lang="en-US" dirty="0">
              <a:latin typeface="Cambria" panose="02040503050406030204" pitchFamily="18" charset="0"/>
              <a:cs typeface="Times New Roman" pitchFamily="18" charset="0"/>
            </a:endParaRPr>
          </a:p>
          <a:p>
            <a:pPr marL="457200" indent="-457200" algn="just">
              <a:buFont typeface="Wingdings" pitchFamily="2" charset="2"/>
              <a:buChar char="Ø"/>
            </a:pPr>
            <a:endParaRPr lang="en-US" dirty="0">
              <a:latin typeface="Cambria" panose="02040503050406030204" pitchFamily="18" charset="0"/>
              <a:cs typeface="Times New Roman" pitchFamily="18" charset="0"/>
            </a:endParaRPr>
          </a:p>
          <a:p>
            <a:pPr marL="457200" indent="-457200" algn="just">
              <a:buFont typeface="Wingdings" pitchFamily="2" charset="2"/>
              <a:buChar char="Ø"/>
            </a:pPr>
            <a:r>
              <a:rPr lang="en-US" dirty="0" err="1">
                <a:latin typeface="Cambria" panose="02040503050406030204" pitchFamily="18" charset="0"/>
                <a:cs typeface="Times New Roman" pitchFamily="18" charset="0"/>
              </a:rPr>
              <a:t>Viết</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lại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dạng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ph</a:t>
            </a:r>
            <a:r>
              <a:rPr lang="vi-VN" dirty="0">
                <a:latin typeface="Cambria" panose="02040503050406030204" pitchFamily="18" charset="0"/>
                <a:cs typeface="Times New Roman" pitchFamily="18" charset="0"/>
              </a:rPr>
              <a:t>ư</a:t>
            </a:r>
            <a:r>
              <a:rPr lang="en-US" dirty="0" err="1">
                <a:latin typeface="Cambria" panose="02040503050406030204" pitchFamily="18" charset="0"/>
                <a:cs typeface="Times New Roman" pitchFamily="18" charset="0"/>
              </a:rPr>
              <a:t>ơng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trình</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Đệ</a:t>
            </a:r>
            <a:r>
              <a:rPr lang="en-US" dirty="0">
                <a:latin typeface="Cambria" panose="02040503050406030204" pitchFamily="18" charset="0"/>
                <a:cs typeface="Times New Roman" pitchFamily="18" charset="0"/>
              </a:rPr>
              <a:t> Qui </a:t>
            </a:r>
            <a:r>
              <a:rPr lang="en-US" dirty="0" err="1">
                <a:latin typeface="Cambria" panose="02040503050406030204" pitchFamily="18" charset="0"/>
                <a:cs typeface="Times New Roman" pitchFamily="18" charset="0"/>
              </a:rPr>
              <a:t>có</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điều</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kiện</a:t>
            </a:r>
            <a:r>
              <a:rPr lang="en-US" dirty="0">
                <a:latin typeface="Cambria" panose="02040503050406030204" pitchFamily="18" charset="0"/>
                <a:cs typeface="Times New Roman" pitchFamily="18" charset="0"/>
              </a:rPr>
              <a:t>:</a:t>
            </a:r>
          </a:p>
          <a:p>
            <a:pPr marL="457200" indent="-457200" algn="just">
              <a:buFont typeface="Wingdings" pitchFamily="2" charset="2"/>
              <a:buChar char="Ø"/>
            </a:pPr>
            <a:endParaRPr lang="en-US" dirty="0">
              <a:latin typeface="Cambria" panose="02040503050406030204" pitchFamily="18" charset="0"/>
              <a:cs typeface="Times New Roman" pitchFamily="18" charset="0"/>
            </a:endParaRPr>
          </a:p>
          <a:p>
            <a:pPr marL="457200" indent="-457200" algn="just">
              <a:buFont typeface="Wingdings" pitchFamily="2" charset="2"/>
              <a:buChar char="Ø"/>
            </a:pPr>
            <a:endParaRPr lang="en-US" dirty="0">
              <a:latin typeface="Cambria" panose="02040503050406030204" pitchFamily="18" charset="0"/>
              <a:cs typeface="Times New Roman" pitchFamily="18" charset="0"/>
            </a:endParaRPr>
          </a:p>
          <a:p>
            <a:pPr marL="457200" indent="-457200" algn="just">
              <a:buFont typeface="Wingdings" pitchFamily="2" charset="2"/>
              <a:buChar char="Ø"/>
            </a:pPr>
            <a:endParaRPr lang="en-US" dirty="0">
              <a:latin typeface="Cambria" panose="02040503050406030204" pitchFamily="18" charset="0"/>
              <a:cs typeface="Times New Roman" pitchFamily="18" charset="0"/>
            </a:endParaRPr>
          </a:p>
          <a:p>
            <a:pPr marL="457200" indent="-457200" algn="just">
              <a:buFont typeface="Wingdings" pitchFamily="2" charset="2"/>
              <a:buChar char="Ø"/>
            </a:pPr>
            <a:r>
              <a:rPr lang="en-US" dirty="0" err="1">
                <a:latin typeface="Cambria" panose="02040503050406030204" pitchFamily="18" charset="0"/>
                <a:cs typeface="Times New Roman" pitchFamily="18" charset="0"/>
              </a:rPr>
              <a:t>Điểm</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dừng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là</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khi</a:t>
            </a:r>
            <a:r>
              <a:rPr lang="en-US" dirty="0">
                <a:latin typeface="Cambria" panose="02040503050406030204" pitchFamily="18" charset="0"/>
                <a:cs typeface="Times New Roman" pitchFamily="18" charset="0"/>
              </a:rPr>
              <a:t> n=0, </a:t>
            </a:r>
            <a:r>
              <a:rPr lang="en-US" dirty="0" err="1">
                <a:latin typeface="Cambria" panose="02040503050406030204" pitchFamily="18" charset="0"/>
                <a:cs typeface="Times New Roman" pitchFamily="18" charset="0"/>
              </a:rPr>
              <a:t>quy</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luật</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là</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nếu</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biết</a:t>
            </a:r>
            <a:r>
              <a:rPr lang="en-US" dirty="0">
                <a:latin typeface="Cambria" panose="02040503050406030204" pitchFamily="18" charset="0"/>
                <a:cs typeface="Times New Roman" pitchFamily="18" charset="0"/>
              </a:rPr>
              <a:t> (n-1)! </a:t>
            </a:r>
            <a:r>
              <a:rPr lang="en-US" dirty="0" err="1">
                <a:latin typeface="Cambria" panose="02040503050406030204" pitchFamily="18" charset="0"/>
                <a:cs typeface="Times New Roman" pitchFamily="18" charset="0"/>
              </a:rPr>
              <a:t>Thì</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tính</a:t>
            </a:r>
            <a:r>
              <a:rPr lang="en-US" dirty="0">
                <a:latin typeface="Cambria" panose="02040503050406030204" pitchFamily="18" charset="0"/>
                <a:cs typeface="Times New Roman" pitchFamily="18" charset="0"/>
              </a:rPr>
              <a:t> đ</a:t>
            </a:r>
            <a:r>
              <a:rPr lang="vi-VN" dirty="0">
                <a:latin typeface="Cambria" panose="02040503050406030204" pitchFamily="18" charset="0"/>
                <a:cs typeface="Times New Roman" pitchFamily="18" charset="0"/>
              </a:rPr>
              <a:t>ư</a:t>
            </a:r>
            <a:r>
              <a:rPr lang="en-US" dirty="0" err="1">
                <a:latin typeface="Cambria" panose="02040503050406030204" pitchFamily="18" charset="0"/>
                <a:cs typeface="Times New Roman" pitchFamily="18" charset="0"/>
              </a:rPr>
              <a:t>ợc</a:t>
            </a:r>
            <a:r>
              <a:rPr lang="en-US" dirty="0">
                <a:latin typeface="Cambria" panose="02040503050406030204" pitchFamily="18" charset="0"/>
                <a:cs typeface="Times New Roman" pitchFamily="18" charset="0"/>
              </a:rPr>
              <a:t> N!, </a:t>
            </a:r>
            <a:r>
              <a:rPr lang="en-US" dirty="0" err="1">
                <a:latin typeface="Cambria" panose="02040503050406030204" pitchFamily="18" charset="0"/>
                <a:cs typeface="Times New Roman" pitchFamily="18" charset="0"/>
              </a:rPr>
              <a:t>vì</a:t>
            </a:r>
            <a:r>
              <a:rPr lang="en-US" dirty="0">
                <a:latin typeface="Cambria" panose="02040503050406030204" pitchFamily="18" charset="0"/>
                <a:cs typeface="Times New Roman" pitchFamily="18" charset="0"/>
              </a:rPr>
              <a:t> N!=N*(N-1)!</a:t>
            </a:r>
          </a:p>
        </p:txBody>
      </p:sp>
      <p:pic>
        <p:nvPicPr>
          <p:cNvPr id="8" name="Picture 7">
            <a:extLst>
              <a:ext uri="{FF2B5EF4-FFF2-40B4-BE49-F238E27FC236}">
                <a16:creationId xmlns:a16="http://schemas.microsoft.com/office/drawing/2014/main" id="{26CEFDFE-B61C-4BB3-83E8-F5C47C322FB6}"/>
              </a:ext>
            </a:extLst>
          </p:cNvPr>
          <p:cNvPicPr>
            <a:picLocks noChangeAspect="1"/>
          </p:cNvPicPr>
          <p:nvPr/>
        </p:nvPicPr>
        <p:blipFill>
          <a:blip r:embed="rId3"/>
          <a:stretch>
            <a:fillRect/>
          </a:stretch>
        </p:blipFill>
        <p:spPr>
          <a:xfrm>
            <a:off x="2895600" y="1600200"/>
            <a:ext cx="6124074" cy="685800"/>
          </a:xfrm>
          <a:prstGeom prst="rect">
            <a:avLst/>
          </a:prstGeom>
        </p:spPr>
      </p:pic>
      <p:pic>
        <p:nvPicPr>
          <p:cNvPr id="9" name="Picture 8">
            <a:extLst>
              <a:ext uri="{FF2B5EF4-FFF2-40B4-BE49-F238E27FC236}">
                <a16:creationId xmlns:a16="http://schemas.microsoft.com/office/drawing/2014/main" id="{C4C9816D-AEC1-4ECE-930F-9CD2201DCCBC}"/>
              </a:ext>
            </a:extLst>
          </p:cNvPr>
          <p:cNvPicPr>
            <a:picLocks noChangeAspect="1"/>
          </p:cNvPicPr>
          <p:nvPr/>
        </p:nvPicPr>
        <p:blipFill>
          <a:blip r:embed="rId4"/>
          <a:stretch>
            <a:fillRect/>
          </a:stretch>
        </p:blipFill>
        <p:spPr>
          <a:xfrm>
            <a:off x="3733800" y="3524861"/>
            <a:ext cx="3605213" cy="1560878"/>
          </a:xfrm>
          <a:prstGeom prst="rect">
            <a:avLst/>
          </a:prstGeom>
        </p:spPr>
      </p:pic>
    </p:spTree>
    <p:extLst>
      <p:ext uri="{BB962C8B-B14F-4D97-AF65-F5344CB8AC3E}">
        <p14:creationId xmlns:p14="http://schemas.microsoft.com/office/powerpoint/2010/main" val="14810609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endParaRPr lang="en-US">
              <a:latin typeface="Cambria" panose="02040503050406030204" pitchFamily="18" charset="0"/>
              <a:cs typeface="Times New Roman" pitchFamily="18" charset="0"/>
            </a:endParaRPr>
          </a:p>
        </p:txBody>
      </p:sp>
      <p:pic>
        <p:nvPicPr>
          <p:cNvPr id="11" name="Picture 10">
            <a:extLst>
              <a:ext uri="{FF2B5EF4-FFF2-40B4-BE49-F238E27FC236}">
                <a16:creationId xmlns:a16="http://schemas.microsoft.com/office/drawing/2014/main" id="{CE85B1DE-F199-472F-AFD3-D97A22CB0985}"/>
              </a:ext>
            </a:extLst>
          </p:cNvPr>
          <p:cNvPicPr>
            <a:picLocks noChangeAspect="1"/>
          </p:cNvPicPr>
          <p:nvPr/>
        </p:nvPicPr>
        <p:blipFill>
          <a:blip r:embed="rId3"/>
          <a:stretch>
            <a:fillRect/>
          </a:stretch>
        </p:blipFill>
        <p:spPr>
          <a:xfrm>
            <a:off x="353375" y="1465943"/>
            <a:ext cx="4894899" cy="3742598"/>
          </a:xfrm>
          <a:prstGeom prst="rect">
            <a:avLst/>
          </a:prstGeom>
          <a:ln>
            <a:solidFill>
              <a:schemeClr val="tx1"/>
            </a:solidFill>
          </a:ln>
        </p:spPr>
      </p:pic>
      <p:pic>
        <p:nvPicPr>
          <p:cNvPr id="12" name="Picture 11">
            <a:extLst>
              <a:ext uri="{FF2B5EF4-FFF2-40B4-BE49-F238E27FC236}">
                <a16:creationId xmlns:a16="http://schemas.microsoft.com/office/drawing/2014/main" id="{9F20FA8D-97F9-468E-8BAF-84F45E86617F}"/>
              </a:ext>
            </a:extLst>
          </p:cNvPr>
          <p:cNvPicPr>
            <a:picLocks noChangeAspect="1"/>
          </p:cNvPicPr>
          <p:nvPr/>
        </p:nvPicPr>
        <p:blipFill>
          <a:blip r:embed="rId4"/>
          <a:stretch>
            <a:fillRect/>
          </a:stretch>
        </p:blipFill>
        <p:spPr>
          <a:xfrm>
            <a:off x="5334000" y="1295400"/>
            <a:ext cx="6638925" cy="3990975"/>
          </a:xfrm>
          <a:prstGeom prst="rect">
            <a:avLst/>
          </a:prstGeom>
        </p:spPr>
      </p:pic>
    </p:spTree>
    <p:extLst>
      <p:ext uri="{BB962C8B-B14F-4D97-AF65-F5344CB8AC3E}">
        <p14:creationId xmlns:p14="http://schemas.microsoft.com/office/powerpoint/2010/main" val="14555362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endParaRPr lang="en-US">
              <a:latin typeface="Cambria" panose="02040503050406030204" pitchFamily="18" charset="0"/>
              <a:cs typeface="Times New Roman" pitchFamily="18" charset="0"/>
            </a:endParaRPr>
          </a:p>
        </p:txBody>
      </p:sp>
      <p:pic>
        <p:nvPicPr>
          <p:cNvPr id="8" name="Picture 7">
            <a:extLst>
              <a:ext uri="{FF2B5EF4-FFF2-40B4-BE49-F238E27FC236}">
                <a16:creationId xmlns:a16="http://schemas.microsoft.com/office/drawing/2014/main" id="{529357D1-233A-494B-B2D7-1B060F5CA408}"/>
              </a:ext>
            </a:extLst>
          </p:cNvPr>
          <p:cNvPicPr>
            <a:picLocks noChangeAspect="1"/>
          </p:cNvPicPr>
          <p:nvPr/>
        </p:nvPicPr>
        <p:blipFill>
          <a:blip r:embed="rId3"/>
          <a:stretch>
            <a:fillRect/>
          </a:stretch>
        </p:blipFill>
        <p:spPr>
          <a:xfrm>
            <a:off x="2771775" y="1079794"/>
            <a:ext cx="6428424" cy="5321006"/>
          </a:xfrm>
          <a:prstGeom prst="rect">
            <a:avLst/>
          </a:prstGeom>
        </p:spPr>
      </p:pic>
    </p:spTree>
    <p:extLst>
      <p:ext uri="{BB962C8B-B14F-4D97-AF65-F5344CB8AC3E}">
        <p14:creationId xmlns:p14="http://schemas.microsoft.com/office/powerpoint/2010/main" val="33080236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Viết hàm tính BMI</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41</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09237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dirty="0" err="1">
                <a:latin typeface="Cambria" panose="02040503050406030204" pitchFamily="18" charset="0"/>
                <a:cs typeface="Times New Roman" pitchFamily="18" charset="0"/>
              </a:rPr>
              <a:t>Gọi</a:t>
            </a:r>
            <a:r>
              <a:rPr lang="en-US" sz="2800" dirty="0">
                <a:latin typeface="Cambria" panose="02040503050406030204" pitchFamily="18" charset="0"/>
                <a:cs typeface="Times New Roman" pitchFamily="18" charset="0"/>
              </a:rPr>
              <a:t> BMI </a:t>
            </a:r>
            <a:r>
              <a:rPr lang="en-US" sz="2800" dirty="0" err="1">
                <a:latin typeface="Cambria" panose="02040503050406030204" pitchFamily="18" charset="0"/>
                <a:cs typeface="Times New Roman" pitchFamily="18" charset="0"/>
              </a:rPr>
              <a:t>là</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chỉ</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số</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cân</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đối</a:t>
            </a:r>
            <a:r>
              <a:rPr lang="en-US" sz="2800" dirty="0">
                <a:latin typeface="Cambria" panose="02040503050406030204" pitchFamily="18" charset="0"/>
                <a:cs typeface="Times New Roman" pitchFamily="18" charset="0"/>
              </a:rPr>
              <a:t> c</a:t>
            </a:r>
            <a:r>
              <a:rPr lang="vi-VN" sz="2800" dirty="0">
                <a:latin typeface="Cambria" panose="02040503050406030204" pitchFamily="18" charset="0"/>
                <a:cs typeface="Times New Roman" pitchFamily="18" charset="0"/>
              </a:rPr>
              <a:t>ơ</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thể</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Yêu</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cầu</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đầu</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vào</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nhập</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là</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chiều</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cao</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và</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cân</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nặng</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hãy</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cho</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biết</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ng</a:t>
            </a:r>
            <a:r>
              <a:rPr lang="vi-VN" sz="2800" dirty="0">
                <a:latin typeface="Cambria" panose="02040503050406030204" pitchFamily="18" charset="0"/>
                <a:cs typeface="Times New Roman" pitchFamily="18" charset="0"/>
              </a:rPr>
              <a:t>ư</a:t>
            </a:r>
            <a:r>
              <a:rPr lang="en-US" sz="2800" dirty="0" err="1">
                <a:latin typeface="Cambria" panose="02040503050406030204" pitchFamily="18" charset="0"/>
                <a:cs typeface="Times New Roman" pitchFamily="18" charset="0"/>
              </a:rPr>
              <a:t>ời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này</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nh</a:t>
            </a:r>
            <a:r>
              <a:rPr lang="vi-VN" sz="2800" dirty="0">
                <a:latin typeface="Cambria" panose="02040503050406030204" pitchFamily="18" charset="0"/>
                <a:cs typeface="Times New Roman" pitchFamily="18" charset="0"/>
              </a:rPr>
              <a:t>ư</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thế</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nào</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biết</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rằng</a:t>
            </a:r>
            <a:r>
              <a:rPr lang="en-US" sz="2800" dirty="0">
                <a:latin typeface="Cambria" panose="02040503050406030204" pitchFamily="18" charset="0"/>
                <a:cs typeface="Times New Roman" pitchFamily="18" charset="0"/>
              </a:rPr>
              <a:t>:</a:t>
            </a:r>
          </a:p>
          <a:p>
            <a:pPr marL="457200" indent="-457200" algn="just">
              <a:buFont typeface="Wingdings" pitchFamily="2" charset="2"/>
              <a:buChar char="Ø"/>
            </a:pP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r>
              <a:rPr lang="en-US" sz="2800" dirty="0" err="1">
                <a:latin typeface="Cambria" panose="02040503050406030204" pitchFamily="18" charset="0"/>
                <a:cs typeface="Times New Roman" pitchFamily="18" charset="0"/>
              </a:rPr>
              <a:t>Hãy</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thông</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báo</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phân</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loại</a:t>
            </a:r>
            <a:r>
              <a:rPr lang="en-US" sz="2800" dirty="0">
                <a:latin typeface="Cambria" panose="02040503050406030204" pitchFamily="18" charset="0"/>
                <a:cs typeface="Times New Roman" pitchFamily="18" charset="0"/>
              </a:rPr>
              <a:t> </a:t>
            </a:r>
          </a:p>
          <a:p>
            <a:pPr marL="0" indent="0" algn="just">
              <a:buNone/>
            </a:pPr>
            <a:r>
              <a:rPr lang="en-US" sz="2800" dirty="0" err="1">
                <a:latin typeface="Cambria" panose="02040503050406030204" pitchFamily="18" charset="0"/>
                <a:cs typeface="Times New Roman" pitchFamily="18" charset="0"/>
              </a:rPr>
              <a:t>Và</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cảnh</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bảo</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nguy</a:t>
            </a:r>
            <a:r>
              <a:rPr lang="en-US" sz="2800" dirty="0">
                <a:latin typeface="Cambria" panose="02040503050406030204" pitchFamily="18" charset="0"/>
                <a:cs typeface="Times New Roman" pitchFamily="18" charset="0"/>
              </a:rPr>
              <a:t> c</a:t>
            </a:r>
            <a:r>
              <a:rPr lang="vi-VN" sz="2800" dirty="0">
                <a:latin typeface="Cambria" panose="02040503050406030204" pitchFamily="18" charset="0"/>
                <a:cs typeface="Times New Roman" pitchFamily="18" charset="0"/>
              </a:rPr>
              <a:t>ơ</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cho</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họ</a:t>
            </a: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endParaRPr lang="en-US" dirty="0">
              <a:latin typeface="Cambria" panose="02040503050406030204" pitchFamily="18" charset="0"/>
              <a:cs typeface="Times New Roman" pitchFamily="18" charset="0"/>
            </a:endParaRPr>
          </a:p>
        </p:txBody>
      </p:sp>
      <p:pic>
        <p:nvPicPr>
          <p:cNvPr id="8" name="Picture 7">
            <a:extLst>
              <a:ext uri="{FF2B5EF4-FFF2-40B4-BE49-F238E27FC236}">
                <a16:creationId xmlns:a16="http://schemas.microsoft.com/office/drawing/2014/main" id="{55F6C795-B43C-4623-8DCC-13BB9EFDDAA1}"/>
              </a:ext>
            </a:extLst>
          </p:cNvPr>
          <p:cNvPicPr>
            <a:picLocks noChangeAspect="1"/>
          </p:cNvPicPr>
          <p:nvPr/>
        </p:nvPicPr>
        <p:blipFill>
          <a:blip r:embed="rId3"/>
          <a:stretch>
            <a:fillRect/>
          </a:stretch>
        </p:blipFill>
        <p:spPr>
          <a:xfrm>
            <a:off x="450367" y="2063199"/>
            <a:ext cx="5495925" cy="1304925"/>
          </a:xfrm>
          <a:prstGeom prst="rect">
            <a:avLst/>
          </a:prstGeom>
        </p:spPr>
      </p:pic>
      <p:pic>
        <p:nvPicPr>
          <p:cNvPr id="9" name="Picture 8">
            <a:extLst>
              <a:ext uri="{FF2B5EF4-FFF2-40B4-BE49-F238E27FC236}">
                <a16:creationId xmlns:a16="http://schemas.microsoft.com/office/drawing/2014/main" id="{C5A1E6B9-7133-404C-9845-C0AA7E4F8E14}"/>
              </a:ext>
            </a:extLst>
          </p:cNvPr>
          <p:cNvPicPr>
            <a:picLocks noChangeAspect="1"/>
          </p:cNvPicPr>
          <p:nvPr/>
        </p:nvPicPr>
        <p:blipFill>
          <a:blip r:embed="rId4"/>
          <a:stretch>
            <a:fillRect/>
          </a:stretch>
        </p:blipFill>
        <p:spPr>
          <a:xfrm>
            <a:off x="6252543" y="2063199"/>
            <a:ext cx="5489090" cy="4040828"/>
          </a:xfrm>
          <a:prstGeom prst="rect">
            <a:avLst/>
          </a:prstGeom>
        </p:spPr>
      </p:pic>
    </p:spTree>
    <p:extLst>
      <p:ext uri="{BB962C8B-B14F-4D97-AF65-F5344CB8AC3E}">
        <p14:creationId xmlns:p14="http://schemas.microsoft.com/office/powerpoint/2010/main" val="22032708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Viết hàm tính </a:t>
            </a:r>
          </a:p>
          <a:p>
            <a:pPr>
              <a:defRPr/>
            </a:pPr>
            <a:r>
              <a:rPr lang="en-US" sz="4400" kern="0">
                <a:solidFill>
                  <a:srgbClr val="002060"/>
                </a:solidFill>
                <a:latin typeface="Cambria" panose="02040503050406030204" pitchFamily="18" charset="0"/>
              </a:rPr>
              <a:t>ROI</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43</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17225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44</a:t>
            </a:fld>
            <a:endParaRPr lang="en-US"/>
          </a:p>
        </p:txBody>
      </p:sp>
      <p:pic>
        <p:nvPicPr>
          <p:cNvPr id="2050" name="Picture 2" descr="Kết quả hình ảnh cho RO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1310"/>
            <a:ext cx="12192000" cy="6959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4015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45</a:t>
            </a:fld>
            <a:endParaRPr lang="en-US"/>
          </a:p>
        </p:txBody>
      </p:sp>
      <p:pic>
        <p:nvPicPr>
          <p:cNvPr id="3074" name="Picture 2" descr="Kết quả hình ảnh cho RO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8587"/>
            <a:ext cx="12192000" cy="6986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04734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latin typeface="Cambria" panose="02040503050406030204" pitchFamily="18" charset="0"/>
              </a:rPr>
              <a:t>ROI (Return On Investment), </a:t>
            </a:r>
            <a:r>
              <a:rPr lang="en-US" dirty="0" err="1">
                <a:latin typeface="Cambria" panose="02040503050406030204" pitchFamily="18" charset="0"/>
              </a:rPr>
              <a:t>một</a:t>
            </a:r>
            <a:r>
              <a:rPr lang="en-US" dirty="0">
                <a:latin typeface="Cambria" panose="02040503050406030204" pitchFamily="18" charset="0"/>
              </a:rPr>
              <a:t> </a:t>
            </a:r>
            <a:r>
              <a:rPr lang="en-US" dirty="0" err="1">
                <a:latin typeface="Cambria" panose="02040503050406030204" pitchFamily="18" charset="0"/>
              </a:rPr>
              <a:t>thuật</a:t>
            </a:r>
            <a:r>
              <a:rPr lang="en-US" dirty="0">
                <a:latin typeface="Cambria" panose="02040503050406030204" pitchFamily="18" charset="0"/>
              </a:rPr>
              <a:t> </a:t>
            </a:r>
            <a:r>
              <a:rPr lang="en-US" dirty="0" err="1">
                <a:latin typeface="Cambria" panose="02040503050406030204" pitchFamily="18" charset="0"/>
              </a:rPr>
              <a:t>ngữ</a:t>
            </a:r>
            <a:r>
              <a:rPr lang="en-US" dirty="0">
                <a:latin typeface="Cambria" panose="02040503050406030204" pitchFamily="18" charset="0"/>
              </a:rPr>
              <a:t> </a:t>
            </a:r>
            <a:r>
              <a:rPr lang="en-US" dirty="0" err="1">
                <a:latin typeface="Cambria" panose="02040503050406030204" pitchFamily="18" charset="0"/>
              </a:rPr>
              <a:t>quan</a:t>
            </a:r>
            <a:r>
              <a:rPr lang="en-US" dirty="0">
                <a:latin typeface="Cambria" panose="02040503050406030204" pitchFamily="18" charset="0"/>
              </a:rPr>
              <a:t> </a:t>
            </a:r>
            <a:r>
              <a:rPr lang="en-US" dirty="0" err="1">
                <a:latin typeface="Cambria" panose="02040503050406030204" pitchFamily="18" charset="0"/>
              </a:rPr>
              <a:t>trọng</a:t>
            </a:r>
            <a:r>
              <a:rPr lang="en-US" dirty="0">
                <a:latin typeface="Cambria" panose="02040503050406030204" pitchFamily="18" charset="0"/>
              </a:rPr>
              <a:t> </a:t>
            </a:r>
            <a:r>
              <a:rPr lang="en-US" dirty="0" err="1">
                <a:latin typeface="Cambria" panose="02040503050406030204" pitchFamily="18" charset="0"/>
              </a:rPr>
              <a:t>trong</a:t>
            </a:r>
            <a:r>
              <a:rPr lang="en-US" dirty="0">
                <a:latin typeface="Cambria" panose="02040503050406030204" pitchFamily="18" charset="0"/>
              </a:rPr>
              <a:t> marketing, </a:t>
            </a:r>
            <a:r>
              <a:rPr lang="en-US" dirty="0" err="1">
                <a:latin typeface="Cambria" panose="02040503050406030204" pitchFamily="18" charset="0"/>
              </a:rPr>
              <a:t>mà</a:t>
            </a:r>
            <a:r>
              <a:rPr lang="en-US" dirty="0">
                <a:latin typeface="Cambria" panose="02040503050406030204" pitchFamily="18" charset="0"/>
              </a:rPr>
              <a:t> </a:t>
            </a:r>
            <a:r>
              <a:rPr lang="en-US" dirty="0" err="1">
                <a:latin typeface="Cambria" panose="02040503050406030204" pitchFamily="18" charset="0"/>
              </a:rPr>
              <a:t>đặc</a:t>
            </a:r>
            <a:r>
              <a:rPr lang="en-US" dirty="0">
                <a:latin typeface="Cambria" panose="02040503050406030204" pitchFamily="18" charset="0"/>
              </a:rPr>
              <a:t> </a:t>
            </a:r>
            <a:r>
              <a:rPr lang="en-US" dirty="0" err="1">
                <a:latin typeface="Cambria" panose="02040503050406030204" pitchFamily="18" charset="0"/>
              </a:rPr>
              <a:t>biệt</a:t>
            </a:r>
            <a:r>
              <a:rPr lang="en-US" dirty="0">
                <a:latin typeface="Cambria" panose="02040503050406030204" pitchFamily="18" charset="0"/>
              </a:rPr>
              <a:t> </a:t>
            </a:r>
            <a:r>
              <a:rPr lang="en-US" dirty="0" err="1">
                <a:latin typeface="Cambria" panose="02040503050406030204" pitchFamily="18" charset="0"/>
              </a:rPr>
              <a:t>là</a:t>
            </a:r>
            <a:r>
              <a:rPr lang="en-US" dirty="0">
                <a:latin typeface="Cambria" panose="02040503050406030204" pitchFamily="18" charset="0"/>
              </a:rPr>
              <a:t> SEO, </a:t>
            </a:r>
            <a:r>
              <a:rPr lang="en-US" dirty="0" err="1">
                <a:latin typeface="Cambria" panose="02040503050406030204" pitchFamily="18" charset="0"/>
              </a:rPr>
              <a:t>tạm</a:t>
            </a:r>
            <a:r>
              <a:rPr lang="en-US" dirty="0">
                <a:latin typeface="Cambria" panose="02040503050406030204" pitchFamily="18" charset="0"/>
              </a:rPr>
              <a:t> </a:t>
            </a:r>
            <a:r>
              <a:rPr lang="en-US" dirty="0" err="1">
                <a:latin typeface="Cambria" panose="02040503050406030204" pitchFamily="18" charset="0"/>
              </a:rPr>
              <a:t>dịch</a:t>
            </a:r>
            <a:r>
              <a:rPr lang="en-US" dirty="0">
                <a:latin typeface="Cambria" panose="02040503050406030204" pitchFamily="18" charset="0"/>
              </a:rPr>
              <a:t> </a:t>
            </a:r>
            <a:r>
              <a:rPr lang="en-US" dirty="0" err="1">
                <a:latin typeface="Cambria" panose="02040503050406030204" pitchFamily="18" charset="0"/>
              </a:rPr>
              <a:t>là</a:t>
            </a:r>
            <a:r>
              <a:rPr lang="en-US" dirty="0">
                <a:latin typeface="Cambria" panose="02040503050406030204" pitchFamily="18" charset="0"/>
              </a:rPr>
              <a:t> </a:t>
            </a:r>
            <a:r>
              <a:rPr lang="en-US" dirty="0" err="1">
                <a:latin typeface="Cambria" panose="02040503050406030204" pitchFamily="18" charset="0"/>
              </a:rPr>
              <a:t>tỷ</a:t>
            </a:r>
            <a:r>
              <a:rPr lang="en-US" dirty="0">
                <a:latin typeface="Cambria" panose="02040503050406030204" pitchFamily="18" charset="0"/>
              </a:rPr>
              <a:t> </a:t>
            </a:r>
            <a:r>
              <a:rPr lang="en-US" dirty="0" err="1">
                <a:latin typeface="Cambria" panose="02040503050406030204" pitchFamily="18" charset="0"/>
              </a:rPr>
              <a:t>lệ</a:t>
            </a:r>
            <a:r>
              <a:rPr lang="en-US" dirty="0">
                <a:latin typeface="Cambria" panose="02040503050406030204" pitchFamily="18" charset="0"/>
              </a:rPr>
              <a:t> </a:t>
            </a:r>
            <a:r>
              <a:rPr lang="en-US" dirty="0" err="1">
                <a:latin typeface="Cambria" panose="02040503050406030204" pitchFamily="18" charset="0"/>
              </a:rPr>
              <a:t>lợi</a:t>
            </a:r>
            <a:r>
              <a:rPr lang="en-US" dirty="0">
                <a:latin typeface="Cambria" panose="02040503050406030204" pitchFamily="18" charset="0"/>
              </a:rPr>
              <a:t> </a:t>
            </a:r>
            <a:r>
              <a:rPr lang="en-US" dirty="0" err="1">
                <a:latin typeface="Cambria" panose="02040503050406030204" pitchFamily="18" charset="0"/>
              </a:rPr>
              <a:t>nhuận</a:t>
            </a:r>
            <a:r>
              <a:rPr lang="en-US" dirty="0">
                <a:latin typeface="Cambria" panose="02040503050406030204" pitchFamily="18" charset="0"/>
              </a:rPr>
              <a:t> </a:t>
            </a:r>
            <a:r>
              <a:rPr lang="en-US" dirty="0" err="1">
                <a:latin typeface="Cambria" panose="02040503050406030204" pitchFamily="18" charset="0"/>
              </a:rPr>
              <a:t>thu</a:t>
            </a:r>
            <a:r>
              <a:rPr lang="en-US" dirty="0">
                <a:latin typeface="Cambria" panose="02040503050406030204" pitchFamily="18" charset="0"/>
              </a:rPr>
              <a:t> </a:t>
            </a:r>
            <a:r>
              <a:rPr lang="en-US" dirty="0" err="1">
                <a:latin typeface="Cambria" panose="02040503050406030204" pitchFamily="18" charset="0"/>
              </a:rPr>
              <a:t>được</a:t>
            </a:r>
            <a:r>
              <a:rPr lang="en-US" dirty="0">
                <a:latin typeface="Cambria" panose="02040503050406030204" pitchFamily="18" charset="0"/>
              </a:rPr>
              <a:t> so </a:t>
            </a:r>
            <a:r>
              <a:rPr lang="en-US" dirty="0" err="1">
                <a:latin typeface="Cambria" panose="02040503050406030204" pitchFamily="18" charset="0"/>
              </a:rPr>
              <a:t>với</a:t>
            </a:r>
            <a:r>
              <a:rPr lang="en-US" dirty="0">
                <a:latin typeface="Cambria" panose="02040503050406030204" pitchFamily="18" charset="0"/>
              </a:rPr>
              <a:t> chi </a:t>
            </a:r>
            <a:r>
              <a:rPr lang="en-US" dirty="0" err="1">
                <a:latin typeface="Cambria" panose="02040503050406030204" pitchFamily="18" charset="0"/>
              </a:rPr>
              <a:t>phí</a:t>
            </a:r>
            <a:r>
              <a:rPr lang="en-US" dirty="0">
                <a:latin typeface="Cambria" panose="02040503050406030204" pitchFamily="18" charset="0"/>
              </a:rPr>
              <a:t> </a:t>
            </a:r>
            <a:r>
              <a:rPr lang="en-US" dirty="0" err="1">
                <a:latin typeface="Cambria" panose="02040503050406030204" pitchFamily="18" charset="0"/>
              </a:rPr>
              <a:t>bạn</a:t>
            </a:r>
            <a:r>
              <a:rPr lang="en-US" dirty="0">
                <a:latin typeface="Cambria" panose="02040503050406030204" pitchFamily="18" charset="0"/>
              </a:rPr>
              <a:t> </a:t>
            </a:r>
            <a:r>
              <a:rPr lang="en-US" dirty="0" err="1">
                <a:latin typeface="Cambria" panose="02040503050406030204" pitchFamily="18" charset="0"/>
              </a:rPr>
              <a:t>đầu</a:t>
            </a:r>
            <a:r>
              <a:rPr lang="en-US" dirty="0">
                <a:latin typeface="Cambria" panose="02040503050406030204" pitchFamily="18" charset="0"/>
              </a:rPr>
              <a:t> </a:t>
            </a:r>
            <a:r>
              <a:rPr lang="en-US" dirty="0" err="1">
                <a:latin typeface="Cambria" panose="02040503050406030204" pitchFamily="18" charset="0"/>
              </a:rPr>
              <a:t>tư</a:t>
            </a:r>
            <a:r>
              <a:rPr lang="en-US" dirty="0">
                <a:latin typeface="Cambria" panose="02040503050406030204" pitchFamily="18" charset="0"/>
              </a:rPr>
              <a:t>. </a:t>
            </a:r>
          </a:p>
          <a:p>
            <a:r>
              <a:rPr lang="en-US" dirty="0" err="1">
                <a:latin typeface="Cambria" panose="02040503050406030204" pitchFamily="18" charset="0"/>
              </a:rPr>
              <a:t>Có</a:t>
            </a:r>
            <a:r>
              <a:rPr lang="en-US" dirty="0">
                <a:latin typeface="Cambria" panose="02040503050406030204" pitchFamily="18" charset="0"/>
              </a:rPr>
              <a:t> </a:t>
            </a:r>
            <a:r>
              <a:rPr lang="en-US" dirty="0" err="1">
                <a:latin typeface="Cambria" panose="02040503050406030204" pitchFamily="18" charset="0"/>
              </a:rPr>
              <a:t>thể</a:t>
            </a:r>
            <a:r>
              <a:rPr lang="en-US" dirty="0">
                <a:latin typeface="Cambria" panose="02040503050406030204" pitchFamily="18" charset="0"/>
              </a:rPr>
              <a:t> </a:t>
            </a:r>
            <a:r>
              <a:rPr lang="en-US" dirty="0" err="1">
                <a:latin typeface="Cambria" panose="02040503050406030204" pitchFamily="18" charset="0"/>
              </a:rPr>
              <a:t>hiểu</a:t>
            </a:r>
            <a:r>
              <a:rPr lang="en-US" dirty="0">
                <a:latin typeface="Cambria" panose="02040503050406030204" pitchFamily="18" charset="0"/>
              </a:rPr>
              <a:t> ROI </a:t>
            </a:r>
            <a:r>
              <a:rPr lang="en-US" dirty="0" err="1">
                <a:latin typeface="Cambria" panose="02040503050406030204" pitchFamily="18" charset="0"/>
              </a:rPr>
              <a:t>một</a:t>
            </a:r>
            <a:r>
              <a:rPr lang="en-US" dirty="0">
                <a:latin typeface="Cambria" panose="02040503050406030204" pitchFamily="18" charset="0"/>
              </a:rPr>
              <a:t> </a:t>
            </a:r>
            <a:r>
              <a:rPr lang="en-US" dirty="0" err="1">
                <a:latin typeface="Cambria" panose="02040503050406030204" pitchFamily="18" charset="0"/>
              </a:rPr>
              <a:t>cách</a:t>
            </a:r>
            <a:r>
              <a:rPr lang="en-US" dirty="0">
                <a:latin typeface="Cambria" panose="02040503050406030204" pitchFamily="18" charset="0"/>
              </a:rPr>
              <a:t> </a:t>
            </a:r>
            <a:r>
              <a:rPr lang="en-US" dirty="0" err="1">
                <a:latin typeface="Cambria" panose="02040503050406030204" pitchFamily="18" charset="0"/>
              </a:rPr>
              <a:t>đơn</a:t>
            </a:r>
            <a:r>
              <a:rPr lang="en-US" dirty="0">
                <a:latin typeface="Cambria" panose="02040503050406030204" pitchFamily="18" charset="0"/>
              </a:rPr>
              <a:t> </a:t>
            </a:r>
            <a:r>
              <a:rPr lang="en-US" dirty="0" err="1">
                <a:latin typeface="Cambria" panose="02040503050406030204" pitchFamily="18" charset="0"/>
              </a:rPr>
              <a:t>giản</a:t>
            </a:r>
            <a:r>
              <a:rPr lang="en-US" dirty="0">
                <a:latin typeface="Cambria" panose="02040503050406030204" pitchFamily="18" charset="0"/>
              </a:rPr>
              <a:t> </a:t>
            </a:r>
            <a:r>
              <a:rPr lang="en-US" dirty="0" err="1">
                <a:latin typeface="Cambria" panose="02040503050406030204" pitchFamily="18" charset="0"/>
              </a:rPr>
              <a:t>chính</a:t>
            </a:r>
            <a:r>
              <a:rPr lang="en-US" dirty="0">
                <a:latin typeface="Cambria" panose="02040503050406030204" pitchFamily="18" charset="0"/>
              </a:rPr>
              <a:t> </a:t>
            </a:r>
            <a:r>
              <a:rPr lang="en-US" dirty="0" err="1">
                <a:latin typeface="Cambria" panose="02040503050406030204" pitchFamily="18" charset="0"/>
              </a:rPr>
              <a:t>là</a:t>
            </a:r>
            <a:r>
              <a:rPr lang="en-US" dirty="0">
                <a:latin typeface="Cambria" panose="02040503050406030204" pitchFamily="18" charset="0"/>
              </a:rPr>
              <a:t> </a:t>
            </a:r>
            <a:r>
              <a:rPr lang="en-US" dirty="0" err="1">
                <a:latin typeface="Cambria" panose="02040503050406030204" pitchFamily="18" charset="0"/>
              </a:rPr>
              <a:t>chỉ</a:t>
            </a:r>
            <a:r>
              <a:rPr lang="en-US" dirty="0">
                <a:latin typeface="Cambria" panose="02040503050406030204" pitchFamily="18" charset="0"/>
              </a:rPr>
              <a:t> </a:t>
            </a:r>
            <a:r>
              <a:rPr lang="en-US" dirty="0" err="1">
                <a:latin typeface="Cambria" panose="02040503050406030204" pitchFamily="18" charset="0"/>
              </a:rPr>
              <a:t>số</a:t>
            </a:r>
            <a:r>
              <a:rPr lang="en-US" dirty="0">
                <a:latin typeface="Cambria" panose="02040503050406030204" pitchFamily="18" charset="0"/>
              </a:rPr>
              <a:t> </a:t>
            </a:r>
            <a:r>
              <a:rPr lang="en-US" dirty="0" err="1">
                <a:latin typeface="Cambria" panose="02040503050406030204" pitchFamily="18" charset="0"/>
              </a:rPr>
              <a:t>đo</a:t>
            </a:r>
            <a:r>
              <a:rPr lang="en-US" dirty="0">
                <a:latin typeface="Cambria" panose="02040503050406030204" pitchFamily="18" charset="0"/>
              </a:rPr>
              <a:t> </a:t>
            </a:r>
            <a:r>
              <a:rPr lang="en-US" dirty="0" err="1">
                <a:latin typeface="Cambria" panose="02040503050406030204" pitchFamily="18" charset="0"/>
              </a:rPr>
              <a:t>lường</a:t>
            </a:r>
            <a:r>
              <a:rPr lang="en-US" dirty="0">
                <a:latin typeface="Cambria" panose="02040503050406030204" pitchFamily="18" charset="0"/>
              </a:rPr>
              <a:t> </a:t>
            </a:r>
            <a:r>
              <a:rPr lang="en-US" dirty="0" err="1">
                <a:latin typeface="Cambria" panose="02040503050406030204" pitchFamily="18" charset="0"/>
              </a:rPr>
              <a:t>tỷ</a:t>
            </a:r>
            <a:r>
              <a:rPr lang="en-US" dirty="0">
                <a:latin typeface="Cambria" panose="02040503050406030204" pitchFamily="18" charset="0"/>
              </a:rPr>
              <a:t> </a:t>
            </a:r>
            <a:r>
              <a:rPr lang="en-US" dirty="0" err="1">
                <a:latin typeface="Cambria" panose="02040503050406030204" pitchFamily="18" charset="0"/>
              </a:rPr>
              <a:t>lệ</a:t>
            </a:r>
            <a:r>
              <a:rPr lang="en-US" dirty="0">
                <a:latin typeface="Cambria" panose="02040503050406030204" pitchFamily="18" charset="0"/>
              </a:rPr>
              <a:t> </a:t>
            </a:r>
            <a:r>
              <a:rPr lang="en-US" dirty="0" err="1">
                <a:latin typeface="Cambria" panose="02040503050406030204" pitchFamily="18" charset="0"/>
              </a:rPr>
              <a:t>những</a:t>
            </a:r>
            <a:r>
              <a:rPr lang="en-US" dirty="0">
                <a:latin typeface="Cambria" panose="02040503050406030204" pitchFamily="18" charset="0"/>
              </a:rPr>
              <a:t> </a:t>
            </a:r>
            <a:r>
              <a:rPr lang="en-US" dirty="0" err="1">
                <a:latin typeface="Cambria" panose="02040503050406030204" pitchFamily="18" charset="0"/>
              </a:rPr>
              <a:t>gì</a:t>
            </a:r>
            <a:r>
              <a:rPr lang="en-US" dirty="0">
                <a:latin typeface="Cambria" panose="02040503050406030204" pitchFamily="18" charset="0"/>
              </a:rPr>
              <a:t> </a:t>
            </a:r>
            <a:r>
              <a:rPr lang="en-US" dirty="0" err="1">
                <a:latin typeface="Cambria" panose="02040503050406030204" pitchFamily="18" charset="0"/>
              </a:rPr>
              <a:t>bạn</a:t>
            </a:r>
            <a:r>
              <a:rPr lang="en-US" dirty="0">
                <a:latin typeface="Cambria" panose="02040503050406030204" pitchFamily="18" charset="0"/>
              </a:rPr>
              <a:t> </a:t>
            </a:r>
            <a:r>
              <a:rPr lang="en-US" dirty="0" err="1">
                <a:latin typeface="Cambria" panose="02040503050406030204" pitchFamily="18" charset="0"/>
              </a:rPr>
              <a:t>thu</a:t>
            </a:r>
            <a:r>
              <a:rPr lang="en-US" dirty="0">
                <a:latin typeface="Cambria" panose="02040503050406030204" pitchFamily="18" charset="0"/>
              </a:rPr>
              <a:t> </a:t>
            </a:r>
            <a:r>
              <a:rPr lang="en-US" dirty="0" err="1">
                <a:latin typeface="Cambria" panose="02040503050406030204" pitchFamily="18" charset="0"/>
              </a:rPr>
              <a:t>về</a:t>
            </a:r>
            <a:r>
              <a:rPr lang="en-US" dirty="0">
                <a:latin typeface="Cambria" panose="02040503050406030204" pitchFamily="18" charset="0"/>
              </a:rPr>
              <a:t> so </a:t>
            </a:r>
            <a:r>
              <a:rPr lang="en-US" dirty="0" err="1">
                <a:latin typeface="Cambria" panose="02040503050406030204" pitchFamily="18" charset="0"/>
              </a:rPr>
              <a:t>với</a:t>
            </a:r>
            <a:r>
              <a:rPr lang="en-US" dirty="0">
                <a:latin typeface="Cambria" panose="02040503050406030204" pitchFamily="18" charset="0"/>
              </a:rPr>
              <a:t> </a:t>
            </a:r>
            <a:r>
              <a:rPr lang="en-US" dirty="0" err="1">
                <a:latin typeface="Cambria" panose="02040503050406030204" pitchFamily="18" charset="0"/>
              </a:rPr>
              <a:t>những</a:t>
            </a:r>
            <a:r>
              <a:rPr lang="en-US" dirty="0">
                <a:latin typeface="Cambria" panose="02040503050406030204" pitchFamily="18" charset="0"/>
              </a:rPr>
              <a:t> </a:t>
            </a:r>
            <a:r>
              <a:rPr lang="en-US" dirty="0" err="1">
                <a:latin typeface="Cambria" panose="02040503050406030204" pitchFamily="18" charset="0"/>
              </a:rPr>
              <a:t>gì</a:t>
            </a:r>
            <a:r>
              <a:rPr lang="en-US" dirty="0">
                <a:latin typeface="Cambria" panose="02040503050406030204" pitchFamily="18" charset="0"/>
              </a:rPr>
              <a:t> </a:t>
            </a:r>
            <a:r>
              <a:rPr lang="en-US" dirty="0" err="1">
                <a:latin typeface="Cambria" panose="02040503050406030204" pitchFamily="18" charset="0"/>
              </a:rPr>
              <a:t>bạn</a:t>
            </a:r>
            <a:r>
              <a:rPr lang="en-US" dirty="0">
                <a:latin typeface="Cambria" panose="02040503050406030204" pitchFamily="18" charset="0"/>
              </a:rPr>
              <a:t> </a:t>
            </a:r>
            <a:r>
              <a:rPr lang="en-US" dirty="0" err="1">
                <a:latin typeface="Cambria" panose="02040503050406030204" pitchFamily="18" charset="0"/>
              </a:rPr>
              <a:t>phải</a:t>
            </a:r>
            <a:r>
              <a:rPr lang="en-US" dirty="0">
                <a:latin typeface="Cambria" panose="02040503050406030204" pitchFamily="18" charset="0"/>
              </a:rPr>
              <a:t> </a:t>
            </a:r>
            <a:r>
              <a:rPr lang="en-US" dirty="0" err="1">
                <a:latin typeface="Cambria" panose="02040503050406030204" pitchFamily="18" charset="0"/>
              </a:rPr>
              <a:t>bỏ</a:t>
            </a:r>
            <a:r>
              <a:rPr lang="en-US" dirty="0">
                <a:latin typeface="Cambria" panose="02040503050406030204" pitchFamily="18" charset="0"/>
              </a:rPr>
              <a:t> </a:t>
            </a:r>
            <a:r>
              <a:rPr lang="en-US" dirty="0" err="1">
                <a:latin typeface="Cambria" panose="02040503050406030204" pitchFamily="18" charset="0"/>
              </a:rPr>
              <a:t>ra.</a:t>
            </a:r>
            <a:endParaRPr lang="en-US" dirty="0">
              <a:latin typeface="Cambria" panose="02040503050406030204" pitchFamily="18" charset="0"/>
            </a:endParaRPr>
          </a:p>
          <a:p>
            <a:r>
              <a:rPr lang="en-US" dirty="0" err="1">
                <a:latin typeface="Cambria" panose="02040503050406030204" pitchFamily="18" charset="0"/>
              </a:rPr>
              <a:t>Hiểu</a:t>
            </a:r>
            <a:r>
              <a:rPr lang="en-US" dirty="0">
                <a:latin typeface="Cambria" panose="02040503050406030204" pitchFamily="18" charset="0"/>
              </a:rPr>
              <a:t> </a:t>
            </a:r>
            <a:r>
              <a:rPr lang="en-US" dirty="0" err="1">
                <a:latin typeface="Cambria" panose="02040503050406030204" pitchFamily="18" charset="0"/>
              </a:rPr>
              <a:t>đúng</a:t>
            </a:r>
            <a:r>
              <a:rPr lang="en-US" dirty="0">
                <a:latin typeface="Cambria" panose="02040503050406030204" pitchFamily="18" charset="0"/>
              </a:rPr>
              <a:t> </a:t>
            </a:r>
            <a:r>
              <a:rPr lang="en-US" dirty="0" err="1">
                <a:latin typeface="Cambria" panose="02040503050406030204" pitchFamily="18" charset="0"/>
              </a:rPr>
              <a:t>bản</a:t>
            </a:r>
            <a:r>
              <a:rPr lang="en-US" dirty="0">
                <a:latin typeface="Cambria" panose="02040503050406030204" pitchFamily="18" charset="0"/>
              </a:rPr>
              <a:t> </a:t>
            </a:r>
            <a:r>
              <a:rPr lang="en-US" dirty="0" err="1">
                <a:latin typeface="Cambria" panose="02040503050406030204" pitchFamily="18" charset="0"/>
              </a:rPr>
              <a:t>chất</a:t>
            </a:r>
            <a:r>
              <a:rPr lang="en-US" dirty="0">
                <a:latin typeface="Cambria" panose="02040503050406030204" pitchFamily="18" charset="0"/>
              </a:rPr>
              <a:t> </a:t>
            </a:r>
            <a:r>
              <a:rPr lang="en-US" dirty="0" err="1">
                <a:latin typeface="Cambria" panose="02040503050406030204" pitchFamily="18" charset="0"/>
              </a:rPr>
              <a:t>của</a:t>
            </a:r>
            <a:r>
              <a:rPr lang="en-US" dirty="0">
                <a:latin typeface="Cambria" panose="02040503050406030204" pitchFamily="18" charset="0"/>
              </a:rPr>
              <a:t> ROI, </a:t>
            </a:r>
            <a:r>
              <a:rPr lang="en-US" dirty="0" err="1">
                <a:latin typeface="Cambria" panose="02040503050406030204" pitchFamily="18" charset="0"/>
              </a:rPr>
              <a:t>bạn</a:t>
            </a:r>
            <a:r>
              <a:rPr lang="en-US" dirty="0">
                <a:latin typeface="Cambria" panose="02040503050406030204" pitchFamily="18" charset="0"/>
              </a:rPr>
              <a:t> </a:t>
            </a:r>
            <a:r>
              <a:rPr lang="en-US" dirty="0" err="1">
                <a:latin typeface="Cambria" panose="02040503050406030204" pitchFamily="18" charset="0"/>
              </a:rPr>
              <a:t>sẽ</a:t>
            </a:r>
            <a:r>
              <a:rPr lang="en-US" dirty="0">
                <a:latin typeface="Cambria" panose="02040503050406030204" pitchFamily="18" charset="0"/>
              </a:rPr>
              <a:t> </a:t>
            </a:r>
            <a:r>
              <a:rPr lang="en-US" dirty="0" err="1">
                <a:latin typeface="Cambria" panose="02040503050406030204" pitchFamily="18" charset="0"/>
              </a:rPr>
              <a:t>đo</a:t>
            </a:r>
            <a:r>
              <a:rPr lang="en-US" dirty="0">
                <a:latin typeface="Cambria" panose="02040503050406030204" pitchFamily="18" charset="0"/>
              </a:rPr>
              <a:t> </a:t>
            </a:r>
            <a:r>
              <a:rPr lang="en-US" dirty="0" err="1">
                <a:latin typeface="Cambria" panose="02040503050406030204" pitchFamily="18" charset="0"/>
              </a:rPr>
              <a:t>lường</a:t>
            </a:r>
            <a:r>
              <a:rPr lang="en-US" dirty="0">
                <a:latin typeface="Cambria" panose="02040503050406030204" pitchFamily="18" charset="0"/>
              </a:rPr>
              <a:t> </a:t>
            </a:r>
            <a:r>
              <a:rPr lang="en-US" dirty="0" err="1">
                <a:latin typeface="Cambria" panose="02040503050406030204" pitchFamily="18" charset="0"/>
              </a:rPr>
              <a:t>được</a:t>
            </a:r>
            <a:r>
              <a:rPr lang="en-US" dirty="0">
                <a:latin typeface="Cambria" panose="02040503050406030204" pitchFamily="18" charset="0"/>
              </a:rPr>
              <a:t> </a:t>
            </a:r>
            <a:r>
              <a:rPr lang="en-US" dirty="0" err="1">
                <a:latin typeface="Cambria" panose="02040503050406030204" pitchFamily="18" charset="0"/>
              </a:rPr>
              <a:t>hiệu</a:t>
            </a:r>
            <a:r>
              <a:rPr lang="en-US" dirty="0">
                <a:latin typeface="Cambria" panose="02040503050406030204" pitchFamily="18" charset="0"/>
              </a:rPr>
              <a:t> </a:t>
            </a:r>
            <a:r>
              <a:rPr lang="en-US" dirty="0" err="1">
                <a:latin typeface="Cambria" panose="02040503050406030204" pitchFamily="18" charset="0"/>
              </a:rPr>
              <a:t>quả</a:t>
            </a:r>
            <a:r>
              <a:rPr lang="en-US" dirty="0">
                <a:latin typeface="Cambria" panose="02040503050406030204" pitchFamily="18" charset="0"/>
              </a:rPr>
              <a:t> </a:t>
            </a:r>
            <a:r>
              <a:rPr lang="en-US" dirty="0" err="1">
                <a:latin typeface="Cambria" panose="02040503050406030204" pitchFamily="18" charset="0"/>
              </a:rPr>
              <a:t>đồng</a:t>
            </a:r>
            <a:r>
              <a:rPr lang="en-US" dirty="0">
                <a:latin typeface="Cambria" panose="02040503050406030204" pitchFamily="18" charset="0"/>
              </a:rPr>
              <a:t> </a:t>
            </a:r>
            <a:r>
              <a:rPr lang="en-US" dirty="0" err="1">
                <a:latin typeface="Cambria" panose="02040503050406030204" pitchFamily="18" charset="0"/>
              </a:rPr>
              <a:t>vốn</a:t>
            </a:r>
            <a:r>
              <a:rPr lang="en-US" dirty="0">
                <a:latin typeface="Cambria" panose="02040503050406030204" pitchFamily="18" charset="0"/>
              </a:rPr>
              <a:t> </a:t>
            </a:r>
            <a:r>
              <a:rPr lang="en-US" dirty="0" err="1">
                <a:latin typeface="Cambria" panose="02040503050406030204" pitchFamily="18" charset="0"/>
              </a:rPr>
              <a:t>đầu</a:t>
            </a:r>
            <a:r>
              <a:rPr lang="en-US" dirty="0">
                <a:latin typeface="Cambria" panose="02040503050406030204" pitchFamily="18" charset="0"/>
              </a:rPr>
              <a:t> </a:t>
            </a:r>
            <a:r>
              <a:rPr lang="en-US" dirty="0" err="1">
                <a:latin typeface="Cambria" panose="02040503050406030204" pitchFamily="18" charset="0"/>
              </a:rPr>
              <a:t>tư</a:t>
            </a:r>
            <a:r>
              <a:rPr lang="en-US" dirty="0">
                <a:latin typeface="Cambria" panose="02040503050406030204" pitchFamily="18" charset="0"/>
              </a:rPr>
              <a:t> </a:t>
            </a:r>
            <a:r>
              <a:rPr lang="en-US" dirty="0" err="1">
                <a:latin typeface="Cambria" panose="02040503050406030204" pitchFamily="18" charset="0"/>
              </a:rPr>
              <a:t>của</a:t>
            </a:r>
            <a:r>
              <a:rPr lang="en-US" dirty="0">
                <a:latin typeface="Cambria" panose="02040503050406030204" pitchFamily="18" charset="0"/>
              </a:rPr>
              <a:t> </a:t>
            </a:r>
            <a:r>
              <a:rPr lang="en-US" dirty="0" err="1">
                <a:latin typeface="Cambria" panose="02040503050406030204" pitchFamily="18" charset="0"/>
              </a:rPr>
              <a:t>mình</a:t>
            </a:r>
            <a:r>
              <a:rPr lang="en-US" dirty="0">
                <a:latin typeface="Cambria" panose="02040503050406030204" pitchFamily="18" charset="0"/>
              </a:rPr>
              <a:t> </a:t>
            </a:r>
            <a:r>
              <a:rPr lang="en-US" dirty="0" err="1">
                <a:latin typeface="Cambria" panose="02040503050406030204" pitchFamily="18" charset="0"/>
              </a:rPr>
              <a:t>cho</a:t>
            </a:r>
            <a:r>
              <a:rPr lang="en-US" dirty="0">
                <a:latin typeface="Cambria" panose="02040503050406030204" pitchFamily="18" charset="0"/>
              </a:rPr>
              <a:t> </a:t>
            </a:r>
            <a:r>
              <a:rPr lang="en-US" dirty="0" err="1">
                <a:latin typeface="Cambria" panose="02040503050406030204" pitchFamily="18" charset="0"/>
              </a:rPr>
              <a:t>các</a:t>
            </a:r>
            <a:r>
              <a:rPr lang="en-US" dirty="0">
                <a:latin typeface="Cambria" panose="02040503050406030204" pitchFamily="18" charset="0"/>
              </a:rPr>
              <a:t> chi </a:t>
            </a:r>
            <a:r>
              <a:rPr lang="en-US" dirty="0" err="1">
                <a:latin typeface="Cambria" panose="02040503050406030204" pitchFamily="18" charset="0"/>
              </a:rPr>
              <a:t>phí</a:t>
            </a:r>
            <a:r>
              <a:rPr lang="en-US" dirty="0">
                <a:latin typeface="Cambria" panose="02040503050406030204" pitchFamily="18" charset="0"/>
              </a:rPr>
              <a:t> </a:t>
            </a:r>
            <a:r>
              <a:rPr lang="en-US" dirty="0" err="1">
                <a:latin typeface="Cambria" panose="02040503050406030204" pitchFamily="18" charset="0"/>
              </a:rPr>
              <a:t>như</a:t>
            </a:r>
            <a:r>
              <a:rPr lang="en-US" dirty="0">
                <a:latin typeface="Cambria" panose="02040503050406030204" pitchFamily="18" charset="0"/>
              </a:rPr>
              <a:t> </a:t>
            </a:r>
            <a:r>
              <a:rPr lang="en-US" dirty="0" err="1">
                <a:latin typeface="Cambria" panose="02040503050406030204" pitchFamily="18" charset="0"/>
              </a:rPr>
              <a:t>quảng</a:t>
            </a:r>
            <a:r>
              <a:rPr lang="en-US" dirty="0">
                <a:latin typeface="Cambria" panose="02040503050406030204" pitchFamily="18" charset="0"/>
              </a:rPr>
              <a:t> </a:t>
            </a:r>
            <a:r>
              <a:rPr lang="en-US" dirty="0" err="1">
                <a:latin typeface="Cambria" panose="02040503050406030204" pitchFamily="18" charset="0"/>
              </a:rPr>
              <a:t>cáo</a:t>
            </a:r>
            <a:r>
              <a:rPr lang="en-US" dirty="0">
                <a:latin typeface="Cambria" panose="02040503050406030204" pitchFamily="18" charset="0"/>
              </a:rPr>
              <a:t>, </a:t>
            </a:r>
            <a:r>
              <a:rPr lang="en-US" dirty="0" err="1">
                <a:latin typeface="Cambria" panose="02040503050406030204" pitchFamily="18" charset="0"/>
              </a:rPr>
              <a:t>chạy</a:t>
            </a:r>
            <a:r>
              <a:rPr lang="en-US" dirty="0">
                <a:latin typeface="Cambria" panose="02040503050406030204" pitchFamily="18" charset="0"/>
              </a:rPr>
              <a:t> </a:t>
            </a:r>
            <a:r>
              <a:rPr lang="en-US" dirty="0" err="1">
                <a:latin typeface="Cambria" panose="02040503050406030204" pitchFamily="18" charset="0"/>
              </a:rPr>
              <a:t>Adwords</a:t>
            </a:r>
            <a:r>
              <a:rPr lang="en-US" dirty="0">
                <a:latin typeface="Cambria" panose="02040503050406030204" pitchFamily="18" charset="0"/>
              </a:rPr>
              <a:t>, hay chi </a:t>
            </a:r>
            <a:r>
              <a:rPr lang="en-US" dirty="0" err="1">
                <a:latin typeface="Cambria" panose="02040503050406030204" pitchFamily="18" charset="0"/>
              </a:rPr>
              <a:t>phí</a:t>
            </a:r>
            <a:r>
              <a:rPr lang="en-US" dirty="0">
                <a:latin typeface="Cambria" panose="02040503050406030204" pitchFamily="18" charset="0"/>
              </a:rPr>
              <a:t> marketing online </a:t>
            </a:r>
            <a:r>
              <a:rPr lang="en-US" dirty="0" err="1">
                <a:latin typeface="Cambria" panose="02040503050406030204" pitchFamily="18" charset="0"/>
              </a:rPr>
              <a:t>khác</a:t>
            </a:r>
            <a:r>
              <a:rPr lang="en-US" dirty="0">
                <a:latin typeface="Cambria" panose="02040503050406030204" pitchFamily="18" charset="0"/>
              </a:rPr>
              <a:t>.</a:t>
            </a:r>
            <a:endParaRPr lang="en-US" dirty="0">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29140389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latin typeface="Cambria" panose="02040503050406030204" pitchFamily="18" charset="0"/>
              </a:rPr>
              <a:t>Vì</a:t>
            </a:r>
            <a:r>
              <a:rPr lang="en-US" dirty="0">
                <a:latin typeface="Cambria" panose="02040503050406030204" pitchFamily="18" charset="0"/>
              </a:rPr>
              <a:t> ROI </a:t>
            </a:r>
            <a:r>
              <a:rPr lang="en-US" dirty="0" err="1">
                <a:latin typeface="Cambria" panose="02040503050406030204" pitchFamily="18" charset="0"/>
              </a:rPr>
              <a:t>dựa</a:t>
            </a:r>
            <a:r>
              <a:rPr lang="en-US" dirty="0">
                <a:latin typeface="Cambria" panose="02040503050406030204" pitchFamily="18" charset="0"/>
              </a:rPr>
              <a:t> </a:t>
            </a:r>
            <a:r>
              <a:rPr lang="en-US" dirty="0" err="1">
                <a:latin typeface="Cambria" panose="02040503050406030204" pitchFamily="18" charset="0"/>
              </a:rPr>
              <a:t>vào</a:t>
            </a:r>
            <a:r>
              <a:rPr lang="en-US" dirty="0">
                <a:latin typeface="Cambria" panose="02040503050406030204" pitchFamily="18" charset="0"/>
              </a:rPr>
              <a:t> </a:t>
            </a:r>
            <a:r>
              <a:rPr lang="en-US" dirty="0" err="1">
                <a:latin typeface="Cambria" panose="02040503050406030204" pitchFamily="18" charset="0"/>
              </a:rPr>
              <a:t>các</a:t>
            </a:r>
            <a:r>
              <a:rPr lang="en-US" dirty="0">
                <a:latin typeface="Cambria" panose="02040503050406030204" pitchFamily="18" charset="0"/>
              </a:rPr>
              <a:t> </a:t>
            </a:r>
            <a:r>
              <a:rPr lang="en-US" dirty="0" err="1">
                <a:latin typeface="Cambria" panose="02040503050406030204" pitchFamily="18" charset="0"/>
              </a:rPr>
              <a:t>chỉ</a:t>
            </a:r>
            <a:r>
              <a:rPr lang="en-US" dirty="0">
                <a:latin typeface="Cambria" panose="02040503050406030204" pitchFamily="18" charset="0"/>
              </a:rPr>
              <a:t> </a:t>
            </a:r>
            <a:r>
              <a:rPr lang="en-US" dirty="0" err="1">
                <a:latin typeface="Cambria" panose="02040503050406030204" pitchFamily="18" charset="0"/>
              </a:rPr>
              <a:t>số</a:t>
            </a:r>
            <a:r>
              <a:rPr lang="en-US" dirty="0">
                <a:latin typeface="Cambria" panose="02040503050406030204" pitchFamily="18" charset="0"/>
              </a:rPr>
              <a:t> </a:t>
            </a:r>
            <a:r>
              <a:rPr lang="en-US" dirty="0" err="1">
                <a:latin typeface="Cambria" panose="02040503050406030204" pitchFamily="18" charset="0"/>
              </a:rPr>
              <a:t>cụ</a:t>
            </a:r>
            <a:r>
              <a:rPr lang="en-US" dirty="0">
                <a:latin typeface="Cambria" panose="02040503050406030204" pitchFamily="18" charset="0"/>
              </a:rPr>
              <a:t> </a:t>
            </a:r>
            <a:r>
              <a:rPr lang="en-US" dirty="0" err="1">
                <a:latin typeface="Cambria" panose="02040503050406030204" pitchFamily="18" charset="0"/>
              </a:rPr>
              <a:t>thể</a:t>
            </a:r>
            <a:r>
              <a:rPr lang="en-US" dirty="0">
                <a:latin typeface="Cambria" panose="02040503050406030204" pitchFamily="18" charset="0"/>
              </a:rPr>
              <a:t>, </a:t>
            </a:r>
            <a:r>
              <a:rPr lang="en-US" dirty="0" err="1">
                <a:latin typeface="Cambria" panose="02040503050406030204" pitchFamily="18" charset="0"/>
              </a:rPr>
              <a:t>nên</a:t>
            </a:r>
            <a:r>
              <a:rPr lang="en-US" dirty="0">
                <a:latin typeface="Cambria" panose="02040503050406030204" pitchFamily="18" charset="0"/>
              </a:rPr>
              <a:t> </a:t>
            </a:r>
            <a:r>
              <a:rPr lang="en-US" dirty="0" err="1">
                <a:latin typeface="Cambria" panose="02040503050406030204" pitchFamily="18" charset="0"/>
              </a:rPr>
              <a:t>nó</a:t>
            </a:r>
            <a:r>
              <a:rPr lang="en-US" dirty="0">
                <a:latin typeface="Cambria" panose="02040503050406030204" pitchFamily="18" charset="0"/>
              </a:rPr>
              <a:t> </a:t>
            </a:r>
            <a:r>
              <a:rPr lang="en-US" dirty="0" err="1">
                <a:latin typeface="Cambria" panose="02040503050406030204" pitchFamily="18" charset="0"/>
              </a:rPr>
              <a:t>cũng</a:t>
            </a:r>
            <a:r>
              <a:rPr lang="en-US" dirty="0">
                <a:latin typeface="Cambria" panose="02040503050406030204" pitchFamily="18" charset="0"/>
              </a:rPr>
              <a:t> </a:t>
            </a:r>
            <a:r>
              <a:rPr lang="en-US" dirty="0" err="1">
                <a:latin typeface="Cambria" panose="02040503050406030204" pitchFamily="18" charset="0"/>
              </a:rPr>
              <a:t>là</a:t>
            </a:r>
            <a:r>
              <a:rPr lang="en-US" dirty="0">
                <a:latin typeface="Cambria" panose="02040503050406030204" pitchFamily="18" charset="0"/>
              </a:rPr>
              <a:t> </a:t>
            </a:r>
            <a:r>
              <a:rPr lang="en-US" dirty="0" err="1">
                <a:latin typeface="Cambria" panose="02040503050406030204" pitchFamily="18" charset="0"/>
              </a:rPr>
              <a:t>một</a:t>
            </a:r>
            <a:r>
              <a:rPr lang="en-US" dirty="0">
                <a:latin typeface="Cambria" panose="02040503050406030204" pitchFamily="18" charset="0"/>
              </a:rPr>
              <a:t> </a:t>
            </a:r>
            <a:r>
              <a:rPr lang="en-US" dirty="0" err="1">
                <a:latin typeface="Cambria" panose="02040503050406030204" pitchFamily="18" charset="0"/>
              </a:rPr>
              <a:t>thước</a:t>
            </a:r>
            <a:r>
              <a:rPr lang="en-US" dirty="0">
                <a:latin typeface="Cambria" panose="02040503050406030204" pitchFamily="18" charset="0"/>
              </a:rPr>
              <a:t> </a:t>
            </a:r>
            <a:r>
              <a:rPr lang="en-US" dirty="0" err="1">
                <a:latin typeface="Cambria" panose="02040503050406030204" pitchFamily="18" charset="0"/>
              </a:rPr>
              <a:t>đo</a:t>
            </a:r>
            <a:r>
              <a:rPr lang="en-US" dirty="0">
                <a:latin typeface="Cambria" panose="02040503050406030204" pitchFamily="18" charset="0"/>
              </a:rPr>
              <a:t> </a:t>
            </a:r>
            <a:r>
              <a:rPr lang="en-US" dirty="0" err="1">
                <a:latin typeface="Cambria" panose="02040503050406030204" pitchFamily="18" charset="0"/>
              </a:rPr>
              <a:t>rất</a:t>
            </a:r>
            <a:r>
              <a:rPr lang="en-US" dirty="0">
                <a:latin typeface="Cambria" panose="02040503050406030204" pitchFamily="18" charset="0"/>
              </a:rPr>
              <a:t> </a:t>
            </a:r>
            <a:r>
              <a:rPr lang="en-US" dirty="0" err="1">
                <a:latin typeface="Cambria" panose="02040503050406030204" pitchFamily="18" charset="0"/>
              </a:rPr>
              <a:t>cụ</a:t>
            </a:r>
            <a:r>
              <a:rPr lang="en-US" dirty="0">
                <a:latin typeface="Cambria" panose="02040503050406030204" pitchFamily="18" charset="0"/>
              </a:rPr>
              <a:t> </a:t>
            </a:r>
            <a:r>
              <a:rPr lang="en-US" dirty="0" err="1">
                <a:latin typeface="Cambria" panose="02040503050406030204" pitchFamily="18" charset="0"/>
              </a:rPr>
              <a:t>thể</a:t>
            </a:r>
            <a:r>
              <a:rPr lang="en-US" dirty="0">
                <a:latin typeface="Cambria" panose="02040503050406030204" pitchFamily="18" charset="0"/>
              </a:rPr>
              <a:t>:</a:t>
            </a:r>
          </a:p>
          <a:p>
            <a:r>
              <a:rPr lang="en-US" dirty="0">
                <a:latin typeface="Cambria" panose="02040503050406030204" pitchFamily="18" charset="0"/>
              </a:rPr>
              <a:t>ROI = (</a:t>
            </a:r>
            <a:r>
              <a:rPr lang="en-US" dirty="0" err="1">
                <a:latin typeface="Cambria" panose="02040503050406030204" pitchFamily="18" charset="0"/>
              </a:rPr>
              <a:t>Doanh</a:t>
            </a:r>
            <a:r>
              <a:rPr lang="en-US" dirty="0">
                <a:latin typeface="Cambria" panose="02040503050406030204" pitchFamily="18" charset="0"/>
              </a:rPr>
              <a:t> </a:t>
            </a:r>
            <a:r>
              <a:rPr lang="en-US" dirty="0" err="1">
                <a:latin typeface="Cambria" panose="02040503050406030204" pitchFamily="18" charset="0"/>
              </a:rPr>
              <a:t>thu</a:t>
            </a:r>
            <a:r>
              <a:rPr lang="en-US" dirty="0">
                <a:latin typeface="Cambria" panose="02040503050406030204" pitchFamily="18" charset="0"/>
              </a:rPr>
              <a:t> – Chi </a:t>
            </a:r>
            <a:r>
              <a:rPr lang="en-US" dirty="0" err="1">
                <a:latin typeface="Cambria" panose="02040503050406030204" pitchFamily="18" charset="0"/>
              </a:rPr>
              <a:t>phí</a:t>
            </a:r>
            <a:r>
              <a:rPr lang="en-US" dirty="0">
                <a:latin typeface="Cambria" panose="02040503050406030204" pitchFamily="18" charset="0"/>
              </a:rPr>
              <a:t>)/Chi </a:t>
            </a:r>
            <a:r>
              <a:rPr lang="en-US" dirty="0" err="1">
                <a:latin typeface="Cambria" panose="02040503050406030204" pitchFamily="18" charset="0"/>
              </a:rPr>
              <a:t>phí</a:t>
            </a:r>
            <a:endParaRPr lang="en-US" dirty="0">
              <a:latin typeface="Cambria" panose="02040503050406030204" pitchFamily="18" charset="0"/>
            </a:endParaRPr>
          </a:p>
          <a:p>
            <a:r>
              <a:rPr lang="en-US" dirty="0" err="1">
                <a:latin typeface="Cambria" panose="02040503050406030204" pitchFamily="18" charset="0"/>
              </a:rPr>
              <a:t>Viết</a:t>
            </a:r>
            <a:r>
              <a:rPr lang="en-US" dirty="0">
                <a:latin typeface="Cambria" panose="02040503050406030204" pitchFamily="18" charset="0"/>
              </a:rPr>
              <a:t> </a:t>
            </a:r>
            <a:r>
              <a:rPr lang="en-US" dirty="0" err="1">
                <a:latin typeface="Cambria" panose="02040503050406030204" pitchFamily="18" charset="0"/>
              </a:rPr>
              <a:t>chương</a:t>
            </a:r>
            <a:r>
              <a:rPr lang="en-US" dirty="0">
                <a:latin typeface="Cambria" panose="02040503050406030204" pitchFamily="18" charset="0"/>
              </a:rPr>
              <a:t> </a:t>
            </a:r>
            <a:r>
              <a:rPr lang="en-US" dirty="0" err="1">
                <a:latin typeface="Cambria" panose="02040503050406030204" pitchFamily="18" charset="0"/>
              </a:rPr>
              <a:t>trình</a:t>
            </a:r>
            <a:r>
              <a:rPr lang="en-US" dirty="0">
                <a:latin typeface="Cambria" panose="02040503050406030204" pitchFamily="18" charset="0"/>
              </a:rPr>
              <a:t> </a:t>
            </a:r>
            <a:r>
              <a:rPr lang="en-US" dirty="0" err="1">
                <a:latin typeface="Cambria" panose="02040503050406030204" pitchFamily="18" charset="0"/>
              </a:rPr>
              <a:t>cho</a:t>
            </a:r>
            <a:r>
              <a:rPr lang="en-US" dirty="0">
                <a:latin typeface="Cambria" panose="02040503050406030204" pitchFamily="18" charset="0"/>
              </a:rPr>
              <a:t> </a:t>
            </a:r>
            <a:r>
              <a:rPr lang="en-US" dirty="0" err="1">
                <a:latin typeface="Cambria" panose="02040503050406030204" pitchFamily="18" charset="0"/>
              </a:rPr>
              <a:t>phép</a:t>
            </a:r>
            <a:r>
              <a:rPr lang="en-US" dirty="0">
                <a:latin typeface="Cambria" panose="02040503050406030204" pitchFamily="18" charset="0"/>
              </a:rPr>
              <a:t> </a:t>
            </a:r>
            <a:r>
              <a:rPr lang="en-US" dirty="0" err="1">
                <a:latin typeface="Cambria" panose="02040503050406030204" pitchFamily="18" charset="0"/>
              </a:rPr>
              <a:t>người</a:t>
            </a:r>
            <a:r>
              <a:rPr lang="en-US" dirty="0">
                <a:latin typeface="Cambria" panose="02040503050406030204" pitchFamily="18" charset="0"/>
              </a:rPr>
              <a:t> </a:t>
            </a:r>
            <a:r>
              <a:rPr lang="en-US" dirty="0" err="1">
                <a:latin typeface="Cambria" panose="02040503050406030204" pitchFamily="18" charset="0"/>
              </a:rPr>
              <a:t>dùng</a:t>
            </a:r>
            <a:r>
              <a:rPr lang="en-US" dirty="0">
                <a:latin typeface="Cambria" panose="02040503050406030204" pitchFamily="18" charset="0"/>
              </a:rPr>
              <a:t> </a:t>
            </a:r>
            <a:r>
              <a:rPr lang="en-US" dirty="0" err="1">
                <a:latin typeface="Cambria" panose="02040503050406030204" pitchFamily="18" charset="0"/>
              </a:rPr>
              <a:t>nhập</a:t>
            </a:r>
            <a:r>
              <a:rPr lang="en-US" dirty="0">
                <a:latin typeface="Cambria" panose="02040503050406030204" pitchFamily="18" charset="0"/>
              </a:rPr>
              <a:t> </a:t>
            </a:r>
            <a:r>
              <a:rPr lang="en-US" dirty="0" err="1">
                <a:latin typeface="Cambria" panose="02040503050406030204" pitchFamily="18" charset="0"/>
              </a:rPr>
              <a:t>vào</a:t>
            </a:r>
            <a:r>
              <a:rPr lang="en-US" dirty="0">
                <a:latin typeface="Cambria" panose="02040503050406030204" pitchFamily="18" charset="0"/>
              </a:rPr>
              <a:t> </a:t>
            </a:r>
            <a:r>
              <a:rPr lang="en-US" dirty="0" err="1">
                <a:latin typeface="Cambria" panose="02040503050406030204" pitchFamily="18" charset="0"/>
              </a:rPr>
              <a:t>Doanh</a:t>
            </a:r>
            <a:r>
              <a:rPr lang="en-US" dirty="0">
                <a:latin typeface="Cambria" panose="02040503050406030204" pitchFamily="18" charset="0"/>
              </a:rPr>
              <a:t> </a:t>
            </a:r>
            <a:r>
              <a:rPr lang="en-US" dirty="0" err="1">
                <a:latin typeface="Cambria" panose="02040503050406030204" pitchFamily="18" charset="0"/>
              </a:rPr>
              <a:t>thu</a:t>
            </a:r>
            <a:r>
              <a:rPr lang="en-US" dirty="0">
                <a:latin typeface="Cambria" panose="02040503050406030204" pitchFamily="18" charset="0"/>
              </a:rPr>
              <a:t> </a:t>
            </a:r>
            <a:r>
              <a:rPr lang="en-US" dirty="0" err="1">
                <a:latin typeface="Cambria" panose="02040503050406030204" pitchFamily="18" charset="0"/>
              </a:rPr>
              <a:t>và</a:t>
            </a:r>
            <a:r>
              <a:rPr lang="en-US" dirty="0">
                <a:latin typeface="Cambria" panose="02040503050406030204" pitchFamily="18" charset="0"/>
              </a:rPr>
              <a:t> Chi </a:t>
            </a:r>
            <a:r>
              <a:rPr lang="en-US" dirty="0" err="1">
                <a:latin typeface="Cambria" panose="02040503050406030204" pitchFamily="18" charset="0"/>
              </a:rPr>
              <a:t>phí</a:t>
            </a:r>
            <a:r>
              <a:rPr lang="en-US" dirty="0">
                <a:latin typeface="Cambria" panose="02040503050406030204" pitchFamily="18" charset="0"/>
              </a:rPr>
              <a:t> </a:t>
            </a:r>
            <a:r>
              <a:rPr lang="en-US" dirty="0" err="1">
                <a:latin typeface="Cambria" panose="02040503050406030204" pitchFamily="18" charset="0"/>
              </a:rPr>
              <a:t>và</a:t>
            </a:r>
            <a:r>
              <a:rPr lang="en-US" dirty="0">
                <a:latin typeface="Cambria" panose="02040503050406030204" pitchFamily="18" charset="0"/>
              </a:rPr>
              <a:t> </a:t>
            </a:r>
            <a:r>
              <a:rPr lang="en-US" dirty="0" err="1">
                <a:latin typeface="Cambria" panose="02040503050406030204" pitchFamily="18" charset="0"/>
              </a:rPr>
              <a:t>xuất</a:t>
            </a:r>
            <a:r>
              <a:rPr lang="en-US" dirty="0">
                <a:latin typeface="Cambria" panose="02040503050406030204" pitchFamily="18" charset="0"/>
              </a:rPr>
              <a:t> </a:t>
            </a:r>
            <a:r>
              <a:rPr lang="en-US" dirty="0" err="1">
                <a:latin typeface="Cambria" panose="02040503050406030204" pitchFamily="18" charset="0"/>
              </a:rPr>
              <a:t>ra</a:t>
            </a:r>
            <a:r>
              <a:rPr lang="en-US" dirty="0">
                <a:latin typeface="Cambria" panose="02040503050406030204" pitchFamily="18" charset="0"/>
              </a:rPr>
              <a:t> </a:t>
            </a:r>
            <a:r>
              <a:rPr lang="en-US" dirty="0" err="1">
                <a:latin typeface="Cambria" panose="02040503050406030204" pitchFamily="18" charset="0"/>
              </a:rPr>
              <a:t>tỉ</a:t>
            </a:r>
            <a:r>
              <a:rPr lang="en-US" dirty="0">
                <a:latin typeface="Cambria" panose="02040503050406030204" pitchFamily="18" charset="0"/>
              </a:rPr>
              <a:t> </a:t>
            </a:r>
            <a:r>
              <a:rPr lang="en-US" dirty="0" err="1">
                <a:latin typeface="Cambria" panose="02040503050406030204" pitchFamily="18" charset="0"/>
              </a:rPr>
              <a:t>lệ</a:t>
            </a:r>
            <a:r>
              <a:rPr lang="en-US" dirty="0">
                <a:latin typeface="Cambria" panose="02040503050406030204" pitchFamily="18" charset="0"/>
              </a:rPr>
              <a:t> ROI </a:t>
            </a:r>
            <a:r>
              <a:rPr lang="en-US" dirty="0" err="1">
                <a:latin typeface="Cambria" panose="02040503050406030204" pitchFamily="18" charset="0"/>
              </a:rPr>
              <a:t>cho</a:t>
            </a:r>
            <a:r>
              <a:rPr lang="en-US" dirty="0">
                <a:latin typeface="Cambria" panose="02040503050406030204" pitchFamily="18" charset="0"/>
              </a:rPr>
              <a:t> </a:t>
            </a:r>
            <a:r>
              <a:rPr lang="en-US" dirty="0" err="1">
                <a:latin typeface="Cambria" panose="02040503050406030204" pitchFamily="18" charset="0"/>
              </a:rPr>
              <a:t>người</a:t>
            </a:r>
            <a:r>
              <a:rPr lang="en-US" dirty="0">
                <a:latin typeface="Cambria" panose="02040503050406030204" pitchFamily="18" charset="0"/>
              </a:rPr>
              <a:t> </a:t>
            </a:r>
            <a:r>
              <a:rPr lang="en-US" dirty="0" err="1">
                <a:latin typeface="Cambria" panose="02040503050406030204" pitchFamily="18" charset="0"/>
              </a:rPr>
              <a:t>dùng</a:t>
            </a:r>
            <a:r>
              <a:rPr lang="en-US" dirty="0">
                <a:latin typeface="Cambria" panose="02040503050406030204" pitchFamily="18" charset="0"/>
              </a:rPr>
              <a:t>, </a:t>
            </a:r>
            <a:r>
              <a:rPr lang="en-US" dirty="0" err="1">
                <a:latin typeface="Cambria" panose="02040503050406030204" pitchFamily="18" charset="0"/>
              </a:rPr>
              <a:t>đồng</a:t>
            </a:r>
            <a:r>
              <a:rPr lang="en-US" dirty="0">
                <a:latin typeface="Cambria" panose="02040503050406030204" pitchFamily="18" charset="0"/>
              </a:rPr>
              <a:t> </a:t>
            </a:r>
            <a:r>
              <a:rPr lang="en-US" dirty="0" err="1">
                <a:latin typeface="Cambria" panose="02040503050406030204" pitchFamily="18" charset="0"/>
              </a:rPr>
              <a:t>thời</a:t>
            </a:r>
            <a:r>
              <a:rPr lang="en-US" dirty="0">
                <a:latin typeface="Cambria" panose="02040503050406030204" pitchFamily="18" charset="0"/>
              </a:rPr>
              <a:t> </a:t>
            </a:r>
            <a:r>
              <a:rPr lang="en-US" dirty="0" err="1">
                <a:latin typeface="Cambria" panose="02040503050406030204" pitchFamily="18" charset="0"/>
              </a:rPr>
              <a:t>hãy</a:t>
            </a:r>
            <a:r>
              <a:rPr lang="en-US" dirty="0">
                <a:latin typeface="Cambria" panose="02040503050406030204" pitchFamily="18" charset="0"/>
              </a:rPr>
              <a:t> </a:t>
            </a:r>
            <a:r>
              <a:rPr lang="en-US" dirty="0" err="1">
                <a:latin typeface="Cambria" panose="02040503050406030204" pitchFamily="18" charset="0"/>
              </a:rPr>
              <a:t>cho</a:t>
            </a:r>
            <a:r>
              <a:rPr lang="en-US" dirty="0">
                <a:latin typeface="Cambria" panose="02040503050406030204" pitchFamily="18" charset="0"/>
              </a:rPr>
              <a:t> </a:t>
            </a:r>
            <a:r>
              <a:rPr lang="en-US" dirty="0" err="1">
                <a:latin typeface="Cambria" panose="02040503050406030204" pitchFamily="18" charset="0"/>
              </a:rPr>
              <a:t>biết</a:t>
            </a:r>
            <a:r>
              <a:rPr lang="en-US" dirty="0">
                <a:latin typeface="Cambria" panose="02040503050406030204" pitchFamily="18" charset="0"/>
              </a:rPr>
              <a:t> </a:t>
            </a:r>
            <a:r>
              <a:rPr lang="en-US" dirty="0" err="1">
                <a:latin typeface="Cambria" panose="02040503050406030204" pitchFamily="18" charset="0"/>
              </a:rPr>
              <a:t>nên</a:t>
            </a:r>
            <a:r>
              <a:rPr lang="en-US" dirty="0">
                <a:latin typeface="Cambria" panose="02040503050406030204" pitchFamily="18" charset="0"/>
              </a:rPr>
              <a:t> hay </a:t>
            </a:r>
            <a:r>
              <a:rPr lang="en-US" dirty="0" err="1">
                <a:latin typeface="Cambria" panose="02040503050406030204" pitchFamily="18" charset="0"/>
              </a:rPr>
              <a:t>không</a:t>
            </a:r>
            <a:r>
              <a:rPr lang="en-US" dirty="0">
                <a:latin typeface="Cambria" panose="02040503050406030204" pitchFamily="18" charset="0"/>
              </a:rPr>
              <a:t> </a:t>
            </a:r>
            <a:r>
              <a:rPr lang="en-US" dirty="0" err="1">
                <a:latin typeface="Cambria" panose="02040503050406030204" pitchFamily="18" charset="0"/>
              </a:rPr>
              <a:t>nên</a:t>
            </a:r>
            <a:r>
              <a:rPr lang="en-US" dirty="0">
                <a:latin typeface="Cambria" panose="02040503050406030204" pitchFamily="18" charset="0"/>
              </a:rPr>
              <a:t> </a:t>
            </a:r>
            <a:r>
              <a:rPr lang="en-US" dirty="0" err="1">
                <a:latin typeface="Cambria" panose="02040503050406030204" pitchFamily="18" charset="0"/>
              </a:rPr>
              <a:t>đầu</a:t>
            </a:r>
            <a:r>
              <a:rPr lang="en-US" dirty="0">
                <a:latin typeface="Cambria" panose="02040503050406030204" pitchFamily="18" charset="0"/>
              </a:rPr>
              <a:t> </a:t>
            </a:r>
            <a:r>
              <a:rPr lang="en-US" dirty="0" err="1">
                <a:latin typeface="Cambria" panose="02040503050406030204" pitchFamily="18" charset="0"/>
              </a:rPr>
              <a:t>tư</a:t>
            </a:r>
            <a:r>
              <a:rPr lang="en-US" dirty="0">
                <a:latin typeface="Cambria" panose="02040503050406030204" pitchFamily="18" charset="0"/>
              </a:rPr>
              <a:t> </a:t>
            </a:r>
            <a:r>
              <a:rPr lang="en-US" dirty="0" err="1">
                <a:latin typeface="Cambria" panose="02040503050406030204" pitchFamily="18" charset="0"/>
              </a:rPr>
              <a:t>dự</a:t>
            </a:r>
            <a:r>
              <a:rPr lang="en-US" dirty="0">
                <a:latin typeface="Cambria" panose="02040503050406030204" pitchFamily="18" charset="0"/>
              </a:rPr>
              <a:t> </a:t>
            </a:r>
            <a:r>
              <a:rPr lang="en-US" dirty="0" err="1">
                <a:latin typeface="Cambria" panose="02040503050406030204" pitchFamily="18" charset="0"/>
              </a:rPr>
              <a:t>án</a:t>
            </a:r>
            <a:r>
              <a:rPr lang="en-US" dirty="0">
                <a:latin typeface="Cambria" panose="02040503050406030204" pitchFamily="18" charset="0"/>
              </a:rPr>
              <a:t> </a:t>
            </a:r>
            <a:r>
              <a:rPr lang="en-US" dirty="0" err="1">
                <a:latin typeface="Cambria" panose="02040503050406030204" pitchFamily="18" charset="0"/>
              </a:rPr>
              <a:t>khi</a:t>
            </a:r>
            <a:r>
              <a:rPr lang="en-US" dirty="0">
                <a:latin typeface="Cambria" panose="02040503050406030204" pitchFamily="18" charset="0"/>
              </a:rPr>
              <a:t> </a:t>
            </a:r>
            <a:r>
              <a:rPr lang="en-US" dirty="0" err="1">
                <a:latin typeface="Cambria" panose="02040503050406030204" pitchFamily="18" charset="0"/>
              </a:rPr>
              <a:t>biết</a:t>
            </a:r>
            <a:r>
              <a:rPr lang="en-US" dirty="0">
                <a:latin typeface="Cambria" panose="02040503050406030204" pitchFamily="18" charset="0"/>
              </a:rPr>
              <a:t> ROI (</a:t>
            </a:r>
            <a:r>
              <a:rPr lang="en-US" dirty="0" err="1">
                <a:latin typeface="Cambria" panose="02040503050406030204" pitchFamily="18" charset="0"/>
              </a:rPr>
              <a:t>giả</a:t>
            </a:r>
            <a:r>
              <a:rPr lang="en-US" dirty="0">
                <a:latin typeface="Cambria" panose="02040503050406030204" pitchFamily="18" charset="0"/>
              </a:rPr>
              <a:t> </a:t>
            </a:r>
            <a:r>
              <a:rPr lang="en-US" dirty="0" err="1">
                <a:latin typeface="Cambria" panose="02040503050406030204" pitchFamily="18" charset="0"/>
              </a:rPr>
              <a:t>sử</a:t>
            </a:r>
            <a:r>
              <a:rPr lang="en-US" dirty="0">
                <a:latin typeface="Cambria" panose="02040503050406030204" pitchFamily="18" charset="0"/>
              </a:rPr>
              <a:t> </a:t>
            </a:r>
            <a:r>
              <a:rPr lang="en-US" dirty="0" err="1">
                <a:latin typeface="Cambria" panose="02040503050406030204" pitchFamily="18" charset="0"/>
              </a:rPr>
              <a:t>mức</a:t>
            </a:r>
            <a:r>
              <a:rPr lang="en-US" dirty="0">
                <a:latin typeface="Cambria" panose="02040503050406030204" pitchFamily="18" charset="0"/>
              </a:rPr>
              <a:t> </a:t>
            </a:r>
            <a:r>
              <a:rPr lang="en-US" dirty="0" err="1">
                <a:latin typeface="Cambria" panose="02040503050406030204" pitchFamily="18" charset="0"/>
              </a:rPr>
              <a:t>tổi</a:t>
            </a:r>
            <a:r>
              <a:rPr lang="en-US" dirty="0">
                <a:latin typeface="Cambria" panose="02040503050406030204" pitchFamily="18" charset="0"/>
              </a:rPr>
              <a:t> </a:t>
            </a:r>
            <a:r>
              <a:rPr lang="en-US" dirty="0" err="1">
                <a:latin typeface="Cambria" panose="02040503050406030204" pitchFamily="18" charset="0"/>
              </a:rPr>
              <a:t>thiểu</a:t>
            </a:r>
            <a:r>
              <a:rPr lang="en-US" dirty="0">
                <a:latin typeface="Cambria" panose="02040503050406030204" pitchFamily="18" charset="0"/>
              </a:rPr>
              <a:t> ROI =0.75 </a:t>
            </a:r>
            <a:r>
              <a:rPr lang="en-US" dirty="0" err="1">
                <a:latin typeface="Cambria" panose="02040503050406030204" pitchFamily="18" charset="0"/>
              </a:rPr>
              <a:t>thì</a:t>
            </a:r>
            <a:r>
              <a:rPr lang="en-US" dirty="0">
                <a:latin typeface="Cambria" panose="02040503050406030204" pitchFamily="18" charset="0"/>
              </a:rPr>
              <a:t> </a:t>
            </a:r>
            <a:r>
              <a:rPr lang="en-US" dirty="0" err="1">
                <a:latin typeface="Cambria" panose="02040503050406030204" pitchFamily="18" charset="0"/>
              </a:rPr>
              <a:t>mới</a:t>
            </a:r>
            <a:r>
              <a:rPr lang="en-US" dirty="0">
                <a:latin typeface="Cambria" panose="02040503050406030204" pitchFamily="18" charset="0"/>
              </a:rPr>
              <a:t> </a:t>
            </a:r>
            <a:r>
              <a:rPr lang="en-US" dirty="0" err="1">
                <a:latin typeface="Cambria" panose="02040503050406030204" pitchFamily="18" charset="0"/>
              </a:rPr>
              <a:t>đầu</a:t>
            </a:r>
            <a:r>
              <a:rPr lang="en-US" dirty="0">
                <a:latin typeface="Cambria" panose="02040503050406030204" pitchFamily="18" charset="0"/>
              </a:rPr>
              <a:t> </a:t>
            </a:r>
            <a:r>
              <a:rPr lang="en-US" dirty="0" err="1">
                <a:latin typeface="Cambria" panose="02040503050406030204" pitchFamily="18" charset="0"/>
              </a:rPr>
              <a:t>tư</a:t>
            </a:r>
            <a:r>
              <a:rPr lang="en-US" dirty="0">
                <a:latin typeface="Cambria" panose="02040503050406030204" pitchFamily="18" charset="0"/>
              </a:rPr>
              <a:t>).</a:t>
            </a:r>
          </a:p>
          <a:p>
            <a:pPr marL="0" indent="0" algn="just">
              <a:buNone/>
            </a:pPr>
            <a:endParaRPr lang="en-US" dirty="0">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15422580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Viết hàm đệ qui Fibonacci</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48</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08838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latin typeface="Cambria" panose="02040503050406030204" pitchFamily="18" charset="0"/>
              </a:rPr>
              <a:t>Dãy</a:t>
            </a:r>
            <a:r>
              <a:rPr lang="en-US" dirty="0">
                <a:latin typeface="Cambria" panose="02040503050406030204" pitchFamily="18" charset="0"/>
              </a:rPr>
              <a:t> </a:t>
            </a:r>
            <a:r>
              <a:rPr lang="en-US" dirty="0" err="1">
                <a:latin typeface="Cambria" panose="02040503050406030204" pitchFamily="18" charset="0"/>
              </a:rPr>
              <a:t>Số</a:t>
            </a:r>
            <a:r>
              <a:rPr lang="en-US" dirty="0">
                <a:latin typeface="Cambria" panose="02040503050406030204" pitchFamily="18" charset="0"/>
              </a:rPr>
              <a:t> Fibonacci </a:t>
            </a:r>
            <a:r>
              <a:rPr lang="en-US" dirty="0" err="1">
                <a:latin typeface="Cambria" panose="02040503050406030204" pitchFamily="18" charset="0"/>
              </a:rPr>
              <a:t>là</a:t>
            </a:r>
            <a:r>
              <a:rPr lang="en-US" dirty="0">
                <a:latin typeface="Cambria" panose="02040503050406030204" pitchFamily="18" charset="0"/>
              </a:rPr>
              <a:t> </a:t>
            </a:r>
            <a:r>
              <a:rPr lang="en-US" dirty="0" err="1">
                <a:latin typeface="Cambria" panose="02040503050406030204" pitchFamily="18" charset="0"/>
              </a:rPr>
              <a:t>dãy</a:t>
            </a:r>
            <a:r>
              <a:rPr lang="en-US" dirty="0">
                <a:latin typeface="Cambria" panose="02040503050406030204" pitchFamily="18" charset="0"/>
              </a:rPr>
              <a:t> </a:t>
            </a:r>
            <a:r>
              <a:rPr lang="en-US" dirty="0" err="1">
                <a:latin typeface="Cambria" panose="02040503050406030204" pitchFamily="18" charset="0"/>
              </a:rPr>
              <a:t>số</a:t>
            </a:r>
            <a:r>
              <a:rPr lang="en-US" dirty="0">
                <a:latin typeface="Cambria" panose="02040503050406030204" pitchFamily="18" charset="0"/>
              </a:rPr>
              <a:t> </a:t>
            </a:r>
            <a:r>
              <a:rPr lang="en-US" dirty="0" err="1">
                <a:latin typeface="Cambria" panose="02040503050406030204" pitchFamily="18" charset="0"/>
              </a:rPr>
              <a:t>có</a:t>
            </a:r>
            <a:r>
              <a:rPr lang="en-US" dirty="0">
                <a:latin typeface="Cambria" panose="02040503050406030204" pitchFamily="18" charset="0"/>
              </a:rPr>
              <a:t> </a:t>
            </a:r>
            <a:r>
              <a:rPr lang="en-US" dirty="0" err="1">
                <a:latin typeface="Cambria" panose="02040503050406030204" pitchFamily="18" charset="0"/>
              </a:rPr>
              <a:t>dạng</a:t>
            </a:r>
            <a:r>
              <a:rPr lang="en-US" dirty="0">
                <a:latin typeface="Cambria" panose="02040503050406030204" pitchFamily="18" charset="0"/>
              </a:rPr>
              <a:t>:</a:t>
            </a:r>
          </a:p>
          <a:p>
            <a:r>
              <a:rPr lang="en-US" dirty="0">
                <a:latin typeface="Cambria" panose="02040503050406030204" pitchFamily="18" charset="0"/>
                <a:cs typeface="Times New Roman" pitchFamily="18" charset="0"/>
              </a:rPr>
              <a:t>1</a:t>
            </a:r>
            <a:r>
              <a:rPr lang="en-US" dirty="0">
                <a:latin typeface="Cambria" panose="02040503050406030204" pitchFamily="18" charset="0"/>
                <a:cs typeface="Times New Roman" pitchFamily="18" charset="0"/>
                <a:sym typeface="Wingdings" panose="05000000000000000000" pitchFamily="2" charset="2"/>
              </a:rPr>
              <a:t>123581321345589…</a:t>
            </a:r>
          </a:p>
          <a:p>
            <a:r>
              <a:rPr lang="en-US" dirty="0" err="1">
                <a:latin typeface="Cambria" panose="02040503050406030204" pitchFamily="18" charset="0"/>
                <a:cs typeface="Times New Roman" pitchFamily="18" charset="0"/>
                <a:sym typeface="Wingdings" panose="05000000000000000000" pitchFamily="2" charset="2"/>
              </a:rPr>
              <a:t>Được</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định</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nghĩa</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theo</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công</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thức</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đệ</a:t>
            </a:r>
            <a:r>
              <a:rPr lang="en-US" dirty="0">
                <a:latin typeface="Cambria" panose="02040503050406030204" pitchFamily="18" charset="0"/>
                <a:cs typeface="Times New Roman" pitchFamily="18" charset="0"/>
                <a:sym typeface="Wingdings" panose="05000000000000000000" pitchFamily="2" charset="2"/>
              </a:rPr>
              <a:t> qui </a:t>
            </a:r>
            <a:r>
              <a:rPr lang="en-US" dirty="0" err="1">
                <a:latin typeface="Cambria" panose="02040503050406030204" pitchFamily="18" charset="0"/>
                <a:cs typeface="Times New Roman" pitchFamily="18" charset="0"/>
                <a:sym typeface="Wingdings" panose="05000000000000000000" pitchFamily="2" charset="2"/>
              </a:rPr>
              <a:t>như</a:t>
            </a:r>
            <a:r>
              <a:rPr lang="en-US" dirty="0">
                <a:latin typeface="Cambria" panose="02040503050406030204" pitchFamily="18" charset="0"/>
                <a:cs typeface="Times New Roman" pitchFamily="18" charset="0"/>
                <a:sym typeface="Wingdings" panose="05000000000000000000" pitchFamily="2" charset="2"/>
              </a:rPr>
              <a:t> d</a:t>
            </a:r>
            <a:r>
              <a:rPr lang="vi-VN" dirty="0">
                <a:latin typeface="Cambria" panose="02040503050406030204" pitchFamily="18" charset="0"/>
                <a:cs typeface="Times New Roman" pitchFamily="18" charset="0"/>
                <a:sym typeface="Wingdings" panose="05000000000000000000" pitchFamily="2" charset="2"/>
              </a:rPr>
              <a:t>ư</a:t>
            </a:r>
            <a:r>
              <a:rPr lang="en-US" dirty="0" err="1">
                <a:latin typeface="Cambria" panose="02040503050406030204" pitchFamily="18" charset="0"/>
                <a:cs typeface="Times New Roman" pitchFamily="18" charset="0"/>
                <a:sym typeface="Wingdings" panose="05000000000000000000" pitchFamily="2" charset="2"/>
              </a:rPr>
              <a:t>ới</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đây</a:t>
            </a:r>
            <a:r>
              <a:rPr lang="en-US" dirty="0">
                <a:latin typeface="Cambria" panose="02040503050406030204" pitchFamily="18" charset="0"/>
                <a:cs typeface="Times New Roman" pitchFamily="18" charset="0"/>
                <a:sym typeface="Wingdings" panose="05000000000000000000" pitchFamily="2" charset="2"/>
              </a:rPr>
              <a:t>:</a:t>
            </a:r>
          </a:p>
          <a:p>
            <a:pPr marL="800100" lvl="2" indent="0">
              <a:buNone/>
            </a:pPr>
            <a:r>
              <a:rPr lang="en-US" sz="3200" dirty="0" err="1">
                <a:latin typeface="Cambria" panose="02040503050406030204" pitchFamily="18" charset="0"/>
                <a:cs typeface="Times New Roman" pitchFamily="18" charset="0"/>
                <a:sym typeface="Wingdings" panose="05000000000000000000" pitchFamily="2" charset="2"/>
              </a:rPr>
              <a:t>Nếu</a:t>
            </a:r>
            <a:r>
              <a:rPr lang="en-US" sz="3200" dirty="0">
                <a:latin typeface="Cambria" panose="02040503050406030204" pitchFamily="18" charset="0"/>
                <a:cs typeface="Times New Roman" pitchFamily="18" charset="0"/>
                <a:sym typeface="Wingdings" panose="05000000000000000000" pitchFamily="2" charset="2"/>
              </a:rPr>
              <a:t> N=1,N=2F</a:t>
            </a:r>
            <a:r>
              <a:rPr lang="en-US" sz="3200" baseline="-25000" dirty="0">
                <a:latin typeface="Cambria" panose="02040503050406030204" pitchFamily="18" charset="0"/>
                <a:cs typeface="Times New Roman" pitchFamily="18" charset="0"/>
                <a:sym typeface="Wingdings" panose="05000000000000000000" pitchFamily="2" charset="2"/>
              </a:rPr>
              <a:t>N</a:t>
            </a:r>
            <a:r>
              <a:rPr lang="en-US" sz="3200" dirty="0">
                <a:latin typeface="Cambria" panose="02040503050406030204" pitchFamily="18" charset="0"/>
                <a:cs typeface="Times New Roman" pitchFamily="18" charset="0"/>
                <a:sym typeface="Wingdings" panose="05000000000000000000" pitchFamily="2" charset="2"/>
              </a:rPr>
              <a:t>=1</a:t>
            </a:r>
          </a:p>
          <a:p>
            <a:pPr marL="800100" lvl="2" indent="0">
              <a:buNone/>
            </a:pPr>
            <a:r>
              <a:rPr lang="en-US" sz="3200" dirty="0">
                <a:latin typeface="Cambria" panose="02040503050406030204" pitchFamily="18" charset="0"/>
                <a:cs typeface="Times New Roman" pitchFamily="18" charset="0"/>
                <a:sym typeface="Wingdings" panose="05000000000000000000" pitchFamily="2" charset="2"/>
              </a:rPr>
              <a:t>N&gt;2 F</a:t>
            </a:r>
            <a:r>
              <a:rPr lang="en-US" sz="3200" baseline="-25000" dirty="0">
                <a:latin typeface="Cambria" panose="02040503050406030204" pitchFamily="18" charset="0"/>
                <a:cs typeface="Times New Roman" pitchFamily="18" charset="0"/>
                <a:sym typeface="Wingdings" panose="05000000000000000000" pitchFamily="2" charset="2"/>
              </a:rPr>
              <a:t>N</a:t>
            </a:r>
            <a:r>
              <a:rPr lang="en-US" sz="2000" dirty="0">
                <a:latin typeface="Cambria" panose="02040503050406030204" pitchFamily="18" charset="0"/>
                <a:cs typeface="Times New Roman" pitchFamily="18" charset="0"/>
                <a:sym typeface="Wingdings" panose="05000000000000000000" pitchFamily="2" charset="2"/>
              </a:rPr>
              <a:t>=F</a:t>
            </a:r>
            <a:r>
              <a:rPr lang="en-US" sz="2000" baseline="-25000" dirty="0">
                <a:latin typeface="Cambria" panose="02040503050406030204" pitchFamily="18" charset="0"/>
                <a:cs typeface="Times New Roman" pitchFamily="18" charset="0"/>
                <a:sym typeface="Wingdings" panose="05000000000000000000" pitchFamily="2" charset="2"/>
              </a:rPr>
              <a:t>N-1</a:t>
            </a:r>
            <a:r>
              <a:rPr lang="en-US" sz="2000" dirty="0">
                <a:latin typeface="Cambria" panose="02040503050406030204" pitchFamily="18" charset="0"/>
                <a:cs typeface="Times New Roman" pitchFamily="18" charset="0"/>
                <a:sym typeface="Wingdings" panose="05000000000000000000" pitchFamily="2" charset="2"/>
              </a:rPr>
              <a:t>+F</a:t>
            </a:r>
            <a:r>
              <a:rPr lang="en-US" sz="2000" baseline="-25000" dirty="0">
                <a:latin typeface="Cambria" panose="02040503050406030204" pitchFamily="18" charset="0"/>
                <a:cs typeface="Times New Roman" pitchFamily="18" charset="0"/>
                <a:sym typeface="Wingdings" panose="05000000000000000000" pitchFamily="2" charset="2"/>
              </a:rPr>
              <a:t>N-2</a:t>
            </a:r>
            <a:endParaRPr lang="en-US" sz="2000" baseline="30000" dirty="0">
              <a:latin typeface="Cambria" panose="02040503050406030204" pitchFamily="18" charset="0"/>
              <a:cs typeface="Times New Roman" pitchFamily="18" charset="0"/>
              <a:sym typeface="Wingdings" panose="05000000000000000000" pitchFamily="2" charset="2"/>
            </a:endParaRPr>
          </a:p>
          <a:p>
            <a:pPr marL="0" indent="0">
              <a:buNone/>
            </a:pPr>
            <a:r>
              <a:rPr lang="en-US" dirty="0" err="1">
                <a:latin typeface="Cambria" panose="02040503050406030204" pitchFamily="18" charset="0"/>
                <a:cs typeface="Times New Roman" pitchFamily="18" charset="0"/>
                <a:sym typeface="Wingdings" panose="05000000000000000000" pitchFamily="2" charset="2"/>
              </a:rPr>
              <a:t>Hãy</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viết</a:t>
            </a:r>
            <a:r>
              <a:rPr lang="en-US" dirty="0">
                <a:latin typeface="Cambria" panose="02040503050406030204" pitchFamily="18" charset="0"/>
                <a:cs typeface="Times New Roman" pitchFamily="18" charset="0"/>
                <a:sym typeface="Wingdings" panose="05000000000000000000" pitchFamily="2" charset="2"/>
              </a:rPr>
              <a:t> 2 </a:t>
            </a:r>
            <a:r>
              <a:rPr lang="en-US" dirty="0" err="1">
                <a:latin typeface="Cambria" panose="02040503050406030204" pitchFamily="18" charset="0"/>
                <a:cs typeface="Times New Roman" pitchFamily="18" charset="0"/>
                <a:sym typeface="Wingdings" panose="05000000000000000000" pitchFamily="2" charset="2"/>
              </a:rPr>
              <a:t>hàm</a:t>
            </a:r>
            <a:r>
              <a:rPr lang="en-US" dirty="0">
                <a:latin typeface="Cambria" panose="02040503050406030204" pitchFamily="18" charset="0"/>
                <a:cs typeface="Times New Roman" pitchFamily="18" charset="0"/>
                <a:sym typeface="Wingdings" panose="05000000000000000000" pitchFamily="2" charset="2"/>
              </a:rPr>
              <a:t>:</a:t>
            </a:r>
          </a:p>
          <a:p>
            <a:pPr marL="0" indent="0">
              <a:buNone/>
            </a:pP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Hàm</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trả</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về</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số</a:t>
            </a:r>
            <a:r>
              <a:rPr lang="en-US" dirty="0">
                <a:latin typeface="Cambria" panose="02040503050406030204" pitchFamily="18" charset="0"/>
                <a:cs typeface="Times New Roman" pitchFamily="18" charset="0"/>
                <a:sym typeface="Wingdings" panose="05000000000000000000" pitchFamily="2" charset="2"/>
              </a:rPr>
              <a:t> Fib </a:t>
            </a:r>
            <a:r>
              <a:rPr lang="en-US" dirty="0" err="1">
                <a:latin typeface="Cambria" panose="02040503050406030204" pitchFamily="18" charset="0"/>
                <a:cs typeface="Times New Roman" pitchFamily="18" charset="0"/>
                <a:sym typeface="Wingdings" panose="05000000000000000000" pitchFamily="2" charset="2"/>
              </a:rPr>
              <a:t>tại</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vị</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trí</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thứ</a:t>
            </a:r>
            <a:r>
              <a:rPr lang="en-US" dirty="0">
                <a:latin typeface="Cambria" panose="02040503050406030204" pitchFamily="18" charset="0"/>
                <a:cs typeface="Times New Roman" pitchFamily="18" charset="0"/>
                <a:sym typeface="Wingdings" panose="05000000000000000000" pitchFamily="2" charset="2"/>
              </a:rPr>
              <a:t> N </a:t>
            </a:r>
            <a:r>
              <a:rPr lang="en-US" dirty="0" err="1">
                <a:latin typeface="Cambria" panose="02040503050406030204" pitchFamily="18" charset="0"/>
                <a:cs typeface="Times New Roman" pitchFamily="18" charset="0"/>
                <a:sym typeface="Wingdings" panose="05000000000000000000" pitchFamily="2" charset="2"/>
              </a:rPr>
              <a:t>bất</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kỳ</a:t>
            </a:r>
            <a:endParaRPr lang="en-US" dirty="0">
              <a:latin typeface="Cambria" panose="02040503050406030204" pitchFamily="18" charset="0"/>
              <a:cs typeface="Times New Roman" pitchFamily="18" charset="0"/>
              <a:sym typeface="Wingdings" panose="05000000000000000000" pitchFamily="2" charset="2"/>
            </a:endParaRPr>
          </a:p>
          <a:p>
            <a:pPr marL="0" indent="0">
              <a:buNone/>
            </a:pP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Hàm</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trả</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về</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danh</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sách</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dãy</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số</a:t>
            </a:r>
            <a:r>
              <a:rPr lang="en-US" dirty="0">
                <a:latin typeface="Cambria" panose="02040503050406030204" pitchFamily="18" charset="0"/>
                <a:cs typeface="Times New Roman" pitchFamily="18" charset="0"/>
                <a:sym typeface="Wingdings" panose="05000000000000000000" pitchFamily="2" charset="2"/>
              </a:rPr>
              <a:t> Fib </a:t>
            </a:r>
            <a:r>
              <a:rPr lang="en-US" dirty="0" err="1">
                <a:latin typeface="Cambria" panose="02040503050406030204" pitchFamily="18" charset="0"/>
                <a:cs typeface="Times New Roman" pitchFamily="18" charset="0"/>
                <a:sym typeface="Wingdings" panose="05000000000000000000" pitchFamily="2" charset="2"/>
              </a:rPr>
              <a:t>từ</a:t>
            </a:r>
            <a:r>
              <a:rPr lang="en-US" dirty="0">
                <a:latin typeface="Cambria" panose="02040503050406030204" pitchFamily="18" charset="0"/>
                <a:cs typeface="Times New Roman" pitchFamily="18" charset="0"/>
                <a:sym typeface="Wingdings" panose="05000000000000000000" pitchFamily="2" charset="2"/>
              </a:rPr>
              <a:t> 1 </a:t>
            </a:r>
            <a:r>
              <a:rPr lang="en-US" dirty="0" err="1">
                <a:latin typeface="Cambria" panose="02040503050406030204" pitchFamily="18" charset="0"/>
                <a:cs typeface="Times New Roman" pitchFamily="18" charset="0"/>
                <a:sym typeface="Wingdings" panose="05000000000000000000" pitchFamily="2" charset="2"/>
              </a:rPr>
              <a:t>tới</a:t>
            </a:r>
            <a:r>
              <a:rPr lang="en-US" dirty="0">
                <a:latin typeface="Cambria" panose="02040503050406030204" pitchFamily="18" charset="0"/>
                <a:cs typeface="Times New Roman" pitchFamily="18" charset="0"/>
                <a:sym typeface="Wingdings" panose="05000000000000000000" pitchFamily="2" charset="2"/>
              </a:rPr>
              <a:t> N</a:t>
            </a:r>
            <a:endParaRPr lang="en-US" dirty="0">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23918605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Các bài tập tự rèn luyện</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50</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41344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51</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u="sng">
                <a:latin typeface="Cambria" panose="02040503050406030204" pitchFamily="18" charset="0"/>
                <a:cs typeface="Times New Roman" pitchFamily="18" charset="0"/>
              </a:rPr>
              <a:t>Câu 1:</a:t>
            </a:r>
            <a:r>
              <a:rPr lang="en-US" sz="2400">
                <a:latin typeface="Cambria" panose="02040503050406030204" pitchFamily="18" charset="0"/>
                <a:cs typeface="Times New Roman" pitchFamily="18" charset="0"/>
              </a:rPr>
              <a:t> Cho 3 hàm d</a:t>
            </a:r>
            <a:r>
              <a:rPr lang="vi-VN" sz="2400">
                <a:latin typeface="Cambria" panose="02040503050406030204" pitchFamily="18" charset="0"/>
                <a:cs typeface="Times New Roman" pitchFamily="18" charset="0"/>
              </a:rPr>
              <a:t>ư</a:t>
            </a:r>
            <a:r>
              <a:rPr lang="en-US" sz="2400">
                <a:latin typeface="Cambria" panose="02040503050406030204" pitchFamily="18" charset="0"/>
                <a:cs typeface="Times New Roman" pitchFamily="18" charset="0"/>
              </a:rPr>
              <a:t>ới đây:</a:t>
            </a:r>
            <a:endParaRPr lang="en-US" sz="2400" b="1" u="sng">
              <a:latin typeface="Cambria" panose="02040503050406030204" pitchFamily="18" charset="0"/>
              <a:cs typeface="Times New Roman" pitchFamily="18" charset="0"/>
            </a:endParaRPr>
          </a:p>
          <a:p>
            <a:pPr marL="0" indent="0">
              <a:buNone/>
            </a:pPr>
            <a:endParaRPr lang="en-US" sz="2400">
              <a:latin typeface="Cambria" panose="02040503050406030204" pitchFamily="18" charset="0"/>
              <a:cs typeface="Times New Roman" pitchFamily="18" charset="0"/>
            </a:endParaRPr>
          </a:p>
        </p:txBody>
      </p:sp>
      <p:sp>
        <p:nvSpPr>
          <p:cNvPr id="10" name="Rectangle 1">
            <a:extLst>
              <a:ext uri="{FF2B5EF4-FFF2-40B4-BE49-F238E27FC236}">
                <a16:creationId xmlns:a16="http://schemas.microsoft.com/office/drawing/2014/main" id="{14E67028-FF48-42B2-98BA-2193C771FCBA}"/>
              </a:ext>
            </a:extLst>
          </p:cNvPr>
          <p:cNvSpPr>
            <a:spLocks noChangeArrowheads="1"/>
          </p:cNvSpPr>
          <p:nvPr/>
        </p:nvSpPr>
        <p:spPr bwMode="auto">
          <a:xfrm>
            <a:off x="886776" y="1600200"/>
            <a:ext cx="3456624" cy="44935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def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sum1(n):</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s =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0</a:t>
            </a:r>
            <a:b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while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n &gt;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s +=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b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n -=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b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return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def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sum2():</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global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val</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s =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0</a:t>
            </a:r>
            <a:b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while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val &gt;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s +=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b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val -=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b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return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a:t>
            </a:r>
            <a:endParaRPr kumimoji="0" lang="en-US" altLang="en-US" sz="2200" b="0" i="0" u="none" strike="noStrike" cap="none" normalizeH="0" baseline="0">
              <a:ln>
                <a:noFill/>
              </a:ln>
              <a:solidFill>
                <a:schemeClr val="tx1"/>
              </a:solidFill>
              <a:effectLst/>
              <a:latin typeface="Arial" panose="020B0604020202020204" pitchFamily="34" charset="0"/>
            </a:endParaRPr>
          </a:p>
        </p:txBody>
      </p:sp>
      <p:sp>
        <p:nvSpPr>
          <p:cNvPr id="15" name="Rectangle 1">
            <a:extLst>
              <a:ext uri="{FF2B5EF4-FFF2-40B4-BE49-F238E27FC236}">
                <a16:creationId xmlns:a16="http://schemas.microsoft.com/office/drawing/2014/main" id="{A267A2C4-0037-4722-B341-731DD2D35984}"/>
              </a:ext>
            </a:extLst>
          </p:cNvPr>
          <p:cNvSpPr>
            <a:spLocks noChangeArrowheads="1"/>
          </p:cNvSpPr>
          <p:nvPr/>
        </p:nvSpPr>
        <p:spPr bwMode="auto">
          <a:xfrm>
            <a:off x="5012075" y="1463950"/>
            <a:ext cx="5754212" cy="212365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def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sum3():</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s =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0</a:t>
            </a:r>
            <a:b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for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i </a:t>
            </a: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 </a:t>
            </a: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range</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(val,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s +=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b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return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a:t>
            </a:r>
            <a:endParaRPr kumimoji="0" lang="en-US" altLang="en-US" sz="22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557077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a:latin typeface="Cambria" panose="02040503050406030204" pitchFamily="18" charset="0"/>
                <a:cs typeface="Times New Roman" pitchFamily="18" charset="0"/>
              </a:rPr>
              <a:t>Hãy cho biết kết quả sau khi gọi các lệnh trên:</a:t>
            </a:r>
          </a:p>
        </p:txBody>
      </p:sp>
      <p:sp>
        <p:nvSpPr>
          <p:cNvPr id="9" name="Rectangle 2">
            <a:extLst>
              <a:ext uri="{FF2B5EF4-FFF2-40B4-BE49-F238E27FC236}">
                <a16:creationId xmlns:a16="http://schemas.microsoft.com/office/drawing/2014/main" id="{1B6087BB-00CB-4639-AA9D-CA5F8B6305F4}"/>
              </a:ext>
            </a:extLst>
          </p:cNvPr>
          <p:cNvSpPr>
            <a:spLocks noChangeArrowheads="1"/>
          </p:cNvSpPr>
          <p:nvPr/>
        </p:nvSpPr>
        <p:spPr bwMode="auto">
          <a:xfrm>
            <a:off x="457200" y="1676400"/>
            <a:ext cx="3502882" cy="30469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sz="2400" b="1">
                <a:latin typeface="Cambria" panose="02040503050406030204" pitchFamily="18" charset="0"/>
                <a:cs typeface="Times New Roman" pitchFamily="18" charset="0"/>
              </a:rPr>
              <a:t>Câu a)</a:t>
            </a:r>
            <a:endPar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def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main():</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global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val</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val = </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5</a:t>
            </a:r>
            <a:b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(sum1(</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5</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(sum2())</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(sum3())</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main()</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
        <p:nvSpPr>
          <p:cNvPr id="18" name="Rectangle 6">
            <a:extLst>
              <a:ext uri="{FF2B5EF4-FFF2-40B4-BE49-F238E27FC236}">
                <a16:creationId xmlns:a16="http://schemas.microsoft.com/office/drawing/2014/main" id="{E9F5B2EC-5687-4B2B-9882-E507E8347549}"/>
              </a:ext>
            </a:extLst>
          </p:cNvPr>
          <p:cNvSpPr>
            <a:spLocks noChangeArrowheads="1"/>
          </p:cNvSpPr>
          <p:nvPr/>
        </p:nvSpPr>
        <p:spPr bwMode="auto">
          <a:xfrm>
            <a:off x="4114800" y="1646583"/>
            <a:ext cx="3502882" cy="30469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sz="2400" b="1">
                <a:latin typeface="Cambria" panose="02040503050406030204" pitchFamily="18" charset="0"/>
                <a:cs typeface="Times New Roman" pitchFamily="18" charset="0"/>
              </a:rPr>
              <a:t>Câu b)</a:t>
            </a:r>
            <a:endPar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def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main():</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global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val</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val = </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5</a:t>
            </a:r>
            <a:b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(sum1(</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5</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(sum3())</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(sum2())</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main()</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
        <p:nvSpPr>
          <p:cNvPr id="19" name="Rectangle 7">
            <a:extLst>
              <a:ext uri="{FF2B5EF4-FFF2-40B4-BE49-F238E27FC236}">
                <a16:creationId xmlns:a16="http://schemas.microsoft.com/office/drawing/2014/main" id="{4A7D1B69-3380-4954-899E-528EA5B855EB}"/>
              </a:ext>
            </a:extLst>
          </p:cNvPr>
          <p:cNvSpPr>
            <a:spLocks noChangeArrowheads="1"/>
          </p:cNvSpPr>
          <p:nvPr/>
        </p:nvSpPr>
        <p:spPr bwMode="auto">
          <a:xfrm>
            <a:off x="7984435" y="1461917"/>
            <a:ext cx="3502882" cy="34163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sz="2400" b="1">
                <a:latin typeface="Cambria" panose="02040503050406030204" pitchFamily="18" charset="0"/>
                <a:cs typeface="Times New Roman" pitchFamily="18" charset="0"/>
              </a:rPr>
              <a:t>Câu c)</a:t>
            </a:r>
            <a:endPar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def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main():</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global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val</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val = </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5</a:t>
            </a:r>
            <a:b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(sum2())</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(sum1(</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5</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(sum3())</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main()</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089140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u="sng" dirty="0" err="1">
                <a:latin typeface="Cambria" panose="02040503050406030204" pitchFamily="18" charset="0"/>
                <a:cs typeface="Times New Roman" pitchFamily="18" charset="0"/>
              </a:rPr>
              <a:t>Câu</a:t>
            </a:r>
            <a:r>
              <a:rPr lang="en-US" sz="2400" b="1" u="sng" dirty="0">
                <a:latin typeface="Cambria" panose="02040503050406030204" pitchFamily="18" charset="0"/>
                <a:cs typeface="Times New Roman" pitchFamily="18" charset="0"/>
              </a:rPr>
              <a:t> 3:</a:t>
            </a:r>
            <a:r>
              <a:rPr lang="en-US" sz="2400" dirty="0">
                <a:latin typeface="Cambria" panose="02040503050406030204" pitchFamily="18" charset="0"/>
                <a:cs typeface="Times New Roman" pitchFamily="18" charset="0"/>
              </a:rPr>
              <a:t> Cho coding</a:t>
            </a:r>
          </a:p>
          <a:p>
            <a:pPr marL="0" indent="0">
              <a:buNone/>
            </a:pPr>
            <a:endParaRPr lang="en-US" sz="2400" dirty="0">
              <a:latin typeface="Cambria" panose="02040503050406030204" pitchFamily="18" charset="0"/>
              <a:cs typeface="Times New Roman" pitchFamily="18" charset="0"/>
            </a:endParaRPr>
          </a:p>
          <a:p>
            <a:pPr marL="0" indent="0">
              <a:buNone/>
            </a:pPr>
            <a:endParaRPr lang="en-US" sz="2400" dirty="0">
              <a:latin typeface="Cambria" panose="02040503050406030204" pitchFamily="18" charset="0"/>
              <a:cs typeface="Times New Roman" pitchFamily="18" charset="0"/>
            </a:endParaRPr>
          </a:p>
          <a:p>
            <a:pPr marL="0" indent="0">
              <a:buNone/>
            </a:pPr>
            <a:endParaRPr lang="en-US" sz="2400" dirty="0">
              <a:latin typeface="Cambria" panose="02040503050406030204" pitchFamily="18" charset="0"/>
              <a:cs typeface="Times New Roman" pitchFamily="18" charset="0"/>
            </a:endParaRPr>
          </a:p>
          <a:p>
            <a:pPr marL="0" indent="0">
              <a:buNone/>
            </a:pPr>
            <a:r>
              <a:rPr lang="en-US" sz="2400" dirty="0" err="1">
                <a:latin typeface="Cambria" panose="02040503050406030204" pitchFamily="18" charset="0"/>
                <a:cs typeface="Times New Roman" pitchFamily="18" charset="0"/>
              </a:rPr>
              <a:t>Hãy</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viết</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hàm</a:t>
            </a:r>
            <a:r>
              <a:rPr lang="en-US" sz="2400" dirty="0">
                <a:latin typeface="Cambria" panose="02040503050406030204" pitchFamily="18" charset="0"/>
                <a:cs typeface="Times New Roman" pitchFamily="18" charset="0"/>
              </a:rPr>
              <a:t> oscillate </a:t>
            </a:r>
            <a:r>
              <a:rPr lang="en-US" sz="2400" dirty="0" err="1">
                <a:latin typeface="Cambria" panose="02040503050406030204" pitchFamily="18" charset="0"/>
                <a:cs typeface="Times New Roman" pitchFamily="18" charset="0"/>
              </a:rPr>
              <a:t>để</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khi</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chạy</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phần</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mềm</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nó</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ra</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kết</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quả</a:t>
            </a:r>
            <a:r>
              <a:rPr lang="en-US" sz="2400" dirty="0">
                <a:latin typeface="Cambria" panose="02040503050406030204" pitchFamily="18" charset="0"/>
                <a:cs typeface="Times New Roman" pitchFamily="18" charset="0"/>
              </a:rPr>
              <a:t>:</a:t>
            </a:r>
          </a:p>
          <a:p>
            <a:pPr marL="0" indent="0">
              <a:buNone/>
            </a:pPr>
            <a:r>
              <a:rPr lang="en-US" sz="2400" dirty="0">
                <a:latin typeface="Cambria" panose="02040503050406030204" pitchFamily="18" charset="0"/>
                <a:cs typeface="Times New Roman" pitchFamily="18" charset="0"/>
              </a:rPr>
              <a:t>-3   3   -2   2   -1   1   0   0   1   -1   2   -2   3   -3   4   -4</a:t>
            </a:r>
          </a:p>
        </p:txBody>
      </p:sp>
      <p:pic>
        <p:nvPicPr>
          <p:cNvPr id="10" name="Picture 9">
            <a:extLst>
              <a:ext uri="{FF2B5EF4-FFF2-40B4-BE49-F238E27FC236}">
                <a16:creationId xmlns:a16="http://schemas.microsoft.com/office/drawing/2014/main" id="{19EA783B-C2CF-4BA2-9310-B8EC2191408A}"/>
              </a:ext>
            </a:extLst>
          </p:cNvPr>
          <p:cNvPicPr>
            <a:picLocks noChangeAspect="1"/>
          </p:cNvPicPr>
          <p:nvPr/>
        </p:nvPicPr>
        <p:blipFill>
          <a:blip r:embed="rId3"/>
          <a:stretch>
            <a:fillRect/>
          </a:stretch>
        </p:blipFill>
        <p:spPr>
          <a:xfrm>
            <a:off x="3048000" y="1447800"/>
            <a:ext cx="5257800" cy="1440840"/>
          </a:xfrm>
          <a:prstGeom prst="rect">
            <a:avLst/>
          </a:prstGeom>
        </p:spPr>
      </p:pic>
    </p:spTree>
    <p:extLst>
      <p:ext uri="{BB962C8B-B14F-4D97-AF65-F5344CB8AC3E}">
        <p14:creationId xmlns:p14="http://schemas.microsoft.com/office/powerpoint/2010/main" val="16577699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b="1" u="sng" dirty="0" err="1">
                <a:latin typeface="Cambria" panose="02040503050406030204" pitchFamily="18" charset="0"/>
                <a:cs typeface="Times New Roman" pitchFamily="18" charset="0"/>
              </a:rPr>
              <a:t>Câu</a:t>
            </a:r>
            <a:r>
              <a:rPr lang="en-US" sz="2800" b="1" u="sng" dirty="0">
                <a:latin typeface="Cambria" panose="02040503050406030204" pitchFamily="18" charset="0"/>
                <a:cs typeface="Times New Roman" pitchFamily="18" charset="0"/>
              </a:rPr>
              <a:t> 4:</a:t>
            </a:r>
            <a:r>
              <a:rPr lang="en-US" sz="2800" dirty="0">
                <a:latin typeface="Times New Roman" pitchFamily="18" charset="0"/>
                <a:cs typeface="Times New Roman" pitchFamily="18" charset="0"/>
              </a:rPr>
              <a:t>Viết </a:t>
            </a:r>
            <a:r>
              <a:rPr lang="en-US" sz="2800" dirty="0" err="1">
                <a:latin typeface="Times New Roman" pitchFamily="18" charset="0"/>
                <a:cs typeface="Times New Roman" pitchFamily="18" charset="0"/>
              </a:rPr>
              <a:t>hàm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tổng</a:t>
            </a:r>
            <a:r>
              <a:rPr lang="en-US" sz="2800" dirty="0">
                <a:latin typeface="Times New Roman" pitchFamily="18" charset="0"/>
                <a:cs typeface="Times New Roman" pitchFamily="18" charset="0"/>
              </a:rPr>
              <a:t> </a:t>
            </a:r>
            <a:r>
              <a:rPr lang="vi-VN" sz="2800" dirty="0">
                <a:latin typeface="Times New Roman" pitchFamily="18" charset="0"/>
                <a:cs typeface="Times New Roman" pitchFamily="18" charset="0"/>
              </a:rPr>
              <a:t>ư</a:t>
            </a:r>
            <a:r>
              <a:rPr lang="en-US" sz="2800" dirty="0" err="1">
                <a:latin typeface="Times New Roman" pitchFamily="18" charset="0"/>
                <a:cs typeface="Times New Roman" pitchFamily="18" charset="0"/>
              </a:rPr>
              <a:t>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2 </a:t>
            </a:r>
            <a:r>
              <a:rPr lang="en-US" sz="2800" dirty="0" err="1">
                <a:latin typeface="Times New Roman" pitchFamily="18" charset="0"/>
                <a:cs typeface="Times New Roman" pitchFamily="18" charset="0"/>
              </a:rPr>
              <a:t>bài</a:t>
            </a:r>
            <a:r>
              <a:rPr lang="en-US" sz="2800" dirty="0">
                <a:latin typeface="Times New Roman" pitchFamily="18" charset="0"/>
                <a:cs typeface="Times New Roman" pitchFamily="18" charset="0"/>
              </a:rPr>
              <a:t> d</a:t>
            </a:r>
            <a:r>
              <a:rPr lang="vi-VN" sz="2800" dirty="0">
                <a:latin typeface="Times New Roman" pitchFamily="18" charset="0"/>
                <a:cs typeface="Times New Roman" pitchFamily="18" charset="0"/>
              </a:rPr>
              <a:t>ư</a:t>
            </a:r>
            <a:r>
              <a:rPr lang="en-US" sz="2800" dirty="0" err="1">
                <a:latin typeface="Times New Roman" pitchFamily="18" charset="0"/>
                <a:cs typeface="Times New Roman" pitchFamily="18" charset="0"/>
              </a:rPr>
              <a:t>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đây</a:t>
            </a:r>
            <a:r>
              <a:rPr lang="en-US" sz="2800" dirty="0">
                <a:latin typeface="Times New Roman" pitchFamily="18" charset="0"/>
                <a:cs typeface="Times New Roman" pitchFamily="18" charset="0"/>
              </a:rPr>
              <a:t>:</a:t>
            </a:r>
          </a:p>
          <a:p>
            <a:pPr algn="just">
              <a:buFont typeface="Wingdings" panose="05000000000000000000" pitchFamily="2" charset="2"/>
              <a:buChar char="v"/>
            </a:pPr>
            <a:r>
              <a:rPr lang="en-US" sz="2800" b="1" u="sng" dirty="0">
                <a:latin typeface="Times New Roman" pitchFamily="18" charset="0"/>
                <a:cs typeface="Times New Roman" pitchFamily="18" charset="0"/>
              </a:rPr>
              <a:t>4.1 :</a:t>
            </a:r>
            <a:r>
              <a:rPr lang="en-US" sz="2800" b="1" dirty="0">
                <a:latin typeface="Times New Roman" pitchFamily="18" charset="0"/>
                <a:cs typeface="Times New Roman" pitchFamily="18" charset="0"/>
              </a:rPr>
              <a:t> </a:t>
            </a:r>
            <a:r>
              <a:rPr lang="vi-VN" sz="2800" dirty="0">
                <a:latin typeface="Times New Roman" pitchFamily="18" charset="0"/>
                <a:cs typeface="Times New Roman" pitchFamily="18" charset="0"/>
              </a:rPr>
              <a:t>Kiểm tra số nguyên dương n có phải là số hoàn thiện (Pefect number)</a:t>
            </a:r>
            <a:r>
              <a:rPr lang="en-US" sz="2800" dirty="0">
                <a:latin typeface="Times New Roman" pitchFamily="18" charset="0"/>
                <a:cs typeface="Times New Roman" pitchFamily="18" charset="0"/>
              </a:rPr>
              <a:t> </a:t>
            </a:r>
            <a:r>
              <a:rPr lang="vi-VN" sz="2800" dirty="0">
                <a:latin typeface="Times New Roman" pitchFamily="18" charset="0"/>
                <a:cs typeface="Times New Roman" pitchFamily="18" charset="0"/>
              </a:rPr>
              <a:t>hay không? (Số hoàn thiện là số có tổng các ước số</a:t>
            </a:r>
            <a:r>
              <a:rPr lang="en-US" sz="2800" dirty="0">
                <a:latin typeface="Times New Roman" pitchFamily="18" charset="0"/>
                <a:cs typeface="Times New Roman" pitchFamily="18" charset="0"/>
              </a:rPr>
              <a:t> </a:t>
            </a:r>
            <a:r>
              <a:rPr lang="vi-VN" sz="2800" dirty="0">
                <a:latin typeface="Times New Roman" pitchFamily="18" charset="0"/>
                <a:cs typeface="Times New Roman" pitchFamily="18" charset="0"/>
              </a:rPr>
              <a:t>của nó (không kể nó) thì bằng chính nó. Vd: 6 có các ước số là 1,2,3 và 6=1+2+3 </a:t>
            </a:r>
            <a:r>
              <a:rPr lang="en-US" sz="2800" dirty="0">
                <a:latin typeface="Times New Roman" pitchFamily="18" charset="0"/>
                <a:cs typeface="Times New Roman" pitchFamily="18" charset="0"/>
                <a:sym typeface="Wingdings" panose="05000000000000000000" pitchFamily="2" charset="2"/>
              </a:rPr>
              <a:t></a:t>
            </a:r>
            <a:r>
              <a:rPr lang="vi-VN" sz="2800" dirty="0">
                <a:latin typeface="Times New Roman" pitchFamily="18" charset="0"/>
                <a:cs typeface="Times New Roman" pitchFamily="18" charset="0"/>
              </a:rPr>
              <a:t>6 là số hoàn thiện)</a:t>
            </a:r>
            <a:endParaRPr lang="en-US" sz="2800" dirty="0">
              <a:latin typeface="Times New Roman" pitchFamily="18" charset="0"/>
              <a:cs typeface="Times New Roman" pitchFamily="18" charset="0"/>
            </a:endParaRPr>
          </a:p>
          <a:p>
            <a:pPr algn="just">
              <a:buFont typeface="Wingdings" panose="05000000000000000000" pitchFamily="2" charset="2"/>
              <a:buChar char="v"/>
            </a:pPr>
            <a:r>
              <a:rPr lang="en-US" sz="2800" b="1" u="sng" dirty="0">
                <a:latin typeface="Times New Roman" pitchFamily="18" charset="0"/>
                <a:cs typeface="Times New Roman" pitchFamily="18" charset="0"/>
              </a:rPr>
              <a:t>4.2:</a:t>
            </a:r>
            <a:r>
              <a:rPr lang="en-US" sz="2800" b="1" dirty="0">
                <a:latin typeface="Times New Roman" pitchFamily="18" charset="0"/>
                <a:cs typeface="Times New Roman" pitchFamily="18" charset="0"/>
              </a:rPr>
              <a:t> </a:t>
            </a:r>
            <a:r>
              <a:rPr lang="vi-VN" sz="2800" dirty="0">
                <a:latin typeface="Times New Roman" pitchFamily="18" charset="0"/>
                <a:cs typeface="Times New Roman" pitchFamily="18" charset="0"/>
              </a:rPr>
              <a:t>Kiểm tra số nguyên dương n có phải là  số thịnh vượng (Abundant number)</a:t>
            </a:r>
            <a:r>
              <a:rPr lang="en-US" sz="2800" dirty="0">
                <a:latin typeface="Times New Roman" pitchFamily="18" charset="0"/>
                <a:cs typeface="Times New Roman" pitchFamily="18" charset="0"/>
              </a:rPr>
              <a:t> </a:t>
            </a:r>
            <a:r>
              <a:rPr lang="vi-VN" sz="2800" dirty="0">
                <a:latin typeface="Times New Roman" pitchFamily="18" charset="0"/>
                <a:cs typeface="Times New Roman" pitchFamily="18" charset="0"/>
              </a:rPr>
              <a:t>hay không? (Số thịnh vượng là số có tổng các ước số của nó (không kể nó) thì lớn hơn nó. Vd:12 có các ước số là 1,2,3,4,6 và 12&lt;1+2+3+4+6 </a:t>
            </a:r>
            <a:r>
              <a:rPr lang="en-US" sz="2800" dirty="0">
                <a:latin typeface="Times New Roman" pitchFamily="18" charset="0"/>
                <a:cs typeface="Times New Roman" pitchFamily="18" charset="0"/>
                <a:sym typeface="Wingdings" panose="05000000000000000000" pitchFamily="2" charset="2"/>
              </a:rPr>
              <a:t></a:t>
            </a:r>
            <a:r>
              <a:rPr lang="vi-VN" sz="2800" dirty="0">
                <a:latin typeface="Times New Roman" pitchFamily="18" charset="0"/>
                <a:cs typeface="Times New Roman" pitchFamily="18" charset="0"/>
              </a:rPr>
              <a:t>12 là số thịnh vượng)</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1085360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Khái niệm và cấu trúc của chuỗi</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55</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73444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dirty="0" err="1">
                <a:latin typeface="Cambria" panose="02040503050406030204" pitchFamily="18" charset="0"/>
                <a:cs typeface="Times New Roman" pitchFamily="18" charset="0"/>
              </a:rPr>
              <a:t>Chuỗi</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là</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tập</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các</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ký</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tự</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nằm</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trong</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nháy</a:t>
            </a:r>
            <a:r>
              <a:rPr lang="en-US" sz="2400" dirty="0">
                <a:latin typeface="Cambria" panose="02040503050406030204" pitchFamily="18" charset="0"/>
                <a:cs typeface="Times New Roman" pitchFamily="18" charset="0"/>
              </a:rPr>
              <a:t> đ</a:t>
            </a:r>
            <a:r>
              <a:rPr lang="vi-VN" sz="2400" dirty="0">
                <a:latin typeface="Cambria" panose="02040503050406030204" pitchFamily="18" charset="0"/>
                <a:cs typeface="Times New Roman" pitchFamily="18" charset="0"/>
              </a:rPr>
              <a:t>ơ</a:t>
            </a:r>
            <a:r>
              <a:rPr lang="en-US" sz="2400" dirty="0">
                <a:latin typeface="Cambria" panose="02040503050406030204" pitchFamily="18" charset="0"/>
                <a:cs typeface="Times New Roman" pitchFamily="18" charset="0"/>
              </a:rPr>
              <a:t>n </a:t>
            </a:r>
            <a:r>
              <a:rPr lang="en-US" sz="2400" dirty="0" err="1">
                <a:latin typeface="Cambria" panose="02040503050406030204" pitchFamily="18" charset="0"/>
                <a:cs typeface="Times New Roman" pitchFamily="18" charset="0"/>
              </a:rPr>
              <a:t>hoặc</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nháy</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đôi</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hoặc</a:t>
            </a:r>
            <a:r>
              <a:rPr lang="en-US" sz="2400" dirty="0">
                <a:latin typeface="Cambria" panose="02040503050406030204" pitchFamily="18" charset="0"/>
                <a:cs typeface="Times New Roman" pitchFamily="18" charset="0"/>
              </a:rPr>
              <a:t> 3 </a:t>
            </a:r>
            <a:r>
              <a:rPr lang="en-US" sz="2400" dirty="0" err="1">
                <a:latin typeface="Cambria" panose="02040503050406030204" pitchFamily="18" charset="0"/>
                <a:cs typeface="Times New Roman" pitchFamily="18" charset="0"/>
              </a:rPr>
              <a:t>nháy</a:t>
            </a:r>
            <a:r>
              <a:rPr lang="en-US" sz="2400" dirty="0">
                <a:latin typeface="Cambria" panose="02040503050406030204" pitchFamily="18" charset="0"/>
                <a:cs typeface="Times New Roman" pitchFamily="18" charset="0"/>
              </a:rPr>
              <a:t> đ</a:t>
            </a:r>
            <a:r>
              <a:rPr lang="vi-VN" sz="2400" dirty="0">
                <a:latin typeface="Cambria" panose="02040503050406030204" pitchFamily="18" charset="0"/>
                <a:cs typeface="Times New Roman" pitchFamily="18" charset="0"/>
              </a:rPr>
              <a:t>ơ</a:t>
            </a:r>
            <a:r>
              <a:rPr lang="en-US" sz="2400" dirty="0">
                <a:latin typeface="Cambria" panose="02040503050406030204" pitchFamily="18" charset="0"/>
                <a:cs typeface="Times New Roman" pitchFamily="18" charset="0"/>
              </a:rPr>
              <a:t>n </a:t>
            </a:r>
            <a:r>
              <a:rPr lang="en-US" sz="2400" dirty="0" err="1">
                <a:latin typeface="Cambria" panose="02040503050406030204" pitchFamily="18" charset="0"/>
                <a:cs typeface="Times New Roman" pitchFamily="18" charset="0"/>
              </a:rPr>
              <a:t>hoặc</a:t>
            </a:r>
            <a:r>
              <a:rPr lang="en-US" sz="2400" dirty="0">
                <a:latin typeface="Cambria" panose="02040503050406030204" pitchFamily="18" charset="0"/>
                <a:cs typeface="Times New Roman" pitchFamily="18" charset="0"/>
              </a:rPr>
              <a:t> 3 </a:t>
            </a:r>
            <a:r>
              <a:rPr lang="en-US" sz="2400" dirty="0" err="1">
                <a:latin typeface="Cambria" panose="02040503050406030204" pitchFamily="18" charset="0"/>
                <a:cs typeface="Times New Roman" pitchFamily="18" charset="0"/>
              </a:rPr>
              <a:t>nháy</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đôi</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Chuỗi</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rất</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quan</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trọng</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trong</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mọi</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ngôn</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ngữ</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hầu</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hết</a:t>
            </a:r>
            <a:r>
              <a:rPr lang="en-US" sz="2400" dirty="0">
                <a:latin typeface="Cambria" panose="02040503050406030204" pitchFamily="18" charset="0"/>
                <a:cs typeface="Times New Roman" pitchFamily="18" charset="0"/>
              </a:rPr>
              <a:t> ta </a:t>
            </a:r>
            <a:r>
              <a:rPr lang="en-US" sz="2400" dirty="0" err="1">
                <a:latin typeface="Cambria" panose="02040503050406030204" pitchFamily="18" charset="0"/>
                <a:cs typeface="Times New Roman" pitchFamily="18" charset="0"/>
              </a:rPr>
              <a:t>đều</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gặp</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xử</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lý</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chuỗi</a:t>
            </a:r>
            <a:endParaRPr lang="en-US" sz="2400" dirty="0">
              <a:latin typeface="Cambria" panose="02040503050406030204" pitchFamily="18" charset="0"/>
              <a:cs typeface="Times New Roman" pitchFamily="18" charset="0"/>
            </a:endParaRPr>
          </a:p>
        </p:txBody>
      </p:sp>
      <p:pic>
        <p:nvPicPr>
          <p:cNvPr id="16" name="Picture 15">
            <a:extLst>
              <a:ext uri="{FF2B5EF4-FFF2-40B4-BE49-F238E27FC236}">
                <a16:creationId xmlns:a16="http://schemas.microsoft.com/office/drawing/2014/main" id="{EB1BB047-D9E1-4199-A1C9-027B8E271B8D}"/>
              </a:ext>
            </a:extLst>
          </p:cNvPr>
          <p:cNvPicPr>
            <a:picLocks noChangeAspect="1"/>
          </p:cNvPicPr>
          <p:nvPr/>
        </p:nvPicPr>
        <p:blipFill>
          <a:blip r:embed="rId3"/>
          <a:stretch>
            <a:fillRect/>
          </a:stretch>
        </p:blipFill>
        <p:spPr>
          <a:xfrm>
            <a:off x="326921" y="1899090"/>
            <a:ext cx="6000750" cy="4352925"/>
          </a:xfrm>
          <a:prstGeom prst="rect">
            <a:avLst/>
          </a:prstGeom>
        </p:spPr>
      </p:pic>
      <p:pic>
        <p:nvPicPr>
          <p:cNvPr id="17" name="Picture 16">
            <a:extLst>
              <a:ext uri="{FF2B5EF4-FFF2-40B4-BE49-F238E27FC236}">
                <a16:creationId xmlns:a16="http://schemas.microsoft.com/office/drawing/2014/main" id="{E3C3FE98-8E95-4831-9F9B-11014AA10215}"/>
              </a:ext>
            </a:extLst>
          </p:cNvPr>
          <p:cNvPicPr>
            <a:picLocks noChangeAspect="1"/>
          </p:cNvPicPr>
          <p:nvPr/>
        </p:nvPicPr>
        <p:blipFill>
          <a:blip r:embed="rId4"/>
          <a:stretch>
            <a:fillRect/>
          </a:stretch>
        </p:blipFill>
        <p:spPr>
          <a:xfrm>
            <a:off x="7035904" y="1919477"/>
            <a:ext cx="4981575" cy="3143250"/>
          </a:xfrm>
          <a:prstGeom prst="rect">
            <a:avLst/>
          </a:prstGeom>
          <a:ln>
            <a:solidFill>
              <a:schemeClr val="accent1"/>
            </a:solidFill>
          </a:ln>
        </p:spPr>
      </p:pic>
      <p:sp>
        <p:nvSpPr>
          <p:cNvPr id="11" name="Arrow: Right 10">
            <a:extLst>
              <a:ext uri="{FF2B5EF4-FFF2-40B4-BE49-F238E27FC236}">
                <a16:creationId xmlns:a16="http://schemas.microsoft.com/office/drawing/2014/main" id="{934218AE-6E45-48CE-B222-BE6C4C82FA0C}"/>
              </a:ext>
            </a:extLst>
          </p:cNvPr>
          <p:cNvSpPr/>
          <p:nvPr/>
        </p:nvSpPr>
        <p:spPr>
          <a:xfrm>
            <a:off x="5829396" y="3368519"/>
            <a:ext cx="1206508" cy="60960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57272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57</a:t>
            </a:fld>
            <a:endParaRPr lang="en-US"/>
          </a:p>
        </p:txBody>
      </p:sp>
      <p:sp>
        <p:nvSpPr>
          <p:cNvPr id="14" name="Content Placeholder 2"/>
          <p:cNvSpPr txBox="1">
            <a:spLocks/>
          </p:cNvSpPr>
          <p:nvPr/>
        </p:nvSpPr>
        <p:spPr>
          <a:xfrm>
            <a:off x="457200" y="1076325"/>
            <a:ext cx="66294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a:latin typeface="Cambria" panose="02040503050406030204" pitchFamily="18" charset="0"/>
                <a:cs typeface="Times New Roman" pitchFamily="18" charset="0"/>
              </a:rPr>
              <a:t>Chuỗi trong Python cũng là đối t</a:t>
            </a:r>
            <a:r>
              <a:rPr lang="vi-VN" sz="2400">
                <a:latin typeface="Cambria" panose="02040503050406030204" pitchFamily="18" charset="0"/>
                <a:cs typeface="Times New Roman" pitchFamily="18" charset="0"/>
              </a:rPr>
              <a:t>ư</a:t>
            </a:r>
            <a:r>
              <a:rPr lang="en-US" sz="2400">
                <a:latin typeface="Cambria" panose="02040503050406030204" pitchFamily="18" charset="0"/>
                <a:cs typeface="Times New Roman" pitchFamily="18" charset="0"/>
              </a:rPr>
              <a:t>ợng, nó cung cấp một số hàm rất quan trọng:</a:t>
            </a:r>
          </a:p>
        </p:txBody>
      </p:sp>
      <p:pic>
        <p:nvPicPr>
          <p:cNvPr id="8" name="Picture 7">
            <a:extLst>
              <a:ext uri="{FF2B5EF4-FFF2-40B4-BE49-F238E27FC236}">
                <a16:creationId xmlns:a16="http://schemas.microsoft.com/office/drawing/2014/main" id="{2C135777-4199-4A95-A0C9-9ABC5F41FF17}"/>
              </a:ext>
            </a:extLst>
          </p:cNvPr>
          <p:cNvPicPr>
            <a:picLocks noChangeAspect="1"/>
          </p:cNvPicPr>
          <p:nvPr/>
        </p:nvPicPr>
        <p:blipFill>
          <a:blip r:embed="rId3"/>
          <a:stretch>
            <a:fillRect/>
          </a:stretch>
        </p:blipFill>
        <p:spPr>
          <a:xfrm>
            <a:off x="6849718" y="1087314"/>
            <a:ext cx="4991100" cy="838200"/>
          </a:xfrm>
          <a:prstGeom prst="rect">
            <a:avLst/>
          </a:prstGeom>
        </p:spPr>
      </p:pic>
      <p:graphicFrame>
        <p:nvGraphicFramePr>
          <p:cNvPr id="9" name="Table 8">
            <a:extLst>
              <a:ext uri="{FF2B5EF4-FFF2-40B4-BE49-F238E27FC236}">
                <a16:creationId xmlns:a16="http://schemas.microsoft.com/office/drawing/2014/main" id="{B7E92CB5-58AD-48CC-9B97-022617C12A6C}"/>
              </a:ext>
            </a:extLst>
          </p:cNvPr>
          <p:cNvGraphicFramePr>
            <a:graphicFrameLocks noGrp="1"/>
          </p:cNvGraphicFramePr>
          <p:nvPr>
            <p:extLst/>
          </p:nvPr>
        </p:nvGraphicFramePr>
        <p:xfrm>
          <a:off x="480910" y="1936503"/>
          <a:ext cx="11384390" cy="4754880"/>
        </p:xfrm>
        <a:graphic>
          <a:graphicData uri="http://schemas.openxmlformats.org/drawingml/2006/table">
            <a:tbl>
              <a:tblPr firstRow="1" bandRow="1">
                <a:tableStyleId>{5C22544A-7EE6-4342-B048-85BDC9FD1C3A}</a:tableStyleId>
              </a:tblPr>
              <a:tblGrid>
                <a:gridCol w="2697590">
                  <a:extLst>
                    <a:ext uri="{9D8B030D-6E8A-4147-A177-3AD203B41FA5}">
                      <a16:colId xmlns:a16="http://schemas.microsoft.com/office/drawing/2014/main" val="3110113687"/>
                    </a:ext>
                  </a:extLst>
                </a:gridCol>
                <a:gridCol w="8686800">
                  <a:extLst>
                    <a:ext uri="{9D8B030D-6E8A-4147-A177-3AD203B41FA5}">
                      <a16:colId xmlns:a16="http://schemas.microsoft.com/office/drawing/2014/main" val="4146039144"/>
                    </a:ext>
                  </a:extLst>
                </a:gridCol>
              </a:tblGrid>
              <a:tr h="392113">
                <a:tc>
                  <a:txBody>
                    <a:bodyPr/>
                    <a:lstStyle/>
                    <a:p>
                      <a:pPr algn="ctr"/>
                      <a:r>
                        <a:rPr lang="en-US" sz="2000">
                          <a:latin typeface="Cambria" panose="02040503050406030204" pitchFamily="18" charset="0"/>
                        </a:rPr>
                        <a:t>Tên hàm</a:t>
                      </a:r>
                    </a:p>
                  </a:txBody>
                  <a:tcPr/>
                </a:tc>
                <a:tc>
                  <a:txBody>
                    <a:bodyPr/>
                    <a:lstStyle/>
                    <a:p>
                      <a:pPr algn="ctr"/>
                      <a:r>
                        <a:rPr lang="en-US" sz="2000">
                          <a:latin typeface="Cambria" panose="02040503050406030204" pitchFamily="18" charset="0"/>
                        </a:rPr>
                        <a:t>Mô tả</a:t>
                      </a:r>
                    </a:p>
                  </a:txBody>
                  <a:tcPr/>
                </a:tc>
                <a:extLst>
                  <a:ext uri="{0D108BD9-81ED-4DB2-BD59-A6C34878D82A}">
                    <a16:rowId xmlns:a16="http://schemas.microsoft.com/office/drawing/2014/main" val="2869370476"/>
                  </a:ext>
                </a:extLst>
              </a:tr>
              <a:tr h="392113">
                <a:tc>
                  <a:txBody>
                    <a:bodyPr/>
                    <a:lstStyle/>
                    <a:p>
                      <a:r>
                        <a:rPr lang="en-US" sz="2000">
                          <a:solidFill>
                            <a:schemeClr val="tx1"/>
                          </a:solidFill>
                          <a:latin typeface="Cambria" panose="02040503050406030204" pitchFamily="18" charset="0"/>
                        </a:rPr>
                        <a:t>upper, lower</a:t>
                      </a:r>
                    </a:p>
                  </a:txBody>
                  <a:tcPr/>
                </a:tc>
                <a:tc>
                  <a:txBody>
                    <a:bodyPr/>
                    <a:lstStyle/>
                    <a:p>
                      <a:r>
                        <a:rPr lang="en-US" sz="2000">
                          <a:solidFill>
                            <a:schemeClr val="tx1"/>
                          </a:solidFill>
                          <a:latin typeface="Cambria" panose="02040503050406030204" pitchFamily="18" charset="0"/>
                        </a:rPr>
                        <a:t>Xử lý in Hoa, in th</a:t>
                      </a:r>
                      <a:r>
                        <a:rPr lang="vi-VN" sz="2000">
                          <a:solidFill>
                            <a:schemeClr val="tx1"/>
                          </a:solidFill>
                          <a:latin typeface="Cambria" panose="02040503050406030204" pitchFamily="18" charset="0"/>
                        </a:rPr>
                        <a:t>ư</a:t>
                      </a:r>
                      <a:r>
                        <a:rPr lang="en-US" sz="2000">
                          <a:solidFill>
                            <a:schemeClr val="tx1"/>
                          </a:solidFill>
                          <a:latin typeface="Cambria" panose="02040503050406030204" pitchFamily="18" charset="0"/>
                        </a:rPr>
                        <a:t>ờng</a:t>
                      </a:r>
                    </a:p>
                  </a:txBody>
                  <a:tcPr/>
                </a:tc>
                <a:extLst>
                  <a:ext uri="{0D108BD9-81ED-4DB2-BD59-A6C34878D82A}">
                    <a16:rowId xmlns:a16="http://schemas.microsoft.com/office/drawing/2014/main" val="1213219265"/>
                  </a:ext>
                </a:extLst>
              </a:tr>
              <a:tr h="392113">
                <a:tc>
                  <a:txBody>
                    <a:bodyPr/>
                    <a:lstStyle/>
                    <a:p>
                      <a:r>
                        <a:rPr lang="en-US" sz="2000">
                          <a:solidFill>
                            <a:schemeClr val="tx1"/>
                          </a:solidFill>
                          <a:latin typeface="Cambria" panose="02040503050406030204" pitchFamily="18" charset="0"/>
                        </a:rPr>
                        <a:t>rjust</a:t>
                      </a:r>
                    </a:p>
                  </a:txBody>
                  <a:tcPr/>
                </a:tc>
                <a:tc>
                  <a:txBody>
                    <a:bodyPr/>
                    <a:lstStyle/>
                    <a:p>
                      <a:r>
                        <a:rPr lang="en-US" sz="2000">
                          <a:solidFill>
                            <a:schemeClr val="tx1"/>
                          </a:solidFill>
                          <a:latin typeface="Cambria" panose="02040503050406030204" pitchFamily="18" charset="0"/>
                        </a:rPr>
                        <a:t>Căn lề phải</a:t>
                      </a:r>
                    </a:p>
                  </a:txBody>
                  <a:tcPr/>
                </a:tc>
                <a:extLst>
                  <a:ext uri="{0D108BD9-81ED-4DB2-BD59-A6C34878D82A}">
                    <a16:rowId xmlns:a16="http://schemas.microsoft.com/office/drawing/2014/main" val="3565419507"/>
                  </a:ext>
                </a:extLst>
              </a:tr>
              <a:tr h="392113">
                <a:tc>
                  <a:txBody>
                    <a:bodyPr/>
                    <a:lstStyle/>
                    <a:p>
                      <a:r>
                        <a:rPr lang="en-US" sz="2000">
                          <a:solidFill>
                            <a:schemeClr val="tx1"/>
                          </a:solidFill>
                          <a:latin typeface="Cambria" panose="02040503050406030204" pitchFamily="18" charset="0"/>
                        </a:rPr>
                        <a:t>ljust</a:t>
                      </a:r>
                    </a:p>
                  </a:txBody>
                  <a:tcPr/>
                </a:tc>
                <a:tc>
                  <a:txBody>
                    <a:bodyPr/>
                    <a:lstStyle/>
                    <a:p>
                      <a:r>
                        <a:rPr lang="en-US" sz="2000">
                          <a:solidFill>
                            <a:schemeClr val="tx1"/>
                          </a:solidFill>
                          <a:latin typeface="Cambria" panose="02040503050406030204" pitchFamily="18" charset="0"/>
                        </a:rPr>
                        <a:t>Căn lề trái</a:t>
                      </a:r>
                    </a:p>
                  </a:txBody>
                  <a:tcPr/>
                </a:tc>
                <a:extLst>
                  <a:ext uri="{0D108BD9-81ED-4DB2-BD59-A6C34878D82A}">
                    <a16:rowId xmlns:a16="http://schemas.microsoft.com/office/drawing/2014/main" val="735770736"/>
                  </a:ext>
                </a:extLst>
              </a:tr>
              <a:tr h="392113">
                <a:tc>
                  <a:txBody>
                    <a:bodyPr/>
                    <a:lstStyle/>
                    <a:p>
                      <a:r>
                        <a:rPr lang="en-US" sz="2000">
                          <a:solidFill>
                            <a:schemeClr val="tx1"/>
                          </a:solidFill>
                          <a:latin typeface="Cambria" panose="02040503050406030204" pitchFamily="18" charset="0"/>
                        </a:rPr>
                        <a:t>center</a:t>
                      </a:r>
                    </a:p>
                  </a:txBody>
                  <a:tcPr/>
                </a:tc>
                <a:tc>
                  <a:txBody>
                    <a:bodyPr/>
                    <a:lstStyle/>
                    <a:p>
                      <a:r>
                        <a:rPr lang="en-US" sz="2000">
                          <a:solidFill>
                            <a:schemeClr val="tx1"/>
                          </a:solidFill>
                          <a:latin typeface="Cambria" panose="02040503050406030204" pitchFamily="18" charset="0"/>
                        </a:rPr>
                        <a:t>Căn gữa</a:t>
                      </a:r>
                    </a:p>
                  </a:txBody>
                  <a:tcPr/>
                </a:tc>
                <a:extLst>
                  <a:ext uri="{0D108BD9-81ED-4DB2-BD59-A6C34878D82A}">
                    <a16:rowId xmlns:a16="http://schemas.microsoft.com/office/drawing/2014/main" val="3652983700"/>
                  </a:ext>
                </a:extLst>
              </a:tr>
              <a:tr h="392113">
                <a:tc>
                  <a:txBody>
                    <a:bodyPr/>
                    <a:lstStyle/>
                    <a:p>
                      <a:r>
                        <a:rPr lang="en-US" sz="2000">
                          <a:solidFill>
                            <a:schemeClr val="tx1"/>
                          </a:solidFill>
                          <a:latin typeface="Cambria" panose="02040503050406030204" pitchFamily="18" charset="0"/>
                        </a:rPr>
                        <a:t>strip</a:t>
                      </a:r>
                    </a:p>
                  </a:txBody>
                  <a:tcPr/>
                </a:tc>
                <a:tc>
                  <a:txBody>
                    <a:bodyPr/>
                    <a:lstStyle/>
                    <a:p>
                      <a:r>
                        <a:rPr lang="en-US" sz="2000">
                          <a:solidFill>
                            <a:schemeClr val="tx1"/>
                          </a:solidFill>
                          <a:latin typeface="Cambria" panose="02040503050406030204" pitchFamily="18" charset="0"/>
                        </a:rPr>
                        <a:t>Xóa khoảng trắng d</a:t>
                      </a:r>
                      <a:r>
                        <a:rPr lang="vi-VN" sz="2000">
                          <a:solidFill>
                            <a:schemeClr val="tx1"/>
                          </a:solidFill>
                          <a:latin typeface="Cambria" panose="02040503050406030204" pitchFamily="18" charset="0"/>
                        </a:rPr>
                        <a:t>ư</a:t>
                      </a:r>
                      <a:r>
                        <a:rPr lang="en-US" sz="2000">
                          <a:solidFill>
                            <a:schemeClr val="tx1"/>
                          </a:solidFill>
                          <a:latin typeface="Cambria" panose="02040503050406030204" pitchFamily="18" charset="0"/>
                        </a:rPr>
                        <a:t> thừa </a:t>
                      </a:r>
                    </a:p>
                  </a:txBody>
                  <a:tcPr/>
                </a:tc>
                <a:extLst>
                  <a:ext uri="{0D108BD9-81ED-4DB2-BD59-A6C34878D82A}">
                    <a16:rowId xmlns:a16="http://schemas.microsoft.com/office/drawing/2014/main" val="3771858694"/>
                  </a:ext>
                </a:extLst>
              </a:tr>
              <a:tr h="392113">
                <a:tc>
                  <a:txBody>
                    <a:bodyPr/>
                    <a:lstStyle/>
                    <a:p>
                      <a:r>
                        <a:rPr lang="en-US" sz="2000">
                          <a:solidFill>
                            <a:schemeClr val="tx1"/>
                          </a:solidFill>
                          <a:latin typeface="Cambria" panose="02040503050406030204" pitchFamily="18" charset="0"/>
                        </a:rPr>
                        <a:t>startswith</a:t>
                      </a:r>
                    </a:p>
                  </a:txBody>
                  <a:tcPr/>
                </a:tc>
                <a:tc>
                  <a:txBody>
                    <a:bodyPr/>
                    <a:lstStyle/>
                    <a:p>
                      <a:r>
                        <a:rPr lang="en-US" sz="2000">
                          <a:solidFill>
                            <a:schemeClr val="tx1"/>
                          </a:solidFill>
                          <a:latin typeface="Cambria" panose="02040503050406030204" pitchFamily="18" charset="0"/>
                        </a:rPr>
                        <a:t>Kiểm tra Chuỗi có phải bắt đầu là ký tự ?</a:t>
                      </a:r>
                    </a:p>
                  </a:txBody>
                  <a:tcPr/>
                </a:tc>
                <a:extLst>
                  <a:ext uri="{0D108BD9-81ED-4DB2-BD59-A6C34878D82A}">
                    <a16:rowId xmlns:a16="http://schemas.microsoft.com/office/drawing/2014/main" val="2527169541"/>
                  </a:ext>
                </a:extLst>
              </a:tr>
              <a:tr h="392113">
                <a:tc>
                  <a:txBody>
                    <a:bodyPr/>
                    <a:lstStyle/>
                    <a:p>
                      <a:r>
                        <a:rPr lang="en-US" sz="2000">
                          <a:solidFill>
                            <a:schemeClr val="tx1"/>
                          </a:solidFill>
                          <a:latin typeface="Cambria" panose="02040503050406030204" pitchFamily="18" charset="0"/>
                        </a:rPr>
                        <a:t>endswith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a:solidFill>
                            <a:schemeClr val="tx1"/>
                          </a:solidFill>
                          <a:latin typeface="Cambria" panose="02040503050406030204" pitchFamily="18" charset="0"/>
                        </a:rPr>
                        <a:t>Kiểm tra Chuỗi có phải kết thúc là ký tự ?</a:t>
                      </a:r>
                    </a:p>
                  </a:txBody>
                  <a:tcPr/>
                </a:tc>
                <a:extLst>
                  <a:ext uri="{0D108BD9-81ED-4DB2-BD59-A6C34878D82A}">
                    <a16:rowId xmlns:a16="http://schemas.microsoft.com/office/drawing/2014/main" val="707216147"/>
                  </a:ext>
                </a:extLst>
              </a:tr>
              <a:tr h="392113">
                <a:tc>
                  <a:txBody>
                    <a:bodyPr/>
                    <a:lstStyle/>
                    <a:p>
                      <a:r>
                        <a:rPr lang="en-US" sz="2000">
                          <a:solidFill>
                            <a:schemeClr val="tx1"/>
                          </a:solidFill>
                          <a:latin typeface="Cambria" panose="02040503050406030204" pitchFamily="18" charset="0"/>
                        </a:rPr>
                        <a:t>count</a:t>
                      </a:r>
                    </a:p>
                  </a:txBody>
                  <a:tcPr/>
                </a:tc>
                <a:tc>
                  <a:txBody>
                    <a:bodyPr/>
                    <a:lstStyle/>
                    <a:p>
                      <a:r>
                        <a:rPr lang="en-US" sz="2000">
                          <a:solidFill>
                            <a:schemeClr val="tx1"/>
                          </a:solidFill>
                          <a:latin typeface="Cambria" panose="02040503050406030204" pitchFamily="18" charset="0"/>
                        </a:rPr>
                        <a:t>Đếm số lần xuất hiện trong Chuỗi</a:t>
                      </a:r>
                    </a:p>
                  </a:txBody>
                  <a:tcPr/>
                </a:tc>
                <a:extLst>
                  <a:ext uri="{0D108BD9-81ED-4DB2-BD59-A6C34878D82A}">
                    <a16:rowId xmlns:a16="http://schemas.microsoft.com/office/drawing/2014/main" val="3698892118"/>
                  </a:ext>
                </a:extLst>
              </a:tr>
              <a:tr h="392113">
                <a:tc>
                  <a:txBody>
                    <a:bodyPr/>
                    <a:lstStyle/>
                    <a:p>
                      <a:r>
                        <a:rPr lang="en-US" sz="2000">
                          <a:solidFill>
                            <a:schemeClr val="tx1"/>
                          </a:solidFill>
                          <a:latin typeface="Cambria" panose="02040503050406030204" pitchFamily="18" charset="0"/>
                        </a:rPr>
                        <a:t>find</a:t>
                      </a:r>
                    </a:p>
                  </a:txBody>
                  <a:tcPr/>
                </a:tc>
                <a:tc>
                  <a:txBody>
                    <a:bodyPr/>
                    <a:lstStyle/>
                    <a:p>
                      <a:r>
                        <a:rPr lang="en-US" sz="2000">
                          <a:solidFill>
                            <a:schemeClr val="tx1"/>
                          </a:solidFill>
                          <a:latin typeface="Cambria" panose="02040503050406030204" pitchFamily="18" charset="0"/>
                        </a:rPr>
                        <a:t>Tìm kiếm Chuỗi con</a:t>
                      </a:r>
                    </a:p>
                  </a:txBody>
                  <a:tcPr/>
                </a:tc>
                <a:extLst>
                  <a:ext uri="{0D108BD9-81ED-4DB2-BD59-A6C34878D82A}">
                    <a16:rowId xmlns:a16="http://schemas.microsoft.com/office/drawing/2014/main" val="3139435532"/>
                  </a:ext>
                </a:extLst>
              </a:tr>
              <a:tr h="392113">
                <a:tc>
                  <a:txBody>
                    <a:bodyPr/>
                    <a:lstStyle/>
                    <a:p>
                      <a:r>
                        <a:rPr lang="en-US" sz="2000">
                          <a:solidFill>
                            <a:schemeClr val="tx1"/>
                          </a:solidFill>
                          <a:latin typeface="Cambria" panose="02040503050406030204" pitchFamily="18" charset="0"/>
                        </a:rPr>
                        <a:t>format</a:t>
                      </a:r>
                    </a:p>
                  </a:txBody>
                  <a:tcPr/>
                </a:tc>
                <a:tc>
                  <a:txBody>
                    <a:bodyPr/>
                    <a:lstStyle/>
                    <a:p>
                      <a:r>
                        <a:rPr lang="en-US" sz="2000">
                          <a:solidFill>
                            <a:schemeClr val="tx1"/>
                          </a:solidFill>
                          <a:latin typeface="Cambria" panose="02040503050406030204" pitchFamily="18" charset="0"/>
                        </a:rPr>
                        <a:t>Định dạng Chuỗi</a:t>
                      </a:r>
                    </a:p>
                  </a:txBody>
                  <a:tcPr/>
                </a:tc>
                <a:extLst>
                  <a:ext uri="{0D108BD9-81ED-4DB2-BD59-A6C34878D82A}">
                    <a16:rowId xmlns:a16="http://schemas.microsoft.com/office/drawing/2014/main" val="1901819594"/>
                  </a:ext>
                </a:extLst>
              </a:tr>
              <a:tr h="392113">
                <a:tc>
                  <a:txBody>
                    <a:bodyPr/>
                    <a:lstStyle/>
                    <a:p>
                      <a:r>
                        <a:rPr lang="en-US" sz="2000">
                          <a:solidFill>
                            <a:schemeClr val="tx1"/>
                          </a:solidFill>
                          <a:latin typeface="Cambria" panose="02040503050406030204" pitchFamily="18" charset="0"/>
                        </a:rPr>
                        <a:t>__len__()</a:t>
                      </a:r>
                    </a:p>
                  </a:txBody>
                  <a:tcPr/>
                </a:tc>
                <a:tc>
                  <a:txBody>
                    <a:bodyPr/>
                    <a:lstStyle/>
                    <a:p>
                      <a:r>
                        <a:rPr lang="en-US" sz="2000">
                          <a:solidFill>
                            <a:schemeClr val="tx1"/>
                          </a:solidFill>
                          <a:latin typeface="Cambria" panose="02040503050406030204" pitchFamily="18" charset="0"/>
                        </a:rPr>
                        <a:t>Trả về số l</a:t>
                      </a:r>
                      <a:r>
                        <a:rPr lang="vi-VN" sz="2000">
                          <a:solidFill>
                            <a:schemeClr val="tx1"/>
                          </a:solidFill>
                          <a:latin typeface="Cambria" panose="02040503050406030204" pitchFamily="18" charset="0"/>
                        </a:rPr>
                        <a:t>ư</a:t>
                      </a:r>
                      <a:r>
                        <a:rPr lang="en-US" sz="2000">
                          <a:solidFill>
                            <a:schemeClr val="tx1"/>
                          </a:solidFill>
                          <a:latin typeface="Cambria" panose="02040503050406030204" pitchFamily="18" charset="0"/>
                        </a:rPr>
                        <a:t>ợng ký tự trong chuỗi, dùng index để lấy ký tự ra: str[index]</a:t>
                      </a:r>
                    </a:p>
                  </a:txBody>
                  <a:tcPr/>
                </a:tc>
                <a:extLst>
                  <a:ext uri="{0D108BD9-81ED-4DB2-BD59-A6C34878D82A}">
                    <a16:rowId xmlns:a16="http://schemas.microsoft.com/office/drawing/2014/main" val="259710264"/>
                  </a:ext>
                </a:extLst>
              </a:tr>
            </a:tbl>
          </a:graphicData>
        </a:graphic>
      </p:graphicFrame>
    </p:spTree>
    <p:extLst>
      <p:ext uri="{BB962C8B-B14F-4D97-AF65-F5344CB8AC3E}">
        <p14:creationId xmlns:p14="http://schemas.microsoft.com/office/powerpoint/2010/main" val="25756200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Hàm upper, lower </a:t>
            </a:r>
          </a:p>
          <a:p>
            <a:pPr>
              <a:defRPr/>
            </a:pPr>
            <a:r>
              <a:rPr lang="en-US" sz="4400" kern="0">
                <a:solidFill>
                  <a:srgbClr val="002060"/>
                </a:solidFill>
                <a:latin typeface="Cambria" panose="02040503050406030204" pitchFamily="18" charset="0"/>
              </a:rPr>
              <a:t>-in HOA-thường</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58</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4230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a:latin typeface="Cambria" panose="02040503050406030204" pitchFamily="18" charset="0"/>
                <a:cs typeface="Times New Roman" pitchFamily="18" charset="0"/>
              </a:rPr>
              <a:t>Hàm upper </a:t>
            </a:r>
            <a:r>
              <a:rPr lang="en-US" sz="2400">
                <a:latin typeface="Cambria" panose="02040503050406030204" pitchFamily="18" charset="0"/>
                <a:cs typeface="Times New Roman" pitchFamily="18" charset="0"/>
                <a:sym typeface="Wingdings" panose="05000000000000000000" pitchFamily="2" charset="2"/>
              </a:rPr>
              <a:t>đ</a:t>
            </a:r>
            <a:r>
              <a:rPr lang="vi-VN" sz="2400">
                <a:latin typeface="Cambria" panose="02040503050406030204" pitchFamily="18" charset="0"/>
                <a:cs typeface="Times New Roman" pitchFamily="18" charset="0"/>
                <a:sym typeface="Wingdings" panose="05000000000000000000" pitchFamily="2" charset="2"/>
              </a:rPr>
              <a:t>ư</a:t>
            </a:r>
            <a:r>
              <a:rPr lang="en-US" sz="2400">
                <a:latin typeface="Cambria" panose="02040503050406030204" pitchFamily="18" charset="0"/>
                <a:cs typeface="Times New Roman" pitchFamily="18" charset="0"/>
                <a:sym typeface="Wingdings" panose="05000000000000000000" pitchFamily="2" charset="2"/>
              </a:rPr>
              <a:t>a Chuỗi về In HOA</a:t>
            </a:r>
          </a:p>
          <a:p>
            <a:pPr marL="0" indent="0">
              <a:buNone/>
            </a:pPr>
            <a:r>
              <a:rPr lang="en-US" sz="2400">
                <a:latin typeface="Cambria" panose="02040503050406030204" pitchFamily="18" charset="0"/>
                <a:cs typeface="Times New Roman" pitchFamily="18" charset="0"/>
                <a:sym typeface="Wingdings" panose="05000000000000000000" pitchFamily="2" charset="2"/>
              </a:rPr>
              <a:t>Hàm lower đ</a:t>
            </a:r>
            <a:r>
              <a:rPr lang="vi-VN" sz="2400">
                <a:latin typeface="Cambria" panose="02040503050406030204" pitchFamily="18" charset="0"/>
                <a:cs typeface="Times New Roman" pitchFamily="18" charset="0"/>
                <a:sym typeface="Wingdings" panose="05000000000000000000" pitchFamily="2" charset="2"/>
              </a:rPr>
              <a:t>ư</a:t>
            </a:r>
            <a:r>
              <a:rPr lang="en-US" sz="2400">
                <a:latin typeface="Cambria" panose="02040503050406030204" pitchFamily="18" charset="0"/>
                <a:cs typeface="Times New Roman" pitchFamily="18" charset="0"/>
                <a:sym typeface="Wingdings" panose="05000000000000000000" pitchFamily="2" charset="2"/>
              </a:rPr>
              <a:t>a Chuỗi về In th</a:t>
            </a:r>
            <a:r>
              <a:rPr lang="vi-VN" sz="2400">
                <a:latin typeface="Cambria" panose="02040503050406030204" pitchFamily="18" charset="0"/>
                <a:cs typeface="Times New Roman" pitchFamily="18" charset="0"/>
                <a:sym typeface="Wingdings" panose="05000000000000000000" pitchFamily="2" charset="2"/>
              </a:rPr>
              <a:t>ư</a:t>
            </a:r>
            <a:r>
              <a:rPr lang="en-US" sz="2400">
                <a:latin typeface="Cambria" panose="02040503050406030204" pitchFamily="18" charset="0"/>
                <a:cs typeface="Times New Roman" pitchFamily="18" charset="0"/>
                <a:sym typeface="Wingdings" panose="05000000000000000000" pitchFamily="2" charset="2"/>
              </a:rPr>
              <a:t>ờng</a:t>
            </a:r>
            <a:endParaRPr lang="en-US" sz="2400">
              <a:latin typeface="Cambria" panose="02040503050406030204" pitchFamily="18" charset="0"/>
              <a:cs typeface="Times New Roman" pitchFamily="18" charset="0"/>
            </a:endParaRPr>
          </a:p>
        </p:txBody>
      </p:sp>
      <p:sp>
        <p:nvSpPr>
          <p:cNvPr id="9" name="Rectangle 8">
            <a:extLst>
              <a:ext uri="{FF2B5EF4-FFF2-40B4-BE49-F238E27FC236}">
                <a16:creationId xmlns:a16="http://schemas.microsoft.com/office/drawing/2014/main" id="{A936ED07-28FA-4184-B316-62040F936516}"/>
              </a:ext>
            </a:extLst>
          </p:cNvPr>
          <p:cNvSpPr/>
          <p:nvPr/>
        </p:nvSpPr>
        <p:spPr>
          <a:xfrm>
            <a:off x="7543800" y="2686733"/>
            <a:ext cx="2895344" cy="646331"/>
          </a:xfrm>
          <a:prstGeom prst="rect">
            <a:avLst/>
          </a:prstGeom>
        </p:spPr>
        <p:txBody>
          <a:bodyPr wrap="none">
            <a:spAutoFit/>
          </a:bodyPr>
          <a:lstStyle/>
          <a:p>
            <a:r>
              <a:rPr lang="en-US" sz="3600" dirty="0"/>
              <a:t>TRAM VU KIET</a:t>
            </a:r>
          </a:p>
        </p:txBody>
      </p:sp>
      <p:sp>
        <p:nvSpPr>
          <p:cNvPr id="12" name="Rectangle 11">
            <a:extLst>
              <a:ext uri="{FF2B5EF4-FFF2-40B4-BE49-F238E27FC236}">
                <a16:creationId xmlns:a16="http://schemas.microsoft.com/office/drawing/2014/main" id="{3D22D6B9-BA22-4205-9242-7AE64E57F4E4}"/>
              </a:ext>
            </a:extLst>
          </p:cNvPr>
          <p:cNvSpPr/>
          <p:nvPr/>
        </p:nvSpPr>
        <p:spPr>
          <a:xfrm>
            <a:off x="6502970" y="4620306"/>
            <a:ext cx="4977003" cy="646331"/>
          </a:xfrm>
          <a:prstGeom prst="rect">
            <a:avLst/>
          </a:prstGeom>
        </p:spPr>
        <p:txBody>
          <a:bodyPr wrap="none">
            <a:spAutoFit/>
          </a:bodyPr>
          <a:lstStyle/>
          <a:p>
            <a:r>
              <a:rPr lang="en-US" sz="3600" dirty="0" err="1"/>
              <a:t>Khoa</a:t>
            </a:r>
            <a:r>
              <a:rPr lang="en-US" sz="3600" dirty="0"/>
              <a:t> </a:t>
            </a:r>
            <a:r>
              <a:rPr lang="en-US" sz="3600" dirty="0" err="1"/>
              <a:t>cong</a:t>
            </a:r>
            <a:r>
              <a:rPr lang="en-US" sz="3600" dirty="0"/>
              <a:t> </a:t>
            </a:r>
            <a:r>
              <a:rPr lang="en-US" sz="3600" dirty="0" err="1"/>
              <a:t>nghe</a:t>
            </a:r>
            <a:r>
              <a:rPr lang="en-US" sz="3600" dirty="0"/>
              <a:t> thong tin</a:t>
            </a:r>
          </a:p>
        </p:txBody>
      </p:sp>
      <p:pic>
        <p:nvPicPr>
          <p:cNvPr id="11" name="Picture 10"/>
          <p:cNvPicPr>
            <a:picLocks noChangeAspect="1"/>
          </p:cNvPicPr>
          <p:nvPr/>
        </p:nvPicPr>
        <p:blipFill>
          <a:blip r:embed="rId3"/>
          <a:stretch>
            <a:fillRect/>
          </a:stretch>
        </p:blipFill>
        <p:spPr>
          <a:xfrm>
            <a:off x="502810" y="2438399"/>
            <a:ext cx="5419397" cy="1143000"/>
          </a:xfrm>
          <a:prstGeom prst="rect">
            <a:avLst/>
          </a:prstGeom>
        </p:spPr>
      </p:pic>
      <p:pic>
        <p:nvPicPr>
          <p:cNvPr id="15" name="Picture 14"/>
          <p:cNvPicPr>
            <a:picLocks noChangeAspect="1"/>
          </p:cNvPicPr>
          <p:nvPr/>
        </p:nvPicPr>
        <p:blipFill>
          <a:blip r:embed="rId4"/>
          <a:stretch>
            <a:fillRect/>
          </a:stretch>
        </p:blipFill>
        <p:spPr>
          <a:xfrm>
            <a:off x="484909" y="4497916"/>
            <a:ext cx="5437298" cy="891113"/>
          </a:xfrm>
          <a:prstGeom prst="rect">
            <a:avLst/>
          </a:prstGeom>
        </p:spPr>
      </p:pic>
      <p:sp>
        <p:nvSpPr>
          <p:cNvPr id="16" name="Right Arrow 15"/>
          <p:cNvSpPr/>
          <p:nvPr/>
        </p:nvSpPr>
        <p:spPr>
          <a:xfrm>
            <a:off x="6199603" y="2895598"/>
            <a:ext cx="1066800" cy="2286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7" name="Right Arrow 16"/>
          <p:cNvSpPr/>
          <p:nvPr/>
        </p:nvSpPr>
        <p:spPr>
          <a:xfrm>
            <a:off x="6078022" y="4829171"/>
            <a:ext cx="424948" cy="200029"/>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18193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sv-SE" sz="4400" kern="0">
                <a:solidFill>
                  <a:srgbClr val="002060"/>
                </a:solidFill>
                <a:latin typeface="Cambria" panose="02040503050406030204" pitchFamily="18" charset="0"/>
              </a:rPr>
              <a:t>Hàm căn lề rjust, ljust, center</a:t>
            </a:r>
            <a:endParaRPr lang="en-US" sz="4400" kern="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60</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08558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61</a:t>
            </a:fld>
            <a:endParaRPr lang="en-US"/>
          </a:p>
        </p:txBody>
      </p:sp>
      <p:sp>
        <p:nvSpPr>
          <p:cNvPr id="14" name="Content Placeholder 2"/>
          <p:cNvSpPr txBox="1">
            <a:spLocks/>
          </p:cNvSpPr>
          <p:nvPr/>
        </p:nvSpPr>
        <p:spPr>
          <a:xfrm>
            <a:off x="457200" y="1066800"/>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3600" dirty="0">
              <a:latin typeface="Cambria" panose="02040503050406030204" pitchFamily="18" charset="0"/>
              <a:cs typeface="Times New Roman" pitchFamily="18" charset="0"/>
            </a:endParaRPr>
          </a:p>
          <a:p>
            <a:pPr marL="0" indent="0" algn="ctr">
              <a:buNone/>
            </a:pPr>
            <a:endParaRPr lang="en-US" sz="3600" dirty="0">
              <a:latin typeface="Cambria" panose="02040503050406030204" pitchFamily="18" charset="0"/>
              <a:cs typeface="Times New Roman" pitchFamily="18" charset="0"/>
            </a:endParaRPr>
          </a:p>
          <a:p>
            <a:pPr marL="0" indent="0" algn="ctr">
              <a:buNone/>
            </a:pPr>
            <a:r>
              <a:rPr lang="en-US" sz="3600" dirty="0" err="1">
                <a:latin typeface="Cambria" panose="02040503050406030204" pitchFamily="18" charset="0"/>
                <a:cs typeface="Times New Roman" pitchFamily="18" charset="0"/>
              </a:rPr>
              <a:t>Hàm</a:t>
            </a:r>
            <a:r>
              <a:rPr lang="en-US" sz="3600" dirty="0">
                <a:latin typeface="Cambria" panose="02040503050406030204" pitchFamily="18" charset="0"/>
                <a:cs typeface="Times New Roman" pitchFamily="18" charset="0"/>
              </a:rPr>
              <a:t> </a:t>
            </a:r>
            <a:r>
              <a:rPr lang="en-US" sz="3600" dirty="0" err="1">
                <a:solidFill>
                  <a:srgbClr val="FF0000"/>
                </a:solidFill>
                <a:latin typeface="Cambria" panose="02040503050406030204" pitchFamily="18" charset="0"/>
                <a:cs typeface="Times New Roman" pitchFamily="18" charset="0"/>
              </a:rPr>
              <a:t>rjust</a:t>
            </a:r>
            <a:r>
              <a:rPr lang="en-US" sz="3600" dirty="0">
                <a:solidFill>
                  <a:srgbClr val="FF0000"/>
                </a:solidFill>
                <a:latin typeface="Cambria" panose="02040503050406030204" pitchFamily="18" charset="0"/>
                <a:cs typeface="Times New Roman" pitchFamily="18" charset="0"/>
              </a:rPr>
              <a:t> </a:t>
            </a:r>
            <a:r>
              <a:rPr lang="en-US" sz="3600" dirty="0">
                <a:latin typeface="Cambria" panose="02040503050406030204" pitchFamily="18" charset="0"/>
                <a:cs typeface="Times New Roman" pitchFamily="18" charset="0"/>
                <a:sym typeface="Wingdings" panose="05000000000000000000" pitchFamily="2" charset="2"/>
              </a:rPr>
              <a:t></a:t>
            </a:r>
            <a:r>
              <a:rPr lang="en-US" sz="3600" dirty="0" err="1">
                <a:latin typeface="Cambria" panose="02040503050406030204" pitchFamily="18" charset="0"/>
                <a:cs typeface="Times New Roman" pitchFamily="18" charset="0"/>
                <a:sym typeface="Wingdings" panose="05000000000000000000" pitchFamily="2" charset="2"/>
              </a:rPr>
              <a:t>căn</a:t>
            </a:r>
            <a:r>
              <a:rPr lang="en-US" sz="3600" dirty="0">
                <a:latin typeface="Cambria" panose="02040503050406030204" pitchFamily="18" charset="0"/>
                <a:cs typeface="Times New Roman" pitchFamily="18" charset="0"/>
                <a:sym typeface="Wingdings" panose="05000000000000000000" pitchFamily="2" charset="2"/>
              </a:rPr>
              <a:t> </a:t>
            </a:r>
            <a:r>
              <a:rPr lang="en-US" sz="3600" dirty="0" err="1">
                <a:latin typeface="Cambria" panose="02040503050406030204" pitchFamily="18" charset="0"/>
                <a:cs typeface="Times New Roman" pitchFamily="18" charset="0"/>
                <a:sym typeface="Wingdings" panose="05000000000000000000" pitchFamily="2" charset="2"/>
              </a:rPr>
              <a:t>lề</a:t>
            </a:r>
            <a:r>
              <a:rPr lang="en-US" sz="3600" dirty="0">
                <a:latin typeface="Cambria" panose="02040503050406030204" pitchFamily="18" charset="0"/>
                <a:cs typeface="Times New Roman" pitchFamily="18" charset="0"/>
                <a:sym typeface="Wingdings" panose="05000000000000000000" pitchFamily="2" charset="2"/>
              </a:rPr>
              <a:t> </a:t>
            </a:r>
            <a:r>
              <a:rPr lang="en-US" sz="3600" dirty="0" err="1">
                <a:latin typeface="Cambria" panose="02040503050406030204" pitchFamily="18" charset="0"/>
                <a:cs typeface="Times New Roman" pitchFamily="18" charset="0"/>
                <a:sym typeface="Wingdings" panose="05000000000000000000" pitchFamily="2" charset="2"/>
              </a:rPr>
              <a:t>phải</a:t>
            </a:r>
            <a:endParaRPr lang="en-US" sz="3600" dirty="0">
              <a:latin typeface="Cambria" panose="02040503050406030204" pitchFamily="18" charset="0"/>
              <a:cs typeface="Times New Roman" pitchFamily="18" charset="0"/>
              <a:sym typeface="Wingdings" panose="05000000000000000000" pitchFamily="2" charset="2"/>
            </a:endParaRPr>
          </a:p>
          <a:p>
            <a:pPr marL="0" indent="0" algn="ctr">
              <a:buNone/>
            </a:pPr>
            <a:r>
              <a:rPr lang="en-US" sz="3600" dirty="0" err="1">
                <a:latin typeface="Cambria" panose="02040503050406030204" pitchFamily="18" charset="0"/>
                <a:cs typeface="Times New Roman" pitchFamily="18" charset="0"/>
                <a:sym typeface="Wingdings" panose="05000000000000000000" pitchFamily="2" charset="2"/>
              </a:rPr>
              <a:t>Hàm</a:t>
            </a:r>
            <a:r>
              <a:rPr lang="en-US" sz="3600" dirty="0">
                <a:latin typeface="Cambria" panose="02040503050406030204" pitchFamily="18" charset="0"/>
                <a:cs typeface="Times New Roman" pitchFamily="18" charset="0"/>
                <a:sym typeface="Wingdings" panose="05000000000000000000" pitchFamily="2" charset="2"/>
              </a:rPr>
              <a:t> </a:t>
            </a:r>
            <a:r>
              <a:rPr lang="en-US" sz="3600" dirty="0" err="1">
                <a:solidFill>
                  <a:srgbClr val="00B0F0"/>
                </a:solidFill>
                <a:latin typeface="Cambria" panose="02040503050406030204" pitchFamily="18" charset="0"/>
                <a:cs typeface="Times New Roman" pitchFamily="18" charset="0"/>
              </a:rPr>
              <a:t>ljust</a:t>
            </a:r>
            <a:r>
              <a:rPr lang="en-US" sz="3600" dirty="0">
                <a:solidFill>
                  <a:srgbClr val="00B0F0"/>
                </a:solidFill>
                <a:latin typeface="Cambria" panose="02040503050406030204" pitchFamily="18" charset="0"/>
                <a:cs typeface="Times New Roman" pitchFamily="18" charset="0"/>
              </a:rPr>
              <a:t> </a:t>
            </a:r>
            <a:r>
              <a:rPr lang="en-US" sz="3600" dirty="0">
                <a:latin typeface="Cambria" panose="02040503050406030204" pitchFamily="18" charset="0"/>
                <a:cs typeface="Times New Roman" pitchFamily="18" charset="0"/>
                <a:sym typeface="Wingdings" panose="05000000000000000000" pitchFamily="2" charset="2"/>
              </a:rPr>
              <a:t> </a:t>
            </a:r>
            <a:r>
              <a:rPr lang="en-US" sz="3600" dirty="0" err="1">
                <a:latin typeface="Cambria" panose="02040503050406030204" pitchFamily="18" charset="0"/>
                <a:cs typeface="Times New Roman" pitchFamily="18" charset="0"/>
                <a:sym typeface="Wingdings" panose="05000000000000000000" pitchFamily="2" charset="2"/>
              </a:rPr>
              <a:t>căn</a:t>
            </a:r>
            <a:r>
              <a:rPr lang="en-US" sz="3600" dirty="0">
                <a:latin typeface="Cambria" panose="02040503050406030204" pitchFamily="18" charset="0"/>
                <a:cs typeface="Times New Roman" pitchFamily="18" charset="0"/>
                <a:sym typeface="Wingdings" panose="05000000000000000000" pitchFamily="2" charset="2"/>
              </a:rPr>
              <a:t> </a:t>
            </a:r>
            <a:r>
              <a:rPr lang="en-US" sz="3600" dirty="0" err="1">
                <a:latin typeface="Cambria" panose="02040503050406030204" pitchFamily="18" charset="0"/>
                <a:cs typeface="Times New Roman" pitchFamily="18" charset="0"/>
                <a:sym typeface="Wingdings" panose="05000000000000000000" pitchFamily="2" charset="2"/>
              </a:rPr>
              <a:t>lề</a:t>
            </a:r>
            <a:r>
              <a:rPr lang="en-US" sz="3600" dirty="0">
                <a:latin typeface="Cambria" panose="02040503050406030204" pitchFamily="18" charset="0"/>
                <a:cs typeface="Times New Roman" pitchFamily="18" charset="0"/>
                <a:sym typeface="Wingdings" panose="05000000000000000000" pitchFamily="2" charset="2"/>
              </a:rPr>
              <a:t> </a:t>
            </a:r>
            <a:r>
              <a:rPr lang="en-US" sz="3600" dirty="0" err="1">
                <a:latin typeface="Cambria" panose="02040503050406030204" pitchFamily="18" charset="0"/>
                <a:cs typeface="Times New Roman" pitchFamily="18" charset="0"/>
                <a:sym typeface="Wingdings" panose="05000000000000000000" pitchFamily="2" charset="2"/>
              </a:rPr>
              <a:t>trái</a:t>
            </a:r>
            <a:endParaRPr lang="en-US" sz="3600" dirty="0">
              <a:latin typeface="Cambria" panose="02040503050406030204" pitchFamily="18" charset="0"/>
              <a:cs typeface="Times New Roman" pitchFamily="18" charset="0"/>
              <a:sym typeface="Wingdings" panose="05000000000000000000" pitchFamily="2" charset="2"/>
            </a:endParaRPr>
          </a:p>
          <a:p>
            <a:pPr marL="0" indent="0" algn="ctr">
              <a:buNone/>
            </a:pPr>
            <a:r>
              <a:rPr lang="en-US" sz="3600" dirty="0" err="1">
                <a:latin typeface="Cambria" panose="02040503050406030204" pitchFamily="18" charset="0"/>
                <a:cs typeface="Times New Roman" pitchFamily="18" charset="0"/>
                <a:sym typeface="Wingdings" panose="05000000000000000000" pitchFamily="2" charset="2"/>
              </a:rPr>
              <a:t>Hàm</a:t>
            </a:r>
            <a:r>
              <a:rPr lang="en-US" sz="3600" dirty="0">
                <a:latin typeface="Cambria" panose="02040503050406030204" pitchFamily="18" charset="0"/>
                <a:cs typeface="Times New Roman" pitchFamily="18" charset="0"/>
                <a:sym typeface="Wingdings" panose="05000000000000000000" pitchFamily="2" charset="2"/>
              </a:rPr>
              <a:t> </a:t>
            </a:r>
            <a:r>
              <a:rPr lang="en-US" sz="3600" dirty="0" err="1">
                <a:solidFill>
                  <a:schemeClr val="accent6"/>
                </a:solidFill>
                <a:latin typeface="Cambria" panose="02040503050406030204" pitchFamily="18" charset="0"/>
                <a:cs typeface="Times New Roman" pitchFamily="18" charset="0"/>
                <a:sym typeface="Wingdings" panose="05000000000000000000" pitchFamily="2" charset="2"/>
              </a:rPr>
              <a:t>center</a:t>
            </a:r>
            <a:r>
              <a:rPr lang="en-US" sz="3600" dirty="0" err="1">
                <a:latin typeface="Cambria" panose="02040503050406030204" pitchFamily="18" charset="0"/>
                <a:cs typeface="Times New Roman" pitchFamily="18" charset="0"/>
                <a:sym typeface="Wingdings" panose="05000000000000000000" pitchFamily="2" charset="2"/>
              </a:rPr>
              <a:t>căn</a:t>
            </a:r>
            <a:r>
              <a:rPr lang="en-US" sz="3600" dirty="0">
                <a:latin typeface="Cambria" panose="02040503050406030204" pitchFamily="18" charset="0"/>
                <a:cs typeface="Times New Roman" pitchFamily="18" charset="0"/>
                <a:sym typeface="Wingdings" panose="05000000000000000000" pitchFamily="2" charset="2"/>
              </a:rPr>
              <a:t> </a:t>
            </a:r>
            <a:r>
              <a:rPr lang="en-US" sz="3600" dirty="0" err="1">
                <a:latin typeface="Cambria" panose="02040503050406030204" pitchFamily="18" charset="0"/>
                <a:cs typeface="Times New Roman" pitchFamily="18" charset="0"/>
                <a:sym typeface="Wingdings" panose="05000000000000000000" pitchFamily="2" charset="2"/>
              </a:rPr>
              <a:t>giữa</a:t>
            </a:r>
            <a:endParaRPr lang="en-US" sz="3600" dirty="0">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29790588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Rjust</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dirty="0" err="1">
                <a:latin typeface="Cambria" panose="02040503050406030204" pitchFamily="18" charset="0"/>
                <a:cs typeface="Times New Roman" pitchFamily="18" charset="0"/>
              </a:rPr>
              <a:t>Hàm</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rjust</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sẽ</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căn</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phải</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Chuỗi</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nếu</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truyền</a:t>
            </a:r>
            <a:r>
              <a:rPr lang="en-US" sz="2400" dirty="0">
                <a:latin typeface="Cambria" panose="02040503050406030204" pitchFamily="18" charset="0"/>
                <a:cs typeface="Times New Roman" pitchFamily="18" charset="0"/>
              </a:rPr>
              <a:t> 1 </a:t>
            </a:r>
            <a:r>
              <a:rPr lang="en-US" sz="2400" dirty="0" err="1">
                <a:latin typeface="Cambria" panose="02040503050406030204" pitchFamily="18" charset="0"/>
                <a:cs typeface="Times New Roman" pitchFamily="18" charset="0"/>
              </a:rPr>
              <a:t>đối</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số</a:t>
            </a:r>
            <a:r>
              <a:rPr lang="en-US" sz="2400" dirty="0">
                <a:latin typeface="Cambria" panose="02040503050406030204" pitchFamily="18" charset="0"/>
                <a:cs typeface="Times New Roman" pitchFamily="18" charset="0"/>
              </a:rPr>
              <a:t> Python </a:t>
            </a:r>
            <a:r>
              <a:rPr lang="en-US" sz="2400" dirty="0" err="1">
                <a:latin typeface="Cambria" panose="02040503050406030204" pitchFamily="18" charset="0"/>
                <a:cs typeface="Times New Roman" pitchFamily="18" charset="0"/>
              </a:rPr>
              <a:t>sẽ</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chèn</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khoảng</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trắng</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nếu</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có</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đối</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số</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thứ</a:t>
            </a:r>
            <a:r>
              <a:rPr lang="en-US" sz="2400" dirty="0">
                <a:latin typeface="Cambria" panose="02040503050406030204" pitchFamily="18" charset="0"/>
                <a:cs typeface="Times New Roman" pitchFamily="18" charset="0"/>
              </a:rPr>
              <a:t> 2 </a:t>
            </a:r>
            <a:r>
              <a:rPr lang="en-US" sz="2400" dirty="0" err="1">
                <a:latin typeface="Cambria" panose="02040503050406030204" pitchFamily="18" charset="0"/>
                <a:cs typeface="Times New Roman" pitchFamily="18" charset="0"/>
              </a:rPr>
              <a:t>thì</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chèn</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nó</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vào</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tr</a:t>
            </a:r>
            <a:r>
              <a:rPr lang="vi-VN" sz="2400" dirty="0">
                <a:latin typeface="Cambria" panose="02040503050406030204" pitchFamily="18" charset="0"/>
                <a:cs typeface="Times New Roman" pitchFamily="18" charset="0"/>
              </a:rPr>
              <a:t>ư</a:t>
            </a:r>
            <a:r>
              <a:rPr lang="en-US" sz="2400" dirty="0" err="1">
                <a:latin typeface="Cambria" panose="02040503050406030204" pitchFamily="18" charset="0"/>
                <a:cs typeface="Times New Roman" pitchFamily="18" charset="0"/>
              </a:rPr>
              <a:t>ớc</a:t>
            </a:r>
            <a:r>
              <a:rPr lang="en-US" sz="2400" dirty="0">
                <a:latin typeface="Cambria" panose="02040503050406030204" pitchFamily="18" charset="0"/>
                <a:cs typeface="Times New Roman" pitchFamily="18" charset="0"/>
              </a:rPr>
              <a:t>.</a:t>
            </a:r>
          </a:p>
          <a:p>
            <a:pPr marL="0" indent="0">
              <a:buNone/>
            </a:pPr>
            <a:endParaRPr lang="en-US" sz="2400" dirty="0">
              <a:latin typeface="Cambria" panose="02040503050406030204" pitchFamily="18" charset="0"/>
              <a:cs typeface="Times New Roman" pitchFamily="18" charset="0"/>
            </a:endParaRPr>
          </a:p>
          <a:p>
            <a:pPr marL="0" indent="0">
              <a:buNone/>
            </a:pPr>
            <a:endParaRPr lang="en-US" sz="2400" dirty="0">
              <a:latin typeface="Cambria" panose="02040503050406030204" pitchFamily="18" charset="0"/>
              <a:cs typeface="Times New Roman" pitchFamily="18" charset="0"/>
            </a:endParaRPr>
          </a:p>
          <a:p>
            <a:pPr marL="0" indent="0">
              <a:buNone/>
            </a:pPr>
            <a:endParaRPr lang="en-US" sz="2400" dirty="0">
              <a:latin typeface="Cambria" panose="02040503050406030204" pitchFamily="18" charset="0"/>
              <a:cs typeface="Times New Roman" pitchFamily="18" charset="0"/>
            </a:endParaRPr>
          </a:p>
          <a:p>
            <a:pPr marL="0" indent="0">
              <a:buNone/>
            </a:pPr>
            <a:endParaRPr lang="en-US" sz="2400" dirty="0">
              <a:latin typeface="Cambria" panose="02040503050406030204" pitchFamily="18" charset="0"/>
              <a:cs typeface="Times New Roman" pitchFamily="18" charset="0"/>
            </a:endParaRPr>
          </a:p>
          <a:p>
            <a:pPr marL="0" indent="0">
              <a:buNone/>
            </a:pPr>
            <a:endParaRPr lang="en-US" sz="2400" dirty="0">
              <a:latin typeface="Cambria" panose="02040503050406030204" pitchFamily="18" charset="0"/>
              <a:cs typeface="Times New Roman" pitchFamily="18" charset="0"/>
            </a:endParaRPr>
          </a:p>
          <a:p>
            <a:pPr marL="0" indent="0">
              <a:buNone/>
            </a:pPr>
            <a:r>
              <a:rPr lang="en-US" sz="2400" dirty="0">
                <a:latin typeface="Cambria" panose="02040503050406030204" pitchFamily="18" charset="0"/>
                <a:cs typeface="Times New Roman" pitchFamily="18" charset="0"/>
              </a:rPr>
              <a:t>L</a:t>
            </a:r>
            <a:r>
              <a:rPr lang="vi-VN" sz="2400" dirty="0">
                <a:latin typeface="Cambria" panose="02040503050406030204" pitchFamily="18" charset="0"/>
                <a:cs typeface="Times New Roman" pitchFamily="18" charset="0"/>
              </a:rPr>
              <a:t>ư</a:t>
            </a:r>
            <a:r>
              <a:rPr lang="en-US" sz="2400" dirty="0">
                <a:latin typeface="Cambria" panose="02040503050406030204" pitchFamily="18" charset="0"/>
                <a:cs typeface="Times New Roman" pitchFamily="18" charset="0"/>
              </a:rPr>
              <a:t>u ý </a:t>
            </a:r>
            <a:r>
              <a:rPr lang="en-US" sz="2400" dirty="0" err="1">
                <a:latin typeface="Cambria" panose="02040503050406030204" pitchFamily="18" charset="0"/>
                <a:cs typeface="Times New Roman" pitchFamily="18" charset="0"/>
              </a:rPr>
              <a:t>nếu</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số</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ký</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tự</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chèn</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nhỏ</a:t>
            </a:r>
            <a:r>
              <a:rPr lang="en-US" sz="2400" dirty="0">
                <a:latin typeface="Cambria" panose="02040503050406030204" pitchFamily="18" charset="0"/>
                <a:cs typeface="Times New Roman" pitchFamily="18" charset="0"/>
              </a:rPr>
              <a:t> h</a:t>
            </a:r>
            <a:r>
              <a:rPr lang="vi-VN" sz="2400" dirty="0">
                <a:latin typeface="Cambria" panose="02040503050406030204" pitchFamily="18" charset="0"/>
                <a:cs typeface="Times New Roman" pitchFamily="18" charset="0"/>
              </a:rPr>
              <a:t>ơ</a:t>
            </a:r>
            <a:r>
              <a:rPr lang="en-US" sz="2400" dirty="0">
                <a:latin typeface="Cambria" panose="02040503050406030204" pitchFamily="18" charset="0"/>
                <a:cs typeface="Times New Roman" pitchFamily="18" charset="0"/>
              </a:rPr>
              <a:t>n </a:t>
            </a:r>
            <a:r>
              <a:rPr lang="en-US" sz="2400" dirty="0" err="1">
                <a:latin typeface="Cambria" panose="02040503050406030204" pitchFamily="18" charset="0"/>
                <a:cs typeface="Times New Roman" pitchFamily="18" charset="0"/>
              </a:rPr>
              <a:t>chuỗi</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gốc</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thì</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không</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có</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gì</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thay</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đổi</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tr</a:t>
            </a:r>
            <a:r>
              <a:rPr lang="vi-VN" sz="2400" dirty="0">
                <a:latin typeface="Cambria" panose="02040503050406030204" pitchFamily="18" charset="0"/>
                <a:cs typeface="Times New Roman" pitchFamily="18" charset="0"/>
              </a:rPr>
              <a:t>ư</a:t>
            </a:r>
            <a:r>
              <a:rPr lang="en-US" sz="2400" dirty="0" err="1">
                <a:latin typeface="Cambria" panose="02040503050406030204" pitchFamily="18" charset="0"/>
                <a:cs typeface="Times New Roman" pitchFamily="18" charset="0"/>
              </a:rPr>
              <a:t>ờng</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hợp</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rjust</a:t>
            </a:r>
            <a:r>
              <a:rPr lang="en-US" sz="2400" dirty="0">
                <a:latin typeface="Cambria" panose="02040503050406030204" pitchFamily="18" charset="0"/>
                <a:cs typeface="Times New Roman" pitchFamily="18" charset="0"/>
              </a:rPr>
              <a:t>(3, “*”))</a:t>
            </a:r>
          </a:p>
        </p:txBody>
      </p:sp>
      <p:pic>
        <p:nvPicPr>
          <p:cNvPr id="8" name="Picture 7">
            <a:extLst>
              <a:ext uri="{FF2B5EF4-FFF2-40B4-BE49-F238E27FC236}">
                <a16:creationId xmlns:a16="http://schemas.microsoft.com/office/drawing/2014/main" id="{89E3FF13-DA43-4247-9BF0-3EC04172CE11}"/>
              </a:ext>
            </a:extLst>
          </p:cNvPr>
          <p:cNvPicPr>
            <a:picLocks noChangeAspect="1"/>
          </p:cNvPicPr>
          <p:nvPr/>
        </p:nvPicPr>
        <p:blipFill>
          <a:blip r:embed="rId3"/>
          <a:stretch>
            <a:fillRect/>
          </a:stretch>
        </p:blipFill>
        <p:spPr>
          <a:xfrm>
            <a:off x="1129507" y="2238375"/>
            <a:ext cx="3648075" cy="1609725"/>
          </a:xfrm>
          <a:prstGeom prst="rect">
            <a:avLst/>
          </a:prstGeom>
        </p:spPr>
      </p:pic>
      <p:pic>
        <p:nvPicPr>
          <p:cNvPr id="9" name="Picture 8">
            <a:extLst>
              <a:ext uri="{FF2B5EF4-FFF2-40B4-BE49-F238E27FC236}">
                <a16:creationId xmlns:a16="http://schemas.microsoft.com/office/drawing/2014/main" id="{74FF6D68-BD1D-4E8A-AE07-1C8EDA6F4253}"/>
              </a:ext>
            </a:extLst>
          </p:cNvPr>
          <p:cNvPicPr>
            <a:picLocks noChangeAspect="1"/>
          </p:cNvPicPr>
          <p:nvPr/>
        </p:nvPicPr>
        <p:blipFill>
          <a:blip r:embed="rId4"/>
          <a:stretch>
            <a:fillRect/>
          </a:stretch>
        </p:blipFill>
        <p:spPr>
          <a:xfrm>
            <a:off x="7379011" y="2552700"/>
            <a:ext cx="2314575" cy="1295400"/>
          </a:xfrm>
          <a:prstGeom prst="rect">
            <a:avLst/>
          </a:prstGeom>
          <a:ln>
            <a:solidFill>
              <a:schemeClr val="accent1"/>
            </a:solidFill>
          </a:ln>
        </p:spPr>
      </p:pic>
      <p:sp>
        <p:nvSpPr>
          <p:cNvPr id="10" name="Arrow: Right 9">
            <a:extLst>
              <a:ext uri="{FF2B5EF4-FFF2-40B4-BE49-F238E27FC236}">
                <a16:creationId xmlns:a16="http://schemas.microsoft.com/office/drawing/2014/main" id="{1629D2A2-C13B-4752-9D50-BA1E3EA83CA3}"/>
              </a:ext>
            </a:extLst>
          </p:cNvPr>
          <p:cNvSpPr/>
          <p:nvPr/>
        </p:nvSpPr>
        <p:spPr>
          <a:xfrm>
            <a:off x="5375500" y="2953992"/>
            <a:ext cx="1600200" cy="38100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15500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ljust</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a:latin typeface="Cambria" panose="02040503050406030204" pitchFamily="18" charset="0"/>
                <a:cs typeface="Times New Roman" pitchFamily="18" charset="0"/>
              </a:rPr>
              <a:t>Hàm ljust sẽ căn trái Chuỗi, nếu truyền 1 đối số Python sẽ chèn khoảng trắng đằng sau, nếu có đối số thứ 2 thì chèn nó vào sau.</a:t>
            </a:r>
          </a:p>
          <a:p>
            <a:pPr marL="0" indent="0">
              <a:buNone/>
            </a:pPr>
            <a:endParaRPr lang="en-US" sz="2400">
              <a:latin typeface="Cambria" panose="02040503050406030204" pitchFamily="18" charset="0"/>
              <a:cs typeface="Times New Roman" pitchFamily="18" charset="0"/>
            </a:endParaRPr>
          </a:p>
          <a:p>
            <a:pPr marL="0" indent="0">
              <a:buNone/>
            </a:pPr>
            <a:endParaRPr lang="en-US" sz="2400">
              <a:latin typeface="Cambria" panose="02040503050406030204" pitchFamily="18" charset="0"/>
              <a:cs typeface="Times New Roman" pitchFamily="18" charset="0"/>
            </a:endParaRPr>
          </a:p>
          <a:p>
            <a:pPr marL="0" indent="0">
              <a:buNone/>
            </a:pPr>
            <a:endParaRPr lang="en-US" sz="2400">
              <a:latin typeface="Cambria" panose="02040503050406030204" pitchFamily="18" charset="0"/>
              <a:cs typeface="Times New Roman" pitchFamily="18" charset="0"/>
            </a:endParaRPr>
          </a:p>
          <a:p>
            <a:pPr marL="0" indent="0">
              <a:buNone/>
            </a:pPr>
            <a:endParaRPr lang="en-US" sz="2400">
              <a:latin typeface="Cambria" panose="02040503050406030204" pitchFamily="18" charset="0"/>
              <a:cs typeface="Times New Roman" pitchFamily="18" charset="0"/>
            </a:endParaRPr>
          </a:p>
          <a:p>
            <a:pPr marL="0" indent="0">
              <a:buNone/>
            </a:pPr>
            <a:endParaRPr lang="en-US" sz="2400">
              <a:latin typeface="Cambria" panose="02040503050406030204" pitchFamily="18" charset="0"/>
              <a:cs typeface="Times New Roman" pitchFamily="18" charset="0"/>
            </a:endParaRPr>
          </a:p>
          <a:p>
            <a:pPr marL="0" indent="0">
              <a:buNone/>
            </a:pPr>
            <a:endParaRPr lang="en-US" sz="2400">
              <a:latin typeface="Cambria" panose="02040503050406030204" pitchFamily="18" charset="0"/>
              <a:cs typeface="Times New Roman" pitchFamily="18" charset="0"/>
            </a:endParaRPr>
          </a:p>
          <a:p>
            <a:pPr marL="0" indent="0">
              <a:buNone/>
            </a:pPr>
            <a:endParaRPr lang="en-US" sz="2400">
              <a:latin typeface="Cambria" panose="02040503050406030204" pitchFamily="18" charset="0"/>
              <a:cs typeface="Times New Roman" pitchFamily="18" charset="0"/>
            </a:endParaRPr>
          </a:p>
          <a:p>
            <a:pPr marL="0" indent="0">
              <a:buNone/>
            </a:pPr>
            <a:r>
              <a:rPr lang="en-US" sz="2400">
                <a:latin typeface="Cambria" panose="02040503050406030204" pitchFamily="18" charset="0"/>
                <a:cs typeface="Times New Roman" pitchFamily="18" charset="0"/>
              </a:rPr>
              <a:t>L</a:t>
            </a:r>
            <a:r>
              <a:rPr lang="vi-VN" sz="2400">
                <a:latin typeface="Cambria" panose="02040503050406030204" pitchFamily="18" charset="0"/>
                <a:cs typeface="Times New Roman" pitchFamily="18" charset="0"/>
              </a:rPr>
              <a:t>ư</a:t>
            </a:r>
            <a:r>
              <a:rPr lang="en-US" sz="2400">
                <a:latin typeface="Cambria" panose="02040503050406030204" pitchFamily="18" charset="0"/>
                <a:cs typeface="Times New Roman" pitchFamily="18" charset="0"/>
              </a:rPr>
              <a:t>u ý nếu số ký tự muốn chèn nhỏ h</a:t>
            </a:r>
            <a:r>
              <a:rPr lang="vi-VN" sz="2400">
                <a:latin typeface="Cambria" panose="02040503050406030204" pitchFamily="18" charset="0"/>
                <a:cs typeface="Times New Roman" pitchFamily="18" charset="0"/>
              </a:rPr>
              <a:t>ơ</a:t>
            </a:r>
            <a:r>
              <a:rPr lang="en-US" sz="2400">
                <a:latin typeface="Cambria" panose="02040503050406030204" pitchFamily="18" charset="0"/>
                <a:cs typeface="Times New Roman" pitchFamily="18" charset="0"/>
              </a:rPr>
              <a:t>n Chuỗi gốc thì không có gì thay đổi</a:t>
            </a:r>
          </a:p>
          <a:p>
            <a:pPr marL="0" indent="0">
              <a:buNone/>
            </a:pPr>
            <a:endParaRPr lang="en-US" sz="2400">
              <a:latin typeface="Cambria" panose="02040503050406030204" pitchFamily="18" charset="0"/>
              <a:cs typeface="Times New Roman" pitchFamily="18" charset="0"/>
            </a:endParaRPr>
          </a:p>
          <a:p>
            <a:pPr marL="0" indent="0">
              <a:buNone/>
            </a:pPr>
            <a:endParaRPr lang="en-US" sz="2400">
              <a:latin typeface="Cambria" panose="02040503050406030204" pitchFamily="18" charset="0"/>
              <a:cs typeface="Times New Roman" pitchFamily="18" charset="0"/>
            </a:endParaRPr>
          </a:p>
          <a:p>
            <a:pPr marL="0" indent="0">
              <a:buNone/>
            </a:pPr>
            <a:endParaRPr lang="en-US" sz="2400">
              <a:latin typeface="Cambria" panose="02040503050406030204" pitchFamily="18" charset="0"/>
              <a:cs typeface="Times New Roman" pitchFamily="18" charset="0"/>
            </a:endParaRPr>
          </a:p>
          <a:p>
            <a:pPr marL="0" indent="0">
              <a:buNone/>
            </a:pPr>
            <a:endParaRPr lang="en-US" sz="2400">
              <a:latin typeface="Cambria" panose="02040503050406030204" pitchFamily="18" charset="0"/>
              <a:cs typeface="Times New Roman" pitchFamily="18" charset="0"/>
            </a:endParaRPr>
          </a:p>
          <a:p>
            <a:pPr marL="0" indent="0">
              <a:buNone/>
            </a:pPr>
            <a:endParaRPr lang="en-US" sz="2400">
              <a:latin typeface="Cambria" panose="02040503050406030204" pitchFamily="18" charset="0"/>
              <a:cs typeface="Times New Roman" pitchFamily="18" charset="0"/>
            </a:endParaRPr>
          </a:p>
        </p:txBody>
      </p:sp>
      <p:pic>
        <p:nvPicPr>
          <p:cNvPr id="11" name="Picture 10">
            <a:extLst>
              <a:ext uri="{FF2B5EF4-FFF2-40B4-BE49-F238E27FC236}">
                <a16:creationId xmlns:a16="http://schemas.microsoft.com/office/drawing/2014/main" id="{3BAC89F0-A925-4CE2-ADA9-DDBF88BF99EA}"/>
              </a:ext>
            </a:extLst>
          </p:cNvPr>
          <p:cNvPicPr>
            <a:picLocks noChangeAspect="1"/>
          </p:cNvPicPr>
          <p:nvPr/>
        </p:nvPicPr>
        <p:blipFill>
          <a:blip r:embed="rId3"/>
          <a:stretch>
            <a:fillRect/>
          </a:stretch>
        </p:blipFill>
        <p:spPr>
          <a:xfrm>
            <a:off x="1066800" y="2190750"/>
            <a:ext cx="3429000" cy="2476500"/>
          </a:xfrm>
          <a:prstGeom prst="rect">
            <a:avLst/>
          </a:prstGeom>
        </p:spPr>
      </p:pic>
      <p:pic>
        <p:nvPicPr>
          <p:cNvPr id="12" name="Picture 11">
            <a:extLst>
              <a:ext uri="{FF2B5EF4-FFF2-40B4-BE49-F238E27FC236}">
                <a16:creationId xmlns:a16="http://schemas.microsoft.com/office/drawing/2014/main" id="{C432654F-9EC2-4357-A5B3-22A2A48DE0F1}"/>
              </a:ext>
            </a:extLst>
          </p:cNvPr>
          <p:cNvPicPr>
            <a:picLocks noChangeAspect="1"/>
          </p:cNvPicPr>
          <p:nvPr/>
        </p:nvPicPr>
        <p:blipFill>
          <a:blip r:embed="rId4"/>
          <a:stretch>
            <a:fillRect/>
          </a:stretch>
        </p:blipFill>
        <p:spPr>
          <a:xfrm>
            <a:off x="6800852" y="2500312"/>
            <a:ext cx="1790700" cy="1857375"/>
          </a:xfrm>
          <a:prstGeom prst="rect">
            <a:avLst/>
          </a:prstGeom>
          <a:ln>
            <a:solidFill>
              <a:schemeClr val="accent1"/>
            </a:solidFill>
          </a:ln>
        </p:spPr>
      </p:pic>
      <p:sp>
        <p:nvSpPr>
          <p:cNvPr id="15" name="Arrow: Right 14">
            <a:extLst>
              <a:ext uri="{FF2B5EF4-FFF2-40B4-BE49-F238E27FC236}">
                <a16:creationId xmlns:a16="http://schemas.microsoft.com/office/drawing/2014/main" id="{B6112545-4563-444C-99A1-50A7FD4827FF}"/>
              </a:ext>
            </a:extLst>
          </p:cNvPr>
          <p:cNvSpPr/>
          <p:nvPr/>
        </p:nvSpPr>
        <p:spPr>
          <a:xfrm>
            <a:off x="4305300" y="3018182"/>
            <a:ext cx="1600200" cy="38100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70742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center</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a:latin typeface="Cambria" panose="02040503050406030204" pitchFamily="18" charset="0"/>
                <a:cs typeface="Times New Roman" pitchFamily="18" charset="0"/>
              </a:rPr>
              <a:t>Hàm center căn giữa Chuỗi, nó tự đẩy khoảng trắng 2 bên sao cho tổng ký tự bằng giá trị muốn truyền vào. Nếu có đối số thứ 2 thì thay khoảng trắng bằng ký tự mới này</a:t>
            </a:r>
          </a:p>
          <a:p>
            <a:pPr marL="0" indent="0">
              <a:buNone/>
            </a:pPr>
            <a:endParaRPr lang="en-US" sz="2400">
              <a:latin typeface="Cambria" panose="02040503050406030204" pitchFamily="18" charset="0"/>
              <a:cs typeface="Times New Roman" pitchFamily="18" charset="0"/>
            </a:endParaRPr>
          </a:p>
          <a:p>
            <a:pPr marL="0" indent="0">
              <a:buNone/>
            </a:pPr>
            <a:endParaRPr lang="en-US" sz="2400">
              <a:latin typeface="Cambria" panose="02040503050406030204" pitchFamily="18" charset="0"/>
              <a:cs typeface="Times New Roman" pitchFamily="18" charset="0"/>
            </a:endParaRPr>
          </a:p>
          <a:p>
            <a:pPr marL="0" indent="0">
              <a:buNone/>
            </a:pPr>
            <a:endParaRPr lang="en-US" sz="2400">
              <a:latin typeface="Cambria" panose="02040503050406030204" pitchFamily="18" charset="0"/>
              <a:cs typeface="Times New Roman" pitchFamily="18" charset="0"/>
            </a:endParaRPr>
          </a:p>
          <a:p>
            <a:pPr marL="0" indent="0">
              <a:buNone/>
            </a:pPr>
            <a:endParaRPr lang="en-US" sz="2400">
              <a:latin typeface="Cambria" panose="02040503050406030204" pitchFamily="18" charset="0"/>
              <a:cs typeface="Times New Roman" pitchFamily="18" charset="0"/>
            </a:endParaRPr>
          </a:p>
          <a:p>
            <a:pPr marL="0" indent="0">
              <a:buNone/>
            </a:pPr>
            <a:r>
              <a:rPr lang="en-US" sz="2400">
                <a:latin typeface="Cambria" panose="02040503050406030204" pitchFamily="18" charset="0"/>
                <a:cs typeface="Times New Roman" pitchFamily="18" charset="0"/>
              </a:rPr>
              <a:t>Lưu ý: Nếu số l</a:t>
            </a:r>
            <a:r>
              <a:rPr lang="vi-VN" sz="2400">
                <a:latin typeface="Cambria" panose="02040503050406030204" pitchFamily="18" charset="0"/>
                <a:cs typeface="Times New Roman" pitchFamily="18" charset="0"/>
              </a:rPr>
              <a:t>ư</a:t>
            </a:r>
            <a:r>
              <a:rPr lang="en-US" sz="2400">
                <a:latin typeface="Cambria" panose="02040503050406030204" pitchFamily="18" charset="0"/>
                <a:cs typeface="Times New Roman" pitchFamily="18" charset="0"/>
              </a:rPr>
              <a:t>ợng căn giữa mà nhỏ h</a:t>
            </a:r>
            <a:r>
              <a:rPr lang="vi-VN" sz="2400">
                <a:latin typeface="Cambria" panose="02040503050406030204" pitchFamily="18" charset="0"/>
                <a:cs typeface="Times New Roman" pitchFamily="18" charset="0"/>
              </a:rPr>
              <a:t>ơ</a:t>
            </a:r>
            <a:r>
              <a:rPr lang="en-US" sz="2400">
                <a:latin typeface="Cambria" panose="02040503050406030204" pitchFamily="18" charset="0"/>
                <a:cs typeface="Times New Roman" pitchFamily="18" charset="0"/>
              </a:rPr>
              <a:t>n số ký tự gốc thì không có gì thay đổi.</a:t>
            </a:r>
          </a:p>
        </p:txBody>
      </p:sp>
      <p:pic>
        <p:nvPicPr>
          <p:cNvPr id="8" name="Picture 7">
            <a:extLst>
              <a:ext uri="{FF2B5EF4-FFF2-40B4-BE49-F238E27FC236}">
                <a16:creationId xmlns:a16="http://schemas.microsoft.com/office/drawing/2014/main" id="{515F956B-515B-41C0-AA2C-D392A62A7ACB}"/>
              </a:ext>
            </a:extLst>
          </p:cNvPr>
          <p:cNvPicPr>
            <a:picLocks noChangeAspect="1"/>
          </p:cNvPicPr>
          <p:nvPr/>
        </p:nvPicPr>
        <p:blipFill>
          <a:blip r:embed="rId3"/>
          <a:stretch>
            <a:fillRect/>
          </a:stretch>
        </p:blipFill>
        <p:spPr>
          <a:xfrm>
            <a:off x="838200" y="2238375"/>
            <a:ext cx="3609975" cy="1190625"/>
          </a:xfrm>
          <a:prstGeom prst="rect">
            <a:avLst/>
          </a:prstGeom>
        </p:spPr>
      </p:pic>
      <p:pic>
        <p:nvPicPr>
          <p:cNvPr id="9" name="Picture 8">
            <a:extLst>
              <a:ext uri="{FF2B5EF4-FFF2-40B4-BE49-F238E27FC236}">
                <a16:creationId xmlns:a16="http://schemas.microsoft.com/office/drawing/2014/main" id="{2F0E0343-05DA-44DF-B94F-EAFA491069A4}"/>
              </a:ext>
            </a:extLst>
          </p:cNvPr>
          <p:cNvPicPr>
            <a:picLocks noChangeAspect="1"/>
          </p:cNvPicPr>
          <p:nvPr/>
        </p:nvPicPr>
        <p:blipFill>
          <a:blip r:embed="rId4"/>
          <a:stretch>
            <a:fillRect/>
          </a:stretch>
        </p:blipFill>
        <p:spPr>
          <a:xfrm>
            <a:off x="7606058" y="2395537"/>
            <a:ext cx="3133725" cy="876300"/>
          </a:xfrm>
          <a:prstGeom prst="rect">
            <a:avLst/>
          </a:prstGeom>
          <a:ln>
            <a:solidFill>
              <a:schemeClr val="accent1"/>
            </a:solidFill>
          </a:ln>
        </p:spPr>
      </p:pic>
      <p:sp>
        <p:nvSpPr>
          <p:cNvPr id="16" name="Arrow: Right 15">
            <a:extLst>
              <a:ext uri="{FF2B5EF4-FFF2-40B4-BE49-F238E27FC236}">
                <a16:creationId xmlns:a16="http://schemas.microsoft.com/office/drawing/2014/main" id="{CD9045A3-D9BA-4283-952E-96C413EB9C65}"/>
              </a:ext>
            </a:extLst>
          </p:cNvPr>
          <p:cNvSpPr/>
          <p:nvPr/>
        </p:nvSpPr>
        <p:spPr>
          <a:xfrm>
            <a:off x="5029200" y="2643187"/>
            <a:ext cx="1600200" cy="38100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73956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vi-VN" sz="4400" kern="0">
                <a:solidFill>
                  <a:srgbClr val="002060"/>
                </a:solidFill>
                <a:latin typeface="Cambria" panose="02040503050406030204" pitchFamily="18" charset="0"/>
              </a:rPr>
              <a:t>Hàm xóa khoảng trắng dư thừa </a:t>
            </a:r>
            <a:r>
              <a:rPr lang="en-US" sz="4400" kern="0">
                <a:solidFill>
                  <a:srgbClr val="002060"/>
                </a:solidFill>
                <a:latin typeface="Cambria" panose="02040503050406030204" pitchFamily="18" charset="0"/>
              </a:rPr>
              <a:t>s</a:t>
            </a:r>
            <a:r>
              <a:rPr lang="vi-VN" sz="4400" kern="0">
                <a:solidFill>
                  <a:srgbClr val="002060"/>
                </a:solidFill>
                <a:latin typeface="Cambria" panose="02040503050406030204" pitchFamily="18" charset="0"/>
              </a:rPr>
              <a:t>trip</a:t>
            </a:r>
            <a:endParaRPr lang="en-US" sz="4400" kern="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65</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93499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a:latin typeface="Cambria" panose="02040503050406030204" pitchFamily="18" charset="0"/>
                <a:cs typeface="Times New Roman" pitchFamily="18" charset="0"/>
              </a:rPr>
              <a:t>Để xóa khoảng trắng d</a:t>
            </a:r>
            <a:r>
              <a:rPr lang="vi-VN" sz="2400">
                <a:latin typeface="Cambria" panose="02040503050406030204" pitchFamily="18" charset="0"/>
                <a:cs typeface="Times New Roman" pitchFamily="18" charset="0"/>
              </a:rPr>
              <a:t>ư</a:t>
            </a:r>
            <a:r>
              <a:rPr lang="en-US" sz="2400">
                <a:latin typeface="Cambria" panose="02040503050406030204" pitchFamily="18" charset="0"/>
                <a:cs typeface="Times New Roman" pitchFamily="18" charset="0"/>
              </a:rPr>
              <a:t> thừa, Python hỗ trợ hàm trip</a:t>
            </a:r>
          </a:p>
        </p:txBody>
      </p:sp>
      <p:pic>
        <p:nvPicPr>
          <p:cNvPr id="8" name="Picture 7">
            <a:extLst>
              <a:ext uri="{FF2B5EF4-FFF2-40B4-BE49-F238E27FC236}">
                <a16:creationId xmlns:a16="http://schemas.microsoft.com/office/drawing/2014/main" id="{0391AC1E-853D-40EB-94F3-D697DED9DD52}"/>
              </a:ext>
            </a:extLst>
          </p:cNvPr>
          <p:cNvPicPr>
            <a:picLocks noChangeAspect="1"/>
          </p:cNvPicPr>
          <p:nvPr/>
        </p:nvPicPr>
        <p:blipFill>
          <a:blip r:embed="rId3"/>
          <a:stretch>
            <a:fillRect/>
          </a:stretch>
        </p:blipFill>
        <p:spPr>
          <a:xfrm>
            <a:off x="2743200" y="1676400"/>
            <a:ext cx="5495925" cy="1885950"/>
          </a:xfrm>
          <a:prstGeom prst="rect">
            <a:avLst/>
          </a:prstGeom>
        </p:spPr>
      </p:pic>
      <p:pic>
        <p:nvPicPr>
          <p:cNvPr id="9" name="Picture 8">
            <a:extLst>
              <a:ext uri="{FF2B5EF4-FFF2-40B4-BE49-F238E27FC236}">
                <a16:creationId xmlns:a16="http://schemas.microsoft.com/office/drawing/2014/main" id="{A173FD4F-54DF-452F-824B-52411FF61002}"/>
              </a:ext>
            </a:extLst>
          </p:cNvPr>
          <p:cNvPicPr>
            <a:picLocks noChangeAspect="1"/>
          </p:cNvPicPr>
          <p:nvPr/>
        </p:nvPicPr>
        <p:blipFill>
          <a:blip r:embed="rId4"/>
          <a:stretch>
            <a:fillRect/>
          </a:stretch>
        </p:blipFill>
        <p:spPr>
          <a:xfrm>
            <a:off x="2895600" y="4595605"/>
            <a:ext cx="4705350" cy="1219200"/>
          </a:xfrm>
          <a:prstGeom prst="rect">
            <a:avLst/>
          </a:prstGeom>
        </p:spPr>
      </p:pic>
      <p:sp>
        <p:nvSpPr>
          <p:cNvPr id="10" name="Arrow: Down 9">
            <a:extLst>
              <a:ext uri="{FF2B5EF4-FFF2-40B4-BE49-F238E27FC236}">
                <a16:creationId xmlns:a16="http://schemas.microsoft.com/office/drawing/2014/main" id="{16655BC3-D852-4800-A23E-FBED007C90FA}"/>
              </a:ext>
            </a:extLst>
          </p:cNvPr>
          <p:cNvSpPr/>
          <p:nvPr/>
        </p:nvSpPr>
        <p:spPr>
          <a:xfrm>
            <a:off x="4876800" y="3700462"/>
            <a:ext cx="381000" cy="719138"/>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57834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vi-VN" sz="4400" kern="0">
                <a:solidFill>
                  <a:srgbClr val="002060"/>
                </a:solidFill>
                <a:latin typeface="Cambria" panose="02040503050406030204" pitchFamily="18" charset="0"/>
              </a:rPr>
              <a:t>Hàm startsWith, endsWith</a:t>
            </a:r>
            <a:endParaRPr lang="en-US" sz="4400" kern="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67</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14512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68</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dirty="0" err="1">
                <a:solidFill>
                  <a:srgbClr val="00B050"/>
                </a:solidFill>
                <a:latin typeface="Cambria" panose="02040503050406030204" pitchFamily="18" charset="0"/>
                <a:cs typeface="Times New Roman" pitchFamily="18" charset="0"/>
              </a:rPr>
              <a:t>startswith</a:t>
            </a:r>
            <a:r>
              <a:rPr lang="en-US" sz="2400" dirty="0">
                <a:solidFill>
                  <a:srgbClr val="00B050"/>
                </a:solidFill>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để</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kiểm</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tra</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Chuỗi</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có</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bắt</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đầu</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bằng</a:t>
            </a:r>
            <a:r>
              <a:rPr lang="en-US" sz="2400" dirty="0">
                <a:latin typeface="Cambria" panose="02040503050406030204" pitchFamily="18" charset="0"/>
                <a:cs typeface="Times New Roman" pitchFamily="18" charset="0"/>
              </a:rPr>
              <a:t> 1 </a:t>
            </a:r>
            <a:r>
              <a:rPr lang="en-US" sz="2400" dirty="0" err="1">
                <a:latin typeface="Cambria" panose="02040503050406030204" pitchFamily="18" charset="0"/>
                <a:cs typeface="Times New Roman" pitchFamily="18" charset="0"/>
              </a:rPr>
              <a:t>chuỗi</a:t>
            </a:r>
            <a:r>
              <a:rPr lang="en-US" sz="2400" dirty="0">
                <a:latin typeface="Cambria" panose="02040503050406030204" pitchFamily="18" charset="0"/>
                <a:cs typeface="Times New Roman" pitchFamily="18" charset="0"/>
              </a:rPr>
              <a:t> con </a:t>
            </a:r>
            <a:r>
              <a:rPr lang="en-US" sz="2400" dirty="0" err="1">
                <a:latin typeface="Cambria" panose="02040503050406030204" pitchFamily="18" charset="0"/>
                <a:cs typeface="Times New Roman" pitchFamily="18" charset="0"/>
              </a:rPr>
              <a:t>nào</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đó</a:t>
            </a:r>
            <a:r>
              <a:rPr lang="en-US" sz="2400" dirty="0">
                <a:latin typeface="Cambria" panose="02040503050406030204" pitchFamily="18" charset="0"/>
                <a:cs typeface="Times New Roman" pitchFamily="18" charset="0"/>
              </a:rPr>
              <a:t> hay </a:t>
            </a:r>
            <a:r>
              <a:rPr lang="en-US" sz="2400" dirty="0" err="1">
                <a:latin typeface="Cambria" panose="02040503050406030204" pitchFamily="18" charset="0"/>
                <a:cs typeface="Times New Roman" pitchFamily="18" charset="0"/>
              </a:rPr>
              <a:t>không</a:t>
            </a:r>
            <a:endParaRPr lang="en-US" sz="2400" dirty="0">
              <a:latin typeface="Cambria" panose="02040503050406030204" pitchFamily="18" charset="0"/>
              <a:cs typeface="Times New Roman" pitchFamily="18" charset="0"/>
            </a:endParaRPr>
          </a:p>
          <a:p>
            <a:pPr marL="0" indent="0">
              <a:buNone/>
            </a:pPr>
            <a:r>
              <a:rPr lang="en-US" sz="2400" b="1" dirty="0" err="1">
                <a:solidFill>
                  <a:srgbClr val="FF0000"/>
                </a:solidFill>
                <a:latin typeface="Cambria" panose="02040503050406030204" pitchFamily="18" charset="0"/>
                <a:cs typeface="Times New Roman" pitchFamily="18" charset="0"/>
              </a:rPr>
              <a:t>endswith</a:t>
            </a:r>
            <a:r>
              <a:rPr lang="en-US" sz="2400" dirty="0">
                <a:solidFill>
                  <a:srgbClr val="FF0000"/>
                </a:solidFill>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để</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kiểm</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tra</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Chuỗi</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có</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kết</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thúc</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bằng</a:t>
            </a:r>
            <a:r>
              <a:rPr lang="en-US" sz="2400" dirty="0">
                <a:latin typeface="Cambria" panose="02040503050406030204" pitchFamily="18" charset="0"/>
                <a:cs typeface="Times New Roman" pitchFamily="18" charset="0"/>
              </a:rPr>
              <a:t> 1 </a:t>
            </a:r>
            <a:r>
              <a:rPr lang="en-US" sz="2400" dirty="0" err="1">
                <a:latin typeface="Cambria" panose="02040503050406030204" pitchFamily="18" charset="0"/>
                <a:cs typeface="Times New Roman" pitchFamily="18" charset="0"/>
              </a:rPr>
              <a:t>chuỗi</a:t>
            </a:r>
            <a:r>
              <a:rPr lang="en-US" sz="2400" dirty="0">
                <a:latin typeface="Cambria" panose="02040503050406030204" pitchFamily="18" charset="0"/>
                <a:cs typeface="Times New Roman" pitchFamily="18" charset="0"/>
              </a:rPr>
              <a:t> con </a:t>
            </a:r>
            <a:r>
              <a:rPr lang="en-US" sz="2400" dirty="0" err="1">
                <a:latin typeface="Cambria" panose="02040503050406030204" pitchFamily="18" charset="0"/>
                <a:cs typeface="Times New Roman" pitchFamily="18" charset="0"/>
              </a:rPr>
              <a:t>nào</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đó</a:t>
            </a:r>
            <a:r>
              <a:rPr lang="en-US" sz="2400" dirty="0">
                <a:latin typeface="Cambria" panose="02040503050406030204" pitchFamily="18" charset="0"/>
                <a:cs typeface="Times New Roman" pitchFamily="18" charset="0"/>
              </a:rPr>
              <a:t> hay </a:t>
            </a:r>
            <a:r>
              <a:rPr lang="en-US" sz="2400" dirty="0" err="1">
                <a:latin typeface="Cambria" panose="02040503050406030204" pitchFamily="18" charset="0"/>
                <a:cs typeface="Times New Roman" pitchFamily="18" charset="0"/>
              </a:rPr>
              <a:t>không</a:t>
            </a:r>
            <a:endParaRPr lang="en-US" sz="2400" dirty="0">
              <a:latin typeface="Cambria" panose="02040503050406030204" pitchFamily="18" charset="0"/>
              <a:cs typeface="Times New Roman" pitchFamily="18" charset="0"/>
            </a:endParaRPr>
          </a:p>
          <a:p>
            <a:pPr marL="0" indent="0">
              <a:buNone/>
            </a:pPr>
            <a:endParaRPr lang="en-US" sz="2400" dirty="0">
              <a:latin typeface="Cambria" panose="02040503050406030204" pitchFamily="18" charset="0"/>
              <a:cs typeface="Times New Roman" pitchFamily="18" charset="0"/>
            </a:endParaRPr>
          </a:p>
        </p:txBody>
      </p:sp>
      <p:pic>
        <p:nvPicPr>
          <p:cNvPr id="12" name="Picture 11">
            <a:extLst>
              <a:ext uri="{FF2B5EF4-FFF2-40B4-BE49-F238E27FC236}">
                <a16:creationId xmlns:a16="http://schemas.microsoft.com/office/drawing/2014/main" id="{BD2BB057-1FED-4101-BB7A-B6B408CD1870}"/>
              </a:ext>
            </a:extLst>
          </p:cNvPr>
          <p:cNvPicPr>
            <a:picLocks noChangeAspect="1"/>
          </p:cNvPicPr>
          <p:nvPr/>
        </p:nvPicPr>
        <p:blipFill>
          <a:blip r:embed="rId3"/>
          <a:stretch>
            <a:fillRect/>
          </a:stretch>
        </p:blipFill>
        <p:spPr>
          <a:xfrm>
            <a:off x="2057400" y="3367709"/>
            <a:ext cx="3390900" cy="1514475"/>
          </a:xfrm>
          <a:prstGeom prst="rect">
            <a:avLst/>
          </a:prstGeom>
        </p:spPr>
      </p:pic>
      <p:pic>
        <p:nvPicPr>
          <p:cNvPr id="15" name="Picture 14">
            <a:extLst>
              <a:ext uri="{FF2B5EF4-FFF2-40B4-BE49-F238E27FC236}">
                <a16:creationId xmlns:a16="http://schemas.microsoft.com/office/drawing/2014/main" id="{FEC8C513-B085-4DF5-8D40-EBF24446205B}"/>
              </a:ext>
            </a:extLst>
          </p:cNvPr>
          <p:cNvPicPr>
            <a:picLocks noChangeAspect="1"/>
          </p:cNvPicPr>
          <p:nvPr/>
        </p:nvPicPr>
        <p:blipFill>
          <a:blip r:embed="rId4"/>
          <a:stretch>
            <a:fillRect/>
          </a:stretch>
        </p:blipFill>
        <p:spPr>
          <a:xfrm>
            <a:off x="7848600" y="3657600"/>
            <a:ext cx="1181100" cy="1247775"/>
          </a:xfrm>
          <a:prstGeom prst="rect">
            <a:avLst/>
          </a:prstGeom>
        </p:spPr>
      </p:pic>
      <p:sp>
        <p:nvSpPr>
          <p:cNvPr id="16" name="Arrow: Right 15">
            <a:extLst>
              <a:ext uri="{FF2B5EF4-FFF2-40B4-BE49-F238E27FC236}">
                <a16:creationId xmlns:a16="http://schemas.microsoft.com/office/drawing/2014/main" id="{EC9C28B2-169C-4270-801D-D3A009B7ACD3}"/>
              </a:ext>
            </a:extLst>
          </p:cNvPr>
          <p:cNvSpPr/>
          <p:nvPr/>
        </p:nvSpPr>
        <p:spPr>
          <a:xfrm>
            <a:off x="5638800" y="4124946"/>
            <a:ext cx="1676400" cy="409576"/>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68921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vi-VN" sz="4400" kern="0">
                <a:solidFill>
                  <a:srgbClr val="002060"/>
                </a:solidFill>
                <a:latin typeface="Cambria" panose="02040503050406030204" pitchFamily="18" charset="0"/>
              </a:rPr>
              <a:t>Hàm find, count</a:t>
            </a:r>
            <a:endParaRPr lang="en-US" sz="4400" kern="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69</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30949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a:latin typeface="Cambria" panose="02040503050406030204" pitchFamily="18" charset="0"/>
                <a:cs typeface="Times New Roman" pitchFamily="18" charset="0"/>
              </a:rPr>
              <a:t>Hàm </a:t>
            </a:r>
            <a:r>
              <a:rPr lang="en-US" sz="2400" b="1">
                <a:solidFill>
                  <a:srgbClr val="FF0000"/>
                </a:solidFill>
                <a:latin typeface="Cambria" panose="02040503050406030204" pitchFamily="18" charset="0"/>
                <a:cs typeface="Times New Roman" pitchFamily="18" charset="0"/>
              </a:rPr>
              <a:t>find</a:t>
            </a:r>
            <a:r>
              <a:rPr lang="en-US" sz="2400">
                <a:latin typeface="Cambria" panose="02040503050406030204" pitchFamily="18" charset="0"/>
                <a:cs typeface="Times New Roman" pitchFamily="18" charset="0"/>
              </a:rPr>
              <a:t> trả về vị trí đầu tiên tìm thấy, hàm </a:t>
            </a:r>
            <a:r>
              <a:rPr lang="en-US" sz="2400">
                <a:solidFill>
                  <a:srgbClr val="FF0000"/>
                </a:solidFill>
                <a:latin typeface="Cambria" panose="02040503050406030204" pitchFamily="18" charset="0"/>
                <a:cs typeface="Times New Roman" pitchFamily="18" charset="0"/>
              </a:rPr>
              <a:t>rfind</a:t>
            </a:r>
            <a:r>
              <a:rPr lang="en-US" sz="2400">
                <a:latin typeface="Cambria" panose="02040503050406030204" pitchFamily="18" charset="0"/>
                <a:cs typeface="Times New Roman" pitchFamily="18" charset="0"/>
              </a:rPr>
              <a:t> trả về vị trí cuối cùng tìm thấy. Nếu không thấy sẽ trả về -1</a:t>
            </a:r>
          </a:p>
        </p:txBody>
      </p:sp>
      <p:pic>
        <p:nvPicPr>
          <p:cNvPr id="8" name="Picture 7">
            <a:extLst>
              <a:ext uri="{FF2B5EF4-FFF2-40B4-BE49-F238E27FC236}">
                <a16:creationId xmlns:a16="http://schemas.microsoft.com/office/drawing/2014/main" id="{C298F22C-5ABB-4E3E-AC6A-444F7C35B318}"/>
              </a:ext>
            </a:extLst>
          </p:cNvPr>
          <p:cNvPicPr>
            <a:picLocks noChangeAspect="1"/>
          </p:cNvPicPr>
          <p:nvPr/>
        </p:nvPicPr>
        <p:blipFill>
          <a:blip r:embed="rId3"/>
          <a:stretch>
            <a:fillRect/>
          </a:stretch>
        </p:blipFill>
        <p:spPr>
          <a:xfrm>
            <a:off x="1143000" y="2286000"/>
            <a:ext cx="3448050" cy="2286000"/>
          </a:xfrm>
          <a:prstGeom prst="rect">
            <a:avLst/>
          </a:prstGeom>
        </p:spPr>
      </p:pic>
      <p:pic>
        <p:nvPicPr>
          <p:cNvPr id="9" name="Picture 8">
            <a:extLst>
              <a:ext uri="{FF2B5EF4-FFF2-40B4-BE49-F238E27FC236}">
                <a16:creationId xmlns:a16="http://schemas.microsoft.com/office/drawing/2014/main" id="{A6F80F7E-2D0A-4DE3-9D42-DABE24AE3AEE}"/>
              </a:ext>
            </a:extLst>
          </p:cNvPr>
          <p:cNvPicPr>
            <a:picLocks noChangeAspect="1"/>
          </p:cNvPicPr>
          <p:nvPr/>
        </p:nvPicPr>
        <p:blipFill>
          <a:blip r:embed="rId4"/>
          <a:stretch>
            <a:fillRect/>
          </a:stretch>
        </p:blipFill>
        <p:spPr>
          <a:xfrm>
            <a:off x="6119191" y="2981325"/>
            <a:ext cx="923925" cy="895350"/>
          </a:xfrm>
          <a:prstGeom prst="rect">
            <a:avLst/>
          </a:prstGeom>
        </p:spPr>
      </p:pic>
      <p:sp>
        <p:nvSpPr>
          <p:cNvPr id="10" name="Arrow: Right 9">
            <a:extLst>
              <a:ext uri="{FF2B5EF4-FFF2-40B4-BE49-F238E27FC236}">
                <a16:creationId xmlns:a16="http://schemas.microsoft.com/office/drawing/2014/main" id="{B3DDF9A3-4035-4BF0-8D0D-55643E2FC583}"/>
              </a:ext>
            </a:extLst>
          </p:cNvPr>
          <p:cNvSpPr/>
          <p:nvPr/>
        </p:nvSpPr>
        <p:spPr>
          <a:xfrm>
            <a:off x="4191000" y="3276600"/>
            <a:ext cx="1371600" cy="45720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32773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71</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a:latin typeface="Cambria" panose="02040503050406030204" pitchFamily="18" charset="0"/>
                <a:cs typeface="Times New Roman" pitchFamily="18" charset="0"/>
              </a:rPr>
              <a:t>Hàm </a:t>
            </a:r>
            <a:r>
              <a:rPr lang="en-US" sz="2400" b="1">
                <a:solidFill>
                  <a:srgbClr val="FF0000"/>
                </a:solidFill>
                <a:latin typeface="Cambria" panose="02040503050406030204" pitchFamily="18" charset="0"/>
                <a:cs typeface="Times New Roman" pitchFamily="18" charset="0"/>
              </a:rPr>
              <a:t>count</a:t>
            </a:r>
            <a:r>
              <a:rPr lang="en-US" sz="2400">
                <a:latin typeface="Cambria" panose="02040503050406030204" pitchFamily="18" charset="0"/>
                <a:cs typeface="Times New Roman" pitchFamily="18" charset="0"/>
              </a:rPr>
              <a:t> trả về số lần xuất hiện của Chuỗi con trong Chuỗi gốc, không tồn tại trả về 0</a:t>
            </a:r>
          </a:p>
        </p:txBody>
      </p:sp>
      <p:sp>
        <p:nvSpPr>
          <p:cNvPr id="10" name="Arrow: Right 9">
            <a:extLst>
              <a:ext uri="{FF2B5EF4-FFF2-40B4-BE49-F238E27FC236}">
                <a16:creationId xmlns:a16="http://schemas.microsoft.com/office/drawing/2014/main" id="{B3DDF9A3-4035-4BF0-8D0D-55643E2FC583}"/>
              </a:ext>
            </a:extLst>
          </p:cNvPr>
          <p:cNvSpPr/>
          <p:nvPr/>
        </p:nvSpPr>
        <p:spPr>
          <a:xfrm>
            <a:off x="7557052" y="2648780"/>
            <a:ext cx="1371600" cy="45720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3E97DF48-FF62-42B6-A066-A711374F6008}"/>
              </a:ext>
            </a:extLst>
          </p:cNvPr>
          <p:cNvPicPr>
            <a:picLocks noChangeAspect="1"/>
          </p:cNvPicPr>
          <p:nvPr/>
        </p:nvPicPr>
        <p:blipFill>
          <a:blip r:embed="rId3"/>
          <a:stretch>
            <a:fillRect/>
          </a:stretch>
        </p:blipFill>
        <p:spPr>
          <a:xfrm>
            <a:off x="778151" y="1903551"/>
            <a:ext cx="6457950" cy="1543050"/>
          </a:xfrm>
          <a:prstGeom prst="rect">
            <a:avLst/>
          </a:prstGeom>
        </p:spPr>
      </p:pic>
      <p:pic>
        <p:nvPicPr>
          <p:cNvPr id="12" name="Picture 11">
            <a:extLst>
              <a:ext uri="{FF2B5EF4-FFF2-40B4-BE49-F238E27FC236}">
                <a16:creationId xmlns:a16="http://schemas.microsoft.com/office/drawing/2014/main" id="{DD2834CB-C1DD-4E5F-939E-32B9510A60E9}"/>
              </a:ext>
            </a:extLst>
          </p:cNvPr>
          <p:cNvPicPr>
            <a:picLocks noChangeAspect="1"/>
          </p:cNvPicPr>
          <p:nvPr/>
        </p:nvPicPr>
        <p:blipFill>
          <a:blip r:embed="rId4"/>
          <a:stretch>
            <a:fillRect/>
          </a:stretch>
        </p:blipFill>
        <p:spPr>
          <a:xfrm>
            <a:off x="9569726" y="2582105"/>
            <a:ext cx="838200" cy="590550"/>
          </a:xfrm>
          <a:prstGeom prst="rect">
            <a:avLst/>
          </a:prstGeom>
        </p:spPr>
      </p:pic>
    </p:spTree>
    <p:extLst>
      <p:ext uri="{BB962C8B-B14F-4D97-AF65-F5344CB8AC3E}">
        <p14:creationId xmlns:p14="http://schemas.microsoft.com/office/powerpoint/2010/main" val="17400288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vi-VN" sz="4400" kern="0">
                <a:solidFill>
                  <a:srgbClr val="002060"/>
                </a:solidFill>
                <a:latin typeface="Cambria" panose="02040503050406030204" pitchFamily="18" charset="0"/>
              </a:rPr>
              <a:t>Hàm </a:t>
            </a:r>
            <a:r>
              <a:rPr lang="en-US" sz="4400" kern="0">
                <a:solidFill>
                  <a:srgbClr val="002060"/>
                </a:solidFill>
                <a:latin typeface="Cambria" panose="02040503050406030204" pitchFamily="18" charset="0"/>
              </a:rPr>
              <a:t>format, substring</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72</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65472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a:latin typeface="Cambria" panose="02040503050406030204" pitchFamily="18" charset="0"/>
                <a:cs typeface="Times New Roman" pitchFamily="18" charset="0"/>
              </a:rPr>
              <a:t>Hàm format sử dụng {} để dành chỗ xuất dữ liệu</a:t>
            </a:r>
          </a:p>
        </p:txBody>
      </p:sp>
      <p:sp>
        <p:nvSpPr>
          <p:cNvPr id="10" name="Arrow: Right 9">
            <a:extLst>
              <a:ext uri="{FF2B5EF4-FFF2-40B4-BE49-F238E27FC236}">
                <a16:creationId xmlns:a16="http://schemas.microsoft.com/office/drawing/2014/main" id="{B3DDF9A3-4035-4BF0-8D0D-55643E2FC583}"/>
              </a:ext>
            </a:extLst>
          </p:cNvPr>
          <p:cNvSpPr/>
          <p:nvPr/>
        </p:nvSpPr>
        <p:spPr>
          <a:xfrm>
            <a:off x="5936974" y="2728912"/>
            <a:ext cx="1371600" cy="45720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93D4F629-30DD-4746-8284-0DA78C89EADC}"/>
              </a:ext>
            </a:extLst>
          </p:cNvPr>
          <p:cNvPicPr>
            <a:picLocks noChangeAspect="1"/>
          </p:cNvPicPr>
          <p:nvPr/>
        </p:nvPicPr>
        <p:blipFill>
          <a:blip r:embed="rId3"/>
          <a:stretch>
            <a:fillRect/>
          </a:stretch>
        </p:blipFill>
        <p:spPr>
          <a:xfrm>
            <a:off x="1179858" y="2171700"/>
            <a:ext cx="4276725" cy="1714500"/>
          </a:xfrm>
          <a:prstGeom prst="rect">
            <a:avLst/>
          </a:prstGeom>
        </p:spPr>
      </p:pic>
      <p:pic>
        <p:nvPicPr>
          <p:cNvPr id="12" name="Picture 11">
            <a:extLst>
              <a:ext uri="{FF2B5EF4-FFF2-40B4-BE49-F238E27FC236}">
                <a16:creationId xmlns:a16="http://schemas.microsoft.com/office/drawing/2014/main" id="{A9E2110F-1F56-4AF3-9268-136D3671D652}"/>
              </a:ext>
            </a:extLst>
          </p:cNvPr>
          <p:cNvPicPr>
            <a:picLocks noChangeAspect="1"/>
          </p:cNvPicPr>
          <p:nvPr/>
        </p:nvPicPr>
        <p:blipFill>
          <a:blip r:embed="rId4"/>
          <a:stretch>
            <a:fillRect/>
          </a:stretch>
        </p:blipFill>
        <p:spPr>
          <a:xfrm>
            <a:off x="7788965" y="2833687"/>
            <a:ext cx="3314700" cy="333375"/>
          </a:xfrm>
          <a:prstGeom prst="rect">
            <a:avLst/>
          </a:prstGeom>
        </p:spPr>
      </p:pic>
    </p:spTree>
    <p:extLst>
      <p:ext uri="{BB962C8B-B14F-4D97-AF65-F5344CB8AC3E}">
        <p14:creationId xmlns:p14="http://schemas.microsoft.com/office/powerpoint/2010/main" val="398041271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a:latin typeface="Cambria" panose="02040503050406030204" pitchFamily="18" charset="0"/>
                <a:cs typeface="Times New Roman" pitchFamily="18" charset="0"/>
              </a:rPr>
              <a:t>substring</a:t>
            </a:r>
          </a:p>
        </p:txBody>
      </p:sp>
      <p:sp>
        <p:nvSpPr>
          <p:cNvPr id="8" name="Rectangle 1">
            <a:extLst>
              <a:ext uri="{FF2B5EF4-FFF2-40B4-BE49-F238E27FC236}">
                <a16:creationId xmlns:a16="http://schemas.microsoft.com/office/drawing/2014/main" id="{097C8484-5FFA-4F84-AAB7-A63F2779E1CD}"/>
              </a:ext>
            </a:extLst>
          </p:cNvPr>
          <p:cNvSpPr>
            <a:spLocks noChangeArrowheads="1"/>
          </p:cNvSpPr>
          <p:nvPr/>
        </p:nvSpPr>
        <p:spPr bwMode="auto">
          <a:xfrm>
            <a:off x="1227685" y="1676400"/>
            <a:ext cx="4977645" cy="30469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 = </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"Hello World!"</a:t>
            </a:r>
            <a:b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2</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a:t>
            </a:r>
            <a:r>
              <a:rPr lang="en-US" altLang="en-US" sz="2400" b="1">
                <a:solidFill>
                  <a:srgbClr val="008080"/>
                </a:solidFill>
                <a:latin typeface="Courier New" panose="02070309020205020404" pitchFamily="49" charset="0"/>
                <a:cs typeface="Courier New" panose="02070309020205020404" pitchFamily="49" charset="0"/>
              </a:rPr>
              <a:t>"</a:t>
            </a: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llo World!</a:t>
            </a:r>
            <a:r>
              <a:rPr lang="en-US" altLang="en-US" sz="2400" b="1">
                <a:solidFill>
                  <a:srgbClr val="008080"/>
                </a:solidFill>
                <a:latin typeface="Courier New" panose="02070309020205020404" pitchFamily="49" charset="0"/>
                <a:cs typeface="Courier New" panose="02070309020205020404" pitchFamily="49" charset="0"/>
              </a:rPr>
              <a:t>"</a:t>
            </a: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
            </a:r>
            <a:b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2</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a:t>
            </a:r>
            <a:r>
              <a:rPr lang="en-US" altLang="en-US" sz="2400" b="1">
                <a:solidFill>
                  <a:srgbClr val="008080"/>
                </a:solidFill>
                <a:latin typeface="Courier New" panose="02070309020205020404" pitchFamily="49" charset="0"/>
                <a:cs typeface="Courier New" panose="02070309020205020404" pitchFamily="49" charset="0"/>
              </a:rPr>
              <a:t>"</a:t>
            </a: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He</a:t>
            </a:r>
            <a:r>
              <a:rPr lang="en-US" altLang="en-US" sz="2400" b="1">
                <a:solidFill>
                  <a:srgbClr val="008080"/>
                </a:solidFill>
                <a:latin typeface="Courier New" panose="02070309020205020404" pitchFamily="49" charset="0"/>
                <a:cs typeface="Courier New" panose="02070309020205020404" pitchFamily="49" charset="0"/>
              </a:rPr>
              <a:t>"</a:t>
            </a: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
            </a:r>
            <a:b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2</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a:t>
            </a:r>
            <a:r>
              <a:rPr lang="en-US" altLang="en-US" sz="2400" b="1">
                <a:solidFill>
                  <a:srgbClr val="008080"/>
                </a:solidFill>
                <a:latin typeface="Courier New" panose="02070309020205020404" pitchFamily="49" charset="0"/>
                <a:cs typeface="Courier New" panose="02070309020205020404" pitchFamily="49" charset="0"/>
              </a:rPr>
              <a:t>"</a:t>
            </a: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Hello Worl</a:t>
            </a:r>
            <a:r>
              <a:rPr lang="en-US" altLang="en-US" sz="2400" b="1">
                <a:solidFill>
                  <a:srgbClr val="008080"/>
                </a:solidFill>
                <a:latin typeface="Courier New" panose="02070309020205020404" pitchFamily="49" charset="0"/>
                <a:cs typeface="Courier New" panose="02070309020205020404" pitchFamily="49" charset="0"/>
              </a:rPr>
              <a:t>"</a:t>
            </a: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
            </a:r>
            <a:b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2</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a:t>
            </a:r>
            <a:r>
              <a:rPr lang="en-US" altLang="en-US" sz="2400" b="1">
                <a:solidFill>
                  <a:srgbClr val="008080"/>
                </a:solidFill>
                <a:latin typeface="Courier New" panose="02070309020205020404" pitchFamily="49" charset="0"/>
                <a:cs typeface="Courier New" panose="02070309020205020404" pitchFamily="49" charset="0"/>
              </a:rPr>
              <a:t>"</a:t>
            </a: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d!</a:t>
            </a:r>
            <a:r>
              <a:rPr lang="en-US" altLang="en-US" sz="2400" b="1">
                <a:solidFill>
                  <a:srgbClr val="008080"/>
                </a:solidFill>
                <a:latin typeface="Courier New" panose="02070309020205020404" pitchFamily="49" charset="0"/>
                <a:cs typeface="Courier New" panose="02070309020205020404" pitchFamily="49" charset="0"/>
              </a:rPr>
              <a:t>"</a:t>
            </a: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
            </a:r>
            <a:b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2</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2</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a:t>
            </a:r>
            <a:r>
              <a:rPr lang="en-US" altLang="en-US" sz="2400" b="1">
                <a:solidFill>
                  <a:srgbClr val="008080"/>
                </a:solidFill>
                <a:latin typeface="Courier New" panose="02070309020205020404" pitchFamily="49" charset="0"/>
                <a:cs typeface="Courier New" panose="02070309020205020404" pitchFamily="49" charset="0"/>
              </a:rPr>
              <a:t>"</a:t>
            </a: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llo Worl</a:t>
            </a:r>
            <a:r>
              <a:rPr lang="en-US" altLang="en-US" sz="2400" b="1">
                <a:solidFill>
                  <a:srgbClr val="008080"/>
                </a:solidFill>
                <a:latin typeface="Courier New" panose="02070309020205020404" pitchFamily="49" charset="0"/>
                <a:cs typeface="Courier New" panose="02070309020205020404" pitchFamily="49" charset="0"/>
              </a:rPr>
              <a:t>"</a:t>
            </a:r>
          </a:p>
          <a:p>
            <a:pPr eaLnBrk="0" fontAlgn="base" hangingPunct="0">
              <a:spcBef>
                <a:spcPct val="0"/>
              </a:spcBef>
              <a:spcAft>
                <a:spcPct val="0"/>
              </a:spcAft>
            </a:pPr>
            <a:r>
              <a:rPr lang="en-US" altLang="en-US" sz="2400">
                <a:solidFill>
                  <a:srgbClr val="000080"/>
                </a:solidFill>
                <a:latin typeface="Courier New" panose="02070309020205020404" pitchFamily="49" charset="0"/>
                <a:cs typeface="Courier New" panose="02070309020205020404" pitchFamily="49" charset="0"/>
              </a:rPr>
              <a:t>print</a:t>
            </a:r>
            <a:r>
              <a:rPr lang="en-US" altLang="en-US" sz="2400">
                <a:solidFill>
                  <a:srgbClr val="000000"/>
                </a:solidFill>
                <a:latin typeface="Courier New" panose="02070309020205020404" pitchFamily="49" charset="0"/>
                <a:cs typeface="Courier New" panose="02070309020205020404" pitchFamily="49" charset="0"/>
              </a:rPr>
              <a:t>(x[</a:t>
            </a:r>
            <a:r>
              <a:rPr lang="en-US" altLang="en-US" sz="2400">
                <a:solidFill>
                  <a:srgbClr val="0000FF"/>
                </a:solidFill>
                <a:latin typeface="Courier New" panose="02070309020205020404" pitchFamily="49" charset="0"/>
                <a:cs typeface="Courier New" panose="02070309020205020404" pitchFamily="49" charset="0"/>
              </a:rPr>
              <a:t>6</a:t>
            </a:r>
            <a:r>
              <a:rPr lang="en-US" altLang="en-US" sz="2400">
                <a:solidFill>
                  <a:srgbClr val="000000"/>
                </a:solidFill>
                <a:latin typeface="Courier New" panose="02070309020205020404" pitchFamily="49" charset="0"/>
                <a:cs typeface="Courier New" panose="02070309020205020404" pitchFamily="49" charset="0"/>
              </a:rPr>
              <a:t>:11])</a:t>
            </a:r>
            <a:r>
              <a:rPr lang="en-US" altLang="en-US" sz="2400" i="1">
                <a:solidFill>
                  <a:srgbClr val="808080"/>
                </a:solidFill>
                <a:latin typeface="Courier New" panose="02070309020205020404" pitchFamily="49" charset="0"/>
                <a:cs typeface="Courier New" panose="02070309020205020404" pitchFamily="49" charset="0"/>
              </a:rPr>
              <a:t>#</a:t>
            </a:r>
            <a:r>
              <a:rPr lang="en-US" altLang="en-US" sz="2400" b="1">
                <a:solidFill>
                  <a:srgbClr val="008080"/>
                </a:solidFill>
                <a:latin typeface="Courier New" panose="02070309020205020404" pitchFamily="49" charset="0"/>
                <a:cs typeface="Courier New" panose="02070309020205020404" pitchFamily="49" charset="0"/>
              </a:rPr>
              <a:t>"</a:t>
            </a:r>
            <a:r>
              <a:rPr lang="en-US" altLang="en-US" sz="2400" i="1">
                <a:solidFill>
                  <a:srgbClr val="808080"/>
                </a:solidFill>
                <a:latin typeface="Courier New" panose="02070309020205020404" pitchFamily="49" charset="0"/>
                <a:cs typeface="Courier New" panose="02070309020205020404" pitchFamily="49" charset="0"/>
              </a:rPr>
              <a:t>World</a:t>
            </a:r>
            <a:r>
              <a:rPr lang="en-US" altLang="en-US" sz="2400" b="1">
                <a:solidFill>
                  <a:srgbClr val="008080"/>
                </a:solidFill>
                <a:latin typeface="Courier New" panose="02070309020205020404" pitchFamily="49" charset="0"/>
                <a:cs typeface="Courier New" panose="02070309020205020404" pitchFamily="49" charset="0"/>
              </a:rPr>
              <a:t>"</a:t>
            </a:r>
            <a:endParaRPr lang="en-US" altLang="en-US" sz="2400">
              <a:latin typeface="Arial" panose="020B0604020202020204" pitchFamily="34" charset="0"/>
            </a:endParaRPr>
          </a:p>
          <a:p>
            <a:pPr lvl="0" eaLnBrk="0" fontAlgn="base" hangingPunct="0">
              <a:spcBef>
                <a:spcPct val="0"/>
              </a:spcBef>
              <a:spcAft>
                <a:spcPct val="0"/>
              </a:spcAft>
            </a:pP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808046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vi-VN" sz="4400" kern="0">
                <a:solidFill>
                  <a:srgbClr val="002060"/>
                </a:solidFill>
                <a:latin typeface="Cambria" panose="02040503050406030204" pitchFamily="18" charset="0"/>
              </a:rPr>
              <a:t>Hàm tách chuỗi</a:t>
            </a:r>
            <a:endParaRPr lang="en-US" sz="4400" kern="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75</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776322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a:latin typeface="Cambria" panose="02040503050406030204" pitchFamily="18" charset="0"/>
                <a:cs typeface="Times New Roman" pitchFamily="18" charset="0"/>
              </a:rPr>
              <a:t>Hàm split dùng để tách chuỗi thành mảng các chuỗi con</a:t>
            </a:r>
          </a:p>
        </p:txBody>
      </p:sp>
      <p:sp>
        <p:nvSpPr>
          <p:cNvPr id="10" name="Arrow: Right 9">
            <a:extLst>
              <a:ext uri="{FF2B5EF4-FFF2-40B4-BE49-F238E27FC236}">
                <a16:creationId xmlns:a16="http://schemas.microsoft.com/office/drawing/2014/main" id="{B3DDF9A3-4035-4BF0-8D0D-55643E2FC583}"/>
              </a:ext>
            </a:extLst>
          </p:cNvPr>
          <p:cNvSpPr/>
          <p:nvPr/>
        </p:nvSpPr>
        <p:spPr>
          <a:xfrm>
            <a:off x="6724021" y="3205049"/>
            <a:ext cx="1587554" cy="582493"/>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D92965C3-F1AA-4EC7-B568-E9C3BF5AB1AD}"/>
              </a:ext>
            </a:extLst>
          </p:cNvPr>
          <p:cNvPicPr>
            <a:picLocks noChangeAspect="1"/>
          </p:cNvPicPr>
          <p:nvPr/>
        </p:nvPicPr>
        <p:blipFill>
          <a:blip r:embed="rId3"/>
          <a:stretch>
            <a:fillRect/>
          </a:stretch>
        </p:blipFill>
        <p:spPr>
          <a:xfrm>
            <a:off x="426027" y="2747962"/>
            <a:ext cx="6043365" cy="1796020"/>
          </a:xfrm>
          <a:prstGeom prst="rect">
            <a:avLst/>
          </a:prstGeom>
        </p:spPr>
      </p:pic>
      <p:pic>
        <p:nvPicPr>
          <p:cNvPr id="9" name="Picture 8">
            <a:extLst>
              <a:ext uri="{FF2B5EF4-FFF2-40B4-BE49-F238E27FC236}">
                <a16:creationId xmlns:a16="http://schemas.microsoft.com/office/drawing/2014/main" id="{842F413D-FFA7-48C4-89E8-2ACC6F765977}"/>
              </a:ext>
            </a:extLst>
          </p:cNvPr>
          <p:cNvPicPr>
            <a:picLocks noChangeAspect="1"/>
          </p:cNvPicPr>
          <p:nvPr/>
        </p:nvPicPr>
        <p:blipFill>
          <a:blip r:embed="rId4"/>
          <a:stretch>
            <a:fillRect/>
          </a:stretch>
        </p:blipFill>
        <p:spPr>
          <a:xfrm>
            <a:off x="8464713" y="2895600"/>
            <a:ext cx="2851789" cy="1201392"/>
          </a:xfrm>
          <a:prstGeom prst="rect">
            <a:avLst/>
          </a:prstGeom>
          <a:ln>
            <a:solidFill>
              <a:schemeClr val="accent1"/>
            </a:solidFill>
          </a:ln>
        </p:spPr>
      </p:pic>
    </p:spTree>
    <p:extLst>
      <p:ext uri="{BB962C8B-B14F-4D97-AF65-F5344CB8AC3E}">
        <p14:creationId xmlns:p14="http://schemas.microsoft.com/office/powerpoint/2010/main" val="240109479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vi-VN" sz="4400" kern="0">
                <a:solidFill>
                  <a:srgbClr val="002060"/>
                </a:solidFill>
                <a:latin typeface="Cambria" panose="02040503050406030204" pitchFamily="18" charset="0"/>
              </a:rPr>
              <a:t>Hàm </a:t>
            </a:r>
            <a:r>
              <a:rPr lang="en-US" sz="4400" kern="0">
                <a:solidFill>
                  <a:srgbClr val="002060"/>
                </a:solidFill>
                <a:latin typeface="Cambria" panose="02040503050406030204" pitchFamily="18" charset="0"/>
              </a:rPr>
              <a:t>nối</a:t>
            </a:r>
            <a:r>
              <a:rPr lang="vi-VN" sz="4400" kern="0">
                <a:solidFill>
                  <a:srgbClr val="002060"/>
                </a:solidFill>
                <a:latin typeface="Cambria" panose="02040503050406030204" pitchFamily="18" charset="0"/>
              </a:rPr>
              <a:t> chuỗi</a:t>
            </a:r>
            <a:endParaRPr lang="en-US" sz="4400" kern="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77</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221743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78</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a:latin typeface="Cambria" panose="02040503050406030204" pitchFamily="18" charset="0"/>
                <a:cs typeface="Times New Roman" pitchFamily="18" charset="0"/>
              </a:rPr>
              <a:t>Hàm </a:t>
            </a:r>
            <a:r>
              <a:rPr lang="en-US" sz="2400">
                <a:solidFill>
                  <a:srgbClr val="FF0000"/>
                </a:solidFill>
                <a:latin typeface="Cambria" panose="02040503050406030204" pitchFamily="18" charset="0"/>
                <a:cs typeface="Times New Roman" pitchFamily="18" charset="0"/>
              </a:rPr>
              <a:t>join</a:t>
            </a:r>
            <a:r>
              <a:rPr lang="en-US" sz="2400">
                <a:latin typeface="Cambria" panose="02040503050406030204" pitchFamily="18" charset="0"/>
                <a:cs typeface="Times New Roman" pitchFamily="18" charset="0"/>
              </a:rPr>
              <a:t> dùng để nối Chuỗi:</a:t>
            </a:r>
          </a:p>
        </p:txBody>
      </p:sp>
      <p:pic>
        <p:nvPicPr>
          <p:cNvPr id="11" name="Picture 10">
            <a:extLst>
              <a:ext uri="{FF2B5EF4-FFF2-40B4-BE49-F238E27FC236}">
                <a16:creationId xmlns:a16="http://schemas.microsoft.com/office/drawing/2014/main" id="{606EEABB-4C7C-48FC-B0B0-F43697250D5B}"/>
              </a:ext>
            </a:extLst>
          </p:cNvPr>
          <p:cNvPicPr>
            <a:picLocks noChangeAspect="1"/>
          </p:cNvPicPr>
          <p:nvPr/>
        </p:nvPicPr>
        <p:blipFill>
          <a:blip r:embed="rId3"/>
          <a:stretch>
            <a:fillRect/>
          </a:stretch>
        </p:blipFill>
        <p:spPr>
          <a:xfrm>
            <a:off x="638175" y="2057400"/>
            <a:ext cx="4953000" cy="2343150"/>
          </a:xfrm>
          <a:prstGeom prst="rect">
            <a:avLst/>
          </a:prstGeom>
        </p:spPr>
      </p:pic>
      <p:pic>
        <p:nvPicPr>
          <p:cNvPr id="12" name="Picture 11">
            <a:extLst>
              <a:ext uri="{FF2B5EF4-FFF2-40B4-BE49-F238E27FC236}">
                <a16:creationId xmlns:a16="http://schemas.microsoft.com/office/drawing/2014/main" id="{361E7D15-B5AB-459B-8E2A-2E9848CFC26F}"/>
              </a:ext>
            </a:extLst>
          </p:cNvPr>
          <p:cNvPicPr>
            <a:picLocks noChangeAspect="1"/>
          </p:cNvPicPr>
          <p:nvPr/>
        </p:nvPicPr>
        <p:blipFill>
          <a:blip r:embed="rId4"/>
          <a:stretch>
            <a:fillRect/>
          </a:stretch>
        </p:blipFill>
        <p:spPr>
          <a:xfrm>
            <a:off x="7282070" y="2895600"/>
            <a:ext cx="4419600" cy="1343025"/>
          </a:xfrm>
          <a:prstGeom prst="rect">
            <a:avLst/>
          </a:prstGeom>
        </p:spPr>
      </p:pic>
      <p:cxnSp>
        <p:nvCxnSpPr>
          <p:cNvPr id="16" name="Straight Arrow Connector 15">
            <a:extLst>
              <a:ext uri="{FF2B5EF4-FFF2-40B4-BE49-F238E27FC236}">
                <a16:creationId xmlns:a16="http://schemas.microsoft.com/office/drawing/2014/main" id="{E1DC8E26-F08F-4236-9A4A-1C1381A48729}"/>
              </a:ext>
            </a:extLst>
          </p:cNvPr>
          <p:cNvCxnSpPr>
            <a:cxnSpLocks/>
          </p:cNvCxnSpPr>
          <p:nvPr/>
        </p:nvCxnSpPr>
        <p:spPr>
          <a:xfrm flipV="1">
            <a:off x="3114675" y="4100512"/>
            <a:ext cx="4048125" cy="14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817BF5B-2FD6-4F5D-B5B5-650DF7BC41B0}"/>
              </a:ext>
            </a:extLst>
          </p:cNvPr>
          <p:cNvCxnSpPr/>
          <p:nvPr/>
        </p:nvCxnSpPr>
        <p:spPr>
          <a:xfrm>
            <a:off x="2514600" y="3228975"/>
            <a:ext cx="4648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1430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vi-VN" sz="4400" kern="0">
                <a:solidFill>
                  <a:srgbClr val="002060"/>
                </a:solidFill>
                <a:latin typeface="Cambria" panose="02040503050406030204" pitchFamily="18" charset="0"/>
              </a:rPr>
              <a:t>Bài tập rèn luyện</a:t>
            </a:r>
            <a:endParaRPr lang="en-US" sz="4400" kern="0">
              <a:solidFill>
                <a:srgbClr val="002060"/>
              </a:solidFill>
              <a:latin typeface="Cambria" panose="02040503050406030204" pitchFamily="18" charset="0"/>
            </a:endParaRPr>
          </a:p>
          <a:p>
            <a:pPr>
              <a:defRPr/>
            </a:pPr>
            <a:r>
              <a:rPr lang="vi-VN" sz="4400" kern="0">
                <a:solidFill>
                  <a:srgbClr val="002060"/>
                </a:solidFill>
                <a:latin typeface="Cambria" panose="02040503050406030204" pitchFamily="18" charset="0"/>
              </a:rPr>
              <a:t>-Kiểm tra chuỗi đối xứng</a:t>
            </a:r>
            <a:endParaRPr lang="en-US" sz="4400" kern="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79</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099639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err="1">
                <a:latin typeface="Cambria" panose="02040503050406030204" pitchFamily="18" charset="0"/>
                <a:cs typeface="Times New Roman" pitchFamily="18" charset="0"/>
              </a:rPr>
              <a:t>Dùng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vòng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lặp</a:t>
            </a:r>
            <a:r>
              <a:rPr lang="en-US" dirty="0">
                <a:latin typeface="Cambria" panose="02040503050406030204" pitchFamily="18" charset="0"/>
                <a:cs typeface="Times New Roman" pitchFamily="18" charset="0"/>
              </a:rPr>
              <a:t> while </a:t>
            </a:r>
            <a:r>
              <a:rPr lang="en-US" dirty="0" err="1">
                <a:latin typeface="Cambria" panose="02040503050406030204" pitchFamily="18" charset="0"/>
                <a:cs typeface="Times New Roman" pitchFamily="18" charset="0"/>
              </a:rPr>
              <a:t>vĩnh</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cửu</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cho</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phép</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Nhập</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vào</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một</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Chuỗi</a:t>
            </a:r>
            <a:r>
              <a:rPr lang="en-US" dirty="0" err="1">
                <a:latin typeface="Cambria" panose="02040503050406030204" pitchFamily="18" charset="0"/>
                <a:cs typeface="Times New Roman" pitchFamily="18" charset="0"/>
                <a:sym typeface="Wingdings" panose="05000000000000000000" pitchFamily="2" charset="2"/>
              </a:rPr>
              <a:t>Xuất</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Chuỗi</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này</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có</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phải</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đối</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xứng</a:t>
            </a:r>
            <a:r>
              <a:rPr lang="en-US" dirty="0">
                <a:latin typeface="Cambria" panose="02040503050406030204" pitchFamily="18" charset="0"/>
                <a:cs typeface="Times New Roman" pitchFamily="18" charset="0"/>
                <a:sym typeface="Wingdings" panose="05000000000000000000" pitchFamily="2" charset="2"/>
              </a:rPr>
              <a:t> hay </a:t>
            </a:r>
            <a:r>
              <a:rPr lang="en-US" dirty="0" err="1">
                <a:latin typeface="Cambria" panose="02040503050406030204" pitchFamily="18" charset="0"/>
                <a:cs typeface="Times New Roman" pitchFamily="18" charset="0"/>
                <a:sym typeface="Wingdings" panose="05000000000000000000" pitchFamily="2" charset="2"/>
              </a:rPr>
              <a:t>không</a:t>
            </a:r>
            <a:r>
              <a:rPr lang="en-US" dirty="0">
                <a:latin typeface="Cambria" panose="02040503050406030204" pitchFamily="18" charset="0"/>
                <a:cs typeface="Times New Roman" pitchFamily="18" charset="0"/>
                <a:sym typeface="Wingdings" panose="05000000000000000000" pitchFamily="2" charset="2"/>
              </a:rPr>
              <a:t>? </a:t>
            </a:r>
          </a:p>
          <a:p>
            <a:pPr marL="0" indent="0">
              <a:buNone/>
            </a:pPr>
            <a:r>
              <a:rPr lang="en-US" dirty="0" err="1">
                <a:latin typeface="Cambria" panose="02040503050406030204" pitchFamily="18" charset="0"/>
                <a:cs typeface="Times New Roman" pitchFamily="18" charset="0"/>
                <a:sym typeface="Wingdings" panose="05000000000000000000" pitchFamily="2" charset="2"/>
              </a:rPr>
              <a:t>Hỏi</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ng</a:t>
            </a:r>
            <a:r>
              <a:rPr lang="vi-VN" dirty="0">
                <a:latin typeface="Cambria" panose="02040503050406030204" pitchFamily="18" charset="0"/>
                <a:cs typeface="Times New Roman" pitchFamily="18" charset="0"/>
                <a:sym typeface="Wingdings" panose="05000000000000000000" pitchFamily="2" charset="2"/>
              </a:rPr>
              <a:t>ư</a:t>
            </a:r>
            <a:r>
              <a:rPr lang="en-US" dirty="0" err="1">
                <a:latin typeface="Cambria" panose="02040503050406030204" pitchFamily="18" charset="0"/>
                <a:cs typeface="Times New Roman" pitchFamily="18" charset="0"/>
                <a:sym typeface="Wingdings" panose="05000000000000000000" pitchFamily="2" charset="2"/>
              </a:rPr>
              <a:t>ời</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sử</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dụng</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có</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tiếp</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tục</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phần</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mềm</a:t>
            </a:r>
            <a:r>
              <a:rPr lang="en-US" dirty="0">
                <a:latin typeface="Cambria" panose="02040503050406030204" pitchFamily="18" charset="0"/>
                <a:cs typeface="Times New Roman" pitchFamily="18" charset="0"/>
                <a:sym typeface="Wingdings" panose="05000000000000000000" pitchFamily="2" charset="2"/>
              </a:rPr>
              <a:t>. </a:t>
            </a:r>
          </a:p>
          <a:p>
            <a:pPr marL="0" indent="0">
              <a:buNone/>
            </a:pPr>
            <a:r>
              <a:rPr lang="en-US" dirty="0" err="1">
                <a:latin typeface="Cambria" panose="02040503050406030204" pitchFamily="18" charset="0"/>
                <a:cs typeface="Times New Roman" pitchFamily="18" charset="0"/>
                <a:sym typeface="Wingdings" panose="05000000000000000000" pitchFamily="2" charset="2"/>
              </a:rPr>
              <a:t>Nếu</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tiếp</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tục</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thì</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nhập</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Chuỗi</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mới</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còn</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không</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thì</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thoát</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và</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thông</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báo</a:t>
            </a:r>
            <a:r>
              <a:rPr lang="en-US" dirty="0">
                <a:latin typeface="Cambria" panose="02040503050406030204" pitchFamily="18" charset="0"/>
                <a:cs typeface="Times New Roman" pitchFamily="18" charset="0"/>
                <a:sym typeface="Wingdings" panose="05000000000000000000" pitchFamily="2" charset="2"/>
              </a:rPr>
              <a:t> </a:t>
            </a:r>
            <a:r>
              <a:rPr lang="en-US" dirty="0" err="1">
                <a:latin typeface="Cambria" panose="02040503050406030204" pitchFamily="18" charset="0"/>
                <a:cs typeface="Times New Roman" pitchFamily="18" charset="0"/>
                <a:sym typeface="Wingdings" panose="05000000000000000000" pitchFamily="2" charset="2"/>
              </a:rPr>
              <a:t>cảm</a:t>
            </a:r>
            <a:r>
              <a:rPr lang="en-US" dirty="0">
                <a:latin typeface="Cambria" panose="02040503050406030204" pitchFamily="18" charset="0"/>
                <a:cs typeface="Times New Roman" pitchFamily="18" charset="0"/>
                <a:sym typeface="Wingdings" panose="05000000000000000000" pitchFamily="2" charset="2"/>
              </a:rPr>
              <a:t> </a:t>
            </a:r>
            <a:r>
              <a:rPr lang="vi-VN" dirty="0">
                <a:latin typeface="Cambria" panose="02040503050406030204" pitchFamily="18" charset="0"/>
                <a:cs typeface="Times New Roman" pitchFamily="18" charset="0"/>
                <a:sym typeface="Wingdings" panose="05000000000000000000" pitchFamily="2" charset="2"/>
              </a:rPr>
              <a:t>ơ</a:t>
            </a:r>
            <a:r>
              <a:rPr lang="en-US" dirty="0">
                <a:latin typeface="Cambria" panose="02040503050406030204" pitchFamily="18" charset="0"/>
                <a:cs typeface="Times New Roman" pitchFamily="18" charset="0"/>
                <a:sym typeface="Wingdings" panose="05000000000000000000" pitchFamily="2" charset="2"/>
              </a:rPr>
              <a:t>n</a:t>
            </a:r>
            <a:endParaRPr lang="en-US" dirty="0">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15332714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vi-VN" sz="4400" kern="0">
                <a:solidFill>
                  <a:srgbClr val="002060"/>
                </a:solidFill>
                <a:latin typeface="Cambria" panose="02040503050406030204" pitchFamily="18" charset="0"/>
              </a:rPr>
              <a:t>Viết chương trình tối ưu chuỗi</a:t>
            </a:r>
            <a:endParaRPr lang="en-US" sz="4400" kern="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81</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81158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err="1">
                <a:latin typeface="Cambria" panose="02040503050406030204" pitchFamily="18" charset="0"/>
                <a:cs typeface="Times New Roman" pitchFamily="18" charset="0"/>
              </a:rPr>
              <a:t>Một</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Chuỗi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được</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gọi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là</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tối</a:t>
            </a:r>
            <a:r>
              <a:rPr lang="en-US" dirty="0">
                <a:latin typeface="Cambria" panose="02040503050406030204" pitchFamily="18" charset="0"/>
                <a:cs typeface="Times New Roman" pitchFamily="18" charset="0"/>
              </a:rPr>
              <a:t> </a:t>
            </a:r>
            <a:r>
              <a:rPr lang="vi-VN" dirty="0">
                <a:latin typeface="Cambria" panose="02040503050406030204" pitchFamily="18" charset="0"/>
                <a:cs typeface="Times New Roman" pitchFamily="18" charset="0"/>
              </a:rPr>
              <a:t>ư</a:t>
            </a:r>
            <a:r>
              <a:rPr lang="en-US" dirty="0">
                <a:latin typeface="Cambria" panose="02040503050406030204" pitchFamily="18" charset="0"/>
                <a:cs typeface="Times New Roman" pitchFamily="18" charset="0"/>
              </a:rPr>
              <a:t>u </a:t>
            </a:r>
            <a:r>
              <a:rPr lang="en-US" dirty="0" err="1">
                <a:latin typeface="Cambria" panose="02040503050406030204" pitchFamily="18" charset="0"/>
                <a:cs typeface="Times New Roman" pitchFamily="18" charset="0"/>
              </a:rPr>
              <a:t>khi</a:t>
            </a:r>
            <a:r>
              <a:rPr lang="en-US" dirty="0">
                <a:latin typeface="Cambria" panose="02040503050406030204" pitchFamily="18" charset="0"/>
                <a:cs typeface="Times New Roman" pitchFamily="18" charset="0"/>
              </a:rPr>
              <a:t>: </a:t>
            </a:r>
          </a:p>
          <a:p>
            <a:pPr marL="457200" indent="-457200">
              <a:buFont typeface="+mj-lt"/>
              <a:buAutoNum type="arabicParenR"/>
            </a:pPr>
            <a:r>
              <a:rPr lang="en-US" dirty="0" err="1">
                <a:latin typeface="Cambria" panose="02040503050406030204" pitchFamily="18" charset="0"/>
                <a:cs typeface="Times New Roman" pitchFamily="18" charset="0"/>
              </a:rPr>
              <a:t>Không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chứa</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các</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khoảng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trắng</a:t>
            </a:r>
            <a:r>
              <a:rPr lang="en-US" dirty="0">
                <a:latin typeface="Cambria" panose="02040503050406030204" pitchFamily="18" charset="0"/>
                <a:cs typeface="Times New Roman" pitchFamily="18" charset="0"/>
              </a:rPr>
              <a:t> d</a:t>
            </a:r>
            <a:r>
              <a:rPr lang="vi-VN" dirty="0">
                <a:latin typeface="Cambria" panose="02040503050406030204" pitchFamily="18" charset="0"/>
                <a:cs typeface="Times New Roman" pitchFamily="18" charset="0"/>
              </a:rPr>
              <a:t>ư</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thừa</a:t>
            </a:r>
            <a:r>
              <a:rPr lang="en-US" dirty="0">
                <a:latin typeface="Cambria" panose="02040503050406030204" pitchFamily="18" charset="0"/>
                <a:cs typeface="Times New Roman" pitchFamily="18" charset="0"/>
              </a:rPr>
              <a:t>,</a:t>
            </a:r>
          </a:p>
          <a:p>
            <a:pPr marL="457200" indent="-457200">
              <a:buFont typeface="+mj-lt"/>
              <a:buAutoNum type="arabicParenR"/>
            </a:pPr>
            <a:r>
              <a:rPr lang="en-US" dirty="0" err="1">
                <a:latin typeface="Cambria" panose="02040503050406030204" pitchFamily="18" charset="0"/>
                <a:cs typeface="Times New Roman" pitchFamily="18" charset="0"/>
              </a:rPr>
              <a:t>Các</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từ</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cách</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nhau</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bởi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một</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khoảng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trắng</a:t>
            </a:r>
            <a:r>
              <a:rPr lang="en-US" dirty="0">
                <a:latin typeface="Cambria" panose="02040503050406030204" pitchFamily="18" charset="0"/>
                <a:cs typeface="Times New Roman" pitchFamily="18" charset="0"/>
              </a:rPr>
              <a:t>.</a:t>
            </a:r>
          </a:p>
        </p:txBody>
      </p:sp>
    </p:spTree>
    <p:extLst>
      <p:ext uri="{BB962C8B-B14F-4D97-AF65-F5344CB8AC3E}">
        <p14:creationId xmlns:p14="http://schemas.microsoft.com/office/powerpoint/2010/main" val="49823180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T</a:t>
            </a:r>
            <a:r>
              <a:rPr lang="vi-VN" sz="4400" kern="0">
                <a:solidFill>
                  <a:srgbClr val="002060"/>
                </a:solidFill>
                <a:latin typeface="Cambria" panose="02040503050406030204" pitchFamily="18" charset="0"/>
              </a:rPr>
              <a:t>ách xử lý chuỗi</a:t>
            </a:r>
            <a:endParaRPr lang="en-US" sz="4400" kern="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83</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523414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latin typeface="Cambria" panose="02040503050406030204" pitchFamily="18" charset="0"/>
                <a:cs typeface="Times New Roman" pitchFamily="18" charset="0"/>
              </a:rPr>
              <a:t>Cho 1 </a:t>
            </a:r>
            <a:r>
              <a:rPr lang="en-US" dirty="0" err="1">
                <a:latin typeface="Cambria" panose="02040503050406030204" pitchFamily="18" charset="0"/>
                <a:cs typeface="Times New Roman" pitchFamily="18" charset="0"/>
              </a:rPr>
              <a:t>Chuỗi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nh</a:t>
            </a:r>
            <a:r>
              <a:rPr lang="vi-VN" dirty="0">
                <a:latin typeface="Cambria" panose="02040503050406030204" pitchFamily="18" charset="0"/>
                <a:cs typeface="Times New Roman" pitchFamily="18" charset="0"/>
              </a:rPr>
              <a:t>ư</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sau</a:t>
            </a:r>
            <a:r>
              <a:rPr lang="en-US" dirty="0">
                <a:latin typeface="Cambria" panose="02040503050406030204" pitchFamily="18" charset="0"/>
                <a:cs typeface="Times New Roman" pitchFamily="18" charset="0"/>
              </a:rPr>
              <a:t> “5;7;8;-2;8;11;13;9;10”</a:t>
            </a:r>
          </a:p>
          <a:p>
            <a:pPr>
              <a:buFontTx/>
              <a:buChar char="-"/>
            </a:pPr>
            <a:r>
              <a:rPr lang="en-US" dirty="0" err="1">
                <a:latin typeface="Cambria" panose="02040503050406030204" pitchFamily="18" charset="0"/>
                <a:cs typeface="Times New Roman" pitchFamily="18" charset="0"/>
              </a:rPr>
              <a:t>xuất</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các</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chữ</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số</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trên</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các</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dòng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riêng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biệt</a:t>
            </a:r>
            <a:endParaRPr lang="en-US" dirty="0">
              <a:latin typeface="Cambria" panose="02040503050406030204" pitchFamily="18" charset="0"/>
              <a:cs typeface="Times New Roman" pitchFamily="18" charset="0"/>
            </a:endParaRPr>
          </a:p>
          <a:p>
            <a:pPr>
              <a:buFontTx/>
              <a:buChar char="-"/>
            </a:pPr>
            <a:r>
              <a:rPr lang="en-US" dirty="0" err="1">
                <a:latin typeface="Cambria" panose="02040503050406030204" pitchFamily="18" charset="0"/>
                <a:cs typeface="Times New Roman" pitchFamily="18" charset="0"/>
              </a:rPr>
              <a:t>Xuất</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có</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bao</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nhiêu</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chữ</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số</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chẵn</a:t>
            </a:r>
            <a:endParaRPr lang="en-US" dirty="0">
              <a:latin typeface="Cambria" panose="02040503050406030204" pitchFamily="18" charset="0"/>
              <a:cs typeface="Times New Roman" pitchFamily="18" charset="0"/>
            </a:endParaRPr>
          </a:p>
          <a:p>
            <a:pPr>
              <a:buFontTx/>
              <a:buChar char="-"/>
            </a:pPr>
            <a:r>
              <a:rPr lang="en-US" dirty="0" err="1">
                <a:latin typeface="Cambria" panose="02040503050406030204" pitchFamily="18" charset="0"/>
                <a:cs typeface="Times New Roman" pitchFamily="18" charset="0"/>
              </a:rPr>
              <a:t>Xuất</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có</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bao</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nhiêu</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số</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âm</a:t>
            </a:r>
            <a:endParaRPr lang="en-US" dirty="0">
              <a:latin typeface="Cambria" panose="02040503050406030204" pitchFamily="18" charset="0"/>
              <a:cs typeface="Times New Roman" pitchFamily="18" charset="0"/>
            </a:endParaRPr>
          </a:p>
          <a:p>
            <a:pPr>
              <a:buFontTx/>
              <a:buChar char="-"/>
            </a:pPr>
            <a:r>
              <a:rPr lang="en-US" dirty="0" err="1">
                <a:latin typeface="Cambria" panose="02040503050406030204" pitchFamily="18" charset="0"/>
                <a:cs typeface="Times New Roman" pitchFamily="18" charset="0"/>
              </a:rPr>
              <a:t>Xuất</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có</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bao</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nhiêu</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chữ</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số</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nguyên</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tố</a:t>
            </a:r>
            <a:endParaRPr lang="en-US" dirty="0">
              <a:latin typeface="Cambria" panose="02040503050406030204" pitchFamily="18" charset="0"/>
              <a:cs typeface="Times New Roman" pitchFamily="18" charset="0"/>
            </a:endParaRPr>
          </a:p>
          <a:p>
            <a:pPr>
              <a:buFontTx/>
              <a:buChar char="-"/>
            </a:pPr>
            <a:r>
              <a:rPr lang="en-US" dirty="0" err="1">
                <a:latin typeface="Cambria" panose="02040503050406030204" pitchFamily="18" charset="0"/>
                <a:cs typeface="Times New Roman" pitchFamily="18" charset="0"/>
              </a:rPr>
              <a:t>Tính</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giá</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trị</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trung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bình</a:t>
            </a:r>
            <a:endParaRPr lang="en-US" dirty="0">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166696024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47837" y="762000"/>
            <a:ext cx="86153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rPr>
              <a:t>Các bài tập tự rèn luyện</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85</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35239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b="1" u="sng" dirty="0" err="1">
                <a:latin typeface="Cambria" panose="02040503050406030204" pitchFamily="18" charset="0"/>
                <a:cs typeface="Times New Roman" pitchFamily="18" charset="0"/>
              </a:rPr>
              <a:t>Câu</a:t>
            </a:r>
            <a:r>
              <a:rPr lang="en-US" sz="2800" b="1" u="sng" dirty="0">
                <a:latin typeface="Cambria" panose="02040503050406030204" pitchFamily="18" charset="0"/>
                <a:cs typeface="Times New Roman" pitchFamily="18" charset="0"/>
              </a:rPr>
              <a:t> 1:</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Trình</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bày</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một</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số</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quan</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trọng</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trong</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xử</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lý</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Chuỗi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của</a:t>
            </a:r>
            <a:r>
              <a:rPr lang="en-US" sz="2800" dirty="0">
                <a:latin typeface="Cambria" panose="02040503050406030204" pitchFamily="18" charset="0"/>
                <a:cs typeface="Times New Roman" pitchFamily="18" charset="0"/>
              </a:rPr>
              <a:t> Python</a:t>
            </a:r>
          </a:p>
          <a:p>
            <a:pPr marL="0" indent="0">
              <a:buNone/>
            </a:pPr>
            <a:r>
              <a:rPr lang="en-US" sz="2800" b="1" u="sng" dirty="0" err="1">
                <a:latin typeface="Times New Roman" panose="02020603050405020304" pitchFamily="18" charset="0"/>
                <a:ea typeface="Calibri" panose="020F0502020204030204" pitchFamily="34" charset="0"/>
              </a:rPr>
              <a:t>Câu</a:t>
            </a:r>
            <a:r>
              <a:rPr lang="en-US" sz="2800" b="1" u="sng" dirty="0">
                <a:latin typeface="Times New Roman" panose="02020603050405020304" pitchFamily="18" charset="0"/>
                <a:ea typeface="Calibri" panose="020F0502020204030204" pitchFamily="34" charset="0"/>
              </a:rPr>
              <a:t> 2:</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Viết</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chương</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trình</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cho</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phép</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nhập</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vào</a:t>
            </a:r>
            <a:r>
              <a:rPr lang="en-US" sz="2800" dirty="0">
                <a:latin typeface="Times New Roman" panose="02020603050405020304" pitchFamily="18" charset="0"/>
                <a:ea typeface="Calibri" panose="020F0502020204030204" pitchFamily="34" charset="0"/>
              </a:rPr>
              <a:t> 1 </a:t>
            </a:r>
            <a:r>
              <a:rPr lang="en-US" sz="2800" dirty="0" err="1">
                <a:latin typeface="Times New Roman" panose="02020603050405020304" pitchFamily="18" charset="0"/>
                <a:ea typeface="Calibri" panose="020F0502020204030204" pitchFamily="34" charset="0"/>
              </a:rPr>
              <a:t>chuỗi</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Yêu</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cầu</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xuất</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ra</a:t>
            </a:r>
            <a:r>
              <a:rPr lang="en-US" sz="2800" dirty="0">
                <a:latin typeface="Times New Roman" panose="02020603050405020304" pitchFamily="18" charset="0"/>
                <a:ea typeface="Calibri" panose="020F0502020204030204" pitchFamily="34" charset="0"/>
              </a:rPr>
              <a:t>:</a:t>
            </a:r>
          </a:p>
          <a:p>
            <a:pPr>
              <a:buFontTx/>
              <a:buChar char="-"/>
            </a:pPr>
            <a:r>
              <a:rPr lang="en-US" sz="2800" dirty="0" err="1">
                <a:latin typeface="Times New Roman" panose="02020603050405020304" pitchFamily="18" charset="0"/>
                <a:ea typeface="Calibri" panose="020F0502020204030204" pitchFamily="34" charset="0"/>
              </a:rPr>
              <a:t>Bao</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nhiêu</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chữ</a:t>
            </a:r>
            <a:r>
              <a:rPr lang="en-US" sz="2800" dirty="0">
                <a:latin typeface="Times New Roman" panose="02020603050405020304" pitchFamily="18" charset="0"/>
                <a:ea typeface="Calibri" panose="020F0502020204030204" pitchFamily="34" charset="0"/>
              </a:rPr>
              <a:t> IN HOA</a:t>
            </a:r>
          </a:p>
          <a:p>
            <a:pPr>
              <a:buFontTx/>
              <a:buChar char="-"/>
            </a:pPr>
            <a:r>
              <a:rPr lang="en-US" sz="2800" dirty="0" err="1">
                <a:latin typeface="Times New Roman" panose="02020603050405020304" pitchFamily="18" charset="0"/>
                <a:ea typeface="Calibri" panose="020F0502020204030204" pitchFamily="34" charset="0"/>
              </a:rPr>
              <a:t>Bao</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nhiêu</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chữ</a:t>
            </a:r>
            <a:r>
              <a:rPr lang="en-US" sz="2800" dirty="0">
                <a:latin typeface="Times New Roman" panose="02020603050405020304" pitchFamily="18" charset="0"/>
                <a:ea typeface="Calibri" panose="020F0502020204030204" pitchFamily="34" charset="0"/>
              </a:rPr>
              <a:t> in </a:t>
            </a:r>
            <a:r>
              <a:rPr lang="en-US" sz="2800" dirty="0" err="1">
                <a:latin typeface="Times New Roman" panose="02020603050405020304" pitchFamily="18" charset="0"/>
                <a:ea typeface="Calibri" panose="020F0502020204030204" pitchFamily="34" charset="0"/>
              </a:rPr>
              <a:t>thường</a:t>
            </a:r>
            <a:endParaRPr lang="en-US" sz="2800" dirty="0">
              <a:latin typeface="Times New Roman" panose="02020603050405020304" pitchFamily="18" charset="0"/>
              <a:ea typeface="Calibri" panose="020F0502020204030204" pitchFamily="34" charset="0"/>
            </a:endParaRPr>
          </a:p>
          <a:p>
            <a:pPr>
              <a:buFontTx/>
              <a:buChar char="-"/>
            </a:pPr>
            <a:r>
              <a:rPr lang="en-US" sz="2800" dirty="0" err="1">
                <a:latin typeface="Times New Roman" panose="02020603050405020304" pitchFamily="18" charset="0"/>
                <a:ea typeface="Calibri" panose="020F0502020204030204" pitchFamily="34" charset="0"/>
              </a:rPr>
              <a:t>Bao</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nhiêu</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chữ</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là</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chữ</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số</a:t>
            </a:r>
            <a:endParaRPr lang="en-US" sz="2800" dirty="0">
              <a:latin typeface="Times New Roman" panose="02020603050405020304" pitchFamily="18" charset="0"/>
              <a:ea typeface="Calibri" panose="020F0502020204030204" pitchFamily="34" charset="0"/>
            </a:endParaRPr>
          </a:p>
          <a:p>
            <a:pPr>
              <a:buFontTx/>
              <a:buChar char="-"/>
            </a:pPr>
            <a:r>
              <a:rPr lang="en-US" sz="2800" dirty="0" err="1">
                <a:latin typeface="Times New Roman" panose="02020603050405020304" pitchFamily="18" charset="0"/>
                <a:ea typeface="Calibri" panose="020F0502020204030204" pitchFamily="34" charset="0"/>
              </a:rPr>
              <a:t>Bao</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nhiêu</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chữ</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là</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ký</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tự</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đặc</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biệt</a:t>
            </a:r>
            <a:endParaRPr lang="en-US" sz="2800" dirty="0">
              <a:latin typeface="Times New Roman" panose="02020603050405020304" pitchFamily="18" charset="0"/>
              <a:ea typeface="Calibri" panose="020F0502020204030204" pitchFamily="34" charset="0"/>
            </a:endParaRPr>
          </a:p>
          <a:p>
            <a:pPr>
              <a:buFontTx/>
              <a:buChar char="-"/>
            </a:pPr>
            <a:r>
              <a:rPr lang="en-US" sz="2800" dirty="0" err="1">
                <a:latin typeface="Times New Roman" panose="02020603050405020304" pitchFamily="18" charset="0"/>
                <a:ea typeface="Calibri" panose="020F0502020204030204" pitchFamily="34" charset="0"/>
              </a:rPr>
              <a:t>Bao</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nhiêu</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chữ</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là</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khoảng</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trắng</a:t>
            </a:r>
            <a:endParaRPr lang="en-US" sz="2800" dirty="0">
              <a:latin typeface="Times New Roman" panose="02020603050405020304" pitchFamily="18" charset="0"/>
              <a:ea typeface="Calibri" panose="020F0502020204030204" pitchFamily="34" charset="0"/>
            </a:endParaRPr>
          </a:p>
          <a:p>
            <a:pPr>
              <a:buFontTx/>
              <a:buChar char="-"/>
            </a:pPr>
            <a:r>
              <a:rPr lang="en-US" sz="2800" dirty="0" err="1">
                <a:latin typeface="Times New Roman" panose="02020603050405020304" pitchFamily="18" charset="0"/>
                <a:ea typeface="Calibri" panose="020F0502020204030204" pitchFamily="34" charset="0"/>
              </a:rPr>
              <a:t>Bao</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nhiêu</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chữ</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là</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Nguyên</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Âm</a:t>
            </a:r>
            <a:endParaRPr lang="en-US" sz="2800" dirty="0">
              <a:latin typeface="Times New Roman" panose="02020603050405020304" pitchFamily="18" charset="0"/>
              <a:ea typeface="Calibri" panose="020F0502020204030204" pitchFamily="34" charset="0"/>
            </a:endParaRPr>
          </a:p>
          <a:p>
            <a:pPr>
              <a:buFontTx/>
              <a:buChar char="-"/>
            </a:pPr>
            <a:r>
              <a:rPr lang="en-US" sz="2800" dirty="0" err="1">
                <a:latin typeface="Times New Roman" panose="02020603050405020304" pitchFamily="18" charset="0"/>
                <a:ea typeface="Calibri" panose="020F0502020204030204" pitchFamily="34" charset="0"/>
              </a:rPr>
              <a:t>Bao</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nhiêu</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chữ</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là</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Phụ</a:t>
            </a:r>
            <a:r>
              <a:rPr lang="en-US" sz="2800" dirty="0">
                <a:latin typeface="Times New Roman" panose="02020603050405020304" pitchFamily="18" charset="0"/>
                <a:ea typeface="Calibri" panose="020F0502020204030204" pitchFamily="34" charset="0"/>
              </a:rPr>
              <a:t> </a:t>
            </a:r>
            <a:r>
              <a:rPr lang="en-US" sz="2800" dirty="0" err="1">
                <a:latin typeface="Times New Roman" panose="02020603050405020304" pitchFamily="18" charset="0"/>
                <a:ea typeface="Calibri" panose="020F0502020204030204" pitchFamily="34" charset="0"/>
              </a:rPr>
              <a:t>âm</a:t>
            </a:r>
            <a:endParaRPr lang="en-US" sz="2800" dirty="0">
              <a:latin typeface="Times New Roman" panose="02020603050405020304" pitchFamily="18" charset="0"/>
              <a:ea typeface="Calibri" panose="020F0502020204030204" pitchFamily="34" charset="0"/>
            </a:endParaRPr>
          </a:p>
          <a:p>
            <a:pPr marL="0" indent="0">
              <a:buNone/>
            </a:pPr>
            <a:endParaRPr lang="en-US" sz="2800" dirty="0">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60081245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u="sng" dirty="0" err="1">
                <a:latin typeface="Times New Roman" panose="02020603050405020304" pitchFamily="18" charset="0"/>
                <a:ea typeface="Calibri" panose="020F0502020204030204" pitchFamily="34" charset="0"/>
              </a:rPr>
              <a:t>Câu</a:t>
            </a:r>
            <a:r>
              <a:rPr lang="en-US" b="1" u="sng" dirty="0">
                <a:latin typeface="Times New Roman" panose="02020603050405020304" pitchFamily="18" charset="0"/>
                <a:ea typeface="Calibri" panose="020F0502020204030204" pitchFamily="34" charset="0"/>
              </a:rPr>
              <a:t> 3:</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Viết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một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hàm</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đặt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tên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là</a:t>
            </a:r>
            <a:r>
              <a:rPr lang="en-US" dirty="0">
                <a:latin typeface="Times New Roman" panose="02020603050405020304" pitchFamily="18" charset="0"/>
                <a:ea typeface="Calibri" panose="020F0502020204030204" pitchFamily="34" charset="0"/>
              </a:rPr>
              <a:t> </a:t>
            </a:r>
            <a:r>
              <a:rPr lang="en-US" b="1" dirty="0" err="1">
                <a:latin typeface="Times New Roman" panose="02020603050405020304" pitchFamily="18" charset="0"/>
                <a:ea typeface="Calibri" panose="020F0502020204030204" pitchFamily="34" charset="0"/>
              </a:rPr>
              <a:t>NegativeNumberInStrings</a:t>
            </a:r>
            <a:r>
              <a:rPr lang="en-US" dirty="0">
                <a:latin typeface="Times New Roman" panose="02020603050405020304" pitchFamily="18" charset="0"/>
                <a:ea typeface="Calibri" panose="020F0502020204030204" pitchFamily="34" charset="0"/>
              </a:rPr>
              <a:t>(</a:t>
            </a:r>
            <a:r>
              <a:rPr lang="en-US" dirty="0" err="1">
                <a:latin typeface="Times New Roman" panose="02020603050405020304" pitchFamily="18" charset="0"/>
                <a:ea typeface="Calibri" panose="020F0502020204030204" pitchFamily="34" charset="0"/>
              </a:rPr>
              <a:t>str</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Hàm</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này</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có</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đối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số</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truyền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vào</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là</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một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chuỗi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bất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kỳ</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Hãy</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viết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lệnh</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để</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xuất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ra</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các</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số</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nguyên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âm</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trong</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chuỗi</a:t>
            </a:r>
            <a:r>
              <a:rPr lang="en-US" dirty="0">
                <a:latin typeface="Times New Roman" panose="02020603050405020304" pitchFamily="18" charset="0"/>
                <a:ea typeface="Calibri" panose="020F0502020204030204" pitchFamily="34" charset="0"/>
              </a:rPr>
              <a:t>.</a:t>
            </a:r>
          </a:p>
          <a:p>
            <a:pPr marL="0" indent="0" algn="just">
              <a:buNone/>
            </a:pPr>
            <a:r>
              <a:rPr lang="en-US" b="1" dirty="0" err="1">
                <a:latin typeface="Times New Roman" panose="02020603050405020304" pitchFamily="18" charset="0"/>
                <a:ea typeface="Calibri" panose="020F0502020204030204" pitchFamily="34" charset="0"/>
              </a:rPr>
              <a:t>Ví</a:t>
            </a:r>
            <a:r>
              <a:rPr lang="en-US" b="1" dirty="0">
                <a:latin typeface="Times New Roman" panose="02020603050405020304" pitchFamily="18" charset="0"/>
                <a:ea typeface="Calibri" panose="020F0502020204030204" pitchFamily="34" charset="0"/>
              </a:rPr>
              <a:t> </a:t>
            </a:r>
            <a:r>
              <a:rPr lang="en-US" b="1" dirty="0" err="1">
                <a:latin typeface="Times New Roman" panose="02020603050405020304" pitchFamily="18" charset="0"/>
                <a:ea typeface="Calibri" panose="020F0502020204030204" pitchFamily="34" charset="0"/>
              </a:rPr>
              <a:t>dụ</a:t>
            </a:r>
            <a:r>
              <a:rPr lang="en-US" b="1" dirty="0">
                <a:latin typeface="Times New Roman" panose="02020603050405020304" pitchFamily="18" charset="0"/>
                <a:ea typeface="Calibri" panose="020F0502020204030204" pitchFamily="34" charset="0"/>
              </a:rPr>
              <a: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Nếu</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nhập</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vào</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chuỗi</a:t>
            </a:r>
            <a:r>
              <a:rPr lang="en-US" dirty="0">
                <a:latin typeface="Times New Roman" panose="02020603050405020304" pitchFamily="18" charset="0"/>
                <a:ea typeface="Calibri" panose="020F0502020204030204" pitchFamily="34" charset="0"/>
              </a:rPr>
              <a:t> “</a:t>
            </a:r>
            <a:r>
              <a:rPr lang="en-US" b="1" dirty="0">
                <a:latin typeface="Times New Roman" panose="02020603050405020304" pitchFamily="18" charset="0"/>
                <a:ea typeface="Calibri" panose="020F0502020204030204" pitchFamily="34" charset="0"/>
              </a:rPr>
              <a:t>abc</a:t>
            </a:r>
            <a:r>
              <a:rPr lang="en-US" b="1" dirty="0">
                <a:solidFill>
                  <a:srgbClr val="FF0000"/>
                </a:solidFill>
                <a:latin typeface="Times New Roman" panose="02020603050405020304" pitchFamily="18" charset="0"/>
                <a:ea typeface="Calibri" panose="020F0502020204030204" pitchFamily="34" charset="0"/>
              </a:rPr>
              <a:t>-5</a:t>
            </a:r>
            <a:r>
              <a:rPr lang="en-US" b="1" dirty="0">
                <a:latin typeface="Times New Roman" panose="02020603050405020304" pitchFamily="18" charset="0"/>
                <a:ea typeface="Calibri" panose="020F0502020204030204" pitchFamily="34" charset="0"/>
              </a:rPr>
              <a:t>xyz</a:t>
            </a:r>
            <a:r>
              <a:rPr lang="en-US" b="1" dirty="0">
                <a:solidFill>
                  <a:srgbClr val="FF0000"/>
                </a:solidFill>
                <a:latin typeface="Times New Roman" panose="02020603050405020304" pitchFamily="18" charset="0"/>
                <a:ea typeface="Calibri" panose="020F0502020204030204" pitchFamily="34" charset="0"/>
              </a:rPr>
              <a:t>-12</a:t>
            </a:r>
            <a:r>
              <a:rPr lang="en-US" b="1" dirty="0">
                <a:latin typeface="Times New Roman" panose="02020603050405020304" pitchFamily="18" charset="0"/>
                <a:ea typeface="Calibri" panose="020F0502020204030204" pitchFamily="34" charset="0"/>
              </a:rPr>
              <a:t>k9l--p</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thì</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hàm</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phải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xuất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ra</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được</a:t>
            </a:r>
            <a:r>
              <a:rPr lang="en-US" dirty="0">
                <a:latin typeface="Times New Roman" panose="02020603050405020304" pitchFamily="18" charset="0"/>
                <a:ea typeface="Calibri" panose="020F0502020204030204" pitchFamily="34" charset="0"/>
              </a:rPr>
              <a:t> 2 </a:t>
            </a:r>
            <a:r>
              <a:rPr lang="en-US" dirty="0" err="1">
                <a:latin typeface="Times New Roman" panose="02020603050405020304" pitchFamily="18" charset="0"/>
                <a:ea typeface="Calibri" panose="020F0502020204030204" pitchFamily="34" charset="0"/>
              </a:rPr>
              <a:t>số</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nguyên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âm</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đó</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là</a:t>
            </a:r>
            <a:r>
              <a:rPr lang="en-US" dirty="0">
                <a:latin typeface="Times New Roman" panose="02020603050405020304" pitchFamily="18" charset="0"/>
                <a:ea typeface="Calibri" panose="020F0502020204030204" pitchFamily="34" charset="0"/>
              </a:rPr>
              <a:t> -5 </a:t>
            </a:r>
            <a:r>
              <a:rPr lang="en-US" dirty="0" err="1">
                <a:latin typeface="Times New Roman" panose="02020603050405020304" pitchFamily="18" charset="0"/>
                <a:ea typeface="Calibri" panose="020F0502020204030204" pitchFamily="34" charset="0"/>
              </a:rPr>
              <a:t>và</a:t>
            </a:r>
            <a:r>
              <a:rPr lang="en-US" dirty="0">
                <a:latin typeface="Times New Roman" panose="02020603050405020304" pitchFamily="18" charset="0"/>
                <a:ea typeface="Calibri" panose="020F0502020204030204" pitchFamily="34" charset="0"/>
              </a:rPr>
              <a:t> -12</a:t>
            </a:r>
          </a:p>
          <a:p>
            <a:pPr marL="0" indent="0">
              <a:buNone/>
            </a:pPr>
            <a:endParaRPr lang="en-US" dirty="0">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111501406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88</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u="sng" dirty="0" err="1">
                <a:latin typeface="Times New Roman" panose="02020603050405020304" pitchFamily="18" charset="0"/>
                <a:ea typeface="Calibri" panose="020F0502020204030204" pitchFamily="34" charset="0"/>
              </a:rPr>
              <a:t>Câu</a:t>
            </a:r>
            <a:r>
              <a:rPr lang="en-US" b="1" u="sng" dirty="0">
                <a:latin typeface="Times New Roman" panose="02020603050405020304" pitchFamily="18" charset="0"/>
                <a:ea typeface="Calibri" panose="020F0502020204030204" pitchFamily="34" charset="0"/>
              </a:rPr>
              <a:t> 4:</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Viết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ch</a:t>
            </a:r>
            <a:r>
              <a:rPr lang="vi-VN" dirty="0">
                <a:latin typeface="Times New Roman" panose="02020603050405020304" pitchFamily="18" charset="0"/>
                <a:ea typeface="Calibri" panose="020F0502020204030204" pitchFamily="34" charset="0"/>
              </a:rPr>
              <a:t>ư</a:t>
            </a:r>
            <a:r>
              <a:rPr lang="en-US" dirty="0" err="1">
                <a:latin typeface="Times New Roman" panose="02020603050405020304" pitchFamily="18" charset="0"/>
                <a:ea typeface="Calibri" panose="020F0502020204030204" pitchFamily="34" charset="0"/>
              </a:rPr>
              <a:t>ơng</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trình</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tối</a:t>
            </a:r>
            <a:r>
              <a:rPr lang="en-US" dirty="0">
                <a:latin typeface="Times New Roman" panose="02020603050405020304" pitchFamily="18" charset="0"/>
                <a:ea typeface="Calibri" panose="020F0502020204030204" pitchFamily="34" charset="0"/>
              </a:rPr>
              <a:t> </a:t>
            </a:r>
            <a:r>
              <a:rPr lang="vi-VN" dirty="0">
                <a:latin typeface="Times New Roman" panose="02020603050405020304" pitchFamily="18" charset="0"/>
                <a:ea typeface="Calibri" panose="020F0502020204030204" pitchFamily="34" charset="0"/>
              </a:rPr>
              <a:t>ư</a:t>
            </a:r>
            <a:r>
              <a:rPr lang="en-US" dirty="0">
                <a:latin typeface="Times New Roman" panose="02020603050405020304" pitchFamily="18" charset="0"/>
                <a:ea typeface="Calibri" panose="020F0502020204030204" pitchFamily="34" charset="0"/>
              </a:rPr>
              <a:t>u </a:t>
            </a:r>
            <a:r>
              <a:rPr lang="en-US" dirty="0" err="1">
                <a:latin typeface="Times New Roman" panose="02020603050405020304" pitchFamily="18" charset="0"/>
                <a:ea typeface="Calibri" panose="020F0502020204030204" pitchFamily="34" charset="0"/>
              </a:rPr>
              <a:t>Chuỗi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danh</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từ</a:t>
            </a:r>
            <a:endParaRPr lang="en-US" dirty="0">
              <a:latin typeface="Times New Roman" panose="02020603050405020304" pitchFamily="18" charset="0"/>
              <a:ea typeface="Calibri" panose="020F0502020204030204" pitchFamily="34" charset="0"/>
            </a:endParaRPr>
          </a:p>
          <a:p>
            <a:pPr marL="0" indent="0">
              <a:buNone/>
            </a:pPr>
            <a:r>
              <a:rPr lang="en-US" dirty="0" err="1">
                <a:latin typeface="Cambria" panose="02040503050406030204" pitchFamily="18" charset="0"/>
                <a:cs typeface="Times New Roman" pitchFamily="18" charset="0"/>
              </a:rPr>
              <a:t>Một</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Chuỗi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được</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gọi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là</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tối</a:t>
            </a:r>
            <a:r>
              <a:rPr lang="en-US" dirty="0">
                <a:latin typeface="Cambria" panose="02040503050406030204" pitchFamily="18" charset="0"/>
                <a:cs typeface="Times New Roman" pitchFamily="18" charset="0"/>
              </a:rPr>
              <a:t> </a:t>
            </a:r>
            <a:r>
              <a:rPr lang="vi-VN" dirty="0">
                <a:latin typeface="Cambria" panose="02040503050406030204" pitchFamily="18" charset="0"/>
                <a:cs typeface="Times New Roman" pitchFamily="18" charset="0"/>
              </a:rPr>
              <a:t>ư</a:t>
            </a:r>
            <a:r>
              <a:rPr lang="en-US" dirty="0">
                <a:latin typeface="Cambria" panose="02040503050406030204" pitchFamily="18" charset="0"/>
                <a:cs typeface="Times New Roman" pitchFamily="18" charset="0"/>
              </a:rPr>
              <a:t>u </a:t>
            </a:r>
            <a:r>
              <a:rPr lang="en-US" dirty="0" err="1">
                <a:latin typeface="Cambria" panose="02040503050406030204" pitchFamily="18" charset="0"/>
                <a:cs typeface="Times New Roman" pitchFamily="18" charset="0"/>
              </a:rPr>
              <a:t>khi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Không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chứa</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các</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khoảng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trắng</a:t>
            </a:r>
            <a:r>
              <a:rPr lang="en-US" dirty="0">
                <a:latin typeface="Cambria" panose="02040503050406030204" pitchFamily="18" charset="0"/>
                <a:cs typeface="Times New Roman" pitchFamily="18" charset="0"/>
              </a:rPr>
              <a:t> d</a:t>
            </a:r>
            <a:r>
              <a:rPr lang="vi-VN" dirty="0">
                <a:latin typeface="Cambria" panose="02040503050406030204" pitchFamily="18" charset="0"/>
                <a:cs typeface="Times New Roman" pitchFamily="18" charset="0"/>
              </a:rPr>
              <a:t>ư</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thừa</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các</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từ</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cách</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nhau</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bởi</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một</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khoảng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trắng</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Ký</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tự</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đầu</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tiên</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của</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các</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từ</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Viết</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Hoa</a:t>
            </a:r>
            <a:r>
              <a:rPr lang="en-US" dirty="0">
                <a:latin typeface="Cambria" panose="02040503050406030204" pitchFamily="18" charset="0"/>
                <a:cs typeface="Times New Roman" pitchFamily="18" charset="0"/>
              </a:rPr>
              <a:t>.</a:t>
            </a:r>
          </a:p>
          <a:p>
            <a:pPr marL="0" indent="0">
              <a:buNone/>
            </a:pPr>
            <a:r>
              <a:rPr lang="en-US" dirty="0" err="1">
                <a:latin typeface="Cambria" panose="02040503050406030204" pitchFamily="18" charset="0"/>
                <a:cs typeface="Times New Roman" pitchFamily="18" charset="0"/>
              </a:rPr>
              <a:t>Ví</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dụ</a:t>
            </a:r>
            <a:r>
              <a:rPr lang="en-US" dirty="0">
                <a:latin typeface="Cambria" panose="02040503050406030204" pitchFamily="18" charset="0"/>
                <a:cs typeface="Times New Roman" pitchFamily="18" charset="0"/>
              </a:rPr>
              <a:t>:</a:t>
            </a:r>
          </a:p>
          <a:p>
            <a:pPr marL="0" indent="0">
              <a:buNone/>
            </a:pPr>
            <a:r>
              <a:rPr lang="en-US" dirty="0">
                <a:latin typeface="Cambria" panose="02040503050406030204" pitchFamily="18" charset="0"/>
                <a:cs typeface="Times New Roman" pitchFamily="18" charset="0"/>
              </a:rPr>
              <a:t>Input “     </a:t>
            </a:r>
            <a:r>
              <a:rPr lang="en-US" dirty="0" err="1">
                <a:latin typeface="Cambria" panose="02040503050406030204" pitchFamily="18" charset="0"/>
                <a:cs typeface="Times New Roman" pitchFamily="18" charset="0"/>
              </a:rPr>
              <a:t>TRầM</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vŨ</a:t>
            </a:r>
            <a:r>
              <a:rPr lang="en-US" dirty="0">
                <a:latin typeface="Cambria" panose="02040503050406030204" pitchFamily="18" charset="0"/>
                <a:cs typeface="Times New Roman" pitchFamily="18" charset="0"/>
              </a:rPr>
              <a:t>            </a:t>
            </a:r>
            <a:r>
              <a:rPr lang="en-US" dirty="0" err="1">
                <a:latin typeface="Cambria" panose="02040503050406030204" pitchFamily="18" charset="0"/>
                <a:cs typeface="Times New Roman" pitchFamily="18" charset="0"/>
              </a:rPr>
              <a:t>kiỆt</a:t>
            </a:r>
            <a:r>
              <a:rPr lang="en-US" dirty="0">
                <a:latin typeface="Cambria" panose="02040503050406030204" pitchFamily="18" charset="0"/>
                <a:cs typeface="Times New Roman" pitchFamily="18" charset="0"/>
              </a:rPr>
              <a:t>   ”</a:t>
            </a:r>
          </a:p>
          <a:p>
            <a:pPr marL="0" indent="0">
              <a:buNone/>
            </a:pPr>
            <a:r>
              <a:rPr lang="en-US" dirty="0">
                <a:latin typeface="Cambria" panose="02040503050406030204" pitchFamily="18" charset="0"/>
                <a:cs typeface="Times New Roman" pitchFamily="18" charset="0"/>
              </a:rPr>
              <a:t>Output “Trầm </a:t>
            </a:r>
            <a:r>
              <a:rPr lang="en-US" dirty="0" err="1">
                <a:latin typeface="Cambria" panose="02040503050406030204" pitchFamily="18" charset="0"/>
                <a:cs typeface="Times New Roman" pitchFamily="18" charset="0"/>
              </a:rPr>
              <a:t>Vũ</a:t>
            </a:r>
            <a:r>
              <a:rPr lang="en-US" dirty="0">
                <a:latin typeface="Cambria" panose="02040503050406030204" pitchFamily="18" charset="0"/>
                <a:cs typeface="Times New Roman" pitchFamily="18" charset="0"/>
              </a:rPr>
              <a:t> Kiệt”</a:t>
            </a:r>
          </a:p>
          <a:p>
            <a:pPr marL="0" indent="0">
              <a:buNone/>
            </a:pPr>
            <a:endParaRPr lang="en-US" dirty="0">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362116118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p:cNvSpPr txBox="1">
            <a:spLocks noChangeArrowheads="1"/>
          </p:cNvSpPr>
          <p:nvPr/>
        </p:nvSpPr>
        <p:spPr bwMode="auto">
          <a:xfrm>
            <a:off x="4495800" y="2555117"/>
            <a:ext cx="2667000" cy="109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6600">
                <a:latin typeface="Cambria" panose="02040503050406030204" pitchFamily="18" charset="0"/>
                <a:cs typeface="Arial" charset="0"/>
              </a:rPr>
              <a:t>END</a:t>
            </a:r>
          </a:p>
        </p:txBody>
      </p:sp>
      <p:pic>
        <p:nvPicPr>
          <p:cNvPr id="8" name="Picture 2" descr="Image result for minion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1" y="3611303"/>
            <a:ext cx="2181225" cy="23431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Image result for minion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58200" y="2310736"/>
            <a:ext cx="1905000" cy="1905002"/>
          </a:xfrm>
          <a:prstGeom prst="rect">
            <a:avLst/>
          </a:prstGeom>
          <a:noFill/>
          <a:extLst>
            <a:ext uri="{909E8E84-426E-40DD-AFC4-6F175D3DCCD1}">
              <a14:hiddenFill xmlns:a14="http://schemas.microsoft.com/office/drawing/2010/main">
                <a:solidFill>
                  <a:srgbClr val="FFFFFF"/>
                </a:solidFill>
              </a14:hiddenFill>
            </a:ext>
          </a:extLst>
        </p:spPr>
      </p:pic>
      <p:sp>
        <p:nvSpPr>
          <p:cNvPr id="10" name="Cloud Callout 9"/>
          <p:cNvSpPr/>
          <p:nvPr/>
        </p:nvSpPr>
        <p:spPr>
          <a:xfrm>
            <a:off x="7010400" y="533400"/>
            <a:ext cx="1714500" cy="1745064"/>
          </a:xfrm>
          <a:prstGeom prst="cloudCallout">
            <a:avLst>
              <a:gd name="adj1" fmla="val 45968"/>
              <a:gd name="adj2" fmla="val 92351"/>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a:latin typeface="Cambria" panose="02040503050406030204" pitchFamily="18" charset="0"/>
              </a:rPr>
              <a:t>Hey! Coding is easy!</a:t>
            </a:r>
          </a:p>
        </p:txBody>
      </p:sp>
      <p:sp>
        <p:nvSpPr>
          <p:cNvPr id="4" name="Slide Number Placeholder 3"/>
          <p:cNvSpPr>
            <a:spLocks noGrp="1"/>
          </p:cNvSpPr>
          <p:nvPr>
            <p:ph type="sldNum" sz="quarter" idx="12"/>
          </p:nvPr>
        </p:nvSpPr>
        <p:spPr/>
        <p:txBody>
          <a:bodyPr/>
          <a:lstStyle/>
          <a:p>
            <a:r>
              <a:rPr lang="en-US"/>
              <a:t>Trang </a:t>
            </a:r>
            <a:fld id="{99166BD8-DA3C-4BE0-9C00-AA0485D1F6DE}" type="slidenum">
              <a:rPr lang="en-US" smtClean="0"/>
              <a:pPr/>
              <a:t>89</a:t>
            </a:fld>
            <a:endParaRPr lang="en-US"/>
          </a:p>
        </p:txBody>
      </p:sp>
    </p:spTree>
    <p:extLst>
      <p:ext uri="{BB962C8B-B14F-4D97-AF65-F5344CB8AC3E}">
        <p14:creationId xmlns:p14="http://schemas.microsoft.com/office/powerpoint/2010/main" val="40959804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2791</TotalTime>
  <Words>3253</Words>
  <Application>Microsoft Office PowerPoint</Application>
  <PresentationFormat>Widescreen</PresentationFormat>
  <Paragraphs>541</Paragraphs>
  <Slides>89</Slides>
  <Notes>89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89</vt:i4>
      </vt:variant>
    </vt:vector>
  </HeadingPairs>
  <TitlesOfParts>
    <vt:vector size="96" baseType="lpstr">
      <vt:lpstr>Arial</vt:lpstr>
      <vt:lpstr>Calibri</vt:lpstr>
      <vt:lpstr>Cambria</vt:lpstr>
      <vt:lpstr>Courier New</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pttlinh42@gmail.com</cp:lastModifiedBy>
  <cp:revision>1359</cp:revision>
  <dcterms:created xsi:type="dcterms:W3CDTF">2011-04-06T04:04:31Z</dcterms:created>
  <dcterms:modified xsi:type="dcterms:W3CDTF">2025-08-18T06:30:58Z</dcterms:modified>
</cp:coreProperties>
</file>
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2"/>
  </p:notesMasterIdLst>
  <p:sldIdLst>
    <p:sldId id="256" r:id="rId2"/>
    <p:sldId id="261" r:id="rId3"/>
    <p:sldId id="342" r:id="rId4"/>
    <p:sldId id="270" r:id="rId5"/>
    <p:sldId id="262" r:id="rId6"/>
    <p:sldId id="271" r:id="rId7"/>
    <p:sldId id="345" r:id="rId8"/>
    <p:sldId id="343" r:id="rId9"/>
    <p:sldId id="268" r:id="rId10"/>
    <p:sldId id="269" r:id="rId11"/>
    <p:sldId id="263" r:id="rId12"/>
    <p:sldId id="272" r:id="rId13"/>
    <p:sldId id="266" r:id="rId14"/>
    <p:sldId id="273" r:id="rId15"/>
    <p:sldId id="267" r:id="rId16"/>
    <p:sldId id="265" r:id="rId17"/>
    <p:sldId id="274" r:id="rId18"/>
    <p:sldId id="344" r:id="rId19"/>
    <p:sldId id="276" r:id="rId20"/>
    <p:sldId id="347" r:id="rId21"/>
    <p:sldId id="348" r:id="rId22"/>
    <p:sldId id="349" r:id="rId23"/>
    <p:sldId id="350" r:id="rId24"/>
    <p:sldId id="275" r:id="rId25"/>
    <p:sldId id="34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79" autoAdjust="0"/>
    <p:restoredTop sz="89587" autoAdjust="0"/>
  </p:normalViewPr>
  <p:slideViewPr>
    <p:cSldViewPr>
      <p:cViewPr varScale="1">
        <p:scale>
          <a:sx n="53" d="100"/>
          <a:sy n="53" d="100"/>
        </p:scale>
        <p:origin x="96" y="118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49F7025-33D9-4E9F-9955-A14222A03D05}" type="datetimeFigureOut">
              <a:rPr lang="en-US" smtClean="0"/>
              <a:t>8/13/2025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D3E3EA-CC6A-448F-83C3-9A526F33CF9E}" type="slidenum">
              <a:rPr lang="en-US" smtClean="0"/>
              <a:t>‹#›</a:t>
            </a:fld>
            <a:endParaRPr lang="en-US"/>
          </a:p>
        </p:txBody>
      </p:sp>
    </p:spTree>
    <p:extLst>
      <p:ext uri="{BB962C8B-B14F-4D97-AF65-F5344CB8AC3E}">
        <p14:creationId xmlns:p14="http://schemas.microsoft.com/office/powerpoint/2010/main" val="1352526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www.google.com/search?cs=0&amp;sca_esv=85c04323f33f3047&amp;q=Centrum+Wiskunde+%26+Informatica+(CWI)&amp;sa=X&amp;ved=2ahUKEwjL39n48oaPAxW3nq8BHYupHt4QxccNegQILBAB&amp;mstk=AUtExfD0b1O4QY7qinUnDuHvPpOGIR2NGofn0gA3vHInI23rnsH0fdtluy5xR5zU3zWsafhN-qdSieFSGY4qwkSpH69olptUuH_6SiLSKOZNzQ6DS0GddkpZNCIgCSzofvKZoS8n2VsOBghK7KXWNmdr7rNvUp9PP04BuodPnrrx9A6V6BQ&amp;csui=3"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a:t>
            </a:fld>
            <a:endParaRPr lang="en-US"/>
          </a:p>
        </p:txBody>
      </p:sp>
    </p:spTree>
    <p:extLst>
      <p:ext uri="{BB962C8B-B14F-4D97-AF65-F5344CB8AC3E}">
        <p14:creationId xmlns:p14="http://schemas.microsoft.com/office/powerpoint/2010/main" val="42618542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a:t>
            </a:fld>
            <a:endParaRPr lang="en-US"/>
          </a:p>
        </p:txBody>
      </p:sp>
    </p:spTree>
    <p:extLst>
      <p:ext uri="{BB962C8B-B14F-4D97-AF65-F5344CB8AC3E}">
        <p14:creationId xmlns:p14="http://schemas.microsoft.com/office/powerpoint/2010/main" val="27990596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a:t>
            </a:fld>
            <a:endParaRPr lang="en-US"/>
          </a:p>
        </p:txBody>
      </p:sp>
    </p:spTree>
    <p:extLst>
      <p:ext uri="{BB962C8B-B14F-4D97-AF65-F5344CB8AC3E}">
        <p14:creationId xmlns:p14="http://schemas.microsoft.com/office/powerpoint/2010/main" val="3195782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a:t>
            </a:fld>
            <a:endParaRPr lang="en-US"/>
          </a:p>
        </p:txBody>
      </p:sp>
    </p:spTree>
    <p:extLst>
      <p:ext uri="{BB962C8B-B14F-4D97-AF65-F5344CB8AC3E}">
        <p14:creationId xmlns:p14="http://schemas.microsoft.com/office/powerpoint/2010/main" val="522605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a:t>
            </a:fld>
            <a:endParaRPr lang="en-US"/>
          </a:p>
        </p:txBody>
      </p:sp>
    </p:spTree>
    <p:extLst>
      <p:ext uri="{BB962C8B-B14F-4D97-AF65-F5344CB8AC3E}">
        <p14:creationId xmlns:p14="http://schemas.microsoft.com/office/powerpoint/2010/main" val="2251910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a:t>
            </a:fld>
            <a:endParaRPr lang="en-US"/>
          </a:p>
        </p:txBody>
      </p:sp>
    </p:spTree>
    <p:extLst>
      <p:ext uri="{BB962C8B-B14F-4D97-AF65-F5344CB8AC3E}">
        <p14:creationId xmlns:p14="http://schemas.microsoft.com/office/powerpoint/2010/main" val="34982256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sz="1200" b="1" dirty="0" smtClean="0">
                <a:solidFill>
                  <a:srgbClr val="001D35"/>
                </a:solidFill>
                <a:latin typeface="Google Sans"/>
              </a:rPr>
              <a:t>Những năm 1980:</a:t>
            </a:r>
            <a:r>
              <a:rPr lang="en-US" sz="1200" b="1" dirty="0" smtClean="0">
                <a:solidFill>
                  <a:srgbClr val="001D35"/>
                </a:solidFill>
                <a:latin typeface="Google Sans"/>
              </a:rPr>
              <a:t> </a:t>
            </a:r>
            <a:r>
              <a:rPr lang="vi-VN" sz="1200" dirty="0" smtClean="0">
                <a:solidFill>
                  <a:srgbClr val="545D7E"/>
                </a:solidFill>
                <a:latin typeface="Google Sans"/>
              </a:rPr>
              <a:t>Guido van Rossum bắt đầu phát triển Python tại </a:t>
            </a:r>
            <a:r>
              <a:rPr lang="vi-VN" sz="1200" dirty="0" smtClean="0">
                <a:solidFill>
                  <a:srgbClr val="545D7E"/>
                </a:solidFill>
                <a:latin typeface="Google Sans"/>
                <a:hlinkClick r:id="rId3"/>
              </a:rPr>
              <a:t>Centrum Wiskunde &amp; Informatica (CWI)</a:t>
            </a:r>
            <a:r>
              <a:rPr lang="vi-VN" sz="1200" dirty="0" smtClean="0">
                <a:solidFill>
                  <a:srgbClr val="545D7E"/>
                </a:solidFill>
                <a:latin typeface="Google Sans"/>
              </a:rPr>
              <a:t> ở Hà Lan. </a:t>
            </a:r>
            <a:endParaRPr lang="vi-VN" sz="1200" dirty="0" smtClean="0">
              <a:solidFill>
                <a:srgbClr val="0B57D0"/>
              </a:solidFill>
              <a:latin typeface="Google Sans"/>
            </a:endParaRPr>
          </a:p>
          <a:p>
            <a:pPr>
              <a:buFont typeface="Arial" panose="020B0604020202020204" pitchFamily="34" charset="0"/>
              <a:buChar char="•"/>
            </a:pPr>
            <a:r>
              <a:rPr lang="vi-VN" sz="1200" b="1" dirty="0" smtClean="0">
                <a:solidFill>
                  <a:srgbClr val="001D35"/>
                </a:solidFill>
                <a:latin typeface="Google Sans"/>
              </a:rPr>
              <a:t>1989:</a:t>
            </a:r>
            <a:r>
              <a:rPr lang="en-US" sz="1200" b="1" dirty="0" smtClean="0">
                <a:solidFill>
                  <a:srgbClr val="001D35"/>
                </a:solidFill>
                <a:latin typeface="Google Sans"/>
              </a:rPr>
              <a:t> </a:t>
            </a:r>
            <a:r>
              <a:rPr lang="vi-VN" sz="1200" dirty="0" smtClean="0">
                <a:solidFill>
                  <a:srgbClr val="545D7E"/>
                </a:solidFill>
                <a:latin typeface="Google Sans"/>
              </a:rPr>
              <a:t>Python chính thức được khởi tạo. </a:t>
            </a:r>
            <a:endParaRPr lang="vi-VN" sz="1200" dirty="0" smtClean="0">
              <a:solidFill>
                <a:srgbClr val="0B57D0"/>
              </a:solidFill>
              <a:latin typeface="Google Sans"/>
            </a:endParaRPr>
          </a:p>
          <a:p>
            <a:pPr>
              <a:buFont typeface="Arial" panose="020B0604020202020204" pitchFamily="34" charset="0"/>
              <a:buChar char="•"/>
            </a:pPr>
            <a:r>
              <a:rPr lang="vi-VN" sz="1200" b="1" dirty="0" smtClean="0">
                <a:solidFill>
                  <a:srgbClr val="001D35"/>
                </a:solidFill>
                <a:latin typeface="Google Sans"/>
              </a:rPr>
              <a:t>1991:</a:t>
            </a:r>
            <a:r>
              <a:rPr lang="en-US" sz="1200" b="1" dirty="0" smtClean="0">
                <a:solidFill>
                  <a:srgbClr val="001D35"/>
                </a:solidFill>
                <a:latin typeface="Google Sans"/>
              </a:rPr>
              <a:t> </a:t>
            </a:r>
            <a:r>
              <a:rPr lang="vi-VN" sz="1200" dirty="0" smtClean="0">
                <a:solidFill>
                  <a:srgbClr val="545D7E"/>
                </a:solidFill>
                <a:latin typeface="Google Sans"/>
              </a:rPr>
              <a:t>Phiên bản Python 0.9.0 được phát hành, đánh dấu sự ra đời chính thức của ngôn ngữ này. </a:t>
            </a:r>
            <a:endParaRPr lang="vi-VN" sz="1200" dirty="0" smtClean="0">
              <a:solidFill>
                <a:srgbClr val="0B57D0"/>
              </a:solidFill>
              <a:latin typeface="Google Sans"/>
            </a:endParaRPr>
          </a:p>
          <a:p>
            <a:pPr>
              <a:buFont typeface="Arial" panose="020B0604020202020204" pitchFamily="34" charset="0"/>
              <a:buChar char="•"/>
            </a:pPr>
            <a:r>
              <a:rPr lang="vi-VN" sz="1200" b="1" dirty="0" smtClean="0">
                <a:solidFill>
                  <a:srgbClr val="001D35"/>
                </a:solidFill>
                <a:latin typeface="Google Sans"/>
              </a:rPr>
              <a:t>1994:</a:t>
            </a:r>
            <a:r>
              <a:rPr lang="en-US" sz="1200" b="1" dirty="0" smtClean="0">
                <a:solidFill>
                  <a:srgbClr val="001D35"/>
                </a:solidFill>
                <a:latin typeface="Google Sans"/>
              </a:rPr>
              <a:t> </a:t>
            </a:r>
            <a:r>
              <a:rPr lang="vi-VN" sz="1200" dirty="0" smtClean="0">
                <a:solidFill>
                  <a:srgbClr val="545D7E"/>
                </a:solidFill>
                <a:latin typeface="Google Sans"/>
              </a:rPr>
              <a:t>Python 1.0 được phát hành, giới thiệu các hàm lambda, map, filter, reduce và các khái niệm về xử lý ngoại lệ. </a:t>
            </a:r>
            <a:endParaRPr lang="vi-VN" sz="1200" dirty="0" smtClean="0">
              <a:solidFill>
                <a:srgbClr val="0B57D0"/>
              </a:solidFill>
              <a:latin typeface="Google Sans"/>
            </a:endParaRPr>
          </a:p>
          <a:p>
            <a:pPr>
              <a:buFont typeface="Arial" panose="020B0604020202020204" pitchFamily="34" charset="0"/>
              <a:buChar char="•"/>
            </a:pPr>
            <a:r>
              <a:rPr lang="vi-VN" sz="1200" b="1" dirty="0" smtClean="0">
                <a:solidFill>
                  <a:srgbClr val="001D35"/>
                </a:solidFill>
                <a:latin typeface="Google Sans"/>
              </a:rPr>
              <a:t>2000:</a:t>
            </a:r>
            <a:r>
              <a:rPr lang="en-US" sz="1200" b="1" dirty="0" smtClean="0">
                <a:solidFill>
                  <a:srgbClr val="001D35"/>
                </a:solidFill>
                <a:latin typeface="Google Sans"/>
              </a:rPr>
              <a:t> </a:t>
            </a:r>
            <a:r>
              <a:rPr lang="vi-VN" sz="1200" dirty="0" smtClean="0">
                <a:solidFill>
                  <a:srgbClr val="545D7E"/>
                </a:solidFill>
                <a:latin typeface="Google Sans"/>
              </a:rPr>
              <a:t>Python 2.0 ra đời, cải thiện khả năng tương thích Unicode và các tính năng khác. </a:t>
            </a:r>
            <a:endParaRPr lang="vi-VN" sz="1200" dirty="0" smtClean="0">
              <a:solidFill>
                <a:srgbClr val="0B57D0"/>
              </a:solidFill>
              <a:latin typeface="Google Sans"/>
            </a:endParaRPr>
          </a:p>
          <a:p>
            <a:pPr>
              <a:buFont typeface="Arial" panose="020B0604020202020204" pitchFamily="34" charset="0"/>
              <a:buChar char="•"/>
            </a:pPr>
            <a:r>
              <a:rPr lang="vi-VN" sz="1200" b="1" dirty="0" smtClean="0">
                <a:solidFill>
                  <a:srgbClr val="001D35"/>
                </a:solidFill>
                <a:latin typeface="Google Sans"/>
              </a:rPr>
              <a:t>2008:</a:t>
            </a:r>
            <a:r>
              <a:rPr lang="en-US" sz="1200" b="1" dirty="0" smtClean="0">
                <a:solidFill>
                  <a:srgbClr val="001D35"/>
                </a:solidFill>
                <a:latin typeface="Google Sans"/>
              </a:rPr>
              <a:t> </a:t>
            </a:r>
            <a:r>
              <a:rPr lang="vi-VN" sz="1200" dirty="0" smtClean="0">
                <a:solidFill>
                  <a:srgbClr val="545D7E"/>
                </a:solidFill>
                <a:latin typeface="Google Sans"/>
              </a:rPr>
              <a:t>Python 3.0 được phát hành, mang đến nhiều thay đổi lớn và được xem là phiên bản kế thừa của Python 2. </a:t>
            </a:r>
            <a:endParaRPr lang="vi-VN" sz="1200" dirty="0" smtClean="0">
              <a:solidFill>
                <a:srgbClr val="0B57D0"/>
              </a:solidFill>
              <a:latin typeface="Google Sans"/>
            </a:endParaRPr>
          </a:p>
          <a:p>
            <a:pPr>
              <a:buFont typeface="Arial" panose="020B0604020202020204" pitchFamily="34" charset="0"/>
              <a:buChar char="•"/>
            </a:pPr>
            <a:r>
              <a:rPr lang="vi-VN" sz="1200" b="1" dirty="0" smtClean="0">
                <a:solidFill>
                  <a:srgbClr val="001D35"/>
                </a:solidFill>
                <a:latin typeface="Google Sans"/>
              </a:rPr>
              <a:t>Hiện tại:</a:t>
            </a:r>
            <a:r>
              <a:rPr lang="en-US" sz="1200" b="1" dirty="0" smtClean="0">
                <a:solidFill>
                  <a:srgbClr val="001D35"/>
                </a:solidFill>
                <a:latin typeface="Google Sans"/>
              </a:rPr>
              <a:t> </a:t>
            </a:r>
            <a:r>
              <a:rPr lang="vi-VN" sz="1200" dirty="0" smtClean="0">
                <a:solidFill>
                  <a:srgbClr val="545D7E"/>
                </a:solidFill>
                <a:latin typeface="Google Sans"/>
              </a:rPr>
              <a:t>Python 3 là phiên bản được khuyến nghị sử dụng và liên tục được cập nhật với các phiên bản mới nhất như 3.12.3. </a:t>
            </a:r>
            <a:endParaRPr lang="vi-VN" sz="1200" b="0" i="0" dirty="0" smtClean="0">
              <a:solidFill>
                <a:srgbClr val="545D7E"/>
              </a:solidFill>
              <a:effectLst/>
              <a:latin typeface="Google Sans"/>
            </a:endParaRPr>
          </a:p>
          <a:p>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7</a:t>
            </a:fld>
            <a:endParaRPr lang="en-US"/>
          </a:p>
        </p:txBody>
      </p:sp>
    </p:spTree>
    <p:extLst>
      <p:ext uri="{BB962C8B-B14F-4D97-AF65-F5344CB8AC3E}">
        <p14:creationId xmlns:p14="http://schemas.microsoft.com/office/powerpoint/2010/main" val="36574388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a:t>
            </a:fld>
            <a:endParaRPr lang="en-US"/>
          </a:p>
        </p:txBody>
      </p:sp>
    </p:spTree>
    <p:extLst>
      <p:ext uri="{BB962C8B-B14F-4D97-AF65-F5344CB8AC3E}">
        <p14:creationId xmlns:p14="http://schemas.microsoft.com/office/powerpoint/2010/main" val="169556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Spectrum ranking:</a:t>
            </a:r>
            <a:r>
              <a:rPr lang="en-US" baseline="0" dirty="0"/>
              <a:t> </a:t>
            </a:r>
            <a:r>
              <a:rPr lang="en-US" baseline="0" dirty="0" err="1"/>
              <a:t>xếp</a:t>
            </a:r>
            <a:r>
              <a:rPr lang="en-US" baseline="0" dirty="0"/>
              <a:t> </a:t>
            </a:r>
            <a:r>
              <a:rPr lang="en-US" baseline="0" dirty="0" err="1"/>
              <a:t>hạng</a:t>
            </a:r>
            <a:r>
              <a:rPr lang="en-US" baseline="0" dirty="0"/>
              <a:t> </a:t>
            </a:r>
            <a:r>
              <a:rPr lang="en-US" baseline="0" dirty="0" err="1"/>
              <a:t>phổ</a:t>
            </a:r>
            <a:endParaRPr lang="en-US" dirty="0"/>
          </a:p>
        </p:txBody>
      </p:sp>
      <p:sp>
        <p:nvSpPr>
          <p:cNvPr id="4" name="Slide Number Placeholder 3"/>
          <p:cNvSpPr>
            <a:spLocks noGrp="1"/>
          </p:cNvSpPr>
          <p:nvPr>
            <p:ph type="sldNum" sz="quarter" idx="10"/>
          </p:nvPr>
        </p:nvSpPr>
        <p:spPr/>
        <p:txBody>
          <a:bodyPr/>
          <a:lstStyle/>
          <a:p>
            <a:fld id="{46D3E3EA-CC6A-448F-83C3-9A526F33CF9E}" type="slidenum">
              <a:rPr lang="en-US" smtClean="0"/>
              <a:t>9</a:t>
            </a:fld>
            <a:endParaRPr lang="en-US"/>
          </a:p>
        </p:txBody>
      </p:sp>
    </p:spTree>
    <p:extLst>
      <p:ext uri="{BB962C8B-B14F-4D97-AF65-F5344CB8AC3E}">
        <p14:creationId xmlns:p14="http://schemas.microsoft.com/office/powerpoint/2010/main" val="36770655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10</a:t>
            </a:fld>
            <a:endParaRPr lang="en-US"/>
          </a:p>
        </p:txBody>
      </p:sp>
    </p:spTree>
    <p:extLst>
      <p:ext uri="{BB962C8B-B14F-4D97-AF65-F5344CB8AC3E}">
        <p14:creationId xmlns:p14="http://schemas.microsoft.com/office/powerpoint/2010/main" val="4026672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11</a:t>
            </a:fld>
            <a:endParaRPr lang="en-US"/>
          </a:p>
        </p:txBody>
      </p:sp>
    </p:spTree>
    <p:extLst>
      <p:ext uri="{BB962C8B-B14F-4D97-AF65-F5344CB8AC3E}">
        <p14:creationId xmlns:p14="http://schemas.microsoft.com/office/powerpoint/2010/main" val="6031840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12</a:t>
            </a:fld>
            <a:endParaRPr lang="en-US"/>
          </a:p>
        </p:txBody>
      </p:sp>
    </p:spTree>
    <p:extLst>
      <p:ext uri="{BB962C8B-B14F-4D97-AF65-F5344CB8AC3E}">
        <p14:creationId xmlns:p14="http://schemas.microsoft.com/office/powerpoint/2010/main" val="3719748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13</a:t>
            </a:fld>
            <a:endParaRPr lang="en-US"/>
          </a:p>
        </p:txBody>
      </p:sp>
    </p:spTree>
    <p:extLst>
      <p:ext uri="{BB962C8B-B14F-4D97-AF65-F5344CB8AC3E}">
        <p14:creationId xmlns:p14="http://schemas.microsoft.com/office/powerpoint/2010/main" val="8731919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14</a:t>
            </a:fld>
            <a:endParaRPr lang="en-US"/>
          </a:p>
        </p:txBody>
      </p:sp>
    </p:spTree>
    <p:extLst>
      <p:ext uri="{BB962C8B-B14F-4D97-AF65-F5344CB8AC3E}">
        <p14:creationId xmlns:p14="http://schemas.microsoft.com/office/powerpoint/2010/main" val="37306198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15</a:t>
            </a:fld>
            <a:endParaRPr lang="en-US"/>
          </a:p>
        </p:txBody>
      </p:sp>
    </p:spTree>
    <p:extLst>
      <p:ext uri="{BB962C8B-B14F-4D97-AF65-F5344CB8AC3E}">
        <p14:creationId xmlns:p14="http://schemas.microsoft.com/office/powerpoint/2010/main" val="8986994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16</a:t>
            </a:fld>
            <a:endParaRPr lang="en-US"/>
          </a:p>
        </p:txBody>
      </p:sp>
    </p:spTree>
    <p:extLst>
      <p:ext uri="{BB962C8B-B14F-4D97-AF65-F5344CB8AC3E}">
        <p14:creationId xmlns:p14="http://schemas.microsoft.com/office/powerpoint/2010/main" val="36715407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17</a:t>
            </a:fld>
            <a:endParaRPr lang="en-US"/>
          </a:p>
        </p:txBody>
      </p:sp>
    </p:spTree>
    <p:extLst>
      <p:ext uri="{BB962C8B-B14F-4D97-AF65-F5344CB8AC3E}">
        <p14:creationId xmlns:p14="http://schemas.microsoft.com/office/powerpoint/2010/main" val="1486626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18</a:t>
            </a:fld>
            <a:endParaRPr lang="en-US"/>
          </a:p>
        </p:txBody>
      </p:sp>
    </p:spTree>
    <p:extLst>
      <p:ext uri="{BB962C8B-B14F-4D97-AF65-F5344CB8AC3E}">
        <p14:creationId xmlns:p14="http://schemas.microsoft.com/office/powerpoint/2010/main" val="1816875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19</a:t>
            </a:fld>
            <a:endParaRPr lang="en-US"/>
          </a:p>
        </p:txBody>
      </p:sp>
    </p:spTree>
    <p:extLst>
      <p:ext uri="{BB962C8B-B14F-4D97-AF65-F5344CB8AC3E}">
        <p14:creationId xmlns:p14="http://schemas.microsoft.com/office/powerpoint/2010/main" val="1369443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20</a:t>
            </a:fld>
            <a:endParaRPr lang="en-US"/>
          </a:p>
        </p:txBody>
      </p:sp>
    </p:spTree>
    <p:extLst>
      <p:ext uri="{BB962C8B-B14F-4D97-AF65-F5344CB8AC3E}">
        <p14:creationId xmlns:p14="http://schemas.microsoft.com/office/powerpoint/2010/main" val="11835364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21</a:t>
            </a:fld>
            <a:endParaRPr lang="en-US"/>
          </a:p>
        </p:txBody>
      </p:sp>
    </p:spTree>
    <p:extLst>
      <p:ext uri="{BB962C8B-B14F-4D97-AF65-F5344CB8AC3E}">
        <p14:creationId xmlns:p14="http://schemas.microsoft.com/office/powerpoint/2010/main" val="29429859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22</a:t>
            </a:fld>
            <a:endParaRPr lang="en-US"/>
          </a:p>
        </p:txBody>
      </p:sp>
    </p:spTree>
    <p:extLst>
      <p:ext uri="{BB962C8B-B14F-4D97-AF65-F5344CB8AC3E}">
        <p14:creationId xmlns:p14="http://schemas.microsoft.com/office/powerpoint/2010/main" val="2013318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23</a:t>
            </a:fld>
            <a:endParaRPr lang="en-US"/>
          </a:p>
        </p:txBody>
      </p:sp>
    </p:spTree>
    <p:extLst>
      <p:ext uri="{BB962C8B-B14F-4D97-AF65-F5344CB8AC3E}">
        <p14:creationId xmlns:p14="http://schemas.microsoft.com/office/powerpoint/2010/main" val="7309473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24</a:t>
            </a:fld>
            <a:endParaRPr lang="en-US"/>
          </a:p>
        </p:txBody>
      </p:sp>
    </p:spTree>
    <p:extLst>
      <p:ext uri="{BB962C8B-B14F-4D97-AF65-F5344CB8AC3E}">
        <p14:creationId xmlns:p14="http://schemas.microsoft.com/office/powerpoint/2010/main" val="9619659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25</a:t>
            </a:fld>
            <a:endParaRPr lang="en-US"/>
          </a:p>
        </p:txBody>
      </p:sp>
    </p:spTree>
    <p:extLst>
      <p:ext uri="{BB962C8B-B14F-4D97-AF65-F5344CB8AC3E}">
        <p14:creationId xmlns:p14="http://schemas.microsoft.com/office/powerpoint/2010/main" val="349784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26</a:t>
            </a:fld>
            <a:endParaRPr lang="en-US"/>
          </a:p>
        </p:txBody>
      </p:sp>
    </p:spTree>
    <p:extLst>
      <p:ext uri="{BB962C8B-B14F-4D97-AF65-F5344CB8AC3E}">
        <p14:creationId xmlns:p14="http://schemas.microsoft.com/office/powerpoint/2010/main" val="3029256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27</a:t>
            </a:fld>
            <a:endParaRPr lang="en-US"/>
          </a:p>
        </p:txBody>
      </p:sp>
    </p:spTree>
    <p:extLst>
      <p:ext uri="{BB962C8B-B14F-4D97-AF65-F5344CB8AC3E}">
        <p14:creationId xmlns:p14="http://schemas.microsoft.com/office/powerpoint/2010/main" val="11688101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28</a:t>
            </a:fld>
            <a:endParaRPr lang="en-US"/>
          </a:p>
        </p:txBody>
      </p:sp>
    </p:spTree>
    <p:extLst>
      <p:ext uri="{BB962C8B-B14F-4D97-AF65-F5344CB8AC3E}">
        <p14:creationId xmlns:p14="http://schemas.microsoft.com/office/powerpoint/2010/main" val="14463339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29</a:t>
            </a:fld>
            <a:endParaRPr lang="en-US"/>
          </a:p>
        </p:txBody>
      </p:sp>
    </p:spTree>
    <p:extLst>
      <p:ext uri="{BB962C8B-B14F-4D97-AF65-F5344CB8AC3E}">
        <p14:creationId xmlns:p14="http://schemas.microsoft.com/office/powerpoint/2010/main" val="26640079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30</a:t>
            </a:fld>
            <a:endParaRPr lang="en-US"/>
          </a:p>
        </p:txBody>
      </p:sp>
    </p:spTree>
    <p:extLst>
      <p:ext uri="{BB962C8B-B14F-4D97-AF65-F5344CB8AC3E}">
        <p14:creationId xmlns:p14="http://schemas.microsoft.com/office/powerpoint/2010/main" val="29474672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31</a:t>
            </a:fld>
            <a:endParaRPr lang="en-US"/>
          </a:p>
        </p:txBody>
      </p:sp>
    </p:spTree>
    <p:extLst>
      <p:ext uri="{BB962C8B-B14F-4D97-AF65-F5344CB8AC3E}">
        <p14:creationId xmlns:p14="http://schemas.microsoft.com/office/powerpoint/2010/main" val="11091567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32</a:t>
            </a:fld>
            <a:endParaRPr lang="en-US"/>
          </a:p>
        </p:txBody>
      </p:sp>
    </p:spTree>
    <p:extLst>
      <p:ext uri="{BB962C8B-B14F-4D97-AF65-F5344CB8AC3E}">
        <p14:creationId xmlns:p14="http://schemas.microsoft.com/office/powerpoint/2010/main" val="379157535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33</a:t>
            </a:fld>
            <a:endParaRPr lang="en-US"/>
          </a:p>
        </p:txBody>
      </p:sp>
    </p:spTree>
    <p:extLst>
      <p:ext uri="{BB962C8B-B14F-4D97-AF65-F5344CB8AC3E}">
        <p14:creationId xmlns:p14="http://schemas.microsoft.com/office/powerpoint/2010/main" val="786967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34</a:t>
            </a:fld>
            <a:endParaRPr lang="en-US"/>
          </a:p>
        </p:txBody>
      </p:sp>
    </p:spTree>
    <p:extLst>
      <p:ext uri="{BB962C8B-B14F-4D97-AF65-F5344CB8AC3E}">
        <p14:creationId xmlns:p14="http://schemas.microsoft.com/office/powerpoint/2010/main" val="29229620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35</a:t>
            </a:fld>
            <a:endParaRPr lang="en-US"/>
          </a:p>
        </p:txBody>
      </p:sp>
    </p:spTree>
    <p:extLst>
      <p:ext uri="{BB962C8B-B14F-4D97-AF65-F5344CB8AC3E}">
        <p14:creationId xmlns:p14="http://schemas.microsoft.com/office/powerpoint/2010/main" val="42491132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36</a:t>
            </a:fld>
            <a:endParaRPr lang="en-US"/>
          </a:p>
        </p:txBody>
      </p:sp>
    </p:spTree>
    <p:extLst>
      <p:ext uri="{BB962C8B-B14F-4D97-AF65-F5344CB8AC3E}">
        <p14:creationId xmlns:p14="http://schemas.microsoft.com/office/powerpoint/2010/main" val="26495906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37</a:t>
            </a:fld>
            <a:endParaRPr lang="en-US"/>
          </a:p>
        </p:txBody>
      </p:sp>
    </p:spTree>
    <p:extLst>
      <p:ext uri="{BB962C8B-B14F-4D97-AF65-F5344CB8AC3E}">
        <p14:creationId xmlns:p14="http://schemas.microsoft.com/office/powerpoint/2010/main" val="26904781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38</a:t>
            </a:fld>
            <a:endParaRPr lang="en-US"/>
          </a:p>
        </p:txBody>
      </p:sp>
    </p:spTree>
    <p:extLst>
      <p:ext uri="{BB962C8B-B14F-4D97-AF65-F5344CB8AC3E}">
        <p14:creationId xmlns:p14="http://schemas.microsoft.com/office/powerpoint/2010/main" val="34459698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39</a:t>
            </a:fld>
            <a:endParaRPr lang="en-US"/>
          </a:p>
        </p:txBody>
      </p:sp>
    </p:spTree>
    <p:extLst>
      <p:ext uri="{BB962C8B-B14F-4D97-AF65-F5344CB8AC3E}">
        <p14:creationId xmlns:p14="http://schemas.microsoft.com/office/powerpoint/2010/main" val="4670517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40</a:t>
            </a:fld>
            <a:endParaRPr lang="en-US"/>
          </a:p>
        </p:txBody>
      </p:sp>
    </p:spTree>
    <p:extLst>
      <p:ext uri="{BB962C8B-B14F-4D97-AF65-F5344CB8AC3E}">
        <p14:creationId xmlns:p14="http://schemas.microsoft.com/office/powerpoint/2010/main" val="39434530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41</a:t>
            </a:fld>
            <a:endParaRPr lang="en-US"/>
          </a:p>
        </p:txBody>
      </p:sp>
    </p:spTree>
    <p:extLst>
      <p:ext uri="{BB962C8B-B14F-4D97-AF65-F5344CB8AC3E}">
        <p14:creationId xmlns:p14="http://schemas.microsoft.com/office/powerpoint/2010/main" val="22329082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42</a:t>
            </a:fld>
            <a:endParaRPr lang="en-US"/>
          </a:p>
        </p:txBody>
      </p:sp>
    </p:spTree>
    <p:extLst>
      <p:ext uri="{BB962C8B-B14F-4D97-AF65-F5344CB8AC3E}">
        <p14:creationId xmlns:p14="http://schemas.microsoft.com/office/powerpoint/2010/main" val="350828809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43</a:t>
            </a:fld>
            <a:endParaRPr lang="en-US"/>
          </a:p>
        </p:txBody>
      </p:sp>
    </p:spTree>
    <p:extLst>
      <p:ext uri="{BB962C8B-B14F-4D97-AF65-F5344CB8AC3E}">
        <p14:creationId xmlns:p14="http://schemas.microsoft.com/office/powerpoint/2010/main" val="168962518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44</a:t>
            </a:fld>
            <a:endParaRPr lang="en-US"/>
          </a:p>
        </p:txBody>
      </p:sp>
    </p:spTree>
    <p:extLst>
      <p:ext uri="{BB962C8B-B14F-4D97-AF65-F5344CB8AC3E}">
        <p14:creationId xmlns:p14="http://schemas.microsoft.com/office/powerpoint/2010/main" val="6703132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45</a:t>
            </a:fld>
            <a:endParaRPr lang="en-US"/>
          </a:p>
        </p:txBody>
      </p:sp>
    </p:spTree>
    <p:extLst>
      <p:ext uri="{BB962C8B-B14F-4D97-AF65-F5344CB8AC3E}">
        <p14:creationId xmlns:p14="http://schemas.microsoft.com/office/powerpoint/2010/main" val="12975166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46</a:t>
            </a:fld>
            <a:endParaRPr lang="en-US"/>
          </a:p>
        </p:txBody>
      </p:sp>
    </p:spTree>
    <p:extLst>
      <p:ext uri="{BB962C8B-B14F-4D97-AF65-F5344CB8AC3E}">
        <p14:creationId xmlns:p14="http://schemas.microsoft.com/office/powerpoint/2010/main" val="33508400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47</a:t>
            </a:fld>
            <a:endParaRPr lang="en-US"/>
          </a:p>
        </p:txBody>
      </p:sp>
    </p:spTree>
    <p:extLst>
      <p:ext uri="{BB962C8B-B14F-4D97-AF65-F5344CB8AC3E}">
        <p14:creationId xmlns:p14="http://schemas.microsoft.com/office/powerpoint/2010/main" val="26729856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48</a:t>
            </a:fld>
            <a:endParaRPr lang="en-US"/>
          </a:p>
        </p:txBody>
      </p:sp>
    </p:spTree>
    <p:extLst>
      <p:ext uri="{BB962C8B-B14F-4D97-AF65-F5344CB8AC3E}">
        <p14:creationId xmlns:p14="http://schemas.microsoft.com/office/powerpoint/2010/main" val="9946466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49</a:t>
            </a:fld>
            <a:endParaRPr lang="en-US"/>
          </a:p>
        </p:txBody>
      </p:sp>
    </p:spTree>
    <p:extLst>
      <p:ext uri="{BB962C8B-B14F-4D97-AF65-F5344CB8AC3E}">
        <p14:creationId xmlns:p14="http://schemas.microsoft.com/office/powerpoint/2010/main" val="9034001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50</a:t>
            </a:fld>
            <a:endParaRPr lang="en-US"/>
          </a:p>
        </p:txBody>
      </p:sp>
    </p:spTree>
    <p:extLst>
      <p:ext uri="{BB962C8B-B14F-4D97-AF65-F5344CB8AC3E}">
        <p14:creationId xmlns:p14="http://schemas.microsoft.com/office/powerpoint/2010/main" val="13691971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51</a:t>
            </a:fld>
            <a:endParaRPr lang="en-US"/>
          </a:p>
        </p:txBody>
      </p:sp>
    </p:spTree>
    <p:extLst>
      <p:ext uri="{BB962C8B-B14F-4D97-AF65-F5344CB8AC3E}">
        <p14:creationId xmlns:p14="http://schemas.microsoft.com/office/powerpoint/2010/main" val="405047216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52</a:t>
            </a:fld>
            <a:endParaRPr lang="en-US"/>
          </a:p>
        </p:txBody>
      </p:sp>
    </p:spTree>
    <p:extLst>
      <p:ext uri="{BB962C8B-B14F-4D97-AF65-F5344CB8AC3E}">
        <p14:creationId xmlns:p14="http://schemas.microsoft.com/office/powerpoint/2010/main" val="3458204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53</a:t>
            </a:fld>
            <a:endParaRPr lang="en-US"/>
          </a:p>
        </p:txBody>
      </p:sp>
    </p:spTree>
    <p:extLst>
      <p:ext uri="{BB962C8B-B14F-4D97-AF65-F5344CB8AC3E}">
        <p14:creationId xmlns:p14="http://schemas.microsoft.com/office/powerpoint/2010/main" val="30240338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54</a:t>
            </a:fld>
            <a:endParaRPr lang="en-US"/>
          </a:p>
        </p:txBody>
      </p:sp>
    </p:spTree>
    <p:extLst>
      <p:ext uri="{BB962C8B-B14F-4D97-AF65-F5344CB8AC3E}">
        <p14:creationId xmlns:p14="http://schemas.microsoft.com/office/powerpoint/2010/main" val="110555949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55</a:t>
            </a:fld>
            <a:endParaRPr lang="en-US"/>
          </a:p>
        </p:txBody>
      </p:sp>
    </p:spTree>
    <p:extLst>
      <p:ext uri="{BB962C8B-B14F-4D97-AF65-F5344CB8AC3E}">
        <p14:creationId xmlns:p14="http://schemas.microsoft.com/office/powerpoint/2010/main" val="6423034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56</a:t>
            </a:fld>
            <a:endParaRPr lang="en-US"/>
          </a:p>
        </p:txBody>
      </p:sp>
    </p:spTree>
    <p:extLst>
      <p:ext uri="{BB962C8B-B14F-4D97-AF65-F5344CB8AC3E}">
        <p14:creationId xmlns:p14="http://schemas.microsoft.com/office/powerpoint/2010/main" val="389740166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57</a:t>
            </a:fld>
            <a:endParaRPr lang="en-US"/>
          </a:p>
        </p:txBody>
      </p:sp>
    </p:spTree>
    <p:extLst>
      <p:ext uri="{BB962C8B-B14F-4D97-AF65-F5344CB8AC3E}">
        <p14:creationId xmlns:p14="http://schemas.microsoft.com/office/powerpoint/2010/main" val="27551956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58</a:t>
            </a:fld>
            <a:endParaRPr lang="en-US"/>
          </a:p>
        </p:txBody>
      </p:sp>
    </p:spTree>
    <p:extLst>
      <p:ext uri="{BB962C8B-B14F-4D97-AF65-F5344CB8AC3E}">
        <p14:creationId xmlns:p14="http://schemas.microsoft.com/office/powerpoint/2010/main" val="6964639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59</a:t>
            </a:fld>
            <a:endParaRPr lang="en-US"/>
          </a:p>
        </p:txBody>
      </p:sp>
    </p:spTree>
    <p:extLst>
      <p:ext uri="{BB962C8B-B14F-4D97-AF65-F5344CB8AC3E}">
        <p14:creationId xmlns:p14="http://schemas.microsoft.com/office/powerpoint/2010/main" val="2017062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60</a:t>
            </a:fld>
            <a:endParaRPr lang="en-US"/>
          </a:p>
        </p:txBody>
      </p:sp>
    </p:spTree>
    <p:extLst>
      <p:ext uri="{BB962C8B-B14F-4D97-AF65-F5344CB8AC3E}">
        <p14:creationId xmlns:p14="http://schemas.microsoft.com/office/powerpoint/2010/main" val="27826186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61</a:t>
            </a:fld>
            <a:endParaRPr lang="en-US"/>
          </a:p>
        </p:txBody>
      </p:sp>
    </p:spTree>
    <p:extLst>
      <p:ext uri="{BB962C8B-B14F-4D97-AF65-F5344CB8AC3E}">
        <p14:creationId xmlns:p14="http://schemas.microsoft.com/office/powerpoint/2010/main" val="4497496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62</a:t>
            </a:fld>
            <a:endParaRPr lang="en-US"/>
          </a:p>
        </p:txBody>
      </p:sp>
    </p:spTree>
    <p:extLst>
      <p:ext uri="{BB962C8B-B14F-4D97-AF65-F5344CB8AC3E}">
        <p14:creationId xmlns:p14="http://schemas.microsoft.com/office/powerpoint/2010/main" val="136847380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63</a:t>
            </a:fld>
            <a:endParaRPr lang="en-US"/>
          </a:p>
        </p:txBody>
      </p:sp>
    </p:spTree>
    <p:extLst>
      <p:ext uri="{BB962C8B-B14F-4D97-AF65-F5344CB8AC3E}">
        <p14:creationId xmlns:p14="http://schemas.microsoft.com/office/powerpoint/2010/main" val="24731638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64</a:t>
            </a:fld>
            <a:endParaRPr lang="en-US"/>
          </a:p>
        </p:txBody>
      </p:sp>
    </p:spTree>
    <p:extLst>
      <p:ext uri="{BB962C8B-B14F-4D97-AF65-F5344CB8AC3E}">
        <p14:creationId xmlns:p14="http://schemas.microsoft.com/office/powerpoint/2010/main" val="133016744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65</a:t>
            </a:fld>
            <a:endParaRPr lang="en-US"/>
          </a:p>
        </p:txBody>
      </p:sp>
    </p:spTree>
    <p:extLst>
      <p:ext uri="{BB962C8B-B14F-4D97-AF65-F5344CB8AC3E}">
        <p14:creationId xmlns:p14="http://schemas.microsoft.com/office/powerpoint/2010/main" val="187792992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66</a:t>
            </a:fld>
            <a:endParaRPr lang="en-US"/>
          </a:p>
        </p:txBody>
      </p:sp>
    </p:spTree>
    <p:extLst>
      <p:ext uri="{BB962C8B-B14F-4D97-AF65-F5344CB8AC3E}">
        <p14:creationId xmlns:p14="http://schemas.microsoft.com/office/powerpoint/2010/main" val="349420871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67</a:t>
            </a:fld>
            <a:endParaRPr lang="en-US"/>
          </a:p>
        </p:txBody>
      </p:sp>
    </p:spTree>
    <p:extLst>
      <p:ext uri="{BB962C8B-B14F-4D97-AF65-F5344CB8AC3E}">
        <p14:creationId xmlns:p14="http://schemas.microsoft.com/office/powerpoint/2010/main" val="287488471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68</a:t>
            </a:fld>
            <a:endParaRPr lang="en-US"/>
          </a:p>
        </p:txBody>
      </p:sp>
    </p:spTree>
    <p:extLst>
      <p:ext uri="{BB962C8B-B14F-4D97-AF65-F5344CB8AC3E}">
        <p14:creationId xmlns:p14="http://schemas.microsoft.com/office/powerpoint/2010/main" val="1308343918"/>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69</a:t>
            </a:fld>
            <a:endParaRPr lang="en-US"/>
          </a:p>
        </p:txBody>
      </p:sp>
    </p:spTree>
    <p:extLst>
      <p:ext uri="{BB962C8B-B14F-4D97-AF65-F5344CB8AC3E}">
        <p14:creationId xmlns:p14="http://schemas.microsoft.com/office/powerpoint/2010/main" val="28716056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70</a:t>
            </a:fld>
            <a:endParaRPr lang="en-US"/>
          </a:p>
        </p:txBody>
      </p:sp>
    </p:spTree>
    <p:extLst>
      <p:ext uri="{BB962C8B-B14F-4D97-AF65-F5344CB8AC3E}">
        <p14:creationId xmlns:p14="http://schemas.microsoft.com/office/powerpoint/2010/main" val="973032888"/>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71</a:t>
            </a:fld>
            <a:endParaRPr lang="en-US"/>
          </a:p>
        </p:txBody>
      </p:sp>
    </p:spTree>
    <p:extLst>
      <p:ext uri="{BB962C8B-B14F-4D97-AF65-F5344CB8AC3E}">
        <p14:creationId xmlns:p14="http://schemas.microsoft.com/office/powerpoint/2010/main" val="170135464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72</a:t>
            </a:fld>
            <a:endParaRPr lang="en-US"/>
          </a:p>
        </p:txBody>
      </p:sp>
    </p:spTree>
    <p:extLst>
      <p:ext uri="{BB962C8B-B14F-4D97-AF65-F5344CB8AC3E}">
        <p14:creationId xmlns:p14="http://schemas.microsoft.com/office/powerpoint/2010/main" val="174251633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73</a:t>
            </a:fld>
            <a:endParaRPr lang="en-US"/>
          </a:p>
        </p:txBody>
      </p:sp>
    </p:spTree>
    <p:extLst>
      <p:ext uri="{BB962C8B-B14F-4D97-AF65-F5344CB8AC3E}">
        <p14:creationId xmlns:p14="http://schemas.microsoft.com/office/powerpoint/2010/main" val="37789032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74</a:t>
            </a:fld>
            <a:endParaRPr lang="en-US"/>
          </a:p>
        </p:txBody>
      </p:sp>
    </p:spTree>
    <p:extLst>
      <p:ext uri="{BB962C8B-B14F-4D97-AF65-F5344CB8AC3E}">
        <p14:creationId xmlns:p14="http://schemas.microsoft.com/office/powerpoint/2010/main" val="2963448254"/>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75</a:t>
            </a:fld>
            <a:endParaRPr lang="en-US"/>
          </a:p>
        </p:txBody>
      </p:sp>
    </p:spTree>
    <p:extLst>
      <p:ext uri="{BB962C8B-B14F-4D97-AF65-F5344CB8AC3E}">
        <p14:creationId xmlns:p14="http://schemas.microsoft.com/office/powerpoint/2010/main" val="325409663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76</a:t>
            </a:fld>
            <a:endParaRPr lang="en-US"/>
          </a:p>
        </p:txBody>
      </p:sp>
    </p:spTree>
    <p:extLst>
      <p:ext uri="{BB962C8B-B14F-4D97-AF65-F5344CB8AC3E}">
        <p14:creationId xmlns:p14="http://schemas.microsoft.com/office/powerpoint/2010/main" val="283682279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77</a:t>
            </a:fld>
            <a:endParaRPr lang="en-US"/>
          </a:p>
        </p:txBody>
      </p:sp>
    </p:spTree>
    <p:extLst>
      <p:ext uri="{BB962C8B-B14F-4D97-AF65-F5344CB8AC3E}">
        <p14:creationId xmlns:p14="http://schemas.microsoft.com/office/powerpoint/2010/main" val="76377612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78</a:t>
            </a:fld>
            <a:endParaRPr lang="en-US"/>
          </a:p>
        </p:txBody>
      </p:sp>
    </p:spTree>
    <p:extLst>
      <p:ext uri="{BB962C8B-B14F-4D97-AF65-F5344CB8AC3E}">
        <p14:creationId xmlns:p14="http://schemas.microsoft.com/office/powerpoint/2010/main" val="256772820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79</a:t>
            </a:fld>
            <a:endParaRPr lang="en-US"/>
          </a:p>
        </p:txBody>
      </p:sp>
    </p:spTree>
    <p:extLst>
      <p:ext uri="{BB962C8B-B14F-4D97-AF65-F5344CB8AC3E}">
        <p14:creationId xmlns:p14="http://schemas.microsoft.com/office/powerpoint/2010/main" val="33917638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80</a:t>
            </a:fld>
            <a:endParaRPr lang="en-US"/>
          </a:p>
        </p:txBody>
      </p:sp>
    </p:spTree>
    <p:extLst>
      <p:ext uri="{BB962C8B-B14F-4D97-AF65-F5344CB8AC3E}">
        <p14:creationId xmlns:p14="http://schemas.microsoft.com/office/powerpoint/2010/main" val="366927994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81</a:t>
            </a:fld>
            <a:endParaRPr lang="en-US"/>
          </a:p>
        </p:txBody>
      </p:sp>
    </p:spTree>
    <p:extLst>
      <p:ext uri="{BB962C8B-B14F-4D97-AF65-F5344CB8AC3E}">
        <p14:creationId xmlns:p14="http://schemas.microsoft.com/office/powerpoint/2010/main" val="1296873835"/>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82</a:t>
            </a:fld>
            <a:endParaRPr lang="en-US"/>
          </a:p>
        </p:txBody>
      </p:sp>
    </p:spTree>
    <p:extLst>
      <p:ext uri="{BB962C8B-B14F-4D97-AF65-F5344CB8AC3E}">
        <p14:creationId xmlns:p14="http://schemas.microsoft.com/office/powerpoint/2010/main" val="428939663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83</a:t>
            </a:fld>
            <a:endParaRPr lang="en-US"/>
          </a:p>
        </p:txBody>
      </p:sp>
    </p:spTree>
    <p:extLst>
      <p:ext uri="{BB962C8B-B14F-4D97-AF65-F5344CB8AC3E}">
        <p14:creationId xmlns:p14="http://schemas.microsoft.com/office/powerpoint/2010/main" val="227951507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84</a:t>
            </a:fld>
            <a:endParaRPr lang="en-US"/>
          </a:p>
        </p:txBody>
      </p:sp>
    </p:spTree>
    <p:extLst>
      <p:ext uri="{BB962C8B-B14F-4D97-AF65-F5344CB8AC3E}">
        <p14:creationId xmlns:p14="http://schemas.microsoft.com/office/powerpoint/2010/main" val="259233429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85</a:t>
            </a:fld>
            <a:endParaRPr lang="en-US"/>
          </a:p>
        </p:txBody>
      </p:sp>
    </p:spTree>
    <p:extLst>
      <p:ext uri="{BB962C8B-B14F-4D97-AF65-F5344CB8AC3E}">
        <p14:creationId xmlns:p14="http://schemas.microsoft.com/office/powerpoint/2010/main" val="1285668743"/>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86</a:t>
            </a:fld>
            <a:endParaRPr lang="en-US"/>
          </a:p>
        </p:txBody>
      </p:sp>
    </p:spTree>
    <p:extLst>
      <p:ext uri="{BB962C8B-B14F-4D97-AF65-F5344CB8AC3E}">
        <p14:creationId xmlns:p14="http://schemas.microsoft.com/office/powerpoint/2010/main" val="23205692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87</a:t>
            </a:fld>
            <a:endParaRPr lang="en-US"/>
          </a:p>
        </p:txBody>
      </p:sp>
    </p:spTree>
    <p:extLst>
      <p:ext uri="{BB962C8B-B14F-4D97-AF65-F5344CB8AC3E}">
        <p14:creationId xmlns:p14="http://schemas.microsoft.com/office/powerpoint/2010/main" val="241414469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88</a:t>
            </a:fld>
            <a:endParaRPr lang="en-US"/>
          </a:p>
        </p:txBody>
      </p:sp>
    </p:spTree>
    <p:extLst>
      <p:ext uri="{BB962C8B-B14F-4D97-AF65-F5344CB8AC3E}">
        <p14:creationId xmlns:p14="http://schemas.microsoft.com/office/powerpoint/2010/main" val="306427916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89</a:t>
            </a:fld>
            <a:endParaRPr lang="en-US"/>
          </a:p>
        </p:txBody>
      </p:sp>
    </p:spTree>
    <p:extLst>
      <p:ext uri="{BB962C8B-B14F-4D97-AF65-F5344CB8AC3E}">
        <p14:creationId xmlns:p14="http://schemas.microsoft.com/office/powerpoint/2010/main" val="326745552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6D3E3EA-CC6A-448F-83C3-9A526F33CF9E}" type="slidenum">
              <a:rPr lang="en-US" smtClean="0"/>
              <a:t>90</a:t>
            </a:fld>
            <a:endParaRPr lang="en-US"/>
          </a:p>
        </p:txBody>
      </p:sp>
    </p:spTree>
    <p:extLst>
      <p:ext uri="{BB962C8B-B14F-4D97-AF65-F5344CB8AC3E}">
        <p14:creationId xmlns:p14="http://schemas.microsoft.com/office/powerpoint/2010/main" val="26719365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6367254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37"/>
          <p:cNvSpPr>
            <a:spLocks noChangeArrowheads="1"/>
          </p:cNvSpPr>
          <p:nvPr userDrawn="1"/>
        </p:nvSpPr>
        <p:spPr bwMode="auto">
          <a:xfrm flipH="1">
            <a:off x="0" y="6460968"/>
            <a:ext cx="12192000" cy="397032"/>
          </a:xfrm>
          <a:prstGeom prst="rect">
            <a:avLst/>
          </a:prstGeom>
          <a:gradFill rotWithShape="1">
            <a:gsLst>
              <a:gs pos="0">
                <a:schemeClr val="bg1"/>
              </a:gs>
              <a:gs pos="100000">
                <a:srgbClr val="00B0F0"/>
              </a:gs>
            </a:gsLst>
            <a:lin ang="0" scaled="1"/>
          </a:gradFill>
          <a:ln>
            <a:noFill/>
          </a:ln>
          <a:effectLst/>
          <a:extLst/>
        </p:spPr>
        <p:txBody>
          <a:bodyPr anchor="b">
            <a:spAutoFit/>
          </a:bodyPr>
          <a:lstStyle/>
          <a:p>
            <a:pPr algn="r">
              <a:lnSpc>
                <a:spcPct val="180000"/>
              </a:lnSpc>
            </a:pPr>
            <a:endParaRPr lang="en-US" sz="1100" b="1" baseline="0">
              <a:solidFill>
                <a:srgbClr val="0070C0"/>
              </a:solidFill>
              <a:latin typeface="Times New Roman" pitchFamily="18" charset="0"/>
              <a:cs typeface="Times New Roman" pitchFamily="18" charset="0"/>
            </a:endParaRPr>
          </a:p>
        </p:txBody>
      </p:sp>
      <p:sp>
        <p:nvSpPr>
          <p:cNvPr id="11" name="Slide Number Placeholder 5"/>
          <p:cNvSpPr>
            <a:spLocks noGrp="1"/>
          </p:cNvSpPr>
          <p:nvPr>
            <p:ph type="sldNum" sz="quarter" idx="12"/>
          </p:nvPr>
        </p:nvSpPr>
        <p:spPr>
          <a:xfrm>
            <a:off x="9347200" y="6467476"/>
            <a:ext cx="2844800" cy="365125"/>
          </a:xfrm>
        </p:spPr>
        <p:txBody>
          <a:bodyPr/>
          <a:lstStyle>
            <a:lvl1pPr>
              <a:defRPr sz="1600" b="1">
                <a:solidFill>
                  <a:srgbClr val="002060"/>
                </a:solidFill>
                <a:latin typeface="Cambria" panose="02040503050406030204" pitchFamily="18" charset="0"/>
              </a:defRPr>
            </a:lvl1pPr>
          </a:lstStyle>
          <a:p>
            <a:r>
              <a:rPr lang="en-US"/>
              <a:t>Trang </a:t>
            </a:r>
            <a:fld id="{99166BD8-DA3C-4BE0-9C00-AA0485D1F6DE}" type="slidenum">
              <a:rPr lang="en-US" smtClean="0"/>
              <a:pPr/>
              <a:t>‹#›</a:t>
            </a:fld>
            <a:endParaRPr lang="en-US"/>
          </a:p>
        </p:txBody>
      </p:sp>
      <p:sp>
        <p:nvSpPr>
          <p:cNvPr id="12" name="Rectangle 11"/>
          <p:cNvSpPr>
            <a:spLocks noChangeArrowheads="1"/>
          </p:cNvSpPr>
          <p:nvPr userDrawn="1"/>
        </p:nvSpPr>
        <p:spPr bwMode="auto">
          <a:xfrm>
            <a:off x="0" y="-94064"/>
            <a:ext cx="12192000" cy="518796"/>
          </a:xfrm>
          <a:prstGeom prst="rect">
            <a:avLst/>
          </a:prstGeom>
          <a:gradFill rotWithShape="1">
            <a:gsLst>
              <a:gs pos="0">
                <a:schemeClr val="bg1"/>
              </a:gs>
              <a:gs pos="100000">
                <a:srgbClr val="00B0F0"/>
              </a:gs>
            </a:gsLst>
            <a:lin ang="0" scaled="1"/>
          </a:gradFill>
          <a:ln>
            <a:noFill/>
          </a:ln>
          <a:effectLst/>
          <a:extLst/>
        </p:spPr>
        <p:txBody>
          <a:bodyPr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80000"/>
              </a:lnSpc>
            </a:pPr>
            <a:r>
              <a:rPr lang="en-US" sz="1800" b="1" i="0" kern="1200" baseline="0">
                <a:solidFill>
                  <a:schemeClr val="tx1"/>
                </a:solidFill>
                <a:effectLst/>
                <a:latin typeface="Cambria" panose="02040503050406030204" pitchFamily="18" charset="0"/>
                <a:ea typeface="+mn-ea"/>
                <a:cs typeface="+mn-cs"/>
              </a:rPr>
              <a:t>Ngôn ngữ lập trình 1</a:t>
            </a:r>
            <a:endParaRPr lang="en-US" sz="1400" b="1" baseline="0" dirty="0">
              <a:solidFill>
                <a:srgbClr val="0070C0"/>
              </a:solidFill>
              <a:latin typeface="Cambria" panose="02040503050406030204" pitchFamily="18" charset="0"/>
              <a:cs typeface="Times New Roman" pitchFamily="18" charset="0"/>
            </a:endParaRPr>
          </a:p>
        </p:txBody>
      </p:sp>
    </p:spTree>
    <p:extLst>
      <p:ext uri="{BB962C8B-B14F-4D97-AF65-F5344CB8AC3E}">
        <p14:creationId xmlns:p14="http://schemas.microsoft.com/office/powerpoint/2010/main" val="2055692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15203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13621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352609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32146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63858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198128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869714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2941193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FE5571-560F-4DFC-BA97-61ACA5F7ADE1}" type="slidenum">
              <a:rPr lang="en-US" smtClean="0"/>
              <a:t>‹#›</a:t>
            </a:fld>
            <a:endParaRPr lang="en-US"/>
          </a:p>
        </p:txBody>
      </p:sp>
    </p:spTree>
    <p:extLst>
      <p:ext uri="{BB962C8B-B14F-4D97-AF65-F5344CB8AC3E}">
        <p14:creationId xmlns:p14="http://schemas.microsoft.com/office/powerpoint/2010/main" val="4231218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E5571-560F-4DFC-BA97-61ACA5F7ADE1}" type="slidenum">
              <a:rPr lang="en-US" smtClean="0"/>
              <a:t>‹#›</a:t>
            </a:fld>
            <a:endParaRPr lang="en-US"/>
          </a:p>
        </p:txBody>
      </p:sp>
    </p:spTree>
    <p:extLst>
      <p:ext uri="{BB962C8B-B14F-4D97-AF65-F5344CB8AC3E}">
        <p14:creationId xmlns:p14="http://schemas.microsoft.com/office/powerpoint/2010/main" val="25488443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pythonthehardway.or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codecademy.com/learn/python"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teamtreehouse.com/learn-to-code/python"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www.pythontutor.com/" TargetMode="External"/><Relationship Id="rId4" Type="http://schemas.openxmlformats.org/officeDocument/2006/relationships/hyperlink" Target="https://www.codementor.io/learn-python-online"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python.or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oogle.com/search?cs=0&amp;sca_esv=85c04323f33f3047&amp;q=Django&amp;sa=X&amp;ved=2ahUKEwjBt6fK9IaPAxUUha8BHeuMF2oQxccNegQICxAB&amp;mstk=AUtExfAWM0AENizTJaCFwYZgOC9R82MB27_CclwK7jCvhyCaYYp0fUcJVOJl_DRGCfpPnE_Wx1hXbZb7jdKxbnMaqFBGVI-_8ueoYZtxqCbhosuaG0iCM7U2gG2c9CluNHyilFFkeR1Su_-9H6KMU4YW0BXt7S2BGGI9wJOu6eo6vSGPXkwXWkUkbg9NgnMGFEIng-zB&amp;csui=3"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www.google.com/search?cs=0&amp;sca_esv=85c04323f33f3047&amp;q=Kivy&amp;sa=X&amp;ved=2ahUKEwjBt6fK9IaPAxUUha8BHeuMF2oQxccNegQIEBAB&amp;mstk=AUtExfAWM0AENizTJaCFwYZgOC9R82MB27_CclwK7jCvhyCaYYp0fUcJVOJl_DRGCfpPnE_Wx1hXbZb7jdKxbnMaqFBGVI-_8ueoYZtxqCbhosuaG0iCM7U2gG2c9CluNHyilFFkeR1Su_-9H6KMU4YW0BXt7S2BGGI9wJOu6eo6vSGPXkwXWkUkbg9NgnMGFEIng-zB&amp;csui=3" TargetMode="External"/><Relationship Id="rId4" Type="http://schemas.openxmlformats.org/officeDocument/2006/relationships/hyperlink" Target="https://www.google.com/search?cs=0&amp;sca_esv=85c04323f33f3047&amp;q=Flask&amp;sa=X&amp;ved=2ahUKEwjBt6fK9IaPAxUUha8BHeuMF2oQxccNegQICxAC&amp;mstk=AUtExfAWM0AENizTJaCFwYZgOC9R82MB27_CclwK7jCvhyCaYYp0fUcJVOJl_DRGCfpPnE_Wx1hXbZb7jdKxbnMaqFBGVI-_8ueoYZtxqCbhosuaG0iCM7U2gG2c9CluNHyilFFkeR1Su_-9H6KMU4YW0BXt7S2BGGI9wJOu6eo6vSGPXkwXWkUkbg9NgnMGFEIng-zB&amp;csui=3"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www.google.com/search?cs=0&amp;sca_esv=85c04323f33f3047&amp;q=PyTorch&amp;sa=X&amp;ved=2ahUKEwjBt6fK9IaPAxUUha8BHeuMF2oQxccNegQIJBAD&amp;mstk=AUtExfAWM0AENizTJaCFwYZgOC9R82MB27_CclwK7jCvhyCaYYp0fUcJVOJl_DRGCfpPnE_Wx1hXbZb7jdKxbnMaqFBGVI-_8ueoYZtxqCbhosuaG0iCM7U2gG2c9CluNHyilFFkeR1Su_-9H6KMU4YW0BXt7S2BGGI9wJOu6eo6vSGPXkwXWkUkbg9NgnMGFEIng-zB&amp;csui=3" TargetMode="External"/><Relationship Id="rId3" Type="http://schemas.openxmlformats.org/officeDocument/2006/relationships/hyperlink" Target="https://www.google.com/search?cs=0&amp;sca_esv=85c04323f33f3047&amp;q=Pandas&amp;sa=X&amp;ved=2ahUKEwjBt6fK9IaPAxUUha8BHeuMF2oQxccNegQIHhAB&amp;mstk=AUtExfAWM0AENizTJaCFwYZgOC9R82MB27_CclwK7jCvhyCaYYp0fUcJVOJl_DRGCfpPnE_Wx1hXbZb7jdKxbnMaqFBGVI-_8ueoYZtxqCbhosuaG0iCM7U2gG2c9CluNHyilFFkeR1Su_-9H6KMU4YW0BXt7S2BGGI9wJOu6eo6vSGPXkwXWkUkbg9NgnMGFEIng-zB&amp;csui=3" TargetMode="External"/><Relationship Id="rId7" Type="http://schemas.openxmlformats.org/officeDocument/2006/relationships/hyperlink" Target="https://www.google.com/search?cs=0&amp;sca_esv=85c04323f33f3047&amp;q=TensorFlow&amp;sa=X&amp;ved=2ahUKEwjBt6fK9IaPAxUUha8BHeuMF2oQxccNegQIJBAC&amp;mstk=AUtExfAWM0AENizTJaCFwYZgOC9R82MB27_CclwK7jCvhyCaYYp0fUcJVOJl_DRGCfpPnE_Wx1hXbZb7jdKxbnMaqFBGVI-_8ueoYZtxqCbhosuaG0iCM7U2gG2c9CluNHyilFFkeR1Su_-9H6KMU4YW0BXt7S2BGGI9wJOu6eo6vSGPXkwXWkUkbg9NgnMGFEIng-zB&amp;csui=3"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hyperlink" Target="https://www.google.com/search?cs=0&amp;sca_esv=85c04323f33f3047&amp;q=Scikit-learn&amp;sa=X&amp;ved=2ahUKEwjBt6fK9IaPAxUUha8BHeuMF2oQxccNegQIJBAB&amp;mstk=AUtExfAWM0AENizTJaCFwYZgOC9R82MB27_CclwK7jCvhyCaYYp0fUcJVOJl_DRGCfpPnE_Wx1hXbZb7jdKxbnMaqFBGVI-_8ueoYZtxqCbhosuaG0iCM7U2gG2c9CluNHyilFFkeR1Su_-9H6KMU4YW0BXt7S2BGGI9wJOu6eo6vSGPXkwXWkUkbg9NgnMGFEIng-zB&amp;csui=3" TargetMode="External"/><Relationship Id="rId5" Type="http://schemas.openxmlformats.org/officeDocument/2006/relationships/hyperlink" Target="https://www.google.com/search?cs=0&amp;sca_esv=85c04323f33f3047&amp;q=Matplotlib&amp;sa=X&amp;ved=2ahUKEwjBt6fK9IaPAxUUha8BHeuMF2oQxccNegQIHhAD&amp;mstk=AUtExfAWM0AENizTJaCFwYZgOC9R82MB27_CclwK7jCvhyCaYYp0fUcJVOJl_DRGCfpPnE_Wx1hXbZb7jdKxbnMaqFBGVI-_8ueoYZtxqCbhosuaG0iCM7U2gG2c9CluNHyilFFkeR1Su_-9H6KMU4YW0BXt7S2BGGI9wJOu6eo6vSGPXkwXWkUkbg9NgnMGFEIng-zB&amp;csui=3" TargetMode="External"/><Relationship Id="rId4" Type="http://schemas.openxmlformats.org/officeDocument/2006/relationships/hyperlink" Target="https://www.google.com/search?cs=0&amp;sca_esv=85c04323f33f3047&amp;q=NumPy&amp;sa=X&amp;ved=2ahUKEwjBt6fK9IaPAxUUha8BHeuMF2oQxccNegQIHhAC&amp;mstk=AUtExfAWM0AENizTJaCFwYZgOC9R82MB27_CclwK7jCvhyCaYYp0fUcJVOJl_DRGCfpPnE_Wx1hXbZb7jdKxbnMaqFBGVI-_8ueoYZtxqCbhosuaG0iCM7U2gG2c9CluNHyilFFkeR1Su_-9H6KMU4YW0BXt7S2BGGI9wJOu6eo6vSGPXkwXWkUkbg9NgnMGFEIng-zB&amp;csui=3"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google.com/search?cs=0&amp;sca_esv=85c04323f33f3047&amp;q=Pygame&amp;sa=X&amp;ved=2ahUKEwjBt6fK9IaPAxUUha8BHeuMF2oQxccNegQISRAB&amp;mstk=AUtExfAWM0AENizTJaCFwYZgOC9R82MB27_CclwK7jCvhyCaYYp0fUcJVOJl_DRGCfpPnE_Wx1hXbZb7jdKxbnMaqFBGVI-_8ueoYZtxqCbhosuaG0iCM7U2gG2c9CluNHyilFFkeR1Su_-9H6KMU4YW0BXt7S2BGGI9wJOu6eo6vSGPXkwXWkUkbg9NgnMGFEIng-zB&amp;csui=3"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google.com/search?cs=0&amp;sca_esv=85c04323f33f3047&amp;q=Raspberry+Pi&amp;sa=X&amp;ved=2ahUKEwjBt6fK9IaPAxUUha8BHeuMF2oQxccNegQIThAB&amp;mstk=AUtExfAWM0AENizTJaCFwYZgOC9R82MB27_CclwK7jCvhyCaYYp0fUcJVOJl_DRGCfpPnE_Wx1hXbZb7jdKxbnMaqFBGVI-_8ueoYZtxqCbhosuaG0iCM7U2gG2c9CluNHyilFFkeR1Su_-9H6KMU4YW0BXt7S2BGGI9wJOu6eo6vSGPXkwXWkUkbg9NgnMGFEIng-zB&amp;csui=3"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python.org/downloads/"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jetbrains.com/pycharm" TargetMode="Externa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jetbrains.com/pycharm/download/#section=windows"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docs.python.org/3/library/stdtypes.html" TargetMode="External"/><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364581" y="762000"/>
            <a:ext cx="7462837"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5400" kern="0">
                <a:solidFill>
                  <a:srgbClr val="002060"/>
                </a:solidFill>
                <a:latin typeface="Arial" panose="020B0604020202020204" pitchFamily="34" charset="0"/>
                <a:cs typeface="Arial" panose="020B0604020202020204" pitchFamily="34" charset="0"/>
              </a:rPr>
              <a:t>Ch</a:t>
            </a:r>
            <a:r>
              <a:rPr lang="vi-VN" sz="5400" kern="0">
                <a:solidFill>
                  <a:srgbClr val="002060"/>
                </a:solidFill>
                <a:latin typeface="Arial" panose="020B0604020202020204" pitchFamily="34" charset="0"/>
                <a:cs typeface="Arial" panose="020B0604020202020204" pitchFamily="34" charset="0"/>
              </a:rPr>
              <a:t>ư</a:t>
            </a:r>
            <a:r>
              <a:rPr lang="en-US" sz="5400" kern="0">
                <a:solidFill>
                  <a:srgbClr val="002060"/>
                </a:solidFill>
                <a:latin typeface="Arial" panose="020B0604020202020204" pitchFamily="34" charset="0"/>
                <a:cs typeface="Arial" panose="020B0604020202020204" pitchFamily="34" charset="0"/>
              </a:rPr>
              <a:t>ơng 1: Tổng quan</a:t>
            </a:r>
            <a:endParaRPr lang="en-US" sz="5400" kern="0" dirty="0">
              <a:solidFill>
                <a:srgbClr val="002060"/>
              </a:solidFill>
              <a:latin typeface="Arial" panose="020B0604020202020204" pitchFamily="34" charset="0"/>
              <a:cs typeface="Arial" panose="020B0604020202020204" pitchFamily="34" charset="0"/>
            </a:endParaRPr>
          </a:p>
          <a:p>
            <a:pPr>
              <a:defRPr/>
            </a:pPr>
            <a:r>
              <a:rPr lang="en-US" sz="5400" kern="0" dirty="0" err="1">
                <a:solidFill>
                  <a:srgbClr val="002060"/>
                </a:solidFill>
                <a:latin typeface="Arial" panose="020B0604020202020204" pitchFamily="34" charset="0"/>
                <a:cs typeface="Arial" panose="020B0604020202020204" pitchFamily="34" charset="0"/>
              </a:rPr>
              <a:t>Lập</a:t>
            </a:r>
            <a:r>
              <a:rPr lang="en-US" sz="5400" kern="0" dirty="0">
                <a:solidFill>
                  <a:srgbClr val="002060"/>
                </a:solidFill>
                <a:latin typeface="Arial" panose="020B0604020202020204" pitchFamily="34" charset="0"/>
                <a:cs typeface="Arial" panose="020B0604020202020204" pitchFamily="34" charset="0"/>
              </a:rPr>
              <a:t> </a:t>
            </a:r>
            <a:r>
              <a:rPr lang="en-US" sz="5400" kern="0" dirty="0" err="1">
                <a:solidFill>
                  <a:srgbClr val="002060"/>
                </a:solidFill>
                <a:latin typeface="Arial" panose="020B0604020202020204" pitchFamily="34" charset="0"/>
                <a:cs typeface="Arial" panose="020B0604020202020204" pitchFamily="34" charset="0"/>
              </a:rPr>
              <a:t>trình</a:t>
            </a:r>
            <a:r>
              <a:rPr lang="en-US" sz="5400" kern="0" dirty="0">
                <a:solidFill>
                  <a:srgbClr val="002060"/>
                </a:solidFill>
                <a:latin typeface="Arial" panose="020B0604020202020204" pitchFamily="34" charset="0"/>
                <a:cs typeface="Arial" panose="020B0604020202020204" pitchFamily="34" charset="0"/>
              </a:rPr>
              <a:t> Python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59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gn="just">
              <a:lnSpc>
                <a:spcPct val="90000"/>
              </a:lnSpc>
              <a:spcBef>
                <a:spcPts val="1000"/>
              </a:spcBef>
              <a:buClr>
                <a:srgbClr val="215D9F"/>
              </a:buClr>
              <a:buFont typeface="+mj-lt"/>
              <a:buAutoNum type="arabicPeriod"/>
            </a:pPr>
            <a:r>
              <a:rPr lang="en-US" sz="4000" dirty="0" err="1">
                <a:latin typeface="Cambria" panose="02040503050406030204" pitchFamily="18" charset="0"/>
              </a:rPr>
              <a:t>Giới</a:t>
            </a:r>
            <a:r>
              <a:rPr lang="en-US" sz="4000" dirty="0">
                <a:latin typeface="Cambria" panose="02040503050406030204" pitchFamily="18" charset="0"/>
              </a:rPr>
              <a:t> </a:t>
            </a:r>
            <a:r>
              <a:rPr lang="en-US" sz="4000" dirty="0" err="1">
                <a:latin typeface="Cambria" panose="02040503050406030204" pitchFamily="18" charset="0"/>
              </a:rPr>
              <a:t>thiệu</a:t>
            </a:r>
            <a:r>
              <a:rPr lang="en-US" sz="4000" dirty="0">
                <a:latin typeface="Cambria" panose="02040503050406030204" pitchFamily="18" charset="0"/>
              </a:rPr>
              <a:t> </a:t>
            </a:r>
            <a:r>
              <a:rPr lang="en-US" sz="4000" dirty="0" err="1">
                <a:latin typeface="Cambria" panose="02040503050406030204" pitchFamily="18" charset="0"/>
              </a:rPr>
              <a:t>khái</a:t>
            </a:r>
            <a:r>
              <a:rPr lang="en-US" sz="4000" dirty="0">
                <a:latin typeface="Cambria" panose="02040503050406030204" pitchFamily="18" charset="0"/>
              </a:rPr>
              <a:t> </a:t>
            </a:r>
            <a:r>
              <a:rPr lang="en-US" sz="4000" dirty="0" err="1">
                <a:latin typeface="Cambria" panose="02040503050406030204" pitchFamily="18" charset="0"/>
              </a:rPr>
              <a:t>quát</a:t>
            </a:r>
            <a:r>
              <a:rPr lang="en-US" sz="4000" dirty="0">
                <a:latin typeface="Cambria" panose="02040503050406030204" pitchFamily="18" charset="0"/>
              </a:rPr>
              <a:t> </a:t>
            </a:r>
            <a:r>
              <a:rPr lang="en-US" sz="4000" dirty="0" err="1">
                <a:latin typeface="Cambria" panose="02040503050406030204" pitchFamily="18" charset="0"/>
              </a:rPr>
              <a:t>về</a:t>
            </a:r>
            <a:r>
              <a:rPr lang="en-US" sz="4000" dirty="0">
                <a:latin typeface="Cambria" panose="02040503050406030204" pitchFamily="18" charset="0"/>
              </a:rPr>
              <a:t> Python</a:t>
            </a:r>
          </a:p>
          <a:p>
            <a:pPr marL="514350" indent="-514350" algn="just">
              <a:lnSpc>
                <a:spcPct val="90000"/>
              </a:lnSpc>
              <a:spcBef>
                <a:spcPts val="1000"/>
              </a:spcBef>
              <a:buClr>
                <a:srgbClr val="215D9F"/>
              </a:buClr>
              <a:buFont typeface="+mj-lt"/>
              <a:buAutoNum type="arabicPeriod"/>
            </a:pPr>
            <a:r>
              <a:rPr lang="en-US" sz="4000" dirty="0" err="1">
                <a:latin typeface="Cambria" panose="02040503050406030204" pitchFamily="18" charset="0"/>
              </a:rPr>
              <a:t>Hiện</a:t>
            </a:r>
            <a:r>
              <a:rPr lang="en-US" sz="4000" dirty="0">
                <a:latin typeface="Cambria" panose="02040503050406030204" pitchFamily="18" charset="0"/>
              </a:rPr>
              <a:t> </a:t>
            </a:r>
            <a:r>
              <a:rPr lang="en-US" sz="4000" dirty="0" err="1">
                <a:latin typeface="Cambria" panose="02040503050406030204" pitchFamily="18" charset="0"/>
              </a:rPr>
              <a:t>trạng</a:t>
            </a:r>
            <a:r>
              <a:rPr lang="en-US" sz="4000" dirty="0">
                <a:latin typeface="Cambria" panose="02040503050406030204" pitchFamily="18" charset="0"/>
              </a:rPr>
              <a:t> </a:t>
            </a:r>
            <a:r>
              <a:rPr lang="en-US" sz="4000" dirty="0" err="1">
                <a:latin typeface="Cambria" panose="02040503050406030204" pitchFamily="18" charset="0"/>
              </a:rPr>
              <a:t>sử</a:t>
            </a:r>
            <a:r>
              <a:rPr lang="en-US" sz="4000" dirty="0">
                <a:latin typeface="Cambria" panose="02040503050406030204" pitchFamily="18" charset="0"/>
              </a:rPr>
              <a:t> </a:t>
            </a:r>
            <a:r>
              <a:rPr lang="en-US" sz="4000" dirty="0" err="1">
                <a:latin typeface="Cambria" panose="02040503050406030204" pitchFamily="18" charset="0"/>
              </a:rPr>
              <a:t>dụng</a:t>
            </a:r>
            <a:r>
              <a:rPr lang="en-US" sz="4000" dirty="0">
                <a:latin typeface="Cambria" panose="02040503050406030204" pitchFamily="18" charset="0"/>
              </a:rPr>
              <a:t> Python </a:t>
            </a:r>
            <a:r>
              <a:rPr lang="en-US" sz="4000" dirty="0" err="1">
                <a:latin typeface="Cambria" panose="02040503050406030204" pitchFamily="18" charset="0"/>
              </a:rPr>
              <a:t>làm</a:t>
            </a:r>
            <a:r>
              <a:rPr lang="en-US" sz="4000" dirty="0">
                <a:latin typeface="Cambria" panose="02040503050406030204" pitchFamily="18" charset="0"/>
              </a:rPr>
              <a:t> </a:t>
            </a:r>
            <a:r>
              <a:rPr lang="en-US" sz="4000" dirty="0" err="1">
                <a:latin typeface="Cambria" panose="02040503050406030204" pitchFamily="18" charset="0"/>
              </a:rPr>
              <a:t>ngôn</a:t>
            </a:r>
            <a:r>
              <a:rPr lang="en-US" sz="4000" dirty="0">
                <a:latin typeface="Cambria" panose="02040503050406030204" pitchFamily="18" charset="0"/>
              </a:rPr>
              <a:t> </a:t>
            </a:r>
            <a:r>
              <a:rPr lang="en-US" sz="4000" dirty="0" err="1">
                <a:latin typeface="Cambria" panose="02040503050406030204" pitchFamily="18" charset="0"/>
              </a:rPr>
              <a:t>ngữ</a:t>
            </a:r>
            <a:r>
              <a:rPr lang="en-US" sz="4000" dirty="0">
                <a:latin typeface="Cambria" panose="02040503050406030204" pitchFamily="18" charset="0"/>
              </a:rPr>
              <a:t> </a:t>
            </a:r>
            <a:r>
              <a:rPr lang="en-US" sz="4000" dirty="0" err="1">
                <a:latin typeface="Cambria" panose="02040503050406030204" pitchFamily="18" charset="0"/>
              </a:rPr>
              <a:t>đào</a:t>
            </a:r>
            <a:r>
              <a:rPr lang="en-US" sz="4000" dirty="0">
                <a:latin typeface="Cambria" panose="02040503050406030204" pitchFamily="18" charset="0"/>
              </a:rPr>
              <a:t> </a:t>
            </a:r>
            <a:r>
              <a:rPr lang="en-US" sz="4000" dirty="0" err="1">
                <a:latin typeface="Cambria" panose="02040503050406030204" pitchFamily="18" charset="0"/>
              </a:rPr>
              <a:t>tạo</a:t>
            </a:r>
            <a:r>
              <a:rPr lang="en-US" sz="4000" dirty="0">
                <a:latin typeface="Cambria" panose="02040503050406030204" pitchFamily="18" charset="0"/>
              </a:rPr>
              <a:t> </a:t>
            </a:r>
            <a:r>
              <a:rPr lang="en-US" sz="4000" dirty="0" err="1">
                <a:latin typeface="Cambria" panose="02040503050406030204" pitchFamily="18" charset="0"/>
              </a:rPr>
              <a:t>trên</a:t>
            </a:r>
            <a:r>
              <a:rPr lang="en-US" sz="4000" dirty="0">
                <a:latin typeface="Cambria" panose="02040503050406030204" pitchFamily="18" charset="0"/>
              </a:rPr>
              <a:t> </a:t>
            </a:r>
            <a:r>
              <a:rPr lang="en-US" sz="4000" dirty="0" err="1">
                <a:latin typeface="Cambria" panose="02040503050406030204" pitchFamily="18" charset="0"/>
              </a:rPr>
              <a:t>thế</a:t>
            </a:r>
            <a:r>
              <a:rPr lang="en-US" sz="4000" dirty="0">
                <a:latin typeface="Cambria" panose="02040503050406030204" pitchFamily="18" charset="0"/>
              </a:rPr>
              <a:t> </a:t>
            </a:r>
            <a:r>
              <a:rPr lang="en-US" sz="4000" dirty="0" err="1">
                <a:latin typeface="Cambria" panose="02040503050406030204" pitchFamily="18" charset="0"/>
              </a:rPr>
              <a:t>giới</a:t>
            </a:r>
            <a:endParaRPr lang="en-US" sz="4000" dirty="0">
              <a:latin typeface="Cambria" panose="02040503050406030204" pitchFamily="18" charset="0"/>
            </a:endParaRPr>
          </a:p>
          <a:p>
            <a:pPr marL="514350" lvl="0" indent="-514350" algn="just">
              <a:lnSpc>
                <a:spcPct val="90000"/>
              </a:lnSpc>
              <a:spcBef>
                <a:spcPts val="1000"/>
              </a:spcBef>
              <a:buClr>
                <a:srgbClr val="215D9F"/>
              </a:buClr>
              <a:buFont typeface="+mj-lt"/>
              <a:buAutoNum type="arabicPeriod"/>
            </a:pPr>
            <a:r>
              <a:rPr lang="en-US" sz="4000" dirty="0" err="1">
                <a:latin typeface="Cambria" panose="02040503050406030204" pitchFamily="18" charset="0"/>
              </a:rPr>
              <a:t>Các</a:t>
            </a:r>
            <a:r>
              <a:rPr lang="en-US" sz="4000" dirty="0">
                <a:latin typeface="Cambria" panose="02040503050406030204" pitchFamily="18" charset="0"/>
              </a:rPr>
              <a:t> </a:t>
            </a:r>
            <a:r>
              <a:rPr lang="en-US" sz="4000" dirty="0" err="1">
                <a:latin typeface="Cambria" panose="02040503050406030204" pitchFamily="18" charset="0"/>
              </a:rPr>
              <a:t>tài</a:t>
            </a:r>
            <a:r>
              <a:rPr lang="en-US" sz="4000" dirty="0">
                <a:latin typeface="Cambria" panose="02040503050406030204" pitchFamily="18" charset="0"/>
              </a:rPr>
              <a:t> </a:t>
            </a:r>
            <a:r>
              <a:rPr lang="en-US" sz="4000" dirty="0" err="1">
                <a:latin typeface="Cambria" panose="02040503050406030204" pitchFamily="18" charset="0"/>
              </a:rPr>
              <a:t>nguyên</a:t>
            </a:r>
            <a:r>
              <a:rPr lang="en-US" sz="4000" dirty="0">
                <a:latin typeface="Cambria" panose="02040503050406030204" pitchFamily="18" charset="0"/>
              </a:rPr>
              <a:t> </a:t>
            </a:r>
            <a:r>
              <a:rPr lang="en-US" sz="4000" dirty="0" err="1">
                <a:latin typeface="Cambria" panose="02040503050406030204" pitchFamily="18" charset="0"/>
              </a:rPr>
              <a:t>học</a:t>
            </a:r>
            <a:r>
              <a:rPr lang="en-US" sz="4000" dirty="0">
                <a:latin typeface="Cambria" panose="02040503050406030204" pitchFamily="18" charset="0"/>
              </a:rPr>
              <a:t> </a:t>
            </a:r>
            <a:r>
              <a:rPr lang="en-US" sz="4000" dirty="0" err="1">
                <a:latin typeface="Cambria" panose="02040503050406030204" pitchFamily="18" charset="0"/>
              </a:rPr>
              <a:t>liệu</a:t>
            </a:r>
            <a:r>
              <a:rPr lang="en-US" sz="4000" dirty="0">
                <a:latin typeface="Cambria" panose="02040503050406030204" pitchFamily="18" charset="0"/>
              </a:rPr>
              <a:t> </a:t>
            </a:r>
            <a:r>
              <a:rPr lang="en-US" sz="4000" dirty="0" err="1">
                <a:latin typeface="Cambria" panose="02040503050406030204" pitchFamily="18" charset="0"/>
              </a:rPr>
              <a:t>và</a:t>
            </a:r>
            <a:r>
              <a:rPr lang="en-US" sz="4000" dirty="0">
                <a:latin typeface="Cambria" panose="02040503050406030204" pitchFamily="18" charset="0"/>
              </a:rPr>
              <a:t> </a:t>
            </a:r>
            <a:r>
              <a:rPr lang="en-US" sz="4000" dirty="0" err="1">
                <a:latin typeface="Cambria" panose="02040503050406030204" pitchFamily="18" charset="0"/>
              </a:rPr>
              <a:t>công</a:t>
            </a:r>
            <a:r>
              <a:rPr lang="en-US" sz="4000" dirty="0">
                <a:latin typeface="Cambria" panose="02040503050406030204" pitchFamily="18" charset="0"/>
              </a:rPr>
              <a:t> </a:t>
            </a:r>
            <a:r>
              <a:rPr lang="en-US" sz="4000" dirty="0" err="1">
                <a:latin typeface="Cambria" panose="02040503050406030204" pitchFamily="18" charset="0"/>
              </a:rPr>
              <a:t>cụ</a:t>
            </a:r>
            <a:r>
              <a:rPr lang="en-US" sz="4000" dirty="0">
                <a:latin typeface="Cambria" panose="02040503050406030204" pitchFamily="18" charset="0"/>
              </a:rPr>
              <a:t> </a:t>
            </a:r>
            <a:r>
              <a:rPr lang="en-US" sz="4000" dirty="0" err="1">
                <a:latin typeface="Cambria" panose="02040503050406030204" pitchFamily="18" charset="0"/>
              </a:rPr>
              <a:t>lập</a:t>
            </a:r>
            <a:r>
              <a:rPr lang="en-US" sz="4000" dirty="0">
                <a:latin typeface="Cambria" panose="02040503050406030204" pitchFamily="18" charset="0"/>
              </a:rPr>
              <a:t> </a:t>
            </a:r>
            <a:r>
              <a:rPr lang="en-US" sz="4000" dirty="0" err="1">
                <a:latin typeface="Cambria" panose="02040503050406030204" pitchFamily="18" charset="0"/>
              </a:rPr>
              <a:t>trình</a:t>
            </a:r>
            <a:r>
              <a:rPr lang="en-US" sz="4000" dirty="0">
                <a:latin typeface="Cambria" panose="02040503050406030204" pitchFamily="18" charset="0"/>
              </a:rPr>
              <a:t> Python</a:t>
            </a:r>
          </a:p>
          <a:p>
            <a:pPr marL="514350" lvl="0" indent="-514350" algn="just">
              <a:lnSpc>
                <a:spcPct val="90000"/>
              </a:lnSpc>
              <a:spcBef>
                <a:spcPts val="1000"/>
              </a:spcBef>
              <a:buClr>
                <a:srgbClr val="215D9F"/>
              </a:buClr>
              <a:buFont typeface="+mj-lt"/>
              <a:buAutoNum type="arabicPeriod"/>
            </a:pPr>
            <a:r>
              <a:rPr lang="en-US" sz="4000" dirty="0" err="1">
                <a:latin typeface="Cambria" panose="02040503050406030204" pitchFamily="18" charset="0"/>
              </a:rPr>
              <a:t>Kết</a:t>
            </a:r>
            <a:r>
              <a:rPr lang="en-US" sz="4000" dirty="0">
                <a:latin typeface="Cambria" panose="02040503050406030204" pitchFamily="18" charset="0"/>
              </a:rPr>
              <a:t> </a:t>
            </a:r>
            <a:r>
              <a:rPr lang="en-US" sz="4000" dirty="0" err="1">
                <a:latin typeface="Cambria" panose="02040503050406030204" pitchFamily="18" charset="0"/>
              </a:rPr>
              <a:t>luận</a:t>
            </a: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1622488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364581" y="762000"/>
            <a:ext cx="7462837"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5400" kern="0" dirty="0" err="1" smtClean="0">
                <a:solidFill>
                  <a:srgbClr val="002060"/>
                </a:solidFill>
                <a:latin typeface="Arial" panose="020B0604020202020204" pitchFamily="34" charset="0"/>
                <a:cs typeface="Arial" panose="020B0604020202020204" pitchFamily="34" charset="0"/>
              </a:rPr>
              <a:t>Lịch</a:t>
            </a:r>
            <a:r>
              <a:rPr lang="en-US" sz="5400" kern="0" dirty="0" smtClean="0">
                <a:solidFill>
                  <a:srgbClr val="002060"/>
                </a:solidFill>
                <a:latin typeface="Arial" panose="020B0604020202020204" pitchFamily="34" charset="0"/>
                <a:cs typeface="Arial" panose="020B0604020202020204" pitchFamily="34" charset="0"/>
              </a:rPr>
              <a:t> </a:t>
            </a:r>
            <a:r>
              <a:rPr lang="en-US" sz="5400" kern="0" dirty="0" err="1" smtClean="0">
                <a:solidFill>
                  <a:srgbClr val="002060"/>
                </a:solidFill>
                <a:latin typeface="Arial" panose="020B0604020202020204" pitchFamily="34" charset="0"/>
                <a:cs typeface="Arial" panose="020B0604020202020204" pitchFamily="34" charset="0"/>
              </a:rPr>
              <a:t>sử</a:t>
            </a:r>
            <a:r>
              <a:rPr lang="en-US" sz="5400" kern="0" dirty="0" smtClean="0">
                <a:solidFill>
                  <a:srgbClr val="002060"/>
                </a:solidFill>
                <a:latin typeface="Arial" panose="020B0604020202020204" pitchFamily="34" charset="0"/>
                <a:cs typeface="Arial" panose="020B0604020202020204" pitchFamily="34" charset="0"/>
              </a:rPr>
              <a:t> Python</a:t>
            </a:r>
            <a:endParaRPr lang="en-US" sz="5400" kern="0" dirty="0">
              <a:solidFill>
                <a:srgbClr val="002060"/>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573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077200" cy="508000"/>
            <a:chOff x="789624" y="1191463"/>
            <a:chExt cx="8077200" cy="508000"/>
          </a:xfrm>
        </p:grpSpPr>
        <p:sp>
          <p:nvSpPr>
            <p:cNvPr id="3" name="AutoShape 52"/>
            <p:cNvSpPr>
              <a:spLocks noChangeArrowheads="1"/>
            </p:cNvSpPr>
            <p:nvPr/>
          </p:nvSpPr>
          <p:spPr bwMode="gray">
            <a:xfrm>
              <a:off x="990600" y="1191463"/>
              <a:ext cx="7876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latin typeface="Cambria" panose="02040503050406030204" pitchFamily="18" charset="0"/>
                </a:rPr>
                <a:t>1.Giới </a:t>
              </a:r>
              <a:r>
                <a:rPr lang="en-US" sz="4000" b="1" dirty="0" err="1">
                  <a:latin typeface="Cambria" panose="02040503050406030204" pitchFamily="18" charset="0"/>
                </a:rPr>
                <a:t>thiệu</a:t>
              </a:r>
              <a:r>
                <a:rPr lang="en-US" sz="4000" b="1" dirty="0">
                  <a:latin typeface="Cambria" panose="02040503050406030204" pitchFamily="18" charset="0"/>
                </a:rPr>
                <a:t> </a:t>
              </a:r>
              <a:r>
                <a:rPr lang="en-US" sz="4000" b="1" dirty="0" err="1">
                  <a:latin typeface="Cambria" panose="02040503050406030204" pitchFamily="18" charset="0"/>
                </a:rPr>
                <a:t>khái</a:t>
              </a:r>
              <a:r>
                <a:rPr lang="en-US" sz="4000" b="1" dirty="0">
                  <a:latin typeface="Cambria" panose="02040503050406030204" pitchFamily="18" charset="0"/>
                </a:rPr>
                <a:t> </a:t>
              </a:r>
              <a:r>
                <a:rPr lang="en-US" sz="4000" b="1" dirty="0" err="1">
                  <a:latin typeface="Cambria" panose="02040503050406030204" pitchFamily="18" charset="0"/>
                </a:rPr>
                <a:t>quát</a:t>
              </a:r>
              <a:r>
                <a:rPr lang="en-US" sz="4000" b="1" dirty="0">
                  <a:latin typeface="Cambria" panose="02040503050406030204" pitchFamily="18" charset="0"/>
                </a:rPr>
                <a:t> </a:t>
              </a:r>
              <a:r>
                <a:rPr lang="en-US" sz="4000" b="1" dirty="0" err="1">
                  <a:latin typeface="Cambria" panose="02040503050406030204" pitchFamily="18" charset="0"/>
                </a:rPr>
                <a:t>về</a:t>
              </a:r>
              <a:r>
                <a:rPr lang="en-US" sz="4000" b="1" dirty="0">
                  <a:latin typeface="Cambria" panose="02040503050406030204" pitchFamily="18" charset="0"/>
                </a:rPr>
                <a:t>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latin typeface="Cambria" panose="02040503050406030204" pitchFamily="18" charset="0"/>
              </a:rPr>
              <a:t>Python là một ngôn ngữ lập trình năng động với nhiều tính năng được sử dụng trong một loạt các ứng dụng.</a:t>
            </a:r>
            <a:endParaRPr lang="en-US" sz="4000" dirty="0">
              <a:latin typeface="Cambria" panose="02040503050406030204" pitchFamily="18" charset="0"/>
            </a:endParaRPr>
          </a:p>
          <a:p>
            <a:pPr marL="0" indent="0">
              <a:buNone/>
            </a:pPr>
            <a:r>
              <a:rPr lang="vi-VN" sz="4000" dirty="0">
                <a:latin typeface="Cambria" panose="02040503050406030204" pitchFamily="18" charset="0"/>
              </a:rPr>
              <a:t>Python thường được so sánh với Tcl, Perl, Ruby, Scheme, hoặc Java. </a:t>
            </a:r>
            <a:endParaRPr lang="en-US" sz="4000" dirty="0">
              <a:latin typeface="Cambria" panose="02040503050406030204" pitchFamily="18" charset="0"/>
            </a:endParaRPr>
          </a:p>
          <a:p>
            <a:pPr marL="0" indent="0">
              <a:buNone/>
            </a:pPr>
            <a:r>
              <a:rPr lang="vi-VN" sz="4000" dirty="0">
                <a:latin typeface="Cambria" panose="02040503050406030204" pitchFamily="18" charset="0"/>
              </a:rPr>
              <a:t>Một vài tính năng đặc trưng của nó gồm:</a:t>
            </a:r>
          </a:p>
          <a:p>
            <a:r>
              <a:rPr lang="vi-VN" sz="4000" dirty="0">
                <a:latin typeface="Cambria" panose="02040503050406030204" pitchFamily="18" charset="0"/>
              </a:rPr>
              <a:t>Cú pháp rất trong sáng, dễ đọc</a:t>
            </a:r>
          </a:p>
          <a:p>
            <a:r>
              <a:rPr lang="vi-VN" sz="4000" dirty="0">
                <a:latin typeface="Cambria" panose="02040503050406030204" pitchFamily="18" charset="0"/>
              </a:rPr>
              <a:t>Hướng đối tượng</a:t>
            </a:r>
          </a:p>
        </p:txBody>
      </p:sp>
      <p:pic>
        <p:nvPicPr>
          <p:cNvPr id="2050" name="Picture 2" descr="Image result for python logo">
            <a:extLst>
              <a:ext uri="{FF2B5EF4-FFF2-40B4-BE49-F238E27FC236}">
                <a16:creationId xmlns:a16="http://schemas.microsoft.com/office/drawing/2014/main" id="{29E37538-AC79-444A-8329-569E0D816A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242" t="11823" r="5229" b="21182"/>
          <a:stretch/>
        </p:blipFill>
        <p:spPr bwMode="auto">
          <a:xfrm>
            <a:off x="7924800" y="5029200"/>
            <a:ext cx="4191000" cy="1149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658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077200" cy="508000"/>
            <a:chOff x="789624" y="1191463"/>
            <a:chExt cx="8077200" cy="508000"/>
          </a:xfrm>
        </p:grpSpPr>
        <p:sp>
          <p:nvSpPr>
            <p:cNvPr id="3" name="AutoShape 52"/>
            <p:cNvSpPr>
              <a:spLocks noChangeArrowheads="1"/>
            </p:cNvSpPr>
            <p:nvPr/>
          </p:nvSpPr>
          <p:spPr bwMode="gray">
            <a:xfrm>
              <a:off x="990600" y="1191463"/>
              <a:ext cx="7876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latin typeface="Cambria" panose="02040503050406030204" pitchFamily="18" charset="0"/>
                </a:rPr>
                <a:t>1.Giới </a:t>
              </a:r>
              <a:r>
                <a:rPr lang="en-US" sz="4000" b="1" dirty="0" err="1">
                  <a:latin typeface="Cambria" panose="02040503050406030204" pitchFamily="18" charset="0"/>
                </a:rPr>
                <a:t>thiệu</a:t>
              </a:r>
              <a:r>
                <a:rPr lang="en-US" sz="4000" b="1" dirty="0">
                  <a:latin typeface="Cambria" panose="02040503050406030204" pitchFamily="18" charset="0"/>
                </a:rPr>
                <a:t> </a:t>
              </a:r>
              <a:r>
                <a:rPr lang="en-US" sz="4000" b="1" dirty="0" err="1">
                  <a:latin typeface="Cambria" panose="02040503050406030204" pitchFamily="18" charset="0"/>
                </a:rPr>
                <a:t>khái</a:t>
              </a:r>
              <a:r>
                <a:rPr lang="en-US" sz="4000" b="1" dirty="0">
                  <a:latin typeface="Cambria" panose="02040503050406030204" pitchFamily="18" charset="0"/>
                </a:rPr>
                <a:t> </a:t>
              </a:r>
              <a:r>
                <a:rPr lang="en-US" sz="4000" b="1" dirty="0" err="1">
                  <a:latin typeface="Cambria" panose="02040503050406030204" pitchFamily="18" charset="0"/>
                </a:rPr>
                <a:t>quát</a:t>
              </a:r>
              <a:r>
                <a:rPr lang="en-US" sz="4000" b="1" dirty="0">
                  <a:latin typeface="Cambria" panose="02040503050406030204" pitchFamily="18" charset="0"/>
                </a:rPr>
                <a:t> </a:t>
              </a:r>
              <a:r>
                <a:rPr lang="en-US" sz="4000" b="1" dirty="0" err="1">
                  <a:latin typeface="Cambria" panose="02040503050406030204" pitchFamily="18" charset="0"/>
                </a:rPr>
                <a:t>về</a:t>
              </a:r>
              <a:r>
                <a:rPr lang="en-US" sz="4000" b="1" dirty="0">
                  <a:latin typeface="Cambria" panose="02040503050406030204" pitchFamily="18" charset="0"/>
                </a:rPr>
                <a:t>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4000" dirty="0">
                <a:latin typeface="Cambria" panose="02040503050406030204" pitchFamily="18" charset="0"/>
              </a:rPr>
              <a:t>Hoàn toàn mô-đun hóa, hỗ trợ các gói theo cấp bậc</a:t>
            </a:r>
          </a:p>
          <a:p>
            <a:r>
              <a:rPr lang="vi-VN" sz="4000" dirty="0">
                <a:latin typeface="Cambria" panose="02040503050406030204" pitchFamily="18" charset="0"/>
              </a:rPr>
              <a:t>Xử lý lỗi dựa theo ngoại lệ</a:t>
            </a:r>
          </a:p>
          <a:p>
            <a:r>
              <a:rPr lang="vi-VN" sz="4000" dirty="0">
                <a:latin typeface="Cambria" panose="02040503050406030204" pitchFamily="18" charset="0"/>
              </a:rPr>
              <a:t>Kiểu dữ liệu động ở mức rất cao</a:t>
            </a:r>
          </a:p>
          <a:p>
            <a:r>
              <a:rPr lang="vi-VN" sz="4000" dirty="0">
                <a:latin typeface="Cambria" panose="02040503050406030204" pitchFamily="18" charset="0"/>
              </a:rPr>
              <a:t>Các thư viện chuẩn và các mô-đun ngoài bao quát hầu như mọi việc</a:t>
            </a:r>
            <a:endParaRPr lang="en-US" sz="4000" dirty="0">
              <a:latin typeface="Cambria" panose="02040503050406030204" pitchFamily="18" charset="0"/>
            </a:endParaRPr>
          </a:p>
        </p:txBody>
      </p:sp>
      <p:pic>
        <p:nvPicPr>
          <p:cNvPr id="2050" name="Picture 2" descr="Image result for python logo">
            <a:extLst>
              <a:ext uri="{FF2B5EF4-FFF2-40B4-BE49-F238E27FC236}">
                <a16:creationId xmlns:a16="http://schemas.microsoft.com/office/drawing/2014/main" id="{29E37538-AC79-444A-8329-569E0D816A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242" t="11823" r="5229" b="21182"/>
          <a:stretch/>
        </p:blipFill>
        <p:spPr bwMode="auto">
          <a:xfrm>
            <a:off x="7086600" y="4724400"/>
            <a:ext cx="4191000" cy="1149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687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077200" cy="508000"/>
            <a:chOff x="789624" y="1191463"/>
            <a:chExt cx="7467600" cy="508000"/>
          </a:xfrm>
        </p:grpSpPr>
        <p:sp>
          <p:nvSpPr>
            <p:cNvPr id="3" name="AutoShape 52"/>
            <p:cNvSpPr>
              <a:spLocks noChangeArrowheads="1"/>
            </p:cNvSpPr>
            <p:nvPr/>
          </p:nvSpPr>
          <p:spPr bwMode="gray">
            <a:xfrm>
              <a:off x="990600" y="1191463"/>
              <a:ext cx="7266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latin typeface="Cambria" panose="02040503050406030204" pitchFamily="18" charset="0"/>
                </a:rPr>
                <a:t>1.Giới </a:t>
              </a:r>
              <a:r>
                <a:rPr lang="en-US" sz="4000" b="1" dirty="0" err="1">
                  <a:latin typeface="Cambria" panose="02040503050406030204" pitchFamily="18" charset="0"/>
                </a:rPr>
                <a:t>thiệu</a:t>
              </a:r>
              <a:r>
                <a:rPr lang="en-US" sz="4000" b="1" dirty="0">
                  <a:latin typeface="Cambria" panose="02040503050406030204" pitchFamily="18" charset="0"/>
                </a:rPr>
                <a:t> </a:t>
              </a:r>
              <a:r>
                <a:rPr lang="en-US" sz="4000" b="1" dirty="0" err="1">
                  <a:latin typeface="Cambria" panose="02040503050406030204" pitchFamily="18" charset="0"/>
                </a:rPr>
                <a:t>khái</a:t>
              </a:r>
              <a:r>
                <a:rPr lang="en-US" sz="4000" b="1" dirty="0">
                  <a:latin typeface="Cambria" panose="02040503050406030204" pitchFamily="18" charset="0"/>
                </a:rPr>
                <a:t> </a:t>
              </a:r>
              <a:r>
                <a:rPr lang="en-US" sz="4000" b="1" dirty="0" err="1">
                  <a:latin typeface="Cambria" panose="02040503050406030204" pitchFamily="18" charset="0"/>
                </a:rPr>
                <a:t>quát</a:t>
              </a:r>
              <a:r>
                <a:rPr lang="en-US" sz="4000" b="1" dirty="0">
                  <a:latin typeface="Cambria" panose="02040503050406030204" pitchFamily="18" charset="0"/>
                </a:rPr>
                <a:t> </a:t>
              </a:r>
              <a:r>
                <a:rPr lang="en-US" sz="4000" b="1" dirty="0" err="1">
                  <a:latin typeface="Cambria" panose="02040503050406030204" pitchFamily="18" charset="0"/>
                </a:rPr>
                <a:t>về</a:t>
              </a:r>
              <a:r>
                <a:rPr lang="en-US" sz="4000" b="1" dirty="0">
                  <a:latin typeface="Cambria" panose="02040503050406030204" pitchFamily="18" charset="0"/>
                </a:rPr>
                <a:t>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4000" dirty="0">
                <a:latin typeface="Cambria" panose="02040503050406030204" pitchFamily="18" charset="0"/>
              </a:rPr>
              <a:t>P</a:t>
            </a:r>
            <a:r>
              <a:rPr lang="vi-VN" sz="4000" dirty="0">
                <a:latin typeface="Cambria" panose="02040503050406030204" pitchFamily="18" charset="0"/>
              </a:rPr>
              <a:t>hần mở rộng và mô-đun dễ dàng viết trong C, C++</a:t>
            </a:r>
            <a:r>
              <a:rPr lang="en-US" sz="4000" dirty="0">
                <a:latin typeface="Cambria" panose="02040503050406030204" pitchFamily="18" charset="0"/>
              </a:rPr>
              <a:t>,</a:t>
            </a:r>
            <a:r>
              <a:rPr lang="vi-VN" sz="4000" dirty="0">
                <a:latin typeface="Cambria" panose="02040503050406030204" pitchFamily="18" charset="0"/>
              </a:rPr>
              <a:t> Jython, IronPython</a:t>
            </a:r>
          </a:p>
          <a:p>
            <a:r>
              <a:rPr lang="vi-VN" sz="4000" dirty="0">
                <a:latin typeface="Cambria" panose="02040503050406030204" pitchFamily="18" charset="0"/>
              </a:rPr>
              <a:t>Python mạnh mẽ và thực hiện nhanh</a:t>
            </a:r>
            <a:endParaRPr lang="en-US" sz="4000" dirty="0">
              <a:latin typeface="Cambria" panose="02040503050406030204" pitchFamily="18" charset="0"/>
            </a:endParaRPr>
          </a:p>
          <a:p>
            <a:r>
              <a:rPr lang="en-US" sz="4000" dirty="0">
                <a:latin typeface="Cambria" panose="02040503050406030204" pitchFamily="18" charset="0"/>
              </a:rPr>
              <a:t>M</a:t>
            </a:r>
            <a:r>
              <a:rPr lang="vi-VN" sz="4000" dirty="0">
                <a:latin typeface="Cambria" panose="02040503050406030204" pitchFamily="18" charset="0"/>
              </a:rPr>
              <a:t>achine learning</a:t>
            </a:r>
          </a:p>
          <a:p>
            <a:pPr marL="0" lvl="0" indent="0" algn="just">
              <a:lnSpc>
                <a:spcPct val="90000"/>
              </a:lnSpc>
              <a:spcBef>
                <a:spcPts val="1000"/>
              </a:spcBef>
              <a:buClr>
                <a:srgbClr val="215D9F"/>
              </a:buClr>
              <a:buNone/>
            </a:pPr>
            <a:endParaRPr lang="en-US" sz="4000" dirty="0">
              <a:latin typeface="Cambria" panose="02040503050406030204" pitchFamily="18" charset="0"/>
            </a:endParaRPr>
          </a:p>
        </p:txBody>
      </p:sp>
      <p:pic>
        <p:nvPicPr>
          <p:cNvPr id="2050" name="Picture 2" descr="Image result for python logo">
            <a:extLst>
              <a:ext uri="{FF2B5EF4-FFF2-40B4-BE49-F238E27FC236}">
                <a16:creationId xmlns:a16="http://schemas.microsoft.com/office/drawing/2014/main" id="{29E37538-AC79-444A-8329-569E0D816A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242" t="11823" r="5229" b="21182"/>
          <a:stretch/>
        </p:blipFill>
        <p:spPr bwMode="auto">
          <a:xfrm>
            <a:off x="6858000" y="4267200"/>
            <a:ext cx="4191000" cy="11491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539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077200" cy="508000"/>
            <a:chOff x="789624" y="1191463"/>
            <a:chExt cx="7467600" cy="508000"/>
          </a:xfrm>
        </p:grpSpPr>
        <p:sp>
          <p:nvSpPr>
            <p:cNvPr id="3" name="AutoShape 52"/>
            <p:cNvSpPr>
              <a:spLocks noChangeArrowheads="1"/>
            </p:cNvSpPr>
            <p:nvPr/>
          </p:nvSpPr>
          <p:spPr bwMode="gray">
            <a:xfrm>
              <a:off x="990600" y="1191463"/>
              <a:ext cx="7266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err="1" smtClean="0">
                  <a:latin typeface="Cambria" panose="02040503050406030204" pitchFamily="18" charset="0"/>
                </a:rPr>
                <a:t>Lịch</a:t>
              </a:r>
              <a:r>
                <a:rPr lang="en-US" sz="4000" b="1" dirty="0" smtClean="0">
                  <a:latin typeface="Cambria" panose="02040503050406030204" pitchFamily="18" charset="0"/>
                </a:rPr>
                <a:t> </a:t>
              </a:r>
              <a:r>
                <a:rPr lang="en-US" sz="4000" b="1" dirty="0" err="1" smtClean="0">
                  <a:latin typeface="Cambria" panose="02040503050406030204" pitchFamily="18" charset="0"/>
                </a:rPr>
                <a:t>sử</a:t>
              </a:r>
              <a:r>
                <a:rPr lang="en-US" sz="4000" b="1" dirty="0" smtClean="0">
                  <a:latin typeface="Cambria" panose="02040503050406030204" pitchFamily="18" charset="0"/>
                </a:rPr>
                <a:t> </a:t>
              </a:r>
              <a:r>
                <a:rPr lang="en-US" sz="4000" b="1" dirty="0" err="1" smtClean="0">
                  <a:latin typeface="Cambria" panose="02040503050406030204" pitchFamily="18" charset="0"/>
                </a:rPr>
                <a:t>về</a:t>
              </a:r>
              <a:r>
                <a:rPr lang="en-US" sz="4000" b="1" dirty="0" smtClean="0">
                  <a:latin typeface="Cambria" panose="02040503050406030204" pitchFamily="18" charset="0"/>
                </a:rPr>
                <a:t> </a:t>
              </a:r>
              <a:r>
                <a:rPr lang="en-US" sz="4000" b="1" dirty="0" smtClean="0">
                  <a:latin typeface="Cambria" panose="02040503050406030204" pitchFamily="18" charset="0"/>
                </a:rPr>
                <a:t>Python</a:t>
              </a:r>
              <a:endParaRPr lang="en-US" sz="4000" b="1" dirty="0">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4000" dirty="0">
              <a:latin typeface="Cambria" panose="02040503050406030204" pitchFamily="18" charset="0"/>
            </a:endParaRPr>
          </a:p>
        </p:txBody>
      </p:sp>
      <p:pic>
        <p:nvPicPr>
          <p:cNvPr id="9" name="Picture 8"/>
          <p:cNvPicPr>
            <a:picLocks noChangeAspect="1"/>
          </p:cNvPicPr>
          <p:nvPr/>
        </p:nvPicPr>
        <p:blipFill>
          <a:blip r:embed="rId3"/>
          <a:stretch>
            <a:fillRect/>
          </a:stretch>
        </p:blipFill>
        <p:spPr>
          <a:xfrm>
            <a:off x="543607" y="1381124"/>
            <a:ext cx="6919094" cy="4638675"/>
          </a:xfrm>
          <a:prstGeom prst="rect">
            <a:avLst/>
          </a:prstGeom>
        </p:spPr>
      </p:pic>
      <p:pic>
        <p:nvPicPr>
          <p:cNvPr id="1026" name="Picture 2" descr="Timel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7174" y="491744"/>
            <a:ext cx="3310026" cy="5996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7553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364581" y="762000"/>
            <a:ext cx="7462837"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5400" kern="0" dirty="0" err="1" smtClean="0">
                <a:solidFill>
                  <a:srgbClr val="002060"/>
                </a:solidFill>
                <a:latin typeface="Arial" panose="020B0604020202020204" pitchFamily="34" charset="0"/>
                <a:cs typeface="Arial" panose="020B0604020202020204" pitchFamily="34" charset="0"/>
              </a:rPr>
              <a:t>Hiện</a:t>
            </a:r>
            <a:r>
              <a:rPr lang="en-US" sz="5400" kern="0" dirty="0" smtClean="0">
                <a:solidFill>
                  <a:srgbClr val="002060"/>
                </a:solidFill>
                <a:latin typeface="Arial" panose="020B0604020202020204" pitchFamily="34" charset="0"/>
                <a:cs typeface="Arial" panose="020B0604020202020204" pitchFamily="34" charset="0"/>
              </a:rPr>
              <a:t> </a:t>
            </a:r>
            <a:r>
              <a:rPr lang="en-US" sz="5400" kern="0" dirty="0" err="1" smtClean="0">
                <a:solidFill>
                  <a:srgbClr val="002060"/>
                </a:solidFill>
                <a:latin typeface="Arial" panose="020B0604020202020204" pitchFamily="34" charset="0"/>
                <a:cs typeface="Arial" panose="020B0604020202020204" pitchFamily="34" charset="0"/>
              </a:rPr>
              <a:t>trạng</a:t>
            </a:r>
            <a:r>
              <a:rPr lang="en-US" sz="5400" kern="0" dirty="0" smtClean="0">
                <a:solidFill>
                  <a:srgbClr val="002060"/>
                </a:solidFill>
                <a:latin typeface="Arial" panose="020B0604020202020204" pitchFamily="34" charset="0"/>
                <a:cs typeface="Arial" panose="020B0604020202020204" pitchFamily="34" charset="0"/>
              </a:rPr>
              <a:t> </a:t>
            </a:r>
            <a:r>
              <a:rPr lang="en-US" sz="5400" kern="0" dirty="0" err="1" smtClean="0">
                <a:solidFill>
                  <a:srgbClr val="002060"/>
                </a:solidFill>
                <a:latin typeface="Arial" panose="020B0604020202020204" pitchFamily="34" charset="0"/>
                <a:cs typeface="Arial" panose="020B0604020202020204" pitchFamily="34" charset="0"/>
              </a:rPr>
              <a:t>sử</a:t>
            </a:r>
            <a:r>
              <a:rPr lang="en-US" sz="5400" kern="0" dirty="0" smtClean="0">
                <a:solidFill>
                  <a:srgbClr val="002060"/>
                </a:solidFill>
                <a:latin typeface="Arial" panose="020B0604020202020204" pitchFamily="34" charset="0"/>
                <a:cs typeface="Arial" panose="020B0604020202020204" pitchFamily="34" charset="0"/>
              </a:rPr>
              <a:t> </a:t>
            </a:r>
            <a:r>
              <a:rPr lang="en-US" sz="5400" kern="0" dirty="0" err="1" smtClean="0">
                <a:solidFill>
                  <a:srgbClr val="002060"/>
                </a:solidFill>
                <a:latin typeface="Arial" panose="020B0604020202020204" pitchFamily="34" charset="0"/>
                <a:cs typeface="Arial" panose="020B0604020202020204" pitchFamily="34" charset="0"/>
              </a:rPr>
              <a:t>dụng</a:t>
            </a:r>
            <a:r>
              <a:rPr lang="en-US" sz="5400" kern="0" dirty="0" smtClean="0">
                <a:solidFill>
                  <a:srgbClr val="002060"/>
                </a:solidFill>
                <a:latin typeface="Arial" panose="020B0604020202020204" pitchFamily="34" charset="0"/>
                <a:cs typeface="Arial" panose="020B0604020202020204" pitchFamily="34" charset="0"/>
              </a:rPr>
              <a:t> Python</a:t>
            </a:r>
            <a:endParaRPr lang="en-US" sz="5400" kern="0" dirty="0">
              <a:solidFill>
                <a:srgbClr val="002060"/>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34380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315200" cy="508000"/>
            <a:chOff x="789624" y="1191463"/>
            <a:chExt cx="7315200" cy="508000"/>
          </a:xfrm>
        </p:grpSpPr>
        <p:sp>
          <p:nvSpPr>
            <p:cNvPr id="3" name="AutoShape 52"/>
            <p:cNvSpPr>
              <a:spLocks noChangeArrowheads="1"/>
            </p:cNvSpPr>
            <p:nvPr/>
          </p:nvSpPr>
          <p:spPr bwMode="gray">
            <a:xfrm>
              <a:off x="990600" y="1191463"/>
              <a:ext cx="7114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latin typeface="Cambria" panose="02040503050406030204" pitchFamily="18" charset="0"/>
                </a:rPr>
                <a:t>2. </a:t>
              </a:r>
              <a:r>
                <a:rPr lang="en-US" sz="4000" b="1" dirty="0" err="1">
                  <a:latin typeface="Cambria" panose="02040503050406030204" pitchFamily="18" charset="0"/>
                </a:rPr>
                <a:t>Hiện</a:t>
              </a:r>
              <a:r>
                <a:rPr lang="en-US" sz="4000" b="1" dirty="0">
                  <a:latin typeface="Cambria" panose="02040503050406030204" pitchFamily="18" charset="0"/>
                </a:rPr>
                <a:t> </a:t>
              </a:r>
              <a:r>
                <a:rPr lang="en-US" sz="4000" b="1" dirty="0" err="1">
                  <a:latin typeface="Cambria" panose="02040503050406030204" pitchFamily="18" charset="0"/>
                </a:rPr>
                <a:t>trạng</a:t>
              </a:r>
              <a:r>
                <a:rPr lang="en-US" sz="4000" b="1" dirty="0">
                  <a:latin typeface="Cambria" panose="02040503050406030204" pitchFamily="18" charset="0"/>
                </a:rPr>
                <a:t> </a:t>
              </a:r>
              <a:r>
                <a:rPr lang="en-US" sz="4000" b="1" dirty="0" err="1">
                  <a:latin typeface="Cambria" panose="02040503050406030204" pitchFamily="18" charset="0"/>
                </a:rPr>
                <a:t>sử</a:t>
              </a:r>
              <a:r>
                <a:rPr lang="en-US" sz="4000" b="1" dirty="0">
                  <a:latin typeface="Cambria" panose="02040503050406030204" pitchFamily="18" charset="0"/>
                </a:rPr>
                <a:t> </a:t>
              </a:r>
              <a:r>
                <a:rPr lang="en-US" sz="4000" b="1" dirty="0" err="1">
                  <a:latin typeface="Cambria" panose="02040503050406030204" pitchFamily="18" charset="0"/>
                </a:rPr>
                <a:t>dụng</a:t>
              </a:r>
              <a:r>
                <a:rPr lang="en-US" sz="4000" b="1" dirty="0">
                  <a:latin typeface="Cambria" panose="02040503050406030204" pitchFamily="18" charset="0"/>
                </a:rPr>
                <a:t> Python</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2800">
              <a:latin typeface="Cambria" panose="02040503050406030204" pitchFamily="18" charset="0"/>
            </a:endParaRPr>
          </a:p>
        </p:txBody>
      </p:sp>
      <p:pic>
        <p:nvPicPr>
          <p:cNvPr id="3076" name="Picture 4" descr="https://duythanhcse.files.wordpress.com/2016/11/pythonspectrum.jpeg">
            <a:extLst>
              <a:ext uri="{FF2B5EF4-FFF2-40B4-BE49-F238E27FC236}">
                <a16:creationId xmlns:a16="http://schemas.microsoft.com/office/drawing/2014/main" id="{D4D55468-3583-415F-B4E2-0BFBEA06B7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1066800"/>
            <a:ext cx="9296400" cy="5337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2969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467600" cy="508000"/>
            <a:chOff x="789624" y="1191463"/>
            <a:chExt cx="5990492" cy="508000"/>
          </a:xfrm>
        </p:grpSpPr>
        <p:sp>
          <p:nvSpPr>
            <p:cNvPr id="3" name="AutoShape 52"/>
            <p:cNvSpPr>
              <a:spLocks noChangeArrowheads="1"/>
            </p:cNvSpPr>
            <p:nvPr/>
          </p:nvSpPr>
          <p:spPr bwMode="gray">
            <a:xfrm>
              <a:off x="990600" y="1191463"/>
              <a:ext cx="5789516"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latin typeface="Cambria" panose="02040503050406030204" pitchFamily="18" charset="0"/>
                </a:rPr>
                <a:t>2. </a:t>
              </a:r>
              <a:r>
                <a:rPr lang="en-US" sz="4000" b="1" dirty="0" err="1">
                  <a:latin typeface="Cambria" panose="02040503050406030204" pitchFamily="18" charset="0"/>
                </a:rPr>
                <a:t>Hiện</a:t>
              </a:r>
              <a:r>
                <a:rPr lang="en-US" sz="4000" b="1" dirty="0">
                  <a:latin typeface="Cambria" panose="02040503050406030204" pitchFamily="18" charset="0"/>
                </a:rPr>
                <a:t> </a:t>
              </a:r>
              <a:r>
                <a:rPr lang="en-US" sz="4000" b="1" dirty="0" err="1">
                  <a:latin typeface="Cambria" panose="02040503050406030204" pitchFamily="18" charset="0"/>
                </a:rPr>
                <a:t>trạng</a:t>
              </a:r>
              <a:r>
                <a:rPr lang="en-US" sz="4000" b="1" dirty="0">
                  <a:latin typeface="Cambria" panose="02040503050406030204" pitchFamily="18" charset="0"/>
                </a:rPr>
                <a:t> </a:t>
              </a:r>
              <a:r>
                <a:rPr lang="en-US" sz="4000" b="1" dirty="0" err="1">
                  <a:latin typeface="Cambria" panose="02040503050406030204" pitchFamily="18" charset="0"/>
                </a:rPr>
                <a:t>sử</a:t>
              </a:r>
              <a:r>
                <a:rPr lang="en-US" sz="4000" b="1" dirty="0">
                  <a:latin typeface="Cambria" panose="02040503050406030204" pitchFamily="18" charset="0"/>
                </a:rPr>
                <a:t> </a:t>
              </a:r>
              <a:r>
                <a:rPr lang="en-US" sz="4000" b="1" dirty="0" err="1">
                  <a:latin typeface="Cambria" panose="02040503050406030204" pitchFamily="18" charset="0"/>
                </a:rPr>
                <a:t>dụng</a:t>
              </a:r>
              <a:r>
                <a:rPr lang="en-US" sz="4000" b="1" dirty="0">
                  <a:latin typeface="Cambria" panose="02040503050406030204" pitchFamily="18" charset="0"/>
                </a:rPr>
                <a:t> Python</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2800">
              <a:latin typeface="Cambria" panose="02040503050406030204" pitchFamily="18" charset="0"/>
            </a:endParaRPr>
          </a:p>
        </p:txBody>
      </p:sp>
      <p:pic>
        <p:nvPicPr>
          <p:cNvPr id="4100" name="Picture 4" descr="https://duythanhcse.files.wordpress.com/2016/11/h3.png">
            <a:extLst>
              <a:ext uri="{FF2B5EF4-FFF2-40B4-BE49-F238E27FC236}">
                <a16:creationId xmlns:a16="http://schemas.microsoft.com/office/drawing/2014/main" id="{FC2F527B-BAE3-4CA5-9653-F8CF2E9AB4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9300" y="1050282"/>
            <a:ext cx="8305800" cy="5339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8732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latin typeface="Cambria" panose="02040503050406030204" pitchFamily="18" charset="0"/>
                </a:rPr>
                <a:t>3. </a:t>
              </a:r>
              <a:r>
                <a:rPr lang="en-US" sz="4000" b="1" dirty="0" err="1">
                  <a:latin typeface="Cambria" panose="02040503050406030204" pitchFamily="18" charset="0"/>
                </a:rPr>
                <a:t>Các</a:t>
              </a:r>
              <a:r>
                <a:rPr lang="en-US" sz="4000" b="1" dirty="0">
                  <a:latin typeface="Cambria" panose="02040503050406030204" pitchFamily="18" charset="0"/>
                </a:rPr>
                <a:t> </a:t>
              </a:r>
              <a:r>
                <a:rPr lang="en-US" sz="4000" b="1" dirty="0" err="1">
                  <a:latin typeface="Cambria" panose="02040503050406030204" pitchFamily="18" charset="0"/>
                </a:rPr>
                <a:t>tài</a:t>
              </a:r>
              <a:r>
                <a:rPr lang="en-US" sz="4000" b="1" dirty="0">
                  <a:latin typeface="Cambria" panose="02040503050406030204" pitchFamily="18" charset="0"/>
                </a:rPr>
                <a:t> </a:t>
              </a:r>
              <a:r>
                <a:rPr lang="en-US" sz="4000" b="1" dirty="0" err="1">
                  <a:latin typeface="Cambria" panose="02040503050406030204" pitchFamily="18" charset="0"/>
                </a:rPr>
                <a:t>nguyên</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buFont typeface="Wingdings" panose="05000000000000000000" pitchFamily="2" charset="2"/>
              <a:buChar char="v"/>
            </a:pPr>
            <a:r>
              <a:rPr lang="en-US" sz="4000" dirty="0">
                <a:latin typeface="Cambria" panose="02040503050406030204" pitchFamily="18" charset="0"/>
              </a:rPr>
              <a:t>Website </a:t>
            </a:r>
            <a:r>
              <a:rPr lang="en-US" sz="4000" dirty="0" err="1">
                <a:latin typeface="Cambria" panose="02040503050406030204" pitchFamily="18" charset="0"/>
              </a:rPr>
              <a:t>học</a:t>
            </a:r>
            <a:r>
              <a:rPr lang="en-US" sz="4000" dirty="0">
                <a:latin typeface="Cambria" panose="02040503050406030204" pitchFamily="18" charset="0"/>
              </a:rPr>
              <a:t> Python:</a:t>
            </a:r>
          </a:p>
          <a:p>
            <a:r>
              <a:rPr lang="en-US" sz="4000" dirty="0">
                <a:latin typeface="Cambria" panose="02040503050406030204" pitchFamily="18" charset="0"/>
              </a:rPr>
              <a:t>Learn Python The </a:t>
            </a:r>
            <a:r>
              <a:rPr lang="en-US" sz="4000" dirty="0" err="1">
                <a:latin typeface="Cambria" panose="02040503050406030204" pitchFamily="18" charset="0"/>
              </a:rPr>
              <a:t>Hardway</a:t>
            </a:r>
            <a:r>
              <a:rPr lang="en-US" sz="4000" dirty="0">
                <a:latin typeface="Cambria" panose="02040503050406030204" pitchFamily="18" charset="0"/>
              </a:rPr>
              <a:t>: </a:t>
            </a:r>
            <a:r>
              <a:rPr lang="en-US" sz="4000" dirty="0">
                <a:latin typeface="Cambria" panose="02040503050406030204" pitchFamily="18" charset="0"/>
                <a:hlinkClick r:id="rId3"/>
              </a:rPr>
              <a:t>https://learnpythonthehardway.org/</a:t>
            </a:r>
            <a:endParaRPr lang="en-US" sz="4000" dirty="0">
              <a:latin typeface="Cambria" panose="02040503050406030204" pitchFamily="18" charset="0"/>
            </a:endParaRPr>
          </a:p>
          <a:p>
            <a:r>
              <a:rPr lang="en-US" sz="4000" dirty="0">
                <a:latin typeface="Cambria" panose="02040503050406030204" pitchFamily="18" charset="0"/>
              </a:rPr>
              <a:t>Learn Python Code </a:t>
            </a:r>
            <a:r>
              <a:rPr lang="en-US" sz="4000" dirty="0" err="1">
                <a:latin typeface="Cambria" panose="02040503050406030204" pitchFamily="18" charset="0"/>
              </a:rPr>
              <a:t>cademy</a:t>
            </a:r>
            <a:r>
              <a:rPr lang="en-US" sz="4000" dirty="0">
                <a:latin typeface="Cambria" panose="02040503050406030204" pitchFamily="18" charset="0"/>
              </a:rPr>
              <a:t>: </a:t>
            </a:r>
            <a:r>
              <a:rPr lang="en-US" sz="4000" dirty="0">
                <a:latin typeface="Cambria" panose="02040503050406030204" pitchFamily="18" charset="0"/>
                <a:hlinkClick r:id="rId4"/>
              </a:rPr>
              <a:t>https://www.codecademy.com/learn/python</a:t>
            </a:r>
          </a:p>
        </p:txBody>
      </p:sp>
    </p:spTree>
    <p:extLst>
      <p:ext uri="{BB962C8B-B14F-4D97-AF65-F5344CB8AC3E}">
        <p14:creationId xmlns:p14="http://schemas.microsoft.com/office/powerpoint/2010/main" val="3483195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latin typeface="Cambria" panose="02040503050406030204" pitchFamily="18" charset="0"/>
                </a:rPr>
                <a:t>3. </a:t>
              </a:r>
              <a:r>
                <a:rPr lang="en-US" sz="4000" b="1" dirty="0" err="1">
                  <a:latin typeface="Cambria" panose="02040503050406030204" pitchFamily="18" charset="0"/>
                </a:rPr>
                <a:t>Các</a:t>
              </a:r>
              <a:r>
                <a:rPr lang="en-US" sz="4000" b="1" dirty="0">
                  <a:latin typeface="Cambria" panose="02040503050406030204" pitchFamily="18" charset="0"/>
                </a:rPr>
                <a:t> </a:t>
              </a:r>
              <a:r>
                <a:rPr lang="en-US" sz="4000" b="1" dirty="0" err="1">
                  <a:latin typeface="Cambria" panose="02040503050406030204" pitchFamily="18" charset="0"/>
                </a:rPr>
                <a:t>tài</a:t>
              </a:r>
              <a:r>
                <a:rPr lang="en-US" sz="4000" b="1" dirty="0">
                  <a:latin typeface="Cambria" panose="02040503050406030204" pitchFamily="18" charset="0"/>
                </a:rPr>
                <a:t> </a:t>
              </a:r>
              <a:r>
                <a:rPr lang="en-US" sz="4000" b="1" dirty="0" err="1">
                  <a:latin typeface="Cambria" panose="02040503050406030204" pitchFamily="18" charset="0"/>
                </a:rPr>
                <a:t>nguyên</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buFont typeface="Wingdings" panose="05000000000000000000" pitchFamily="2" charset="2"/>
              <a:buChar char="v"/>
            </a:pPr>
            <a:r>
              <a:rPr lang="en-US" sz="4000" dirty="0">
                <a:latin typeface="Cambria" panose="02040503050406030204" pitchFamily="18" charset="0"/>
              </a:rPr>
              <a:t>Website </a:t>
            </a:r>
            <a:r>
              <a:rPr lang="en-US" sz="4000" dirty="0" err="1">
                <a:latin typeface="Cambria" panose="02040503050406030204" pitchFamily="18" charset="0"/>
              </a:rPr>
              <a:t>học</a:t>
            </a:r>
            <a:r>
              <a:rPr lang="en-US" sz="4000" dirty="0">
                <a:latin typeface="Cambria" panose="02040503050406030204" pitchFamily="18" charset="0"/>
              </a:rPr>
              <a:t> Python:</a:t>
            </a:r>
          </a:p>
          <a:p>
            <a:r>
              <a:rPr lang="en-US" sz="4000" dirty="0">
                <a:latin typeface="Cambria" panose="02040503050406030204" pitchFamily="18" charset="0"/>
              </a:rPr>
              <a:t>Learn Python </a:t>
            </a:r>
            <a:r>
              <a:rPr lang="en-US" sz="4000" dirty="0" err="1">
                <a:latin typeface="Cambria" panose="02040503050406030204" pitchFamily="18" charset="0"/>
              </a:rPr>
              <a:t>Treehouse</a:t>
            </a:r>
            <a:r>
              <a:rPr lang="en-US" sz="4000" dirty="0">
                <a:latin typeface="Cambria" panose="02040503050406030204" pitchFamily="18" charset="0"/>
              </a:rPr>
              <a:t>: </a:t>
            </a:r>
            <a:r>
              <a:rPr lang="en-US" sz="4000" dirty="0">
                <a:latin typeface="Cambria" panose="02040503050406030204" pitchFamily="18" charset="0"/>
                <a:hlinkClick r:id="rId3"/>
              </a:rPr>
              <a:t>https://teamtreehouse.com/learn-to-code/python</a:t>
            </a:r>
            <a:endParaRPr lang="en-US" sz="4000" dirty="0">
              <a:latin typeface="Cambria" panose="02040503050406030204" pitchFamily="18" charset="0"/>
            </a:endParaRPr>
          </a:p>
          <a:p>
            <a:r>
              <a:rPr lang="en-US" sz="4000" dirty="0">
                <a:latin typeface="Cambria" panose="02040503050406030204" pitchFamily="18" charset="0"/>
              </a:rPr>
              <a:t>Learn Python code mentor: </a:t>
            </a:r>
            <a:r>
              <a:rPr lang="en-US" sz="4000" dirty="0">
                <a:latin typeface="Cambria" panose="02040503050406030204" pitchFamily="18" charset="0"/>
                <a:hlinkClick r:id="rId4"/>
              </a:rPr>
              <a:t>https://www.codementor.io/learn-python-online</a:t>
            </a:r>
            <a:endParaRPr lang="en-US" sz="4000" dirty="0">
              <a:latin typeface="Cambria" panose="02040503050406030204" pitchFamily="18" charset="0"/>
            </a:endParaRPr>
          </a:p>
          <a:p>
            <a:pPr algn="just">
              <a:lnSpc>
                <a:spcPct val="90000"/>
              </a:lnSpc>
              <a:spcBef>
                <a:spcPts val="1000"/>
              </a:spcBef>
              <a:buClr>
                <a:srgbClr val="215D9F"/>
              </a:buClr>
            </a:pPr>
            <a:r>
              <a:rPr lang="en-US" sz="4000" dirty="0">
                <a:latin typeface="Cambria" panose="02040503050406030204" pitchFamily="18" charset="0"/>
              </a:rPr>
              <a:t>Visualize Python: </a:t>
            </a:r>
            <a:r>
              <a:rPr lang="en-US" sz="4000" dirty="0">
                <a:latin typeface="Cambria" panose="02040503050406030204" pitchFamily="18" charset="0"/>
                <a:hlinkClick r:id="rId5"/>
              </a:rPr>
              <a:t>http://www.pythontutor.com</a:t>
            </a:r>
            <a:r>
              <a:rPr lang="en-US" sz="4000" dirty="0">
                <a:latin typeface="Cambria" panose="02040503050406030204" pitchFamily="18" charset="0"/>
              </a:rPr>
              <a:t> </a:t>
            </a:r>
          </a:p>
        </p:txBody>
      </p:sp>
    </p:spTree>
    <p:extLst>
      <p:ext uri="{BB962C8B-B14F-4D97-AF65-F5344CB8AC3E}">
        <p14:creationId xmlns:p14="http://schemas.microsoft.com/office/powerpoint/2010/main" val="352137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latin typeface="Cambria" panose="02040503050406030204" pitchFamily="18" charset="0"/>
                </a:rPr>
                <a:t>3. </a:t>
              </a:r>
              <a:r>
                <a:rPr lang="en-US" sz="4000" b="1" dirty="0" err="1">
                  <a:latin typeface="Cambria" panose="02040503050406030204" pitchFamily="18" charset="0"/>
                </a:rPr>
                <a:t>Các</a:t>
              </a:r>
              <a:r>
                <a:rPr lang="en-US" sz="4000" b="1" dirty="0">
                  <a:latin typeface="Cambria" panose="02040503050406030204" pitchFamily="18" charset="0"/>
                </a:rPr>
                <a:t> </a:t>
              </a:r>
              <a:r>
                <a:rPr lang="en-US" sz="4000" b="1" dirty="0" err="1">
                  <a:latin typeface="Cambria" panose="02040503050406030204" pitchFamily="18" charset="0"/>
                </a:rPr>
                <a:t>tài</a:t>
              </a:r>
              <a:r>
                <a:rPr lang="en-US" sz="4000" b="1" dirty="0">
                  <a:latin typeface="Cambria" panose="02040503050406030204" pitchFamily="18" charset="0"/>
                </a:rPr>
                <a:t> </a:t>
              </a:r>
              <a:r>
                <a:rPr lang="en-US" sz="4000" b="1" dirty="0" err="1">
                  <a:latin typeface="Cambria" panose="02040503050406030204" pitchFamily="18" charset="0"/>
                </a:rPr>
                <a:t>nguyên</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buFont typeface="Wingdings" panose="05000000000000000000" pitchFamily="2" charset="2"/>
              <a:buChar char="v"/>
            </a:pPr>
            <a:r>
              <a:rPr lang="en-US" sz="4000" dirty="0" err="1">
                <a:latin typeface="Cambria" panose="02040503050406030204" pitchFamily="18" charset="0"/>
              </a:rPr>
              <a:t>Ebooks</a:t>
            </a:r>
            <a:r>
              <a:rPr lang="en-US" sz="4000" dirty="0">
                <a:latin typeface="Cambria" panose="02040503050406030204" pitchFamily="18" charset="0"/>
              </a:rPr>
              <a:t>:</a:t>
            </a:r>
          </a:p>
          <a:p>
            <a:r>
              <a:rPr lang="en-US" sz="4000" dirty="0">
                <a:latin typeface="Cambria" panose="02040503050406030204" pitchFamily="18" charset="0"/>
              </a:rPr>
              <a:t>Fundamentals of Programming Python- Richard L. </a:t>
            </a:r>
            <a:r>
              <a:rPr lang="en-US" sz="4000" dirty="0" err="1">
                <a:latin typeface="Cambria" panose="02040503050406030204" pitchFamily="18" charset="0"/>
              </a:rPr>
              <a:t>Halterman</a:t>
            </a:r>
            <a:endParaRPr lang="en-US" sz="4000" dirty="0">
              <a:latin typeface="Cambria" panose="02040503050406030204" pitchFamily="18" charset="0"/>
            </a:endParaRPr>
          </a:p>
          <a:p>
            <a:r>
              <a:rPr lang="en-US" sz="4000" dirty="0">
                <a:latin typeface="Cambria" panose="02040503050406030204" pitchFamily="18" charset="0"/>
              </a:rPr>
              <a:t>Learn Python the Hard Way, 3rd Edition</a:t>
            </a:r>
          </a:p>
          <a:p>
            <a:r>
              <a:rPr lang="en-US" sz="4000" dirty="0">
                <a:latin typeface="Cambria" panose="02040503050406030204" pitchFamily="18" charset="0"/>
              </a:rPr>
              <a:t>Programming in Python 3, Mark Summerfield</a:t>
            </a:r>
          </a:p>
          <a:p>
            <a:pPr marL="0" lvl="0" indent="0" algn="just">
              <a:lnSpc>
                <a:spcPct val="90000"/>
              </a:lnSpc>
              <a:spcBef>
                <a:spcPts val="1000"/>
              </a:spcBef>
              <a:buClr>
                <a:srgbClr val="215D9F"/>
              </a:buClr>
              <a:buNone/>
            </a:pPr>
            <a:endParaRPr lang="en-US" sz="4000" dirty="0">
              <a:latin typeface="Cambria" panose="02040503050406030204" pitchFamily="18" charset="0"/>
            </a:endParaRPr>
          </a:p>
        </p:txBody>
      </p:sp>
    </p:spTree>
    <p:extLst>
      <p:ext uri="{BB962C8B-B14F-4D97-AF65-F5344CB8AC3E}">
        <p14:creationId xmlns:p14="http://schemas.microsoft.com/office/powerpoint/2010/main" val="3784562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latin typeface="Cambria" panose="02040503050406030204" pitchFamily="18" charset="0"/>
                </a:rPr>
                <a:t>3. </a:t>
              </a:r>
              <a:r>
                <a:rPr lang="en-US" sz="4000" b="1" dirty="0" err="1">
                  <a:latin typeface="Cambria" panose="02040503050406030204" pitchFamily="18" charset="0"/>
                </a:rPr>
                <a:t>Các</a:t>
              </a:r>
              <a:r>
                <a:rPr lang="en-US" sz="4000" b="1" dirty="0">
                  <a:latin typeface="Cambria" panose="02040503050406030204" pitchFamily="18" charset="0"/>
                </a:rPr>
                <a:t> </a:t>
              </a:r>
              <a:r>
                <a:rPr lang="en-US" sz="4000" b="1" dirty="0" err="1">
                  <a:latin typeface="Cambria" panose="02040503050406030204" pitchFamily="18" charset="0"/>
                </a:rPr>
                <a:t>tài</a:t>
              </a:r>
              <a:r>
                <a:rPr lang="en-US" sz="4000" b="1" dirty="0">
                  <a:latin typeface="Cambria" panose="02040503050406030204" pitchFamily="18" charset="0"/>
                </a:rPr>
                <a:t> </a:t>
              </a:r>
              <a:r>
                <a:rPr lang="en-US" sz="4000" b="1" dirty="0" err="1">
                  <a:latin typeface="Cambria" panose="02040503050406030204" pitchFamily="18" charset="0"/>
                </a:rPr>
                <a:t>nguyên</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buFont typeface="Wingdings" panose="05000000000000000000" pitchFamily="2" charset="2"/>
              <a:buChar char="v"/>
            </a:pPr>
            <a:r>
              <a:rPr lang="en-US" sz="4000" dirty="0" err="1">
                <a:latin typeface="Cambria" panose="02040503050406030204" pitchFamily="18" charset="0"/>
              </a:rPr>
              <a:t>Ebooks</a:t>
            </a:r>
            <a:r>
              <a:rPr lang="en-US" sz="4000" dirty="0">
                <a:latin typeface="Cambria" panose="02040503050406030204" pitchFamily="18" charset="0"/>
              </a:rPr>
              <a:t>:</a:t>
            </a:r>
          </a:p>
          <a:p>
            <a:r>
              <a:rPr lang="en-US" sz="4000" dirty="0">
                <a:latin typeface="Cambria" panose="02040503050406030204" pitchFamily="18" charset="0"/>
              </a:rPr>
              <a:t>Python Algorithms, Magnus Lie </a:t>
            </a:r>
            <a:r>
              <a:rPr lang="en-US" sz="4000" dirty="0" err="1">
                <a:latin typeface="Cambria" panose="02040503050406030204" pitchFamily="18" charset="0"/>
              </a:rPr>
              <a:t>Hetland</a:t>
            </a:r>
            <a:endParaRPr lang="en-US" sz="4000" dirty="0">
              <a:latin typeface="Cambria" panose="02040503050406030204" pitchFamily="18" charset="0"/>
            </a:endParaRPr>
          </a:p>
          <a:p>
            <a:r>
              <a:rPr lang="en-US" sz="4000" dirty="0">
                <a:latin typeface="Cambria" panose="02040503050406030204" pitchFamily="18" charset="0"/>
              </a:rPr>
              <a:t>Python and </a:t>
            </a:r>
            <a:r>
              <a:rPr lang="en-US" sz="4000" dirty="0" err="1">
                <a:latin typeface="Cambria" panose="02040503050406030204" pitchFamily="18" charset="0"/>
              </a:rPr>
              <a:t>Tkinter</a:t>
            </a:r>
            <a:r>
              <a:rPr lang="en-US" sz="4000" dirty="0">
                <a:latin typeface="Cambria" panose="02040503050406030204" pitchFamily="18" charset="0"/>
              </a:rPr>
              <a:t> Programming, John E. Grayson</a:t>
            </a:r>
          </a:p>
          <a:p>
            <a:r>
              <a:rPr lang="en-US" sz="4000" dirty="0">
                <a:latin typeface="Cambria" panose="02040503050406030204" pitchFamily="18" charset="0"/>
              </a:rPr>
              <a:t>Professional </a:t>
            </a:r>
            <a:r>
              <a:rPr lang="en-US" sz="4000" dirty="0" err="1">
                <a:latin typeface="Cambria" panose="02040503050406030204" pitchFamily="18" charset="0"/>
              </a:rPr>
              <a:t>IronPython</a:t>
            </a:r>
            <a:r>
              <a:rPr lang="en-US" sz="4000" dirty="0">
                <a:latin typeface="Cambria" panose="02040503050406030204" pitchFamily="18" charset="0"/>
              </a:rPr>
              <a:t> – John Paul Mueller</a:t>
            </a:r>
          </a:p>
          <a:p>
            <a:r>
              <a:rPr lang="en-US" sz="4000" dirty="0">
                <a:latin typeface="Cambria" panose="02040503050406030204" pitchFamily="18" charset="0"/>
              </a:rPr>
              <a:t>Python Tools for Visual Studio, Martino </a:t>
            </a:r>
            <a:r>
              <a:rPr lang="en-US" sz="4000" dirty="0" err="1">
                <a:latin typeface="Cambria" panose="02040503050406030204" pitchFamily="18" charset="0"/>
              </a:rPr>
              <a:t>Sabia</a:t>
            </a:r>
            <a:r>
              <a:rPr lang="en-US" sz="4000" dirty="0">
                <a:latin typeface="Cambria" panose="02040503050406030204" pitchFamily="18" charset="0"/>
              </a:rPr>
              <a:t>, Cathy Wang</a:t>
            </a:r>
          </a:p>
          <a:p>
            <a:pPr marL="0" lvl="0" indent="0" algn="just">
              <a:lnSpc>
                <a:spcPct val="90000"/>
              </a:lnSpc>
              <a:spcBef>
                <a:spcPts val="1000"/>
              </a:spcBef>
              <a:buClr>
                <a:srgbClr val="215D9F"/>
              </a:buClr>
              <a:buNone/>
            </a:pPr>
            <a:endParaRPr lang="en-US" sz="4000" dirty="0">
              <a:latin typeface="Cambria" panose="02040503050406030204" pitchFamily="18" charset="0"/>
            </a:endParaRPr>
          </a:p>
        </p:txBody>
      </p:sp>
    </p:spTree>
    <p:extLst>
      <p:ext uri="{BB962C8B-B14F-4D97-AF65-F5344CB8AC3E}">
        <p14:creationId xmlns:p14="http://schemas.microsoft.com/office/powerpoint/2010/main" val="914553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latin typeface="Cambria" panose="02040503050406030204" pitchFamily="18" charset="0"/>
                </a:rPr>
                <a:t>3. </a:t>
              </a:r>
              <a:r>
                <a:rPr lang="en-US" sz="4000" b="1" dirty="0" err="1">
                  <a:latin typeface="Cambria" panose="02040503050406030204" pitchFamily="18" charset="0"/>
                </a:rPr>
                <a:t>Các</a:t>
              </a:r>
              <a:r>
                <a:rPr lang="en-US" sz="4000" b="1" dirty="0">
                  <a:latin typeface="Cambria" panose="02040503050406030204" pitchFamily="18" charset="0"/>
                </a:rPr>
                <a:t> </a:t>
              </a:r>
              <a:r>
                <a:rPr lang="en-US" sz="4000" b="1" dirty="0" err="1">
                  <a:latin typeface="Cambria" panose="02040503050406030204" pitchFamily="18" charset="0"/>
                </a:rPr>
                <a:t>tài</a:t>
              </a:r>
              <a:r>
                <a:rPr lang="en-US" sz="4000" b="1" dirty="0">
                  <a:latin typeface="Cambria" panose="02040503050406030204" pitchFamily="18" charset="0"/>
                </a:rPr>
                <a:t> </a:t>
              </a:r>
              <a:r>
                <a:rPr lang="en-US" sz="4000" b="1" dirty="0" err="1">
                  <a:latin typeface="Cambria" panose="02040503050406030204" pitchFamily="18" charset="0"/>
                </a:rPr>
                <a:t>nguyên</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anose="05000000000000000000" pitchFamily="2" charset="2"/>
              <a:buChar char="v"/>
            </a:pPr>
            <a:r>
              <a:rPr lang="en-US" sz="4000" dirty="0" err="1">
                <a:latin typeface="Cambria" panose="02040503050406030204" pitchFamily="18" charset="0"/>
              </a:rPr>
              <a:t>Công</a:t>
            </a:r>
            <a:r>
              <a:rPr lang="en-US" sz="4000" dirty="0">
                <a:latin typeface="Cambria" panose="02040503050406030204" pitchFamily="18" charset="0"/>
              </a:rPr>
              <a:t> </a:t>
            </a:r>
            <a:r>
              <a:rPr lang="en-US" sz="4000" dirty="0" err="1">
                <a:latin typeface="Cambria" panose="02040503050406030204" pitchFamily="18" charset="0"/>
              </a:rPr>
              <a:t>cụ</a:t>
            </a:r>
            <a:r>
              <a:rPr lang="en-US" sz="4000" dirty="0">
                <a:latin typeface="Cambria" panose="02040503050406030204" pitchFamily="18" charset="0"/>
              </a:rPr>
              <a:t> </a:t>
            </a:r>
            <a:r>
              <a:rPr lang="en-US" sz="4000" dirty="0" err="1">
                <a:latin typeface="Cambria" panose="02040503050406030204" pitchFamily="18" charset="0"/>
              </a:rPr>
              <a:t>lập</a:t>
            </a:r>
            <a:r>
              <a:rPr lang="en-US" sz="4000" dirty="0">
                <a:latin typeface="Cambria" panose="02040503050406030204" pitchFamily="18" charset="0"/>
              </a:rPr>
              <a:t> </a:t>
            </a:r>
            <a:r>
              <a:rPr lang="en-US" sz="4000" dirty="0" err="1">
                <a:latin typeface="Cambria" panose="02040503050406030204" pitchFamily="18" charset="0"/>
              </a:rPr>
              <a:t>trình</a:t>
            </a:r>
            <a:r>
              <a:rPr lang="en-US" sz="4000" dirty="0">
                <a:latin typeface="Cambria" panose="02040503050406030204" pitchFamily="18" charset="0"/>
              </a:rPr>
              <a:t> Python:</a:t>
            </a:r>
          </a:p>
          <a:p>
            <a:r>
              <a:rPr lang="en-US" sz="4000" dirty="0">
                <a:latin typeface="Cambria" panose="02040503050406030204" pitchFamily="18" charset="0"/>
              </a:rPr>
              <a:t>Notepad</a:t>
            </a:r>
          </a:p>
          <a:p>
            <a:r>
              <a:rPr lang="en-US" sz="4000" dirty="0">
                <a:latin typeface="Cambria" panose="02040503050406030204" pitchFamily="18" charset="0"/>
              </a:rPr>
              <a:t>IDLE (Python 3.5 64-bit)</a:t>
            </a:r>
          </a:p>
          <a:p>
            <a:r>
              <a:rPr lang="en-US" sz="4000" dirty="0">
                <a:latin typeface="Cambria" panose="02040503050406030204" pitchFamily="18" charset="0"/>
              </a:rPr>
              <a:t>Eclipse</a:t>
            </a:r>
          </a:p>
          <a:p>
            <a:r>
              <a:rPr lang="en-US" sz="4000" dirty="0" err="1">
                <a:solidFill>
                  <a:srgbClr val="FF0000"/>
                </a:solidFill>
                <a:latin typeface="Cambria" panose="02040503050406030204" pitchFamily="18" charset="0"/>
              </a:rPr>
              <a:t>PyCharm</a:t>
            </a:r>
            <a:endParaRPr lang="en-US" sz="4000" dirty="0">
              <a:solidFill>
                <a:srgbClr val="FF0000"/>
              </a:solidFill>
              <a:latin typeface="Cambria" panose="02040503050406030204" pitchFamily="18" charset="0"/>
            </a:endParaRPr>
          </a:p>
        </p:txBody>
      </p:sp>
    </p:spTree>
    <p:extLst>
      <p:ext uri="{BB962C8B-B14F-4D97-AF65-F5344CB8AC3E}">
        <p14:creationId xmlns:p14="http://schemas.microsoft.com/office/powerpoint/2010/main" val="3985239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latin typeface="Cambria" panose="02040503050406030204" pitchFamily="18" charset="0"/>
                </a:rPr>
                <a:t>4. </a:t>
              </a:r>
              <a:r>
                <a:rPr lang="en-US" sz="4000" b="1" dirty="0" err="1">
                  <a:latin typeface="Cambria" panose="02040503050406030204" pitchFamily="18" charset="0"/>
                </a:rPr>
                <a:t>Kết</a:t>
              </a:r>
              <a:r>
                <a:rPr lang="en-US" sz="4000" b="1" dirty="0">
                  <a:latin typeface="Cambria" panose="02040503050406030204" pitchFamily="18" charset="0"/>
                </a:rPr>
                <a:t> </a:t>
              </a:r>
              <a:r>
                <a:rPr lang="en-US" sz="4000" b="1" dirty="0" err="1">
                  <a:latin typeface="Cambria" panose="02040503050406030204" pitchFamily="18" charset="0"/>
                </a:rPr>
                <a:t>luận</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buFont typeface="Wingdings" panose="05000000000000000000" pitchFamily="2" charset="2"/>
              <a:buChar char="v"/>
            </a:pPr>
            <a:r>
              <a:rPr lang="vi-VN" sz="4000" dirty="0">
                <a:solidFill>
                  <a:prstClr val="black"/>
                </a:solidFill>
                <a:latin typeface="Cambria" panose="02040503050406030204" pitchFamily="18" charset="0"/>
              </a:rPr>
              <a:t>Python là 1 ngôn ngữ lập trình đơn giản, nhưng mạnh mẽ và được trang bị những tính năng rất thích hợp cho việc xử lý dữ liệu dạng ngôn ngữ học. </a:t>
            </a:r>
            <a:endParaRPr lang="en-US" sz="4000" dirty="0">
              <a:solidFill>
                <a:prstClr val="black"/>
              </a:solidFill>
              <a:latin typeface="Cambria" panose="02040503050406030204" pitchFamily="18" charset="0"/>
            </a:endParaRPr>
          </a:p>
          <a:p>
            <a:pPr lvl="0" algn="just">
              <a:lnSpc>
                <a:spcPct val="90000"/>
              </a:lnSpc>
              <a:spcBef>
                <a:spcPts val="1000"/>
              </a:spcBef>
              <a:buClr>
                <a:srgbClr val="215D9F"/>
              </a:buClr>
              <a:buFont typeface="Wingdings" panose="05000000000000000000" pitchFamily="2" charset="2"/>
              <a:buChar char="v"/>
            </a:pPr>
            <a:r>
              <a:rPr lang="vi-VN" sz="4000" dirty="0">
                <a:solidFill>
                  <a:prstClr val="black"/>
                </a:solidFill>
                <a:latin typeface="Cambria" panose="02040503050406030204" pitchFamily="18" charset="0"/>
              </a:rPr>
              <a:t>Ta có thể download và cài đặt python một cách hoàn toàn miễn phí tại </a:t>
            </a:r>
            <a:r>
              <a:rPr lang="vi-VN" sz="4000" dirty="0">
                <a:solidFill>
                  <a:prstClr val="black"/>
                </a:solidFill>
                <a:latin typeface="Cambria" panose="02040503050406030204" pitchFamily="18" charset="0"/>
                <a:hlinkClick r:id="rId3"/>
              </a:rPr>
              <a:t>http://www.python.org</a:t>
            </a:r>
            <a:r>
              <a:rPr lang="en-US" sz="4000" dirty="0">
                <a:solidFill>
                  <a:prstClr val="black"/>
                </a:solidFill>
                <a:latin typeface="Cambria" panose="02040503050406030204" pitchFamily="18" charset="0"/>
              </a:rPr>
              <a:t> </a:t>
            </a:r>
            <a:r>
              <a:rPr lang="vi-VN" sz="4000" dirty="0">
                <a:solidFill>
                  <a:prstClr val="black"/>
                </a:solidFill>
                <a:latin typeface="Cambria" panose="02040503050406030204" pitchFamily="18" charset="0"/>
              </a:rPr>
              <a:t>.</a:t>
            </a: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783017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latin typeface="Cambria" panose="02040503050406030204" pitchFamily="18" charset="0"/>
                </a:rPr>
                <a:t>4. </a:t>
              </a:r>
              <a:r>
                <a:rPr lang="en-US" sz="4000" b="1" dirty="0" err="1">
                  <a:latin typeface="Cambria" panose="02040503050406030204" pitchFamily="18" charset="0"/>
                </a:rPr>
                <a:t>Kết</a:t>
              </a:r>
              <a:r>
                <a:rPr lang="en-US" sz="4000" b="1" dirty="0">
                  <a:latin typeface="Cambria" panose="02040503050406030204" pitchFamily="18" charset="0"/>
                </a:rPr>
                <a:t> </a:t>
              </a:r>
              <a:r>
                <a:rPr lang="en-US" sz="4000" b="1" dirty="0" err="1">
                  <a:latin typeface="Cambria" panose="02040503050406030204" pitchFamily="18" charset="0"/>
                </a:rPr>
                <a:t>luận</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gn="just">
              <a:lnSpc>
                <a:spcPct val="90000"/>
              </a:lnSpc>
              <a:spcBef>
                <a:spcPts val="1000"/>
              </a:spcBef>
              <a:buClr>
                <a:srgbClr val="215D9F"/>
              </a:buClr>
              <a:buFont typeface="Wingdings" panose="05000000000000000000" pitchFamily="2" charset="2"/>
              <a:buChar char="v"/>
            </a:pPr>
            <a:r>
              <a:rPr lang="vi-VN" sz="4000" dirty="0">
                <a:solidFill>
                  <a:prstClr val="black"/>
                </a:solidFill>
                <a:latin typeface="Cambria" panose="02040503050406030204" pitchFamily="18" charset="0"/>
              </a:rPr>
              <a:t>Python cũng là 1 ngôn ngữ hướng đối tượng, và cũng đồng thời là 1 ngôn ngữ động, nó được trang bị những thư viện tiêu chuẩn khổng lồ: từ web, xử lý số học, đến cả lập trình đồ hoạ</a:t>
            </a:r>
            <a:r>
              <a:rPr lang="en-US" sz="4000" dirty="0">
                <a:solidFill>
                  <a:prstClr val="black"/>
                </a:solidFill>
                <a:latin typeface="Cambria" panose="02040503050406030204" pitchFamily="18" charset="0"/>
              </a:rPr>
              <a:t>, machine learning</a:t>
            </a:r>
            <a:r>
              <a:rPr lang="vi-VN" sz="4000" dirty="0">
                <a:solidFill>
                  <a:prstClr val="black"/>
                </a:solidFill>
                <a:latin typeface="Cambria" panose="02040503050406030204" pitchFamily="18" charset="0"/>
              </a:rPr>
              <a:t>. </a:t>
            </a:r>
            <a:endParaRPr lang="en-US" sz="4000" dirty="0">
              <a:solidFill>
                <a:prstClr val="black"/>
              </a:solidFill>
              <a:latin typeface="Cambria" panose="02040503050406030204" pitchFamily="18" charset="0"/>
            </a:endParaRPr>
          </a:p>
          <a:p>
            <a:pPr lvl="0" algn="just">
              <a:lnSpc>
                <a:spcPct val="90000"/>
              </a:lnSpc>
              <a:spcBef>
                <a:spcPts val="1000"/>
              </a:spcBef>
              <a:buClr>
                <a:srgbClr val="215D9F"/>
              </a:buClr>
              <a:buFont typeface="Wingdings" panose="05000000000000000000" pitchFamily="2" charset="2"/>
              <a:buChar char="v"/>
            </a:pPr>
            <a:r>
              <a:rPr lang="vi-VN" sz="4000" dirty="0">
                <a:solidFill>
                  <a:prstClr val="black"/>
                </a:solidFill>
                <a:latin typeface="Cambria" panose="02040503050406030204" pitchFamily="18" charset="0"/>
              </a:rPr>
              <a:t>Python được sử dụng rộng rãi trong sản xuất, khoa học, hay giáo dục và ngày càng trở nên phổ biến và hoàn thiện.</a:t>
            </a: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103261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364581" y="762000"/>
            <a:ext cx="7462837"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5400" kern="0" dirty="0" err="1" smtClean="0">
                <a:solidFill>
                  <a:srgbClr val="002060"/>
                </a:solidFill>
                <a:latin typeface="Arial" panose="020B0604020202020204" pitchFamily="34" charset="0"/>
                <a:cs typeface="Arial" panose="020B0604020202020204" pitchFamily="34" charset="0"/>
              </a:rPr>
              <a:t>Ứng</a:t>
            </a:r>
            <a:r>
              <a:rPr lang="en-US" sz="5400" kern="0" dirty="0" smtClean="0">
                <a:solidFill>
                  <a:srgbClr val="002060"/>
                </a:solidFill>
                <a:latin typeface="Arial" panose="020B0604020202020204" pitchFamily="34" charset="0"/>
                <a:cs typeface="Arial" panose="020B0604020202020204" pitchFamily="34" charset="0"/>
              </a:rPr>
              <a:t> </a:t>
            </a:r>
            <a:r>
              <a:rPr lang="en-US" sz="5400" kern="0" dirty="0" err="1" smtClean="0">
                <a:solidFill>
                  <a:srgbClr val="002060"/>
                </a:solidFill>
                <a:latin typeface="Arial" panose="020B0604020202020204" pitchFamily="34" charset="0"/>
                <a:cs typeface="Arial" panose="020B0604020202020204" pitchFamily="34" charset="0"/>
              </a:rPr>
              <a:t>dụng</a:t>
            </a:r>
            <a:r>
              <a:rPr lang="en-US" sz="5400" kern="0" dirty="0" smtClean="0">
                <a:solidFill>
                  <a:srgbClr val="002060"/>
                </a:solidFill>
                <a:latin typeface="Arial" panose="020B0604020202020204" pitchFamily="34" charset="0"/>
                <a:cs typeface="Arial" panose="020B0604020202020204" pitchFamily="34" charset="0"/>
              </a:rPr>
              <a:t> </a:t>
            </a:r>
            <a:r>
              <a:rPr lang="en-US" sz="5400" kern="0" dirty="0" err="1" smtClean="0">
                <a:solidFill>
                  <a:srgbClr val="002060"/>
                </a:solidFill>
                <a:latin typeface="Arial" panose="020B0604020202020204" pitchFamily="34" charset="0"/>
                <a:cs typeface="Arial" panose="020B0604020202020204" pitchFamily="34" charset="0"/>
              </a:rPr>
              <a:t>của</a:t>
            </a:r>
            <a:r>
              <a:rPr lang="en-US" sz="5400" kern="0" dirty="0" smtClean="0">
                <a:solidFill>
                  <a:srgbClr val="002060"/>
                </a:solidFill>
                <a:latin typeface="Arial" panose="020B0604020202020204" pitchFamily="34" charset="0"/>
                <a:cs typeface="Arial" panose="020B0604020202020204" pitchFamily="34" charset="0"/>
              </a:rPr>
              <a:t> Python</a:t>
            </a:r>
            <a:endParaRPr lang="en-US" sz="5400" kern="0" dirty="0">
              <a:solidFill>
                <a:srgbClr val="002060"/>
              </a:solidFill>
              <a:latin typeface="Arial" panose="020B0604020202020204" pitchFamily="34" charset="0"/>
              <a:cs typeface="Arial" panose="020B0604020202020204" pitchFamily="34"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18</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97388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19</a:t>
            </a:fld>
            <a:endParaRPr lang="en-US"/>
          </a:p>
        </p:txBody>
      </p:sp>
      <p:sp>
        <p:nvSpPr>
          <p:cNvPr id="14" name="Content Placeholder 2"/>
          <p:cNvSpPr txBox="1">
            <a:spLocks/>
          </p:cNvSpPr>
          <p:nvPr/>
        </p:nvSpPr>
        <p:spPr>
          <a:xfrm>
            <a:off x="353376" y="1094537"/>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vi-VN" dirty="0"/>
              <a:t>1. Phát triển Web và Ứng dụng di động:</a:t>
            </a:r>
          </a:p>
          <a:p>
            <a:r>
              <a:rPr lang="vi-VN" b="1" dirty="0"/>
              <a:t>Phát triển Web</a:t>
            </a:r>
            <a:r>
              <a:rPr lang="vi-VN" b="1" dirty="0" smtClean="0"/>
              <a:t>:</a:t>
            </a:r>
            <a:r>
              <a:rPr lang="en-US" b="1" dirty="0" smtClean="0"/>
              <a:t> </a:t>
            </a:r>
            <a:r>
              <a:rPr lang="vi-VN" dirty="0" smtClean="0"/>
              <a:t>Python </a:t>
            </a:r>
            <a:r>
              <a:rPr lang="vi-VN" dirty="0"/>
              <a:t>được sử dụng rộng rãi trong phát triển web, đặc biệt là với các framework </a:t>
            </a:r>
            <a:r>
              <a:rPr lang="vi-VN" dirty="0" smtClean="0"/>
              <a:t>như</a:t>
            </a:r>
            <a:r>
              <a:rPr lang="vi-VN" dirty="0"/>
              <a:t> </a:t>
            </a:r>
            <a:r>
              <a:rPr lang="vi-VN" dirty="0">
                <a:hlinkClick r:id="rId3"/>
              </a:rPr>
              <a:t>Django</a:t>
            </a:r>
            <a:r>
              <a:rPr lang="vi-VN" dirty="0"/>
              <a:t> và </a:t>
            </a:r>
            <a:r>
              <a:rPr lang="vi-VN" dirty="0">
                <a:hlinkClick r:id="rId4"/>
              </a:rPr>
              <a:t>Flask</a:t>
            </a:r>
            <a:r>
              <a:rPr lang="vi-VN" dirty="0"/>
              <a:t>. Nhiều trang web lớn như Instagram, Spotify, và các dịch vụ của Google sử dụng Python. </a:t>
            </a:r>
          </a:p>
          <a:p>
            <a:r>
              <a:rPr lang="vi-VN" b="1" dirty="0"/>
              <a:t>Ứng dụng di động</a:t>
            </a:r>
            <a:r>
              <a:rPr lang="vi-VN" b="1" dirty="0" smtClean="0"/>
              <a:t>:</a:t>
            </a:r>
            <a:r>
              <a:rPr lang="en-US" b="1" dirty="0" smtClean="0"/>
              <a:t> </a:t>
            </a:r>
            <a:r>
              <a:rPr lang="vi-VN" dirty="0" smtClean="0"/>
              <a:t>Mặc </a:t>
            </a:r>
            <a:r>
              <a:rPr lang="vi-VN" dirty="0"/>
              <a:t>dù không phải là lựa chọn phổ biến nhất, Python có thể được sử dụng để phát triển ứng dụng di động đa nền tảng bằng </a:t>
            </a:r>
            <a:r>
              <a:rPr lang="vi-VN" dirty="0">
                <a:hlinkClick r:id="rId5"/>
              </a:rPr>
              <a:t>Kivy</a:t>
            </a:r>
            <a:r>
              <a:rPr lang="vi-VN" dirty="0"/>
              <a:t> framework, có thể chạy trên Android và iOS. </a:t>
            </a:r>
          </a:p>
          <a:p>
            <a:pPr marL="0" lvl="0" indent="0" algn="just">
              <a:lnSpc>
                <a:spcPct val="90000"/>
              </a:lnSpc>
              <a:spcBef>
                <a:spcPts val="1000"/>
              </a:spcBef>
              <a:buClr>
                <a:srgbClr val="215D9F"/>
              </a:buClr>
              <a:buNone/>
            </a:pPr>
            <a:endParaRPr lang="en-US" sz="28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132994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20</a:t>
            </a:fld>
            <a:endParaRPr lang="en-US"/>
          </a:p>
        </p:txBody>
      </p:sp>
      <p:sp>
        <p:nvSpPr>
          <p:cNvPr id="14" name="Content Placeholder 2"/>
          <p:cNvSpPr txBox="1">
            <a:spLocks/>
          </p:cNvSpPr>
          <p:nvPr/>
        </p:nvSpPr>
        <p:spPr>
          <a:xfrm>
            <a:off x="353376" y="1094537"/>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fontAlgn="ctr">
              <a:buNone/>
            </a:pPr>
            <a:r>
              <a:rPr lang="vi-VN" dirty="0" smtClean="0"/>
              <a:t>2</a:t>
            </a:r>
            <a:r>
              <a:rPr lang="vi-VN" dirty="0"/>
              <a:t>. Khoa học dữ liệu và Phân tích dữ liệu: </a:t>
            </a:r>
          </a:p>
          <a:p>
            <a:r>
              <a:rPr lang="vi-VN" b="1" dirty="0"/>
              <a:t>Xử lý và phân tích dữ liệu lớn</a:t>
            </a:r>
            <a:r>
              <a:rPr lang="vi-VN" b="1" dirty="0" smtClean="0"/>
              <a:t>:</a:t>
            </a:r>
            <a:r>
              <a:rPr lang="en-US" b="1" dirty="0" smtClean="0"/>
              <a:t> </a:t>
            </a:r>
            <a:r>
              <a:rPr lang="vi-VN" dirty="0" smtClean="0"/>
              <a:t>Python </a:t>
            </a:r>
            <a:r>
              <a:rPr lang="vi-VN" dirty="0"/>
              <a:t>là một công cụ mạnh mẽ để xử lý, phân tích và trực quan hóa dữ liệu lớn, nhờ các thư viện như </a:t>
            </a:r>
            <a:r>
              <a:rPr lang="vi-VN" dirty="0">
                <a:hlinkClick r:id="rId3"/>
              </a:rPr>
              <a:t>Pandas</a:t>
            </a:r>
            <a:r>
              <a:rPr lang="vi-VN" dirty="0"/>
              <a:t>, </a:t>
            </a:r>
            <a:r>
              <a:rPr lang="vi-VN" dirty="0">
                <a:hlinkClick r:id="rId4"/>
              </a:rPr>
              <a:t>NumPy</a:t>
            </a:r>
            <a:r>
              <a:rPr lang="vi-VN" dirty="0"/>
              <a:t>, và </a:t>
            </a:r>
            <a:r>
              <a:rPr lang="vi-VN" dirty="0">
                <a:hlinkClick r:id="rId5"/>
              </a:rPr>
              <a:t>Matplotlib</a:t>
            </a:r>
            <a:r>
              <a:rPr lang="vi-VN" dirty="0"/>
              <a:t>.</a:t>
            </a:r>
          </a:p>
          <a:p>
            <a:r>
              <a:rPr lang="vi-VN" b="1" dirty="0"/>
              <a:t>Machine Learning và Deep Learning</a:t>
            </a:r>
            <a:r>
              <a:rPr lang="vi-VN" b="1" dirty="0" smtClean="0"/>
              <a:t>:</a:t>
            </a:r>
            <a:r>
              <a:rPr lang="en-US" b="1" dirty="0" smtClean="0"/>
              <a:t> </a:t>
            </a:r>
            <a:r>
              <a:rPr lang="vi-VN" dirty="0" smtClean="0"/>
              <a:t>Python </a:t>
            </a:r>
            <a:r>
              <a:rPr lang="vi-VN" dirty="0"/>
              <a:t>là ngôn ngữ chính trong lĩnh vực này, với các thư viện như </a:t>
            </a:r>
            <a:r>
              <a:rPr lang="vi-VN" dirty="0">
                <a:hlinkClick r:id="rId6"/>
              </a:rPr>
              <a:t>Scikit-learn</a:t>
            </a:r>
            <a:r>
              <a:rPr lang="vi-VN" dirty="0"/>
              <a:t>, </a:t>
            </a:r>
            <a:r>
              <a:rPr lang="vi-VN" dirty="0">
                <a:hlinkClick r:id="rId7"/>
              </a:rPr>
              <a:t>TensorFlow</a:t>
            </a:r>
            <a:r>
              <a:rPr lang="vi-VN" dirty="0"/>
              <a:t>, và </a:t>
            </a:r>
            <a:r>
              <a:rPr lang="vi-VN" dirty="0">
                <a:hlinkClick r:id="rId8"/>
              </a:rPr>
              <a:t>PyTorch</a:t>
            </a:r>
            <a:r>
              <a:rPr lang="vi-VN" dirty="0"/>
              <a:t>, hỗ trợ xây dựng và huấn luyện các mô hình máy học và học sâu. </a:t>
            </a:r>
          </a:p>
          <a:p>
            <a:pPr marL="0" lvl="0" indent="0" algn="just">
              <a:lnSpc>
                <a:spcPct val="90000"/>
              </a:lnSpc>
              <a:spcBef>
                <a:spcPts val="1000"/>
              </a:spcBef>
              <a:buClr>
                <a:srgbClr val="215D9F"/>
              </a:buClr>
              <a:buNone/>
            </a:pPr>
            <a:endParaRPr lang="en-US" sz="28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487285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21</a:t>
            </a:fld>
            <a:endParaRPr lang="en-US"/>
          </a:p>
        </p:txBody>
      </p:sp>
      <p:sp>
        <p:nvSpPr>
          <p:cNvPr id="14" name="Content Placeholder 2"/>
          <p:cNvSpPr txBox="1">
            <a:spLocks/>
          </p:cNvSpPr>
          <p:nvPr/>
        </p:nvSpPr>
        <p:spPr>
          <a:xfrm>
            <a:off x="353376" y="1094537"/>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smtClean="0"/>
              <a:t>3</a:t>
            </a:r>
            <a:r>
              <a:rPr lang="vi-VN" dirty="0" smtClean="0"/>
              <a:t>. </a:t>
            </a:r>
            <a:r>
              <a:rPr lang="vi-VN" dirty="0"/>
              <a:t>Tự động hóa và Kiểm thử phần mềm:</a:t>
            </a:r>
          </a:p>
          <a:p>
            <a:r>
              <a:rPr lang="vi-VN" dirty="0"/>
              <a:t>Python có thể được sử dụng để tự động hóa các tác vụ lặp đi lặp lại trong công việc, giúp tiết kiệm thời gian và công sức.</a:t>
            </a:r>
          </a:p>
          <a:p>
            <a:r>
              <a:rPr lang="vi-VN" dirty="0"/>
              <a:t>Trong kiểm thử phần mềm, Python được sử dụng để viết các script tự động hóa quá trình kiểm thử, giúp tìm lỗi nhanh chóng và hiệu quả. </a:t>
            </a:r>
          </a:p>
          <a:p>
            <a:pPr marL="0" lvl="0" indent="0" algn="just">
              <a:lnSpc>
                <a:spcPct val="90000"/>
              </a:lnSpc>
              <a:spcBef>
                <a:spcPts val="1000"/>
              </a:spcBef>
              <a:buClr>
                <a:srgbClr val="215D9F"/>
              </a:buClr>
              <a:buNone/>
            </a:pPr>
            <a:endParaRPr lang="en-US" sz="28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5033179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22</a:t>
            </a:fld>
            <a:endParaRPr lang="en-US"/>
          </a:p>
        </p:txBody>
      </p:sp>
      <p:sp>
        <p:nvSpPr>
          <p:cNvPr id="14" name="Content Placeholder 2"/>
          <p:cNvSpPr txBox="1">
            <a:spLocks/>
          </p:cNvSpPr>
          <p:nvPr/>
        </p:nvSpPr>
        <p:spPr>
          <a:xfrm>
            <a:off x="353376" y="1094537"/>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smtClean="0"/>
              <a:t>4</a:t>
            </a:r>
            <a:r>
              <a:rPr lang="vi-VN" dirty="0" smtClean="0"/>
              <a:t>. </a:t>
            </a:r>
            <a:r>
              <a:rPr lang="vi-VN" dirty="0"/>
              <a:t>Các lĩnh vực khác:</a:t>
            </a:r>
          </a:p>
          <a:p>
            <a:r>
              <a:rPr lang="vi-VN" b="1" dirty="0"/>
              <a:t>Phát triển game</a:t>
            </a:r>
            <a:r>
              <a:rPr lang="vi-VN" b="1" dirty="0" smtClean="0"/>
              <a:t>:</a:t>
            </a:r>
            <a:r>
              <a:rPr lang="en-US" b="1" dirty="0" smtClean="0"/>
              <a:t> </a:t>
            </a:r>
            <a:r>
              <a:rPr lang="vi-VN" dirty="0" smtClean="0"/>
              <a:t>Python</a:t>
            </a:r>
            <a:r>
              <a:rPr lang="vi-VN" dirty="0"/>
              <a:t>, với thư viện </a:t>
            </a:r>
            <a:r>
              <a:rPr lang="vi-VN" dirty="0">
                <a:hlinkClick r:id="rId3"/>
              </a:rPr>
              <a:t>Pygame</a:t>
            </a:r>
            <a:r>
              <a:rPr lang="vi-VN" dirty="0"/>
              <a:t>, có thể được sử dụng để phát triển các trò chơi đơn giản và các dự án đa phương tiện. </a:t>
            </a:r>
          </a:p>
          <a:p>
            <a:r>
              <a:rPr lang="vi-VN" b="1" dirty="0"/>
              <a:t>Tài chính, giáo dục, y tế</a:t>
            </a:r>
            <a:r>
              <a:rPr lang="vi-VN" b="1" dirty="0" smtClean="0"/>
              <a:t>:</a:t>
            </a:r>
            <a:r>
              <a:rPr lang="en-US" b="1" dirty="0" smtClean="0"/>
              <a:t> </a:t>
            </a:r>
            <a:r>
              <a:rPr lang="vi-VN" dirty="0" smtClean="0"/>
              <a:t>Python </a:t>
            </a:r>
            <a:r>
              <a:rPr lang="vi-VN" dirty="0"/>
              <a:t>được ứng dụng trong nhiều lĩnh vực khác nhau, bao gồm tài chính, giáo dục, và y tế, với các ứng dụng cụ thể như phân tích dữ liệu tài chính, phát triển các công cụ giáo dục, và hỗ trợ các ứng dụng y tế. </a:t>
            </a:r>
          </a:p>
          <a:p>
            <a:pPr marL="0" lvl="0" indent="0" algn="just">
              <a:lnSpc>
                <a:spcPct val="90000"/>
              </a:lnSpc>
              <a:spcBef>
                <a:spcPts val="1000"/>
              </a:spcBef>
              <a:buClr>
                <a:srgbClr val="215D9F"/>
              </a:buClr>
              <a:buNone/>
            </a:pPr>
            <a:endParaRPr lang="en-US" sz="28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9827995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23</a:t>
            </a:fld>
            <a:endParaRPr lang="en-US"/>
          </a:p>
        </p:txBody>
      </p:sp>
      <p:sp>
        <p:nvSpPr>
          <p:cNvPr id="14" name="Content Placeholder 2"/>
          <p:cNvSpPr txBox="1">
            <a:spLocks/>
          </p:cNvSpPr>
          <p:nvPr/>
        </p:nvSpPr>
        <p:spPr>
          <a:xfrm>
            <a:off x="353376" y="1094537"/>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smtClean="0"/>
              <a:t>4</a:t>
            </a:r>
            <a:r>
              <a:rPr lang="vi-VN" dirty="0" smtClean="0"/>
              <a:t>. </a:t>
            </a:r>
            <a:r>
              <a:rPr lang="vi-VN" dirty="0"/>
              <a:t>Các lĩnh vực khác:</a:t>
            </a:r>
          </a:p>
          <a:p>
            <a:r>
              <a:rPr lang="vi-VN" b="1" dirty="0" smtClean="0"/>
              <a:t>Networking </a:t>
            </a:r>
            <a:r>
              <a:rPr lang="vi-VN" b="1" dirty="0"/>
              <a:t>và Cybersecurity</a:t>
            </a:r>
            <a:r>
              <a:rPr lang="vi-VN" b="1" dirty="0" smtClean="0"/>
              <a:t>:</a:t>
            </a:r>
            <a:r>
              <a:rPr lang="en-US" b="1" dirty="0" smtClean="0"/>
              <a:t> </a:t>
            </a:r>
            <a:r>
              <a:rPr lang="vi-VN" dirty="0" smtClean="0"/>
              <a:t>Python </a:t>
            </a:r>
            <a:r>
              <a:rPr lang="vi-VN" dirty="0"/>
              <a:t>có thể được sử dụng để xây dựng các ứng dụng mạng, công cụ kiểm tra mạng, và các tác vụ tự động hóa trong quản trị mạng. </a:t>
            </a:r>
          </a:p>
          <a:p>
            <a:r>
              <a:rPr lang="vi-VN" b="1" dirty="0"/>
              <a:t>IoT và lập trình nhúng</a:t>
            </a:r>
            <a:r>
              <a:rPr lang="vi-VN" b="1" dirty="0" smtClean="0"/>
              <a:t>:</a:t>
            </a:r>
            <a:r>
              <a:rPr lang="en-US" b="1" dirty="0" smtClean="0"/>
              <a:t> </a:t>
            </a:r>
            <a:r>
              <a:rPr lang="vi-VN" dirty="0" smtClean="0"/>
              <a:t>Python </a:t>
            </a:r>
            <a:r>
              <a:rPr lang="vi-VN" dirty="0"/>
              <a:t>có thể được sử dụng trong lĩnh vực Internet of Things (IoT) và lập trình nhúng, đặc biệt là trên các nền tảng nhỏ gọn như </a:t>
            </a:r>
            <a:r>
              <a:rPr lang="vi-VN" dirty="0">
                <a:hlinkClick r:id="rId3"/>
              </a:rPr>
              <a:t>Raspberry Pi</a:t>
            </a:r>
            <a:r>
              <a:rPr lang="vi-VN" dirty="0"/>
              <a:t>. </a:t>
            </a:r>
          </a:p>
          <a:p>
            <a:pPr marL="0" lvl="0" indent="0" algn="just">
              <a:lnSpc>
                <a:spcPct val="90000"/>
              </a:lnSpc>
              <a:spcBef>
                <a:spcPts val="1000"/>
              </a:spcBef>
              <a:buClr>
                <a:srgbClr val="215D9F"/>
              </a:buClr>
              <a:buNone/>
            </a:pPr>
            <a:endParaRPr lang="en-US" sz="28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43943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7" y="7620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6000" kern="0" dirty="0" err="1">
                <a:solidFill>
                  <a:srgbClr val="002060"/>
                </a:solidFill>
                <a:latin typeface="Cambria" panose="02040503050406030204" pitchFamily="18" charset="0"/>
              </a:rPr>
              <a:t>Cách</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tải</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và</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cài</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đặt</a:t>
            </a:r>
            <a:r>
              <a:rPr lang="en-US" sz="6000" kern="0" dirty="0">
                <a:solidFill>
                  <a:srgbClr val="002060"/>
                </a:solidFill>
                <a:latin typeface="Cambria" panose="02040503050406030204" pitchFamily="18" charset="0"/>
              </a:rPr>
              <a:t> Python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24</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75157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2800">
                <a:solidFill>
                  <a:prstClr val="black"/>
                </a:solidFill>
                <a:latin typeface="Cambria" panose="02040503050406030204" pitchFamily="18" charset="0"/>
              </a:rPr>
              <a:t>Để tải Python ta vào: </a:t>
            </a:r>
            <a:r>
              <a:rPr lang="en-US" sz="2800">
                <a:solidFill>
                  <a:prstClr val="black"/>
                </a:solidFill>
                <a:latin typeface="Cambria" panose="02040503050406030204" pitchFamily="18" charset="0"/>
                <a:hlinkClick r:id="rId3"/>
              </a:rPr>
              <a:t>https://www.python.org/downloads/</a:t>
            </a:r>
            <a:endParaRPr lang="en-US" sz="280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F4344B57-1585-42B7-9AEB-5794C1CD62D0}"/>
              </a:ext>
            </a:extLst>
          </p:cNvPr>
          <p:cNvPicPr>
            <a:picLocks noChangeAspect="1"/>
          </p:cNvPicPr>
          <p:nvPr/>
        </p:nvPicPr>
        <p:blipFill>
          <a:blip r:embed="rId4"/>
          <a:stretch>
            <a:fillRect/>
          </a:stretch>
        </p:blipFill>
        <p:spPr>
          <a:xfrm>
            <a:off x="609600" y="1635020"/>
            <a:ext cx="9258300" cy="4537180"/>
          </a:xfrm>
          <a:prstGeom prst="rect">
            <a:avLst/>
          </a:prstGeom>
        </p:spPr>
      </p:pic>
    </p:spTree>
    <p:extLst>
      <p:ext uri="{BB962C8B-B14F-4D97-AF65-F5344CB8AC3E}">
        <p14:creationId xmlns:p14="http://schemas.microsoft.com/office/powerpoint/2010/main" val="3303388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n</a:t>
            </a:r>
            <a:r>
              <a:rPr lang="vi-VN" sz="4000" dirty="0">
                <a:solidFill>
                  <a:prstClr val="black"/>
                </a:solidFill>
                <a:latin typeface="Cambria" panose="02040503050406030204" pitchFamily="18" charset="0"/>
              </a:rPr>
              <a:t>ơ</a:t>
            </a:r>
            <a:r>
              <a:rPr lang="en-US" sz="4000" dirty="0" err="1">
                <a:solidFill>
                  <a:prstClr val="black"/>
                </a:solidFill>
                <a:latin typeface="Cambria" panose="02040503050406030204" pitchFamily="18" charset="0"/>
              </a:rPr>
              <a:t>i</a:t>
            </a:r>
            <a:r>
              <a:rPr lang="en-US" sz="4000" dirty="0">
                <a:solidFill>
                  <a:prstClr val="black"/>
                </a:solidFill>
                <a:latin typeface="Cambria" panose="02040503050406030204" pitchFamily="18" charset="0"/>
              </a:rPr>
              <a:t> l</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u </a:t>
            </a:r>
            <a:r>
              <a:rPr lang="en-US" sz="4000" dirty="0" err="1">
                <a:solidFill>
                  <a:prstClr val="black"/>
                </a:solidFill>
                <a:latin typeface="Cambria" panose="02040503050406030204" pitchFamily="18" charset="0"/>
              </a:rPr>
              <a:t>trữ</a:t>
            </a:r>
            <a:r>
              <a:rPr lang="en-US" sz="4000" dirty="0">
                <a:solidFill>
                  <a:prstClr val="black"/>
                </a:solidFill>
                <a:latin typeface="Cambria" panose="02040503050406030204" pitchFamily="18" charset="0"/>
              </a:rPr>
              <a:t>:</a:t>
            </a:r>
          </a:p>
        </p:txBody>
      </p:sp>
      <p:pic>
        <p:nvPicPr>
          <p:cNvPr id="9" name="Picture 8">
            <a:extLst>
              <a:ext uri="{FF2B5EF4-FFF2-40B4-BE49-F238E27FC236}">
                <a16:creationId xmlns:a16="http://schemas.microsoft.com/office/drawing/2014/main" id="{670288DC-B1F8-4679-BA1F-FB115951D548}"/>
              </a:ext>
            </a:extLst>
          </p:cNvPr>
          <p:cNvPicPr>
            <a:picLocks noChangeAspect="1"/>
          </p:cNvPicPr>
          <p:nvPr/>
        </p:nvPicPr>
        <p:blipFill>
          <a:blip r:embed="rId3"/>
          <a:stretch>
            <a:fillRect/>
          </a:stretch>
        </p:blipFill>
        <p:spPr>
          <a:xfrm>
            <a:off x="3193256" y="1676810"/>
            <a:ext cx="5957888" cy="4766310"/>
          </a:xfrm>
          <a:prstGeom prst="rect">
            <a:avLst/>
          </a:prstGeom>
        </p:spPr>
      </p:pic>
    </p:spTree>
    <p:extLst>
      <p:ext uri="{BB962C8B-B14F-4D97-AF65-F5344CB8AC3E}">
        <p14:creationId xmlns:p14="http://schemas.microsoft.com/office/powerpoint/2010/main" val="3945169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Tải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xong</a:t>
            </a:r>
            <a:r>
              <a:rPr lang="en-US" sz="4000" dirty="0">
                <a:solidFill>
                  <a:prstClr val="black"/>
                </a:solidFill>
                <a:latin typeface="Cambria" panose="02040503050406030204" pitchFamily="18" charset="0"/>
              </a:rPr>
              <a:t> ta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khoảng</a:t>
            </a:r>
            <a:r>
              <a:rPr lang="en-US" sz="4000" dirty="0">
                <a:solidFill>
                  <a:prstClr val="black"/>
                </a:solidFill>
                <a:latin typeface="Cambria" panose="02040503050406030204" pitchFamily="18" charset="0"/>
              </a:rPr>
              <a:t> 29MB </a:t>
            </a:r>
            <a:r>
              <a:rPr lang="en-US" sz="4000" dirty="0" err="1">
                <a:solidFill>
                  <a:prstClr val="black"/>
                </a:solidFill>
                <a:latin typeface="Cambria" panose="02040503050406030204" pitchFamily="18" charset="0"/>
              </a:rPr>
              <a:t>cho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phiên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bản</a:t>
            </a:r>
            <a:r>
              <a:rPr lang="en-US" sz="4000" dirty="0">
                <a:solidFill>
                  <a:prstClr val="black"/>
                </a:solidFill>
                <a:latin typeface="Cambria" panose="02040503050406030204" pitchFamily="18" charset="0"/>
              </a:rPr>
              <a:t> 3.6.4</a:t>
            </a:r>
          </a:p>
        </p:txBody>
      </p:sp>
      <p:pic>
        <p:nvPicPr>
          <p:cNvPr id="8" name="Picture 7">
            <a:extLst>
              <a:ext uri="{FF2B5EF4-FFF2-40B4-BE49-F238E27FC236}">
                <a16:creationId xmlns:a16="http://schemas.microsoft.com/office/drawing/2014/main" id="{2407B9D4-806C-4718-9165-4EDFC338850A}"/>
              </a:ext>
            </a:extLst>
          </p:cNvPr>
          <p:cNvPicPr>
            <a:picLocks noChangeAspect="1"/>
          </p:cNvPicPr>
          <p:nvPr/>
        </p:nvPicPr>
        <p:blipFill>
          <a:blip r:embed="rId3"/>
          <a:stretch>
            <a:fillRect/>
          </a:stretch>
        </p:blipFill>
        <p:spPr>
          <a:xfrm>
            <a:off x="450448" y="2603588"/>
            <a:ext cx="11443504" cy="2193748"/>
          </a:xfrm>
          <a:prstGeom prst="rect">
            <a:avLst/>
          </a:prstGeom>
        </p:spPr>
      </p:pic>
    </p:spTree>
    <p:extLst>
      <p:ext uri="{BB962C8B-B14F-4D97-AF65-F5344CB8AC3E}">
        <p14:creationId xmlns:p14="http://schemas.microsoft.com/office/powerpoint/2010/main" val="27650447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Double click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cài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đặt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Run </a:t>
            </a:r>
            <a:r>
              <a:rPr lang="en-US" sz="4000" dirty="0" err="1">
                <a:solidFill>
                  <a:prstClr val="black"/>
                </a:solidFill>
                <a:latin typeface="Cambria" panose="02040503050406030204" pitchFamily="18" charset="0"/>
              </a:rPr>
              <a:t>nếu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hỏi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về</a:t>
            </a:r>
            <a:r>
              <a:rPr lang="en-US" sz="4000" dirty="0">
                <a:solidFill>
                  <a:prstClr val="black"/>
                </a:solidFill>
                <a:latin typeface="Cambria" panose="02040503050406030204" pitchFamily="18" charset="0"/>
              </a:rPr>
              <a:t> Security:</a:t>
            </a:r>
          </a:p>
        </p:txBody>
      </p:sp>
      <p:pic>
        <p:nvPicPr>
          <p:cNvPr id="8" name="Picture 7">
            <a:extLst>
              <a:ext uri="{FF2B5EF4-FFF2-40B4-BE49-F238E27FC236}">
                <a16:creationId xmlns:a16="http://schemas.microsoft.com/office/drawing/2014/main" id="{75060490-BA07-405A-975B-A45B7C10EDD7}"/>
              </a:ext>
            </a:extLst>
          </p:cNvPr>
          <p:cNvPicPr>
            <a:picLocks noChangeAspect="1"/>
          </p:cNvPicPr>
          <p:nvPr/>
        </p:nvPicPr>
        <p:blipFill>
          <a:blip r:embed="rId3"/>
          <a:stretch>
            <a:fillRect/>
          </a:stretch>
        </p:blipFill>
        <p:spPr>
          <a:xfrm>
            <a:off x="3230304" y="1981200"/>
            <a:ext cx="5883792" cy="4343400"/>
          </a:xfrm>
          <a:prstGeom prst="rect">
            <a:avLst/>
          </a:prstGeom>
        </p:spPr>
      </p:pic>
    </p:spTree>
    <p:extLst>
      <p:ext uri="{BB962C8B-B14F-4D97-AF65-F5344CB8AC3E}">
        <p14:creationId xmlns:p14="http://schemas.microsoft.com/office/powerpoint/2010/main" val="2108849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29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Tick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“Add Python 3.6 to PATH” </a:t>
            </a:r>
            <a:r>
              <a:rPr lang="en-US" sz="4000" dirty="0" err="1">
                <a:solidFill>
                  <a:prstClr val="black"/>
                </a:solidFill>
                <a:latin typeface="Cambria" panose="02040503050406030204" pitchFamily="18" charset="0"/>
              </a:rPr>
              <a:t>rồi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Customize installation:</a:t>
            </a:r>
          </a:p>
        </p:txBody>
      </p:sp>
      <p:pic>
        <p:nvPicPr>
          <p:cNvPr id="8" name="Picture 7">
            <a:extLst>
              <a:ext uri="{FF2B5EF4-FFF2-40B4-BE49-F238E27FC236}">
                <a16:creationId xmlns:a16="http://schemas.microsoft.com/office/drawing/2014/main" id="{70CE16E9-0498-4DC7-8269-6C90B2C7C56C}"/>
              </a:ext>
            </a:extLst>
          </p:cNvPr>
          <p:cNvPicPr>
            <a:picLocks noChangeAspect="1"/>
          </p:cNvPicPr>
          <p:nvPr/>
        </p:nvPicPr>
        <p:blipFill>
          <a:blip r:embed="rId3"/>
          <a:stretch>
            <a:fillRect/>
          </a:stretch>
        </p:blipFill>
        <p:spPr>
          <a:xfrm>
            <a:off x="2822443" y="2271532"/>
            <a:ext cx="6699513" cy="4124325"/>
          </a:xfrm>
          <a:prstGeom prst="rect">
            <a:avLst/>
          </a:prstGeom>
        </p:spPr>
      </p:pic>
    </p:spTree>
    <p:extLst>
      <p:ext uri="{BB962C8B-B14F-4D97-AF65-F5344CB8AC3E}">
        <p14:creationId xmlns:p14="http://schemas.microsoft.com/office/powerpoint/2010/main" val="7104031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Tiếp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tục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bấm</a:t>
            </a:r>
            <a:r>
              <a:rPr lang="en-US" sz="4000" dirty="0">
                <a:solidFill>
                  <a:prstClr val="black"/>
                </a:solidFill>
                <a:latin typeface="Cambria" panose="02040503050406030204" pitchFamily="18" charset="0"/>
              </a:rPr>
              <a:t> Next:</a:t>
            </a:r>
          </a:p>
        </p:txBody>
      </p:sp>
      <p:pic>
        <p:nvPicPr>
          <p:cNvPr id="10" name="Picture 9">
            <a:extLst>
              <a:ext uri="{FF2B5EF4-FFF2-40B4-BE49-F238E27FC236}">
                <a16:creationId xmlns:a16="http://schemas.microsoft.com/office/drawing/2014/main" id="{676CFC76-2EE6-4ACC-B9F7-CA1BBEC57DB6}"/>
              </a:ext>
            </a:extLst>
          </p:cNvPr>
          <p:cNvPicPr>
            <a:picLocks noChangeAspect="1"/>
          </p:cNvPicPr>
          <p:nvPr/>
        </p:nvPicPr>
        <p:blipFill>
          <a:blip r:embed="rId3"/>
          <a:stretch>
            <a:fillRect/>
          </a:stretch>
        </p:blipFill>
        <p:spPr>
          <a:xfrm>
            <a:off x="2385350" y="1723723"/>
            <a:ext cx="7573700" cy="4662488"/>
          </a:xfrm>
          <a:prstGeom prst="rect">
            <a:avLst/>
          </a:prstGeom>
        </p:spPr>
      </p:pic>
    </p:spTree>
    <p:extLst>
      <p:ext uri="{BB962C8B-B14F-4D97-AF65-F5344CB8AC3E}">
        <p14:creationId xmlns:p14="http://schemas.microsoft.com/office/powerpoint/2010/main" val="363509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Tick </a:t>
            </a:r>
            <a:r>
              <a:rPr lang="en-US" sz="4000" dirty="0" err="1">
                <a:solidFill>
                  <a:prstClr val="black"/>
                </a:solidFill>
                <a:latin typeface="Cambria" panose="02040503050406030204" pitchFamily="18" charset="0"/>
              </a:rPr>
              <a:t>hết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rồi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bấm</a:t>
            </a:r>
            <a:r>
              <a:rPr lang="en-US" sz="4000" dirty="0">
                <a:solidFill>
                  <a:prstClr val="black"/>
                </a:solidFill>
                <a:latin typeface="Cambria" panose="02040503050406030204" pitchFamily="18" charset="0"/>
              </a:rPr>
              <a:t> Install:</a:t>
            </a:r>
          </a:p>
        </p:txBody>
      </p:sp>
      <p:pic>
        <p:nvPicPr>
          <p:cNvPr id="8" name="Picture 7">
            <a:extLst>
              <a:ext uri="{FF2B5EF4-FFF2-40B4-BE49-F238E27FC236}">
                <a16:creationId xmlns:a16="http://schemas.microsoft.com/office/drawing/2014/main" id="{B7231F91-E554-49F0-96E9-7447E33E0965}"/>
              </a:ext>
            </a:extLst>
          </p:cNvPr>
          <p:cNvPicPr>
            <a:picLocks noChangeAspect="1"/>
          </p:cNvPicPr>
          <p:nvPr/>
        </p:nvPicPr>
        <p:blipFill>
          <a:blip r:embed="rId3"/>
          <a:stretch>
            <a:fillRect/>
          </a:stretch>
        </p:blipFill>
        <p:spPr>
          <a:xfrm>
            <a:off x="2574886" y="1881971"/>
            <a:ext cx="7194627" cy="4429125"/>
          </a:xfrm>
          <a:prstGeom prst="rect">
            <a:avLst/>
          </a:prstGeom>
        </p:spPr>
      </p:pic>
    </p:spTree>
    <p:extLst>
      <p:ext uri="{BB962C8B-B14F-4D97-AF65-F5344CB8AC3E}">
        <p14:creationId xmlns:p14="http://schemas.microsoft.com/office/powerpoint/2010/main" val="3813323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Chờ</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quá</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cài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đặt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hoàn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tất</a:t>
            </a:r>
            <a:r>
              <a:rPr lang="en-US" sz="4000" dirty="0">
                <a:solidFill>
                  <a:prstClr val="black"/>
                </a:solidFill>
                <a:latin typeface="Cambria" panose="02040503050406030204" pitchFamily="18" charset="0"/>
              </a:rPr>
              <a:t>:</a:t>
            </a:r>
          </a:p>
        </p:txBody>
      </p:sp>
      <p:pic>
        <p:nvPicPr>
          <p:cNvPr id="10" name="Picture 9">
            <a:extLst>
              <a:ext uri="{FF2B5EF4-FFF2-40B4-BE49-F238E27FC236}">
                <a16:creationId xmlns:a16="http://schemas.microsoft.com/office/drawing/2014/main" id="{41167AD8-4BD1-4CDB-B176-BA5E021D6240}"/>
              </a:ext>
            </a:extLst>
          </p:cNvPr>
          <p:cNvPicPr>
            <a:picLocks noChangeAspect="1"/>
          </p:cNvPicPr>
          <p:nvPr/>
        </p:nvPicPr>
        <p:blipFill>
          <a:blip r:embed="rId3"/>
          <a:stretch>
            <a:fillRect/>
          </a:stretch>
        </p:blipFill>
        <p:spPr>
          <a:xfrm>
            <a:off x="2528468" y="1838324"/>
            <a:ext cx="7287463" cy="4486276"/>
          </a:xfrm>
          <a:prstGeom prst="rect">
            <a:avLst/>
          </a:prstGeom>
        </p:spPr>
      </p:pic>
    </p:spTree>
    <p:extLst>
      <p:ext uri="{BB962C8B-B14F-4D97-AF65-F5344CB8AC3E}">
        <p14:creationId xmlns:p14="http://schemas.microsoft.com/office/powerpoint/2010/main" val="898727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Đã</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cài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đặt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thành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công</a:t>
            </a:r>
            <a:r>
              <a:rPr lang="en-US" sz="4000" dirty="0">
                <a:solidFill>
                  <a:prstClr val="black"/>
                </a:solidFill>
                <a:latin typeface="Cambria" panose="02040503050406030204" pitchFamily="18" charset="0"/>
              </a:rPr>
              <a:t>:</a:t>
            </a:r>
          </a:p>
        </p:txBody>
      </p:sp>
      <p:pic>
        <p:nvPicPr>
          <p:cNvPr id="8" name="Picture 7">
            <a:extLst>
              <a:ext uri="{FF2B5EF4-FFF2-40B4-BE49-F238E27FC236}">
                <a16:creationId xmlns:a16="http://schemas.microsoft.com/office/drawing/2014/main" id="{9EF78E0E-638D-4BB7-8E30-43E8E357C4A2}"/>
              </a:ext>
            </a:extLst>
          </p:cNvPr>
          <p:cNvPicPr>
            <a:picLocks noChangeAspect="1"/>
          </p:cNvPicPr>
          <p:nvPr/>
        </p:nvPicPr>
        <p:blipFill>
          <a:blip r:embed="rId3"/>
          <a:stretch>
            <a:fillRect/>
          </a:stretch>
        </p:blipFill>
        <p:spPr>
          <a:xfrm>
            <a:off x="2396954" y="1700514"/>
            <a:ext cx="7550491" cy="4648200"/>
          </a:xfrm>
          <a:prstGeom prst="rect">
            <a:avLst/>
          </a:prstGeom>
        </p:spPr>
      </p:pic>
    </p:spTree>
    <p:extLst>
      <p:ext uri="{BB962C8B-B14F-4D97-AF65-F5344CB8AC3E}">
        <p14:creationId xmlns:p14="http://schemas.microsoft.com/office/powerpoint/2010/main" val="5806572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Mở</a:t>
            </a:r>
            <a:r>
              <a:rPr lang="en-US" sz="4000" dirty="0">
                <a:solidFill>
                  <a:prstClr val="black"/>
                </a:solidFill>
                <a:latin typeface="Cambria" panose="02040503050406030204" pitchFamily="18" charset="0"/>
              </a:rPr>
              <a:t> command line </a:t>
            </a:r>
            <a:r>
              <a:rPr lang="en-US" sz="4000" dirty="0" err="1">
                <a:solidFill>
                  <a:prstClr val="black"/>
                </a:solidFill>
                <a:latin typeface="Cambria" panose="02040503050406030204" pitchFamily="18" charset="0"/>
              </a:rPr>
              <a:t>lên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gõ</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lệnh</a:t>
            </a:r>
            <a:r>
              <a:rPr lang="en-US" sz="4000" dirty="0">
                <a:solidFill>
                  <a:prstClr val="black"/>
                </a:solidFill>
                <a:latin typeface="Cambria" panose="02040503050406030204" pitchFamily="18" charset="0"/>
              </a:rPr>
              <a:t> python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kiểm</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tra</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kết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quả</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bên</a:t>
            </a:r>
            <a:r>
              <a:rPr lang="en-US" sz="4000" dirty="0">
                <a:solidFill>
                  <a:prstClr val="black"/>
                </a:solidFill>
                <a:latin typeface="Cambria" panose="02040503050406030204" pitchFamily="18" charset="0"/>
              </a:rPr>
              <a:t> d</a:t>
            </a:r>
            <a:r>
              <a:rPr lang="vi-VN" sz="4000" dirty="0">
                <a:solidFill>
                  <a:prstClr val="black"/>
                </a:solidFill>
                <a:latin typeface="Cambria" panose="02040503050406030204" pitchFamily="18" charset="0"/>
              </a:rPr>
              <a:t>ư</a:t>
            </a:r>
            <a:r>
              <a:rPr lang="en-US" sz="4000" dirty="0" err="1">
                <a:solidFill>
                  <a:prstClr val="black"/>
                </a:solidFill>
                <a:latin typeface="Cambria" panose="02040503050406030204" pitchFamily="18" charset="0"/>
              </a:rPr>
              <a:t>ới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đây</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là</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đã</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thành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công</a:t>
            </a:r>
            <a:r>
              <a:rPr lang="en-US" sz="4000" dirty="0">
                <a:solidFill>
                  <a:prstClr val="black"/>
                </a:solidFill>
                <a:latin typeface="Cambria" panose="02040503050406030204" pitchFamily="18" charset="0"/>
              </a:rPr>
              <a:t>:</a:t>
            </a:r>
          </a:p>
        </p:txBody>
      </p:sp>
      <p:pic>
        <p:nvPicPr>
          <p:cNvPr id="9" name="Picture 8">
            <a:extLst>
              <a:ext uri="{FF2B5EF4-FFF2-40B4-BE49-F238E27FC236}">
                <a16:creationId xmlns:a16="http://schemas.microsoft.com/office/drawing/2014/main" id="{D4DD3BC2-6AC1-4ECB-97E6-D353DD8F25CE}"/>
              </a:ext>
            </a:extLst>
          </p:cNvPr>
          <p:cNvPicPr>
            <a:picLocks noChangeAspect="1"/>
          </p:cNvPicPr>
          <p:nvPr/>
        </p:nvPicPr>
        <p:blipFill>
          <a:blip r:embed="rId3"/>
          <a:stretch>
            <a:fillRect/>
          </a:stretch>
        </p:blipFill>
        <p:spPr>
          <a:xfrm>
            <a:off x="419607" y="2290762"/>
            <a:ext cx="11505186" cy="4105276"/>
          </a:xfrm>
          <a:prstGeom prst="rect">
            <a:avLst/>
          </a:prstGeom>
        </p:spPr>
      </p:pic>
    </p:spTree>
    <p:extLst>
      <p:ext uri="{BB962C8B-B14F-4D97-AF65-F5344CB8AC3E}">
        <p14:creationId xmlns:p14="http://schemas.microsoft.com/office/powerpoint/2010/main" val="8380964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633536" y="762000"/>
            <a:ext cx="89916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6000" kern="0" dirty="0" err="1">
                <a:solidFill>
                  <a:srgbClr val="002060"/>
                </a:solidFill>
                <a:latin typeface="Cambria" panose="02040503050406030204" pitchFamily="18" charset="0"/>
              </a:rPr>
              <a:t>Giới</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thiệu</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một</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số</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công</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cụ</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Lập</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trình</a:t>
            </a:r>
            <a:r>
              <a:rPr lang="en-US" sz="6000" kern="0" dirty="0">
                <a:solidFill>
                  <a:srgbClr val="002060"/>
                </a:solidFill>
                <a:latin typeface="Cambria" panose="02040503050406030204" pitchFamily="18" charset="0"/>
              </a:rPr>
              <a:t> Python</a:t>
            </a: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35</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25363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4620576" cy="508000"/>
            <a:chOff x="789624" y="1191463"/>
            <a:chExt cx="4620576" cy="508000"/>
          </a:xfrm>
        </p:grpSpPr>
        <p:sp>
          <p:nvSpPr>
            <p:cNvPr id="3" name="AutoShape 52"/>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14350" lvl="0" indent="-514350" algn="just">
              <a:lnSpc>
                <a:spcPct val="90000"/>
              </a:lnSpc>
              <a:spcBef>
                <a:spcPts val="1000"/>
              </a:spcBef>
              <a:buClr>
                <a:srgbClr val="215D9F"/>
              </a:buClr>
              <a:buFont typeface="+mj-lt"/>
              <a:buAutoNum type="arabicPeriod"/>
            </a:pPr>
            <a:r>
              <a:rPr lang="en-US" sz="4000" dirty="0" err="1">
                <a:solidFill>
                  <a:prstClr val="black"/>
                </a:solidFill>
                <a:latin typeface="Cambria" panose="02040503050406030204" pitchFamily="18" charset="0"/>
              </a:rPr>
              <a:t>Công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cụ</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lập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chính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thống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cài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đặt</a:t>
            </a:r>
            <a:r>
              <a:rPr lang="en-US" sz="4000" dirty="0">
                <a:solidFill>
                  <a:prstClr val="black"/>
                </a:solidFill>
                <a:latin typeface="Cambria" panose="02040503050406030204" pitchFamily="18" charset="0"/>
              </a:rPr>
              <a:t> Python</a:t>
            </a:r>
          </a:p>
          <a:p>
            <a:pPr marL="514350" lvl="0" indent="-514350" algn="just">
              <a:lnSpc>
                <a:spcPct val="90000"/>
              </a:lnSpc>
              <a:spcBef>
                <a:spcPts val="1000"/>
              </a:spcBef>
              <a:buClr>
                <a:srgbClr val="215D9F"/>
              </a:buClr>
              <a:buFont typeface="+mj-lt"/>
              <a:buAutoNum type="arabicPeriod"/>
            </a:pPr>
            <a:r>
              <a:rPr lang="en-US" sz="4000" dirty="0" err="1">
                <a:solidFill>
                  <a:prstClr val="black"/>
                </a:solidFill>
                <a:latin typeface="Cambria" panose="02040503050406030204" pitchFamily="18" charset="0"/>
              </a:rPr>
              <a:t>Công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cụ</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lập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wingide</a:t>
            </a:r>
            <a:endParaRPr lang="en-US" sz="4000" dirty="0">
              <a:solidFill>
                <a:prstClr val="black"/>
              </a:solidFill>
              <a:latin typeface="Cambria" panose="02040503050406030204" pitchFamily="18" charset="0"/>
            </a:endParaRPr>
          </a:p>
          <a:p>
            <a:pPr marL="514350" lvl="0" indent="-514350" algn="just">
              <a:lnSpc>
                <a:spcPct val="90000"/>
              </a:lnSpc>
              <a:spcBef>
                <a:spcPts val="1000"/>
              </a:spcBef>
              <a:buClr>
                <a:srgbClr val="215D9F"/>
              </a:buClr>
              <a:buFont typeface="+mj-lt"/>
              <a:buAutoNum type="arabicPeriod"/>
            </a:pPr>
            <a:r>
              <a:rPr lang="en-US" sz="4000" dirty="0" err="1">
                <a:solidFill>
                  <a:prstClr val="black"/>
                </a:solidFill>
                <a:latin typeface="Cambria" panose="02040503050406030204" pitchFamily="18" charset="0"/>
              </a:rPr>
              <a:t>Công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cụ</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lập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r>
              <a:rPr lang="en-US" sz="4000" dirty="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PyCharm</a:t>
            </a:r>
            <a:endParaRPr lang="en-US" sz="4000" dirty="0" smtClean="0">
              <a:solidFill>
                <a:prstClr val="black"/>
              </a:solidFill>
              <a:latin typeface="Cambria" panose="02040503050406030204" pitchFamily="18" charset="0"/>
            </a:endParaRPr>
          </a:p>
          <a:p>
            <a:pPr marL="514350" lvl="0" indent="-514350" algn="just">
              <a:lnSpc>
                <a:spcPct val="90000"/>
              </a:lnSpc>
              <a:spcBef>
                <a:spcPts val="1000"/>
              </a:spcBef>
              <a:buClr>
                <a:srgbClr val="215D9F"/>
              </a:buClr>
              <a:buFont typeface="+mj-lt"/>
              <a:buAutoNum type="arabicPeriod"/>
            </a:pPr>
            <a:r>
              <a:rPr lang="en-US" sz="4000" dirty="0" err="1" smtClean="0">
                <a:solidFill>
                  <a:prstClr val="black"/>
                </a:solidFill>
                <a:latin typeface="Cambria" panose="02040503050406030204" pitchFamily="18" charset="0"/>
              </a:rPr>
              <a:t>Công</a:t>
            </a:r>
            <a:r>
              <a:rPr lang="en-US" sz="4000" dirty="0" smtClean="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cụ</a:t>
            </a:r>
            <a:r>
              <a:rPr lang="en-US" sz="4000" dirty="0" smtClean="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lập</a:t>
            </a:r>
            <a:r>
              <a:rPr lang="en-US" sz="4000" dirty="0" smtClean="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trình</a:t>
            </a:r>
            <a:r>
              <a:rPr lang="en-US" sz="4000" dirty="0" smtClean="0">
                <a:solidFill>
                  <a:prstClr val="black"/>
                </a:solidFill>
                <a:latin typeface="Cambria" panose="02040503050406030204" pitchFamily="18" charset="0"/>
              </a:rPr>
              <a:t> Visual Studio</a:t>
            </a:r>
          </a:p>
          <a:p>
            <a:pPr marL="514350" lvl="0" indent="-514350" algn="just">
              <a:lnSpc>
                <a:spcPct val="90000"/>
              </a:lnSpc>
              <a:spcBef>
                <a:spcPts val="1000"/>
              </a:spcBef>
              <a:buClr>
                <a:srgbClr val="215D9F"/>
              </a:buClr>
              <a:buFont typeface="+mj-lt"/>
              <a:buAutoNum type="arabicPeriod"/>
            </a:pPr>
            <a:r>
              <a:rPr lang="en-US" sz="4000" dirty="0" err="1" smtClean="0">
                <a:solidFill>
                  <a:prstClr val="black"/>
                </a:solidFill>
                <a:latin typeface="Cambria" panose="02040503050406030204" pitchFamily="18" charset="0"/>
              </a:rPr>
              <a:t>Công</a:t>
            </a:r>
            <a:r>
              <a:rPr lang="en-US" sz="4000" dirty="0" smtClean="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cụ</a:t>
            </a:r>
            <a:r>
              <a:rPr lang="en-US" sz="4000" dirty="0" smtClean="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lập</a:t>
            </a:r>
            <a:r>
              <a:rPr lang="en-US" sz="4000" dirty="0" smtClean="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trình</a:t>
            </a:r>
            <a:r>
              <a:rPr lang="en-US" sz="4000" dirty="0" smtClean="0">
                <a:solidFill>
                  <a:prstClr val="black"/>
                </a:solidFill>
                <a:latin typeface="Cambria" panose="02040503050406030204" pitchFamily="18" charset="0"/>
              </a:rPr>
              <a:t> </a:t>
            </a:r>
            <a:r>
              <a:rPr lang="en-US" sz="4000" dirty="0" err="1" smtClean="0">
                <a:solidFill>
                  <a:prstClr val="black"/>
                </a:solidFill>
                <a:latin typeface="Cambria" panose="02040503050406030204" pitchFamily="18" charset="0"/>
              </a:rPr>
              <a:t>Thonny</a:t>
            </a:r>
            <a:endParaRPr lang="en-US" sz="4000" dirty="0">
              <a:solidFill>
                <a:prstClr val="black"/>
              </a:solidFill>
              <a:latin typeface="Cambria" panose="02040503050406030204" pitchFamily="18" charset="0"/>
            </a:endParaRPr>
          </a:p>
          <a:p>
            <a:pPr marL="514350" lvl="0" indent="-514350" algn="just">
              <a:lnSpc>
                <a:spcPct val="90000"/>
              </a:lnSpc>
              <a:spcBef>
                <a:spcPts val="1000"/>
              </a:spcBef>
              <a:buClr>
                <a:srgbClr val="215D9F"/>
              </a:buClr>
              <a:buFont typeface="+mj-lt"/>
              <a:buAutoNum type="arabicPeriod"/>
            </a:pP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235120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924800" cy="508000"/>
            <a:chOff x="789624" y="1191463"/>
            <a:chExt cx="5257800" cy="508000"/>
          </a:xfrm>
        </p:grpSpPr>
        <p:sp>
          <p:nvSpPr>
            <p:cNvPr id="3" name="AutoShape 52"/>
            <p:cNvSpPr>
              <a:spLocks noChangeArrowheads="1"/>
            </p:cNvSpPr>
            <p:nvPr/>
          </p:nvSpPr>
          <p:spPr bwMode="gray">
            <a:xfrm>
              <a:off x="990600" y="1191463"/>
              <a:ext cx="5056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Khi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cài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đặt</a:t>
            </a:r>
            <a:r>
              <a:rPr lang="en-US" sz="4000" dirty="0">
                <a:solidFill>
                  <a:prstClr val="black"/>
                </a:solidFill>
                <a:latin typeface="Cambria" panose="02040503050406030204" pitchFamily="18" charset="0"/>
              </a:rPr>
              <a:t> Python, ta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sẵn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công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cụ</a:t>
            </a:r>
            <a:r>
              <a:rPr lang="en-US" sz="4000" dirty="0">
                <a:solidFill>
                  <a:prstClr val="black"/>
                </a:solidFill>
                <a:latin typeface="Cambria" panose="02040503050406030204" pitchFamily="18" charset="0"/>
              </a:rPr>
              <a:t> IDLE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lập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r>
              <a:rPr lang="en-US" sz="4000" dirty="0">
                <a:solidFill>
                  <a:prstClr val="black"/>
                </a:solidFill>
                <a:latin typeface="Cambria" panose="02040503050406030204" pitchFamily="18" charset="0"/>
              </a:rPr>
              <a:t>:</a:t>
            </a:r>
          </a:p>
        </p:txBody>
      </p:sp>
      <p:pic>
        <p:nvPicPr>
          <p:cNvPr id="10" name="Picture 9">
            <a:extLst>
              <a:ext uri="{FF2B5EF4-FFF2-40B4-BE49-F238E27FC236}">
                <a16:creationId xmlns:a16="http://schemas.microsoft.com/office/drawing/2014/main" id="{AE866D87-2E9C-4317-BB47-DCE96D748029}"/>
              </a:ext>
            </a:extLst>
          </p:cNvPr>
          <p:cNvPicPr>
            <a:picLocks noChangeAspect="1"/>
          </p:cNvPicPr>
          <p:nvPr/>
        </p:nvPicPr>
        <p:blipFill>
          <a:blip r:embed="rId3"/>
          <a:stretch>
            <a:fillRect/>
          </a:stretch>
        </p:blipFill>
        <p:spPr>
          <a:xfrm>
            <a:off x="3269463" y="1676400"/>
            <a:ext cx="5805473" cy="4791076"/>
          </a:xfrm>
          <a:prstGeom prst="rect">
            <a:avLst/>
          </a:prstGeom>
        </p:spPr>
      </p:pic>
    </p:spTree>
    <p:extLst>
      <p:ext uri="{BB962C8B-B14F-4D97-AF65-F5344CB8AC3E}">
        <p14:creationId xmlns:p14="http://schemas.microsoft.com/office/powerpoint/2010/main" val="41148243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924800" cy="508000"/>
            <a:chOff x="789624" y="1191463"/>
            <a:chExt cx="7924800" cy="508000"/>
          </a:xfrm>
        </p:grpSpPr>
        <p:sp>
          <p:nvSpPr>
            <p:cNvPr id="3" name="AutoShape 52"/>
            <p:cNvSpPr>
              <a:spLocks noChangeArrowheads="1"/>
            </p:cNvSpPr>
            <p:nvPr/>
          </p:nvSpPr>
          <p:spPr bwMode="gray">
            <a:xfrm>
              <a:off x="990600" y="1191463"/>
              <a:ext cx="7723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Ta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gõ</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lệnh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trực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tiếp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cửa</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sổ</a:t>
            </a:r>
            <a:r>
              <a:rPr lang="en-US" sz="4000" dirty="0">
                <a:solidFill>
                  <a:prstClr val="black"/>
                </a:solidFill>
                <a:latin typeface="Cambria" panose="02040503050406030204" pitchFamily="18" charset="0"/>
              </a:rPr>
              <a:t> Shell</a:t>
            </a:r>
          </a:p>
        </p:txBody>
      </p:sp>
      <p:pic>
        <p:nvPicPr>
          <p:cNvPr id="9" name="Picture 8">
            <a:extLst>
              <a:ext uri="{FF2B5EF4-FFF2-40B4-BE49-F238E27FC236}">
                <a16:creationId xmlns:a16="http://schemas.microsoft.com/office/drawing/2014/main" id="{E1C455D6-EE14-4F26-B6A4-4848FC51C9F7}"/>
              </a:ext>
            </a:extLst>
          </p:cNvPr>
          <p:cNvPicPr>
            <a:picLocks noChangeAspect="1"/>
          </p:cNvPicPr>
          <p:nvPr/>
        </p:nvPicPr>
        <p:blipFill>
          <a:blip r:embed="rId3"/>
          <a:stretch>
            <a:fillRect/>
          </a:stretch>
        </p:blipFill>
        <p:spPr>
          <a:xfrm>
            <a:off x="937205" y="1714613"/>
            <a:ext cx="10317590" cy="4609987"/>
          </a:xfrm>
          <a:prstGeom prst="rect">
            <a:avLst/>
          </a:prstGeom>
        </p:spPr>
      </p:pic>
    </p:spTree>
    <p:extLst>
      <p:ext uri="{BB962C8B-B14F-4D97-AF65-F5344CB8AC3E}">
        <p14:creationId xmlns:p14="http://schemas.microsoft.com/office/powerpoint/2010/main" val="735613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001000" cy="508000"/>
            <a:chOff x="789624" y="1191463"/>
            <a:chExt cx="8001000" cy="508000"/>
          </a:xfrm>
        </p:grpSpPr>
        <p:sp>
          <p:nvSpPr>
            <p:cNvPr id="3" name="AutoShape 52"/>
            <p:cNvSpPr>
              <a:spLocks noChangeArrowheads="1"/>
            </p:cNvSpPr>
            <p:nvPr/>
          </p:nvSpPr>
          <p:spPr bwMode="gray">
            <a:xfrm>
              <a:off x="990600" y="1191463"/>
              <a:ext cx="7800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39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Ngoài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ra</a:t>
            </a:r>
            <a:r>
              <a:rPr lang="en-US" sz="4000" dirty="0">
                <a:solidFill>
                  <a:prstClr val="black"/>
                </a:solidFill>
                <a:latin typeface="Cambria" panose="02040503050406030204" pitchFamily="18" charset="0"/>
              </a:rPr>
              <a:t> ta </a:t>
            </a:r>
            <a:r>
              <a:rPr lang="en-US" sz="4000" dirty="0" err="1">
                <a:solidFill>
                  <a:prstClr val="black"/>
                </a:solidFill>
                <a:latin typeface="Cambria" panose="02040503050406030204" pitchFamily="18" charset="0"/>
              </a:rPr>
              <a:t>cũng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tạo</a:t>
            </a:r>
            <a:r>
              <a:rPr lang="en-US" sz="4000" dirty="0">
                <a:solidFill>
                  <a:prstClr val="black"/>
                </a:solidFill>
                <a:latin typeface="Cambria" panose="02040503050406030204" pitchFamily="18" charset="0"/>
              </a:rPr>
              <a:t> File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soạn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thảo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bằng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cách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File/ </a:t>
            </a: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New File:</a:t>
            </a: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p:txBody>
      </p:sp>
      <p:pic>
        <p:nvPicPr>
          <p:cNvPr id="9" name="Picture 8">
            <a:extLst>
              <a:ext uri="{FF2B5EF4-FFF2-40B4-BE49-F238E27FC236}">
                <a16:creationId xmlns:a16="http://schemas.microsoft.com/office/drawing/2014/main" id="{1763F742-FA48-4793-B437-BEBB7B3BF87F}"/>
              </a:ext>
            </a:extLst>
          </p:cNvPr>
          <p:cNvPicPr>
            <a:picLocks noChangeAspect="1"/>
          </p:cNvPicPr>
          <p:nvPr/>
        </p:nvPicPr>
        <p:blipFill>
          <a:blip r:embed="rId3"/>
          <a:stretch>
            <a:fillRect/>
          </a:stretch>
        </p:blipFill>
        <p:spPr>
          <a:xfrm>
            <a:off x="2286000" y="2299329"/>
            <a:ext cx="7467600" cy="4533272"/>
          </a:xfrm>
          <a:prstGeom prst="rect">
            <a:avLst/>
          </a:prstGeom>
        </p:spPr>
      </p:pic>
      <p:cxnSp>
        <p:nvCxnSpPr>
          <p:cNvPr id="11" name="Straight Arrow Connector 10">
            <a:extLst>
              <a:ext uri="{FF2B5EF4-FFF2-40B4-BE49-F238E27FC236}">
                <a16:creationId xmlns:a16="http://schemas.microsoft.com/office/drawing/2014/main" id="{C2C1AE9F-1039-4472-A4D2-68B43B3D253B}"/>
              </a:ext>
            </a:extLst>
          </p:cNvPr>
          <p:cNvCxnSpPr/>
          <p:nvPr/>
        </p:nvCxnSpPr>
        <p:spPr>
          <a:xfrm>
            <a:off x="1295400" y="2985129"/>
            <a:ext cx="1219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892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848600" cy="508000"/>
            <a:chOff x="789624" y="1191463"/>
            <a:chExt cx="7848600" cy="508000"/>
          </a:xfrm>
        </p:grpSpPr>
        <p:sp>
          <p:nvSpPr>
            <p:cNvPr id="3" name="AutoShape 52"/>
            <p:cNvSpPr>
              <a:spLocks noChangeArrowheads="1"/>
            </p:cNvSpPr>
            <p:nvPr/>
          </p:nvSpPr>
          <p:spPr bwMode="gray">
            <a:xfrm>
              <a:off x="990600" y="1191463"/>
              <a:ext cx="7647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Sau khi nhấn New, màn hình soạn thảo hiện ra như dưới đây:</a:t>
            </a:r>
            <a:endParaRPr lang="en-US" sz="4000" dirty="0">
              <a:solidFill>
                <a:prstClr val="black"/>
              </a:solidFill>
              <a:latin typeface="Cambria" panose="02040503050406030204" pitchFamily="18" charset="0"/>
            </a:endParaRPr>
          </a:p>
        </p:txBody>
      </p:sp>
      <p:pic>
        <p:nvPicPr>
          <p:cNvPr id="2050" name="Picture 2" descr="h3_5">
            <a:extLst>
              <a:ext uri="{FF2B5EF4-FFF2-40B4-BE49-F238E27FC236}">
                <a16:creationId xmlns:a16="http://schemas.microsoft.com/office/drawing/2014/main" id="{6852E97F-7282-4818-8C62-0F7036AE4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5199" y="2324582"/>
            <a:ext cx="7874002" cy="4470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7890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848600" cy="508000"/>
            <a:chOff x="789624" y="1191463"/>
            <a:chExt cx="7848600" cy="508000"/>
          </a:xfrm>
        </p:grpSpPr>
        <p:sp>
          <p:nvSpPr>
            <p:cNvPr id="3" name="AutoShape 52"/>
            <p:cNvSpPr>
              <a:spLocks noChangeArrowheads="1"/>
            </p:cNvSpPr>
            <p:nvPr/>
          </p:nvSpPr>
          <p:spPr bwMode="gray">
            <a:xfrm>
              <a:off x="990600" y="1191463"/>
              <a:ext cx="7647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Ở hình trên ta thấy mặc định là “Untitled”, ta thử soạn thảo một số lệnh như trong hình rồi lưu lại với test “first.py” py là phần mở rộng của Python:</a:t>
            </a:r>
            <a:endParaRPr lang="en-US"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800F7142-47C0-4EEF-A802-B0E40013056A}"/>
              </a:ext>
            </a:extLst>
          </p:cNvPr>
          <p:cNvPicPr>
            <a:picLocks noChangeAspect="1"/>
          </p:cNvPicPr>
          <p:nvPr/>
        </p:nvPicPr>
        <p:blipFill>
          <a:blip r:embed="rId3"/>
          <a:stretch>
            <a:fillRect/>
          </a:stretch>
        </p:blipFill>
        <p:spPr>
          <a:xfrm>
            <a:off x="2717006" y="2895601"/>
            <a:ext cx="6503194" cy="3954760"/>
          </a:xfrm>
          <a:prstGeom prst="rect">
            <a:avLst/>
          </a:prstGeom>
        </p:spPr>
      </p:pic>
    </p:spTree>
    <p:extLst>
      <p:ext uri="{BB962C8B-B14F-4D97-AF65-F5344CB8AC3E}">
        <p14:creationId xmlns:p14="http://schemas.microsoft.com/office/powerpoint/2010/main" val="18582210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848600" cy="508000"/>
            <a:chOff x="789624" y="1191463"/>
            <a:chExt cx="7848600" cy="508000"/>
          </a:xfrm>
        </p:grpSpPr>
        <p:sp>
          <p:nvSpPr>
            <p:cNvPr id="3" name="AutoShape 52"/>
            <p:cNvSpPr>
              <a:spLocks noChangeArrowheads="1"/>
            </p:cNvSpPr>
            <p:nvPr/>
          </p:nvSpPr>
          <p:spPr bwMode="gray">
            <a:xfrm>
              <a:off x="990600" y="1191463"/>
              <a:ext cx="7647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90000"/>
              </a:lnSpc>
              <a:spcBef>
                <a:spcPts val="1000"/>
              </a:spcBef>
              <a:buClr>
                <a:srgbClr val="215D9F"/>
              </a:buClr>
              <a:buNone/>
            </a:pPr>
            <a:r>
              <a:rPr lang="vi-VN" sz="4000" dirty="0">
                <a:solidFill>
                  <a:prstClr val="black"/>
                </a:solidFill>
                <a:latin typeface="Cambria" panose="02040503050406030204" pitchFamily="18" charset="0"/>
              </a:rPr>
              <a:t>Ở màn hình trên Tui lưu vào ổ </a:t>
            </a:r>
            <a:r>
              <a:rPr lang="en-US" sz="4000" dirty="0">
                <a:solidFill>
                  <a:prstClr val="black"/>
                </a:solidFill>
                <a:latin typeface="Cambria" panose="02040503050406030204" pitchFamily="18" charset="0"/>
              </a:rPr>
              <a:t>D</a:t>
            </a:r>
            <a:r>
              <a:rPr lang="vi-VN" sz="4000" dirty="0">
                <a:solidFill>
                  <a:prstClr val="black"/>
                </a:solidFill>
                <a:latin typeface="Cambria" panose="02040503050406030204" pitchFamily="18" charset="0"/>
              </a:rPr>
              <a:t>:/</a:t>
            </a:r>
            <a:r>
              <a:rPr lang="en-US" sz="4000" dirty="0">
                <a:solidFill>
                  <a:prstClr val="black"/>
                </a:solidFill>
                <a:latin typeface="Cambria" panose="02040503050406030204" pitchFamily="18" charset="0"/>
              </a:rPr>
              <a:t>El</a:t>
            </a:r>
            <a:r>
              <a:rPr lang="vi-VN" sz="4000" dirty="0">
                <a:solidFill>
                  <a:prstClr val="black"/>
                </a:solidFill>
                <a:latin typeface="Cambria" panose="02040503050406030204" pitchFamily="18" charset="0"/>
              </a:rPr>
              <a:t>earn</a:t>
            </a:r>
            <a:r>
              <a:rPr lang="en-US" sz="4000" dirty="0">
                <a:solidFill>
                  <a:prstClr val="black"/>
                </a:solidFill>
                <a:latin typeface="Cambria" panose="02040503050406030204" pitchFamily="18" charset="0"/>
              </a:rPr>
              <a:t>/</a:t>
            </a:r>
            <a:r>
              <a:rPr lang="vi-VN" sz="4000" dirty="0">
                <a:solidFill>
                  <a:prstClr val="black"/>
                </a:solidFill>
                <a:latin typeface="Cambria" panose="02040503050406030204" pitchFamily="18" charset="0"/>
              </a:rPr>
              <a:t>Python</a:t>
            </a:r>
            <a:r>
              <a:rPr lang="en-US" sz="4000" dirty="0">
                <a:solidFill>
                  <a:prstClr val="black"/>
                </a:solidFill>
                <a:latin typeface="Cambria" panose="02040503050406030204" pitchFamily="18" charset="0"/>
              </a:rPr>
              <a:t>/Practice</a:t>
            </a:r>
            <a:r>
              <a:rPr lang="vi-VN" sz="4000" dirty="0">
                <a:solidFill>
                  <a:prstClr val="black"/>
                </a:solidFill>
                <a:latin typeface="Cambria" panose="02040503050406030204" pitchFamily="18" charset="0"/>
              </a:rPr>
              <a:t> rồi nhấn Save:</a:t>
            </a:r>
            <a:endParaRPr lang="en-US"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71E10165-B657-47EE-A9A0-67BE6402DBD6}"/>
              </a:ext>
            </a:extLst>
          </p:cNvPr>
          <p:cNvPicPr>
            <a:picLocks noChangeAspect="1"/>
          </p:cNvPicPr>
          <p:nvPr/>
        </p:nvPicPr>
        <p:blipFill>
          <a:blip r:embed="rId3"/>
          <a:stretch>
            <a:fillRect/>
          </a:stretch>
        </p:blipFill>
        <p:spPr>
          <a:xfrm>
            <a:off x="1977679" y="2362200"/>
            <a:ext cx="8389042" cy="4105276"/>
          </a:xfrm>
          <a:prstGeom prst="rect">
            <a:avLst/>
          </a:prstGeom>
        </p:spPr>
      </p:pic>
    </p:spTree>
    <p:extLst>
      <p:ext uri="{BB962C8B-B14F-4D97-AF65-F5344CB8AC3E}">
        <p14:creationId xmlns:p14="http://schemas.microsoft.com/office/powerpoint/2010/main" val="15176970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848600" cy="508000"/>
            <a:chOff x="789624" y="1191463"/>
            <a:chExt cx="7848600" cy="508000"/>
          </a:xfrm>
        </p:grpSpPr>
        <p:sp>
          <p:nvSpPr>
            <p:cNvPr id="3" name="AutoShape 52"/>
            <p:cNvSpPr>
              <a:spLocks noChangeArrowheads="1"/>
            </p:cNvSpPr>
            <p:nvPr/>
          </p:nvSpPr>
          <p:spPr bwMode="gray">
            <a:xfrm>
              <a:off x="990600" y="1191463"/>
              <a:ext cx="7647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Hình trên các bạn thấy chữ Untitled được đổi thành first.py cùng với nơi lưu trữ của mã nguồn Python.</a:t>
            </a: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Sau đó ta vào menu Run/ chọn Run Module (hoặc nhấn phím F5):</a:t>
            </a:r>
            <a:endParaRPr lang="en-US"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3CB99166-61B4-4424-978C-60F6904F40CC}"/>
              </a:ext>
            </a:extLst>
          </p:cNvPr>
          <p:cNvPicPr>
            <a:picLocks noChangeAspect="1"/>
          </p:cNvPicPr>
          <p:nvPr/>
        </p:nvPicPr>
        <p:blipFill>
          <a:blip r:embed="rId3"/>
          <a:stretch>
            <a:fillRect/>
          </a:stretch>
        </p:blipFill>
        <p:spPr>
          <a:xfrm>
            <a:off x="2671763" y="3505200"/>
            <a:ext cx="6853238" cy="3375336"/>
          </a:xfrm>
          <a:prstGeom prst="rect">
            <a:avLst/>
          </a:prstGeom>
        </p:spPr>
      </p:pic>
    </p:spTree>
    <p:extLst>
      <p:ext uri="{BB962C8B-B14F-4D97-AF65-F5344CB8AC3E}">
        <p14:creationId xmlns:p14="http://schemas.microsoft.com/office/powerpoint/2010/main" val="19790347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848600" cy="508000"/>
            <a:chOff x="789624" y="1191463"/>
            <a:chExt cx="7848600" cy="508000"/>
          </a:xfrm>
        </p:grpSpPr>
        <p:sp>
          <p:nvSpPr>
            <p:cNvPr id="3" name="AutoShape 52"/>
            <p:cNvSpPr>
              <a:spLocks noChangeArrowheads="1"/>
            </p:cNvSpPr>
            <p:nvPr/>
          </p:nvSpPr>
          <p:spPr bwMode="gray">
            <a:xfrm>
              <a:off x="990600" y="1191463"/>
              <a:ext cx="7647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1.Công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chính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thống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Chương trình cho ra kết quả:</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Tương tự để chạy các file mã nguồn khác ta có thể vào File/ Open để chọn file mã nguồn.</a:t>
            </a:r>
          </a:p>
          <a:p>
            <a:pPr marL="0" lvl="0" indent="0" algn="just">
              <a:lnSpc>
                <a:spcPct val="90000"/>
              </a:lnSpc>
              <a:spcBef>
                <a:spcPts val="1000"/>
              </a:spcBef>
              <a:buClr>
                <a:srgbClr val="215D9F"/>
              </a:buClr>
              <a:buNone/>
            </a:pPr>
            <a:endParaRPr lang="vi-VN"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5604D73D-C942-4812-9615-42CB4129797B}"/>
              </a:ext>
            </a:extLst>
          </p:cNvPr>
          <p:cNvPicPr>
            <a:picLocks noChangeAspect="1"/>
          </p:cNvPicPr>
          <p:nvPr/>
        </p:nvPicPr>
        <p:blipFill rotWithShape="1">
          <a:blip r:embed="rId3"/>
          <a:srcRect t="68889"/>
          <a:stretch/>
        </p:blipFill>
        <p:spPr>
          <a:xfrm>
            <a:off x="699916" y="2421731"/>
            <a:ext cx="10792168" cy="2014538"/>
          </a:xfrm>
          <a:prstGeom prst="rect">
            <a:avLst/>
          </a:prstGeom>
        </p:spPr>
      </p:pic>
    </p:spTree>
    <p:extLst>
      <p:ext uri="{BB962C8B-B14F-4D97-AF65-F5344CB8AC3E}">
        <p14:creationId xmlns:p14="http://schemas.microsoft.com/office/powerpoint/2010/main" val="7388736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086600" cy="508000"/>
            <a:chOff x="789624" y="1191463"/>
            <a:chExt cx="7086600" cy="508000"/>
          </a:xfrm>
        </p:grpSpPr>
        <p:sp>
          <p:nvSpPr>
            <p:cNvPr id="3" name="AutoShape 52"/>
            <p:cNvSpPr>
              <a:spLocks noChangeArrowheads="1"/>
            </p:cNvSpPr>
            <p:nvPr/>
          </p:nvSpPr>
          <p:spPr bwMode="gray">
            <a:xfrm>
              <a:off x="990600" y="1191463"/>
              <a:ext cx="68856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2. </a:t>
              </a:r>
              <a:r>
                <a:rPr lang="en-US" sz="4000" b="1" dirty="0" err="1">
                  <a:solidFill>
                    <a:prstClr val="black"/>
                  </a:solidFill>
                  <a:latin typeface="Cambria" panose="02040503050406030204" pitchFamily="18" charset="0"/>
                </a:rPr>
                <a:t>Công</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wingide</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90000"/>
              </a:lnSpc>
              <a:spcBef>
                <a:spcPts val="1000"/>
              </a:spcBef>
              <a:buClr>
                <a:srgbClr val="215D9F"/>
              </a:buClr>
              <a:buNone/>
            </a:pPr>
            <a:r>
              <a:rPr lang="en-US" sz="4000" dirty="0" err="1">
                <a:solidFill>
                  <a:prstClr val="black"/>
                </a:solidFill>
                <a:latin typeface="Cambria" panose="02040503050406030204" pitchFamily="18" charset="0"/>
              </a:rPr>
              <a:t>wingide</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cũng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là</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một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công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cụ</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lập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r>
              <a:rPr lang="en-US" sz="4000" dirty="0">
                <a:solidFill>
                  <a:prstClr val="black"/>
                </a:solidFill>
                <a:latin typeface="Cambria" panose="02040503050406030204" pitchFamily="18" charset="0"/>
              </a:rPr>
              <a:t> Python </a:t>
            </a:r>
            <a:r>
              <a:rPr lang="en-US" sz="4000" dirty="0" err="1">
                <a:solidFill>
                  <a:prstClr val="black"/>
                </a:solidFill>
                <a:latin typeface="Cambria" panose="02040503050406030204" pitchFamily="18" charset="0"/>
              </a:rPr>
              <a:t>khá</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mạnh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mẽ</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các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bạn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tải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tại</a:t>
            </a:r>
            <a:r>
              <a:rPr lang="en-US" sz="4000" dirty="0">
                <a:solidFill>
                  <a:prstClr val="black"/>
                </a:solidFill>
                <a:latin typeface="Cambria" panose="02040503050406030204" pitchFamily="18" charset="0"/>
              </a:rPr>
              <a:t>: http://wingware.com/downloads/wingide-101</a:t>
            </a:r>
          </a:p>
        </p:txBody>
      </p:sp>
      <p:pic>
        <p:nvPicPr>
          <p:cNvPr id="8" name="Picture 7">
            <a:extLst>
              <a:ext uri="{FF2B5EF4-FFF2-40B4-BE49-F238E27FC236}">
                <a16:creationId xmlns:a16="http://schemas.microsoft.com/office/drawing/2014/main" id="{F4EE2E17-2487-4CC1-ADC4-EA94ED82F683}"/>
              </a:ext>
            </a:extLst>
          </p:cNvPr>
          <p:cNvPicPr>
            <a:picLocks noChangeAspect="1"/>
          </p:cNvPicPr>
          <p:nvPr/>
        </p:nvPicPr>
        <p:blipFill>
          <a:blip r:embed="rId3"/>
          <a:stretch>
            <a:fillRect/>
          </a:stretch>
        </p:blipFill>
        <p:spPr>
          <a:xfrm>
            <a:off x="2895600" y="2810718"/>
            <a:ext cx="6553200" cy="3988124"/>
          </a:xfrm>
          <a:prstGeom prst="rect">
            <a:avLst/>
          </a:prstGeom>
        </p:spPr>
      </p:pic>
      <p:cxnSp>
        <p:nvCxnSpPr>
          <p:cNvPr id="10" name="Straight Arrow Connector 9">
            <a:extLst>
              <a:ext uri="{FF2B5EF4-FFF2-40B4-BE49-F238E27FC236}">
                <a16:creationId xmlns:a16="http://schemas.microsoft.com/office/drawing/2014/main" id="{3C0A2AB8-6DBC-4F37-8FBA-932D52CC4233}"/>
              </a:ext>
            </a:extLst>
          </p:cNvPr>
          <p:cNvCxnSpPr/>
          <p:nvPr/>
        </p:nvCxnSpPr>
        <p:spPr>
          <a:xfrm>
            <a:off x="8610600" y="2895600"/>
            <a:ext cx="0" cy="80486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08858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239000" cy="508000"/>
            <a:chOff x="789624" y="1191463"/>
            <a:chExt cx="7239000" cy="508000"/>
          </a:xfrm>
        </p:grpSpPr>
        <p:sp>
          <p:nvSpPr>
            <p:cNvPr id="3" name="AutoShape 52"/>
            <p:cNvSpPr>
              <a:spLocks noChangeArrowheads="1"/>
            </p:cNvSpPr>
            <p:nvPr/>
          </p:nvSpPr>
          <p:spPr bwMode="gray">
            <a:xfrm>
              <a:off x="990600" y="1191463"/>
              <a:ext cx="7038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3.Công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PyCharm</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90000"/>
              </a:lnSpc>
              <a:spcBef>
                <a:spcPts val="1000"/>
              </a:spcBef>
              <a:buClr>
                <a:srgbClr val="215D9F"/>
              </a:buClr>
              <a:buNone/>
            </a:pPr>
            <a:r>
              <a:rPr lang="vi-VN" sz="4000" dirty="0">
                <a:solidFill>
                  <a:prstClr val="black"/>
                </a:solidFill>
                <a:latin typeface="Cambria" panose="02040503050406030204" pitchFamily="18" charset="0"/>
              </a:rPr>
              <a:t>Đây là công cụ rất nổi tiếng, rất quen thuộc đặc biệt với những ai đã lập trình Android Studio.</a:t>
            </a:r>
          </a:p>
          <a:p>
            <a:pPr marL="0" lvl="0" indent="0">
              <a:lnSpc>
                <a:spcPct val="90000"/>
              </a:lnSpc>
              <a:spcBef>
                <a:spcPts val="1000"/>
              </a:spcBef>
              <a:buClr>
                <a:srgbClr val="215D9F"/>
              </a:buClr>
              <a:buNone/>
            </a:pPr>
            <a:r>
              <a:rPr lang="vi-VN" sz="4000" dirty="0">
                <a:solidFill>
                  <a:prstClr val="black"/>
                </a:solidFill>
                <a:latin typeface="Cambria" panose="02040503050406030204" pitchFamily="18" charset="0"/>
              </a:rPr>
              <a:t>Hiện hãng cho sử dụng bản miễn phí PyCharm Community Edition: </a:t>
            </a:r>
            <a:r>
              <a:rPr lang="vi-VN" sz="4000" dirty="0">
                <a:solidFill>
                  <a:prstClr val="black"/>
                </a:solidFill>
                <a:latin typeface="Cambria" panose="02040503050406030204" pitchFamily="18" charset="0"/>
                <a:hlinkClick r:id="rId3"/>
              </a:rPr>
              <a:t>https://www.jetbrains.com/pycharm</a:t>
            </a:r>
            <a:r>
              <a:rPr lang="en-US" sz="4000" dirty="0">
                <a:solidFill>
                  <a:prstClr val="black"/>
                </a:solidFill>
                <a:latin typeface="Cambria" panose="02040503050406030204" pitchFamily="18" charset="0"/>
              </a:rPr>
              <a:t> </a:t>
            </a:r>
            <a:r>
              <a:rPr lang="vi-VN" sz="4000" dirty="0">
                <a:solidFill>
                  <a:prstClr val="black"/>
                </a:solidFill>
                <a:latin typeface="Cambria" panose="02040503050406030204" pitchFamily="18" charset="0"/>
              </a:rPr>
              <a:t> (kéo xuống gần dưới cùng sẽ có màn hình tải)</a:t>
            </a: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1282819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239000" cy="508000"/>
            <a:chOff x="789624" y="1191463"/>
            <a:chExt cx="7239000" cy="508000"/>
          </a:xfrm>
        </p:grpSpPr>
        <p:sp>
          <p:nvSpPr>
            <p:cNvPr id="3" name="AutoShape 52"/>
            <p:cNvSpPr>
              <a:spLocks noChangeArrowheads="1"/>
            </p:cNvSpPr>
            <p:nvPr/>
          </p:nvSpPr>
          <p:spPr bwMode="gray">
            <a:xfrm>
              <a:off x="990600" y="1191463"/>
              <a:ext cx="7038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3.Công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PyCharm</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087E427F-A395-4144-B939-F4BEAF5D452B}"/>
              </a:ext>
            </a:extLst>
          </p:cNvPr>
          <p:cNvPicPr>
            <a:picLocks noChangeAspect="1"/>
          </p:cNvPicPr>
          <p:nvPr/>
        </p:nvPicPr>
        <p:blipFill>
          <a:blip r:embed="rId3"/>
          <a:stretch>
            <a:fillRect/>
          </a:stretch>
        </p:blipFill>
        <p:spPr>
          <a:xfrm>
            <a:off x="1299079" y="1108155"/>
            <a:ext cx="9746242" cy="5334000"/>
          </a:xfrm>
          <a:prstGeom prst="rect">
            <a:avLst/>
          </a:prstGeom>
          <a:ln>
            <a:solidFill>
              <a:schemeClr val="tx1"/>
            </a:solidFill>
          </a:ln>
        </p:spPr>
      </p:pic>
      <p:cxnSp>
        <p:nvCxnSpPr>
          <p:cNvPr id="10" name="Straight Arrow Connector 9">
            <a:extLst>
              <a:ext uri="{FF2B5EF4-FFF2-40B4-BE49-F238E27FC236}">
                <a16:creationId xmlns:a16="http://schemas.microsoft.com/office/drawing/2014/main" id="{722F8BE1-E24B-4A98-B8DC-062ABD01E669}"/>
              </a:ext>
            </a:extLst>
          </p:cNvPr>
          <p:cNvCxnSpPr/>
          <p:nvPr/>
        </p:nvCxnSpPr>
        <p:spPr>
          <a:xfrm>
            <a:off x="7543800" y="4419600"/>
            <a:ext cx="0" cy="83820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56987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239000" cy="508000"/>
            <a:chOff x="789624" y="1191463"/>
            <a:chExt cx="7239000" cy="508000"/>
          </a:xfrm>
        </p:grpSpPr>
        <p:sp>
          <p:nvSpPr>
            <p:cNvPr id="3" name="AutoShape 52"/>
            <p:cNvSpPr>
              <a:spLocks noChangeArrowheads="1"/>
            </p:cNvSpPr>
            <p:nvPr/>
          </p:nvSpPr>
          <p:spPr bwMode="gray">
            <a:xfrm>
              <a:off x="990600" y="1191463"/>
              <a:ext cx="7038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3.Công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PyCharm</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Ta thấy có nhiều giới hạn trong bản miễn phí (Community) như</a:t>
            </a:r>
            <a:r>
              <a:rPr lang="en-US" sz="4000" dirty="0" err="1">
                <a:solidFill>
                  <a:prstClr val="black"/>
                </a:solidFill>
                <a:latin typeface="Cambria" panose="02040503050406030204" pitchFamily="18" charset="0"/>
              </a:rPr>
              <a:t>ng</a:t>
            </a:r>
            <a:r>
              <a:rPr lang="vi-VN" sz="4000" dirty="0">
                <a:solidFill>
                  <a:prstClr val="black"/>
                </a:solidFill>
                <a:latin typeface="Cambria" panose="02040503050406030204" pitchFamily="18" charset="0"/>
              </a:rPr>
              <a:t> không có lập trình Web. Còn bản Professional thì có đầy đủ và cho sử dụng thử 30 ngày nhé các bạn.</a:t>
            </a:r>
            <a:r>
              <a:rPr lang="en-US" sz="4000" dirty="0">
                <a:solidFill>
                  <a:prstClr val="black"/>
                </a:solidFill>
                <a:latin typeface="Cambria" panose="02040503050406030204" pitchFamily="18" charset="0"/>
              </a:rPr>
              <a:t> </a:t>
            </a:r>
            <a:r>
              <a:rPr lang="vi-VN" sz="4000" dirty="0">
                <a:solidFill>
                  <a:prstClr val="black"/>
                </a:solidFill>
                <a:latin typeface="Cambria" panose="02040503050406030204" pitchFamily="18" charset="0"/>
              </a:rPr>
              <a:t>Hoặc bạn có thể vào link: </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hlinkClick r:id="rId3"/>
              </a:rPr>
              <a:t>https://www.jetbrains.com/pycharm/download/#section=windows</a:t>
            </a:r>
            <a:r>
              <a:rPr lang="en-US" sz="4000" dirty="0">
                <a:solidFill>
                  <a:prstClr val="black"/>
                </a:solidFill>
                <a:latin typeface="Cambria" panose="02040503050406030204" pitchFamily="18" charset="0"/>
              </a:rPr>
              <a:t> </a:t>
            </a:r>
          </a:p>
        </p:txBody>
      </p:sp>
      <p:pic>
        <p:nvPicPr>
          <p:cNvPr id="9" name="Picture 8">
            <a:extLst>
              <a:ext uri="{FF2B5EF4-FFF2-40B4-BE49-F238E27FC236}">
                <a16:creationId xmlns:a16="http://schemas.microsoft.com/office/drawing/2014/main" id="{42BDC090-10DF-4806-99C3-7B37A2E06DF8}"/>
              </a:ext>
            </a:extLst>
          </p:cNvPr>
          <p:cNvPicPr>
            <a:picLocks noChangeAspect="1"/>
          </p:cNvPicPr>
          <p:nvPr/>
        </p:nvPicPr>
        <p:blipFill>
          <a:blip r:embed="rId4"/>
          <a:stretch>
            <a:fillRect/>
          </a:stretch>
        </p:blipFill>
        <p:spPr>
          <a:xfrm>
            <a:off x="4821176" y="4073890"/>
            <a:ext cx="5943601" cy="2758711"/>
          </a:xfrm>
          <a:prstGeom prst="rect">
            <a:avLst/>
          </a:prstGeom>
        </p:spPr>
      </p:pic>
      <p:cxnSp>
        <p:nvCxnSpPr>
          <p:cNvPr id="15" name="Straight Arrow Connector 14">
            <a:extLst>
              <a:ext uri="{FF2B5EF4-FFF2-40B4-BE49-F238E27FC236}">
                <a16:creationId xmlns:a16="http://schemas.microsoft.com/office/drawing/2014/main" id="{1B8A98A9-3EE4-4DCE-ACFA-FAD20521DE6D}"/>
              </a:ext>
            </a:extLst>
          </p:cNvPr>
          <p:cNvCxnSpPr>
            <a:cxnSpLocks/>
          </p:cNvCxnSpPr>
          <p:nvPr/>
        </p:nvCxnSpPr>
        <p:spPr>
          <a:xfrm flipH="1">
            <a:off x="8534400" y="5334000"/>
            <a:ext cx="12192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16352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5410200" cy="508000"/>
            <a:chOff x="789624" y="1191463"/>
            <a:chExt cx="5410200" cy="508000"/>
          </a:xfrm>
        </p:grpSpPr>
        <p:sp>
          <p:nvSpPr>
            <p:cNvPr id="3" name="AutoShape 52"/>
            <p:cNvSpPr>
              <a:spLocks noChangeArrowheads="1"/>
            </p:cNvSpPr>
            <p:nvPr/>
          </p:nvSpPr>
          <p:spPr bwMode="gray">
            <a:xfrm>
              <a:off x="990600" y="1191463"/>
              <a:ext cx="5209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3.Công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PyCharm</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49</a:t>
            </a:fld>
            <a:endParaRPr lang="en-US"/>
          </a:p>
        </p:txBody>
      </p:sp>
      <p:sp>
        <p:nvSpPr>
          <p:cNvPr id="14" name="Content Placeholder 2"/>
          <p:cNvSpPr txBox="1">
            <a:spLocks/>
          </p:cNvSpPr>
          <p:nvPr/>
        </p:nvSpPr>
        <p:spPr>
          <a:xfrm>
            <a:off x="457200" y="1076325"/>
            <a:ext cx="5715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90000"/>
              </a:lnSpc>
              <a:spcBef>
                <a:spcPts val="1000"/>
              </a:spcBef>
              <a:buClr>
                <a:srgbClr val="215D9F"/>
              </a:buClr>
              <a:buNone/>
            </a:pPr>
            <a:r>
              <a:rPr lang="vi-VN" sz="4000" dirty="0">
                <a:solidFill>
                  <a:prstClr val="black"/>
                </a:solidFill>
                <a:latin typeface="Cambria" panose="02040503050406030204" pitchFamily="18" charset="0"/>
              </a:rPr>
              <a:t>Chúng ta chọn Download bản Community tải về máy rồi tiến hành cài đặt, và nên đưa ra màn hình Desktop để ta sử dụng (vì đây là công cụ Tui sẽ sử dụng cho toàn bộ các bài học):</a:t>
            </a:r>
            <a:endParaRPr lang="en-US"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93FF20D9-E911-4DD2-8508-BDD724FC7826}"/>
              </a:ext>
            </a:extLst>
          </p:cNvPr>
          <p:cNvPicPr>
            <a:picLocks noChangeAspect="1"/>
          </p:cNvPicPr>
          <p:nvPr/>
        </p:nvPicPr>
        <p:blipFill>
          <a:blip r:embed="rId3"/>
          <a:stretch>
            <a:fillRect/>
          </a:stretch>
        </p:blipFill>
        <p:spPr>
          <a:xfrm>
            <a:off x="6629400" y="1066924"/>
            <a:ext cx="4724400" cy="5400552"/>
          </a:xfrm>
          <a:prstGeom prst="rect">
            <a:avLst/>
          </a:prstGeom>
        </p:spPr>
      </p:pic>
      <p:cxnSp>
        <p:nvCxnSpPr>
          <p:cNvPr id="11" name="Straight Arrow Connector 10">
            <a:extLst>
              <a:ext uri="{FF2B5EF4-FFF2-40B4-BE49-F238E27FC236}">
                <a16:creationId xmlns:a16="http://schemas.microsoft.com/office/drawing/2014/main" id="{20D21A07-74A9-466A-A994-67325376456E}"/>
              </a:ext>
            </a:extLst>
          </p:cNvPr>
          <p:cNvCxnSpPr/>
          <p:nvPr/>
        </p:nvCxnSpPr>
        <p:spPr>
          <a:xfrm flipH="1">
            <a:off x="9601200" y="4648200"/>
            <a:ext cx="11430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894397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315200" cy="508000"/>
            <a:chOff x="789624" y="1191463"/>
            <a:chExt cx="7315200" cy="508000"/>
          </a:xfrm>
        </p:grpSpPr>
        <p:sp>
          <p:nvSpPr>
            <p:cNvPr id="3" name="AutoShape 52"/>
            <p:cNvSpPr>
              <a:spLocks noChangeArrowheads="1"/>
            </p:cNvSpPr>
            <p:nvPr/>
          </p:nvSpPr>
          <p:spPr bwMode="gray">
            <a:xfrm>
              <a:off x="990600" y="1191463"/>
              <a:ext cx="7114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3.Công </a:t>
              </a:r>
              <a:r>
                <a:rPr lang="en-US" sz="4000" b="1" dirty="0" err="1">
                  <a:solidFill>
                    <a:prstClr val="black"/>
                  </a:solidFill>
                  <a:latin typeface="Cambria" panose="02040503050406030204" pitchFamily="18" charset="0"/>
                </a:rPr>
                <a:t>cụ</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PyCharm</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50</a:t>
            </a:fld>
            <a:endParaRPr lang="en-US"/>
          </a:p>
        </p:txBody>
      </p:sp>
      <p:sp>
        <p:nvSpPr>
          <p:cNvPr id="14" name="Content Placeholder 2"/>
          <p:cNvSpPr txBox="1">
            <a:spLocks/>
          </p:cNvSpPr>
          <p:nvPr/>
        </p:nvSpPr>
        <p:spPr>
          <a:xfrm>
            <a:off x="457200" y="1076325"/>
            <a:ext cx="44196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Ta khởi động phần mềm PyCharm lên sẽ có giao diện đầu tiên như </a:t>
            </a:r>
            <a:r>
              <a:rPr lang="en-US" sz="4000" dirty="0" err="1">
                <a:solidFill>
                  <a:prstClr val="black"/>
                </a:solidFill>
                <a:latin typeface="Cambria" panose="02040503050406030204" pitchFamily="18" charset="0"/>
              </a:rPr>
              <a:t>bên</a:t>
            </a:r>
            <a:r>
              <a:rPr lang="en-US" sz="40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Các bạn thấy tính tới thời điểm Tui </a:t>
            </a:r>
            <a:r>
              <a:rPr lang="en-US" sz="4000" dirty="0" err="1">
                <a:solidFill>
                  <a:prstClr val="black"/>
                </a:solidFill>
                <a:latin typeface="Cambria" panose="02040503050406030204" pitchFamily="18" charset="0"/>
              </a:rPr>
              <a:t>giảng</a:t>
            </a:r>
            <a:r>
              <a:rPr lang="en-US" sz="4000" dirty="0">
                <a:solidFill>
                  <a:prstClr val="black"/>
                </a:solidFill>
                <a:latin typeface="Cambria" panose="02040503050406030204" pitchFamily="18" charset="0"/>
              </a:rPr>
              <a:t> </a:t>
            </a:r>
            <a:r>
              <a:rPr lang="vi-VN" sz="4000" dirty="0">
                <a:solidFill>
                  <a:prstClr val="black"/>
                </a:solidFill>
                <a:latin typeface="Cambria" panose="02040503050406030204" pitchFamily="18" charset="0"/>
              </a:rPr>
              <a:t>bài này thì version mới nhất là 201</a:t>
            </a:r>
            <a:r>
              <a:rPr lang="en-US" sz="4000" dirty="0">
                <a:solidFill>
                  <a:prstClr val="black"/>
                </a:solidFill>
                <a:latin typeface="Cambria" panose="02040503050406030204" pitchFamily="18" charset="0"/>
              </a:rPr>
              <a:t>7</a:t>
            </a:r>
            <a:r>
              <a:rPr lang="vi-VN" sz="4000" dirty="0">
                <a:solidFill>
                  <a:prstClr val="black"/>
                </a:solidFill>
                <a:latin typeface="Cambria" panose="02040503050406030204" pitchFamily="18" charset="0"/>
              </a:rPr>
              <a:t>.</a:t>
            </a:r>
            <a:r>
              <a:rPr lang="en-US" sz="4000" dirty="0">
                <a:solidFill>
                  <a:prstClr val="black"/>
                </a:solidFill>
                <a:latin typeface="Cambria" panose="02040503050406030204" pitchFamily="18" charset="0"/>
              </a:rPr>
              <a:t>3</a:t>
            </a:r>
            <a:r>
              <a:rPr lang="vi-VN" sz="4000" dirty="0">
                <a:solidFill>
                  <a:prstClr val="black"/>
                </a:solidFill>
                <a:latin typeface="Cambria" panose="02040503050406030204" pitchFamily="18" charset="0"/>
              </a:rPr>
              <a:t>.3.</a:t>
            </a:r>
          </a:p>
        </p:txBody>
      </p:sp>
      <p:pic>
        <p:nvPicPr>
          <p:cNvPr id="8" name="Picture 7">
            <a:extLst>
              <a:ext uri="{FF2B5EF4-FFF2-40B4-BE49-F238E27FC236}">
                <a16:creationId xmlns:a16="http://schemas.microsoft.com/office/drawing/2014/main" id="{17572802-F635-4C22-B349-5E7A6AE2D556}"/>
              </a:ext>
            </a:extLst>
          </p:cNvPr>
          <p:cNvPicPr>
            <a:picLocks noChangeAspect="1"/>
          </p:cNvPicPr>
          <p:nvPr/>
        </p:nvPicPr>
        <p:blipFill>
          <a:blip r:embed="rId3"/>
          <a:stretch>
            <a:fillRect/>
          </a:stretch>
        </p:blipFill>
        <p:spPr>
          <a:xfrm>
            <a:off x="5029200" y="1506717"/>
            <a:ext cx="7018181" cy="4387489"/>
          </a:xfrm>
          <a:prstGeom prst="rect">
            <a:avLst/>
          </a:prstGeom>
        </p:spPr>
      </p:pic>
    </p:spTree>
    <p:extLst>
      <p:ext uri="{BB962C8B-B14F-4D97-AF65-F5344CB8AC3E}">
        <p14:creationId xmlns:p14="http://schemas.microsoft.com/office/powerpoint/2010/main" val="28513385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509837" y="7620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en-US" sz="6000" kern="0" dirty="0" err="1">
                <a:solidFill>
                  <a:srgbClr val="002060"/>
                </a:solidFill>
                <a:latin typeface="Cambria" panose="02040503050406030204" pitchFamily="18" charset="0"/>
              </a:rPr>
              <a:t>Tạo</a:t>
            </a:r>
            <a:r>
              <a:rPr lang="en-US" sz="6000" kern="0" dirty="0">
                <a:solidFill>
                  <a:srgbClr val="002060"/>
                </a:solidFill>
                <a:latin typeface="Cambria" panose="02040503050406030204" pitchFamily="18" charset="0"/>
              </a:rPr>
              <a:t> Project Python </a:t>
            </a:r>
            <a:r>
              <a:rPr lang="en-US" sz="6000" kern="0" dirty="0" err="1">
                <a:solidFill>
                  <a:srgbClr val="002060"/>
                </a:solidFill>
                <a:latin typeface="Cambria" panose="02040503050406030204" pitchFamily="18" charset="0"/>
              </a:rPr>
              <a:t>trong</a:t>
            </a:r>
            <a:r>
              <a:rPr lang="en-US" sz="6000" kern="0" dirty="0">
                <a:solidFill>
                  <a:srgbClr val="002060"/>
                </a:solidFill>
                <a:latin typeface="Cambria" panose="02040503050406030204" pitchFamily="18" charset="0"/>
              </a:rPr>
              <a:t> </a:t>
            </a:r>
            <a:r>
              <a:rPr lang="en-US" sz="6000" kern="0" dirty="0" err="1">
                <a:solidFill>
                  <a:srgbClr val="002060"/>
                </a:solidFill>
                <a:latin typeface="Cambria" panose="02040503050406030204" pitchFamily="18" charset="0"/>
              </a:rPr>
              <a:t>PyCharm</a:t>
            </a:r>
            <a:endParaRPr lang="en-US" sz="60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51</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4825" y="25146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668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Khi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khởi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động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PyCharm</a:t>
            </a:r>
            <a:r>
              <a:rPr lang="en-US" sz="4000" dirty="0">
                <a:solidFill>
                  <a:prstClr val="black"/>
                </a:solidFill>
                <a:latin typeface="Cambria" panose="02040503050406030204" pitchFamily="18" charset="0"/>
              </a:rPr>
              <a:t>, ta </a:t>
            </a:r>
            <a:r>
              <a:rPr lang="en-US" sz="4000" dirty="0" err="1">
                <a:solidFill>
                  <a:prstClr val="black"/>
                </a:solidFill>
                <a:latin typeface="Cambria" panose="02040503050406030204" pitchFamily="18" charset="0"/>
              </a:rPr>
              <a:t>sẽ</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giao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diện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bên</a:t>
            </a:r>
            <a:r>
              <a:rPr lang="en-US" sz="4000" dirty="0">
                <a:solidFill>
                  <a:prstClr val="black"/>
                </a:solidFill>
                <a:latin typeface="Cambria" panose="02040503050406030204" pitchFamily="18" charset="0"/>
              </a:rPr>
              <a:t> d</a:t>
            </a:r>
            <a:r>
              <a:rPr lang="vi-VN" sz="4000" dirty="0">
                <a:solidFill>
                  <a:prstClr val="black"/>
                </a:solidFill>
                <a:latin typeface="Cambria" panose="02040503050406030204" pitchFamily="18" charset="0"/>
              </a:rPr>
              <a:t>ư</a:t>
            </a:r>
            <a:r>
              <a:rPr lang="en-US" sz="4000" dirty="0" err="1">
                <a:solidFill>
                  <a:prstClr val="black"/>
                </a:solidFill>
                <a:latin typeface="Cambria" panose="02040503050406030204" pitchFamily="18" charset="0"/>
              </a:rPr>
              <a:t>ới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bấm</a:t>
            </a:r>
            <a:r>
              <a:rPr lang="en-US" sz="4000" dirty="0">
                <a:solidFill>
                  <a:prstClr val="black"/>
                </a:solidFill>
                <a:latin typeface="Cambria" panose="02040503050406030204" pitchFamily="18" charset="0"/>
              </a:rPr>
              <a:t> </a:t>
            </a:r>
            <a:r>
              <a:rPr lang="en-US" sz="4000" b="1" dirty="0">
                <a:solidFill>
                  <a:prstClr val="black"/>
                </a:solidFill>
                <a:latin typeface="Cambria" panose="02040503050406030204" pitchFamily="18" charset="0"/>
              </a:rPr>
              <a:t>Create New Project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tạo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dự</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án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mới</a:t>
            </a:r>
            <a:r>
              <a:rPr lang="en-US" sz="4000" dirty="0">
                <a:solidFill>
                  <a:prstClr val="black"/>
                </a:solidFill>
                <a:latin typeface="Cambria" panose="02040503050406030204" pitchFamily="18" charset="0"/>
              </a:rPr>
              <a:t>:</a:t>
            </a:r>
          </a:p>
        </p:txBody>
      </p:sp>
      <p:pic>
        <p:nvPicPr>
          <p:cNvPr id="8" name="Picture 7">
            <a:extLst>
              <a:ext uri="{FF2B5EF4-FFF2-40B4-BE49-F238E27FC236}">
                <a16:creationId xmlns:a16="http://schemas.microsoft.com/office/drawing/2014/main" id="{D6E5FEE8-82A3-4AA8-8657-D87D87EEBB9F}"/>
              </a:ext>
            </a:extLst>
          </p:cNvPr>
          <p:cNvPicPr>
            <a:picLocks noChangeAspect="1"/>
          </p:cNvPicPr>
          <p:nvPr/>
        </p:nvPicPr>
        <p:blipFill>
          <a:blip r:embed="rId3"/>
          <a:stretch>
            <a:fillRect/>
          </a:stretch>
        </p:blipFill>
        <p:spPr>
          <a:xfrm>
            <a:off x="3133725" y="2402250"/>
            <a:ext cx="6076950" cy="4430351"/>
          </a:xfrm>
          <a:prstGeom prst="rect">
            <a:avLst/>
          </a:prstGeom>
        </p:spPr>
      </p:pic>
      <p:cxnSp>
        <p:nvCxnSpPr>
          <p:cNvPr id="10" name="Straight Arrow Connector 9">
            <a:extLst>
              <a:ext uri="{FF2B5EF4-FFF2-40B4-BE49-F238E27FC236}">
                <a16:creationId xmlns:a16="http://schemas.microsoft.com/office/drawing/2014/main" id="{1C63E83B-0325-4BF4-9BC0-728C5FFFE655}"/>
              </a:ext>
            </a:extLst>
          </p:cNvPr>
          <p:cNvCxnSpPr/>
          <p:nvPr/>
        </p:nvCxnSpPr>
        <p:spPr>
          <a:xfrm flipH="1">
            <a:off x="6400800" y="4343400"/>
            <a:ext cx="12192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81080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Location </a:t>
            </a:r>
            <a:r>
              <a:rPr lang="en-US" sz="4000" dirty="0" err="1">
                <a:solidFill>
                  <a:prstClr val="black"/>
                </a:solidFill>
                <a:latin typeface="Cambria" panose="02040503050406030204" pitchFamily="18" charset="0"/>
              </a:rPr>
              <a:t>đặt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tên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HelloWorld</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n</a:t>
            </a:r>
            <a:r>
              <a:rPr lang="vi-VN" sz="4000" dirty="0">
                <a:solidFill>
                  <a:prstClr val="black"/>
                </a:solidFill>
                <a:latin typeface="Cambria" panose="02040503050406030204" pitchFamily="18" charset="0"/>
              </a:rPr>
              <a:t>ơ</a:t>
            </a:r>
            <a:r>
              <a:rPr lang="en-US" sz="4000" dirty="0" err="1">
                <a:solidFill>
                  <a:prstClr val="black"/>
                </a:solidFill>
                <a:latin typeface="Cambria" panose="02040503050406030204" pitchFamily="18" charset="0"/>
              </a:rPr>
              <a:t>i</a:t>
            </a:r>
            <a:r>
              <a:rPr lang="en-US" sz="4000" dirty="0">
                <a:solidFill>
                  <a:prstClr val="black"/>
                </a:solidFill>
                <a:latin typeface="Cambria" panose="02040503050406030204" pitchFamily="18" charset="0"/>
              </a:rPr>
              <a:t> l</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u </a:t>
            </a:r>
            <a:r>
              <a:rPr lang="en-US" sz="4000" dirty="0" err="1">
                <a:solidFill>
                  <a:prstClr val="black"/>
                </a:solidFill>
                <a:latin typeface="Cambria" panose="02040503050406030204" pitchFamily="18" charset="0"/>
              </a:rPr>
              <a:t>trữ</a:t>
            </a:r>
            <a:endParaRPr lang="en-US" sz="4000" dirty="0">
              <a:solidFill>
                <a:prstClr val="black"/>
              </a:solidFill>
              <a:latin typeface="Cambria" panose="02040503050406030204" pitchFamily="18" charset="0"/>
            </a:endParaRPr>
          </a:p>
        </p:txBody>
      </p:sp>
      <p:pic>
        <p:nvPicPr>
          <p:cNvPr id="11" name="Picture 10">
            <a:extLst>
              <a:ext uri="{FF2B5EF4-FFF2-40B4-BE49-F238E27FC236}">
                <a16:creationId xmlns:a16="http://schemas.microsoft.com/office/drawing/2014/main" id="{F8C8045E-3D31-4DA9-BDF4-77B203816683}"/>
              </a:ext>
            </a:extLst>
          </p:cNvPr>
          <p:cNvPicPr>
            <a:picLocks noChangeAspect="1"/>
          </p:cNvPicPr>
          <p:nvPr/>
        </p:nvPicPr>
        <p:blipFill>
          <a:blip r:embed="rId3"/>
          <a:stretch>
            <a:fillRect/>
          </a:stretch>
        </p:blipFill>
        <p:spPr>
          <a:xfrm>
            <a:off x="2883876" y="1855386"/>
            <a:ext cx="6576648" cy="4794652"/>
          </a:xfrm>
          <a:prstGeom prst="rect">
            <a:avLst/>
          </a:prstGeom>
        </p:spPr>
      </p:pic>
    </p:spTree>
    <p:extLst>
      <p:ext uri="{BB962C8B-B14F-4D97-AF65-F5344CB8AC3E}">
        <p14:creationId xmlns:p14="http://schemas.microsoft.com/office/powerpoint/2010/main" val="6784632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Nhấn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Project Interpreter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cấu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hình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thông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dịch</a:t>
            </a:r>
            <a:r>
              <a:rPr lang="en-US" sz="40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Existing:</a:t>
            </a:r>
          </a:p>
        </p:txBody>
      </p:sp>
      <p:pic>
        <p:nvPicPr>
          <p:cNvPr id="8" name="Picture 7">
            <a:extLst>
              <a:ext uri="{FF2B5EF4-FFF2-40B4-BE49-F238E27FC236}">
                <a16:creationId xmlns:a16="http://schemas.microsoft.com/office/drawing/2014/main" id="{1A4C7F8F-EBC1-4AE8-951E-3806078CC3D6}"/>
              </a:ext>
            </a:extLst>
          </p:cNvPr>
          <p:cNvPicPr>
            <a:picLocks noChangeAspect="1"/>
          </p:cNvPicPr>
          <p:nvPr/>
        </p:nvPicPr>
        <p:blipFill>
          <a:blip r:embed="rId3"/>
          <a:stretch>
            <a:fillRect/>
          </a:stretch>
        </p:blipFill>
        <p:spPr>
          <a:xfrm>
            <a:off x="3657600" y="1811439"/>
            <a:ext cx="6362700" cy="4638675"/>
          </a:xfrm>
          <a:prstGeom prst="rect">
            <a:avLst/>
          </a:prstGeom>
        </p:spPr>
      </p:pic>
      <p:cxnSp>
        <p:nvCxnSpPr>
          <p:cNvPr id="10" name="Straight Arrow Connector 9">
            <a:extLst>
              <a:ext uri="{FF2B5EF4-FFF2-40B4-BE49-F238E27FC236}">
                <a16:creationId xmlns:a16="http://schemas.microsoft.com/office/drawing/2014/main" id="{BDF9AC8C-88E2-4E71-A09F-7C289E2F1222}"/>
              </a:ext>
            </a:extLst>
          </p:cNvPr>
          <p:cNvCxnSpPr>
            <a:cxnSpLocks/>
          </p:cNvCxnSpPr>
          <p:nvPr/>
        </p:nvCxnSpPr>
        <p:spPr>
          <a:xfrm flipH="1">
            <a:off x="9823450" y="4582589"/>
            <a:ext cx="533400"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EB0CED6-7AC0-4313-881A-3A9A4FC31F6B}"/>
              </a:ext>
            </a:extLst>
          </p:cNvPr>
          <p:cNvSpPr txBox="1"/>
          <p:nvPr/>
        </p:nvSpPr>
        <p:spPr>
          <a:xfrm>
            <a:off x="10425821" y="4351756"/>
            <a:ext cx="1848776" cy="461665"/>
          </a:xfrm>
          <a:prstGeom prst="rect">
            <a:avLst/>
          </a:prstGeom>
          <a:noFill/>
        </p:spPr>
        <p:txBody>
          <a:bodyPr wrap="none" rtlCol="0">
            <a:spAutoFit/>
          </a:bodyPr>
          <a:lstStyle/>
          <a:p>
            <a:r>
              <a:rPr lang="en-US" sz="2400">
                <a:latin typeface="Cambria" panose="02040503050406030204" pitchFamily="18" charset="0"/>
              </a:rPr>
              <a:t>Bấm vào đây</a:t>
            </a:r>
          </a:p>
        </p:txBody>
      </p:sp>
    </p:spTree>
    <p:extLst>
      <p:ext uri="{BB962C8B-B14F-4D97-AF65-F5344CB8AC3E}">
        <p14:creationId xmlns:p14="http://schemas.microsoft.com/office/powerpoint/2010/main" val="19418428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add Local…</a:t>
            </a:r>
          </a:p>
        </p:txBody>
      </p:sp>
      <p:pic>
        <p:nvPicPr>
          <p:cNvPr id="9" name="Picture 8">
            <a:extLst>
              <a:ext uri="{FF2B5EF4-FFF2-40B4-BE49-F238E27FC236}">
                <a16:creationId xmlns:a16="http://schemas.microsoft.com/office/drawing/2014/main" id="{CE2398B5-3AEC-40B2-BB79-878C1B8AB239}"/>
              </a:ext>
            </a:extLst>
          </p:cNvPr>
          <p:cNvPicPr>
            <a:picLocks noChangeAspect="1"/>
          </p:cNvPicPr>
          <p:nvPr/>
        </p:nvPicPr>
        <p:blipFill>
          <a:blip r:embed="rId3"/>
          <a:stretch>
            <a:fillRect/>
          </a:stretch>
        </p:blipFill>
        <p:spPr>
          <a:xfrm>
            <a:off x="2776537" y="1722216"/>
            <a:ext cx="6791325" cy="4695825"/>
          </a:xfrm>
          <a:prstGeom prst="rect">
            <a:avLst/>
          </a:prstGeom>
        </p:spPr>
      </p:pic>
    </p:spTree>
    <p:extLst>
      <p:ext uri="{BB962C8B-B14F-4D97-AF65-F5344CB8AC3E}">
        <p14:creationId xmlns:p14="http://schemas.microsoft.com/office/powerpoint/2010/main" val="4173413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56</a:t>
            </a:fld>
            <a:endParaRPr lang="en-US"/>
          </a:p>
        </p:txBody>
      </p:sp>
      <p:sp>
        <p:nvSpPr>
          <p:cNvPr id="14" name="Content Placeholder 2"/>
          <p:cNvSpPr txBox="1">
            <a:spLocks/>
          </p:cNvSpPr>
          <p:nvPr/>
        </p:nvSpPr>
        <p:spPr>
          <a:xfrm>
            <a:off x="457200" y="1076325"/>
            <a:ext cx="33528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System Interpreter </a:t>
            </a:r>
            <a:r>
              <a:rPr lang="en-US" sz="4000" dirty="0">
                <a:solidFill>
                  <a:prstClr val="black"/>
                </a:solidFill>
                <a:latin typeface="Cambria" panose="02040503050406030204" pitchFamily="18" charset="0"/>
                <a:sym typeface="Wingdings" panose="05000000000000000000" pitchFamily="2" charset="2"/>
              </a:rPr>
              <a:t></a:t>
            </a:r>
            <a:r>
              <a:rPr lang="en-US" sz="4000" dirty="0" err="1">
                <a:solidFill>
                  <a:prstClr val="black"/>
                </a:solidFill>
                <a:latin typeface="Cambria" panose="02040503050406030204" pitchFamily="18" charset="0"/>
                <a:sym typeface="Wingdings" panose="05000000000000000000" pitchFamily="2" charset="2"/>
              </a:rPr>
              <a:t>chọn</a:t>
            </a:r>
            <a:r>
              <a:rPr lang="en-US" sz="4000" dirty="0">
                <a:solidFill>
                  <a:prstClr val="black"/>
                </a:solidFill>
                <a:latin typeface="Cambria" panose="02040503050406030204" pitchFamily="18" charset="0"/>
                <a:sym typeface="Wingdings" panose="05000000000000000000" pitchFamily="2" charset="2"/>
              </a:rPr>
              <a:t> Python.exe</a:t>
            </a:r>
          </a:p>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sym typeface="Wingdings" panose="05000000000000000000" pitchFamily="2" charset="2"/>
              </a:rPr>
              <a:t>Bấm</a:t>
            </a:r>
            <a:r>
              <a:rPr lang="en-US" sz="4000" dirty="0">
                <a:solidFill>
                  <a:prstClr val="black"/>
                </a:solidFill>
                <a:latin typeface="Cambria" panose="02040503050406030204" pitchFamily="18" charset="0"/>
                <a:sym typeface="Wingdings" panose="05000000000000000000" pitchFamily="2" charset="2"/>
              </a:rPr>
              <a:t> OK</a:t>
            </a:r>
            <a:endParaRPr lang="en-US"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BDE6CDC9-714B-42A3-A137-3CDAFAEB974E}"/>
              </a:ext>
            </a:extLst>
          </p:cNvPr>
          <p:cNvPicPr>
            <a:picLocks noChangeAspect="1"/>
          </p:cNvPicPr>
          <p:nvPr/>
        </p:nvPicPr>
        <p:blipFill>
          <a:blip r:embed="rId3"/>
          <a:stretch>
            <a:fillRect/>
          </a:stretch>
        </p:blipFill>
        <p:spPr>
          <a:xfrm>
            <a:off x="3962400" y="1057998"/>
            <a:ext cx="7915275" cy="5334000"/>
          </a:xfrm>
          <a:prstGeom prst="rect">
            <a:avLst/>
          </a:prstGeom>
        </p:spPr>
      </p:pic>
    </p:spTree>
    <p:extLst>
      <p:ext uri="{BB962C8B-B14F-4D97-AF65-F5344CB8AC3E}">
        <p14:creationId xmlns:p14="http://schemas.microsoft.com/office/powerpoint/2010/main" val="20655851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Bấm</a:t>
            </a:r>
            <a:r>
              <a:rPr lang="en-US" sz="4000" dirty="0">
                <a:solidFill>
                  <a:prstClr val="black"/>
                </a:solidFill>
                <a:latin typeface="Cambria" panose="02040503050406030204" pitchFamily="18" charset="0"/>
              </a:rPr>
              <a:t> Create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tạo</a:t>
            </a:r>
            <a:r>
              <a:rPr lang="en-US" sz="4000" dirty="0">
                <a:solidFill>
                  <a:prstClr val="black"/>
                </a:solidFill>
                <a:latin typeface="Cambria" panose="02040503050406030204" pitchFamily="18" charset="0"/>
              </a:rPr>
              <a:t> Project</a:t>
            </a:r>
          </a:p>
        </p:txBody>
      </p:sp>
      <p:pic>
        <p:nvPicPr>
          <p:cNvPr id="8" name="Picture 7">
            <a:extLst>
              <a:ext uri="{FF2B5EF4-FFF2-40B4-BE49-F238E27FC236}">
                <a16:creationId xmlns:a16="http://schemas.microsoft.com/office/drawing/2014/main" id="{7DD0F6CA-0648-4DAE-9D09-132B2A3F16E4}"/>
              </a:ext>
            </a:extLst>
          </p:cNvPr>
          <p:cNvPicPr>
            <a:picLocks noChangeAspect="1"/>
          </p:cNvPicPr>
          <p:nvPr/>
        </p:nvPicPr>
        <p:blipFill>
          <a:blip r:embed="rId3"/>
          <a:stretch>
            <a:fillRect/>
          </a:stretch>
        </p:blipFill>
        <p:spPr>
          <a:xfrm>
            <a:off x="2838450" y="1822910"/>
            <a:ext cx="6667500" cy="4860887"/>
          </a:xfrm>
          <a:prstGeom prst="rect">
            <a:avLst/>
          </a:prstGeom>
        </p:spPr>
      </p:pic>
    </p:spTree>
    <p:extLst>
      <p:ext uri="{BB962C8B-B14F-4D97-AF65-F5344CB8AC3E}">
        <p14:creationId xmlns:p14="http://schemas.microsoft.com/office/powerpoint/2010/main" val="40671474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Giao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diện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chính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tạo</a:t>
            </a:r>
            <a:r>
              <a:rPr lang="en-US" sz="4000" dirty="0">
                <a:solidFill>
                  <a:prstClr val="black"/>
                </a:solidFill>
                <a:latin typeface="Cambria" panose="02040503050406030204" pitchFamily="18" charset="0"/>
              </a:rPr>
              <a:t> Project:</a:t>
            </a:r>
          </a:p>
        </p:txBody>
      </p:sp>
      <p:pic>
        <p:nvPicPr>
          <p:cNvPr id="9" name="Picture 8">
            <a:extLst>
              <a:ext uri="{FF2B5EF4-FFF2-40B4-BE49-F238E27FC236}">
                <a16:creationId xmlns:a16="http://schemas.microsoft.com/office/drawing/2014/main" id="{3401D73E-4F80-48B9-BF10-2233A3CD4170}"/>
              </a:ext>
            </a:extLst>
          </p:cNvPr>
          <p:cNvPicPr>
            <a:picLocks noChangeAspect="1"/>
          </p:cNvPicPr>
          <p:nvPr/>
        </p:nvPicPr>
        <p:blipFill>
          <a:blip r:embed="rId3"/>
          <a:stretch>
            <a:fillRect/>
          </a:stretch>
        </p:blipFill>
        <p:spPr>
          <a:xfrm>
            <a:off x="1600200" y="1828800"/>
            <a:ext cx="9144000" cy="4873230"/>
          </a:xfrm>
          <a:prstGeom prst="rect">
            <a:avLst/>
          </a:prstGeom>
        </p:spPr>
      </p:pic>
    </p:spTree>
    <p:extLst>
      <p:ext uri="{BB962C8B-B14F-4D97-AF65-F5344CB8AC3E}">
        <p14:creationId xmlns:p14="http://schemas.microsoft.com/office/powerpoint/2010/main" val="280095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59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tạo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tập</a:t>
            </a:r>
            <a:r>
              <a:rPr lang="en-US" sz="4000" dirty="0">
                <a:solidFill>
                  <a:prstClr val="black"/>
                </a:solidFill>
                <a:latin typeface="Cambria" panose="02040503050406030204" pitchFamily="18" charset="0"/>
              </a:rPr>
              <a:t> tin Python: Ta </a:t>
            </a:r>
            <a:r>
              <a:rPr lang="en-US" sz="4000" dirty="0" err="1">
                <a:solidFill>
                  <a:prstClr val="black"/>
                </a:solidFill>
                <a:latin typeface="Cambria" panose="02040503050406030204" pitchFamily="18" charset="0"/>
              </a:rPr>
              <a:t>bấm</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chuột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phải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Project </a:t>
            </a:r>
            <a:r>
              <a:rPr lang="en-US" sz="4000" dirty="0" err="1">
                <a:solidFill>
                  <a:prstClr val="black"/>
                </a:solidFill>
                <a:latin typeface="Cambria" panose="02040503050406030204" pitchFamily="18" charset="0"/>
              </a:rPr>
              <a:t>HelloWorld</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New/ Python File:</a:t>
            </a: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Ta </a:t>
            </a:r>
            <a:r>
              <a:rPr lang="en-US" sz="4000" dirty="0" err="1">
                <a:solidFill>
                  <a:prstClr val="black"/>
                </a:solidFill>
                <a:latin typeface="Cambria" panose="02040503050406030204" pitchFamily="18" charset="0"/>
              </a:rPr>
              <a:t>tạo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thử</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tập</a:t>
            </a:r>
            <a:r>
              <a:rPr lang="en-US" sz="4000" dirty="0">
                <a:solidFill>
                  <a:prstClr val="black"/>
                </a:solidFill>
                <a:latin typeface="Cambria" panose="02040503050406030204" pitchFamily="18" charset="0"/>
              </a:rPr>
              <a:t> tin </a:t>
            </a:r>
            <a:r>
              <a:rPr lang="en-US" sz="4000" dirty="0" err="1">
                <a:solidFill>
                  <a:prstClr val="black"/>
                </a:solidFill>
                <a:latin typeface="Cambria" panose="02040503050406030204" pitchFamily="18" charset="0"/>
              </a:rPr>
              <a:t>SayHello</a:t>
            </a:r>
            <a:r>
              <a:rPr lang="en-US" sz="4000" dirty="0">
                <a:solidFill>
                  <a:prstClr val="black"/>
                </a:solidFill>
                <a:latin typeface="Cambria" panose="02040503050406030204" pitchFamily="18" charset="0"/>
              </a:rPr>
              <a:t>:</a:t>
            </a:r>
          </a:p>
        </p:txBody>
      </p:sp>
      <p:pic>
        <p:nvPicPr>
          <p:cNvPr id="8" name="Picture 7">
            <a:extLst>
              <a:ext uri="{FF2B5EF4-FFF2-40B4-BE49-F238E27FC236}">
                <a16:creationId xmlns:a16="http://schemas.microsoft.com/office/drawing/2014/main" id="{8B537082-FC2B-4BF9-8CC2-C6210D581CF6}"/>
              </a:ext>
            </a:extLst>
          </p:cNvPr>
          <p:cNvPicPr>
            <a:picLocks noChangeAspect="1"/>
          </p:cNvPicPr>
          <p:nvPr/>
        </p:nvPicPr>
        <p:blipFill>
          <a:blip r:embed="rId3"/>
          <a:stretch>
            <a:fillRect/>
          </a:stretch>
        </p:blipFill>
        <p:spPr>
          <a:xfrm>
            <a:off x="2362200" y="2329283"/>
            <a:ext cx="7518807" cy="2721740"/>
          </a:xfrm>
          <a:prstGeom prst="rect">
            <a:avLst/>
          </a:prstGeom>
        </p:spPr>
      </p:pic>
      <p:pic>
        <p:nvPicPr>
          <p:cNvPr id="10" name="Picture 9">
            <a:extLst>
              <a:ext uri="{FF2B5EF4-FFF2-40B4-BE49-F238E27FC236}">
                <a16:creationId xmlns:a16="http://schemas.microsoft.com/office/drawing/2014/main" id="{A138D66C-4DE4-4B41-A86A-EEBF3CE8ED02}"/>
              </a:ext>
            </a:extLst>
          </p:cNvPr>
          <p:cNvPicPr>
            <a:picLocks noChangeAspect="1"/>
          </p:cNvPicPr>
          <p:nvPr/>
        </p:nvPicPr>
        <p:blipFill>
          <a:blip r:embed="rId4"/>
          <a:stretch>
            <a:fillRect/>
          </a:stretch>
        </p:blipFill>
        <p:spPr>
          <a:xfrm>
            <a:off x="6781800" y="5200651"/>
            <a:ext cx="4257794" cy="1631950"/>
          </a:xfrm>
          <a:prstGeom prst="rect">
            <a:avLst/>
          </a:prstGeom>
        </p:spPr>
      </p:pic>
    </p:spTree>
    <p:extLst>
      <p:ext uri="{BB962C8B-B14F-4D97-AF65-F5344CB8AC3E}">
        <p14:creationId xmlns:p14="http://schemas.microsoft.com/office/powerpoint/2010/main" val="23533959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Tập</a:t>
            </a:r>
            <a:r>
              <a:rPr lang="en-US" sz="4000" dirty="0">
                <a:solidFill>
                  <a:prstClr val="black"/>
                </a:solidFill>
                <a:latin typeface="Cambria" panose="02040503050406030204" pitchFamily="18" charset="0"/>
              </a:rPr>
              <a:t> tin Sayhello.py </a:t>
            </a:r>
            <a:r>
              <a:rPr lang="en-US" sz="4000" dirty="0" err="1">
                <a:solidFill>
                  <a:prstClr val="black"/>
                </a:solidFill>
                <a:latin typeface="Cambria" panose="02040503050406030204" pitchFamily="18" charset="0"/>
              </a:rPr>
              <a:t>được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hiển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thị</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ra</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a:t>
            </a:r>
            <a:r>
              <a:rPr lang="vi-VN" sz="4000" dirty="0">
                <a:solidFill>
                  <a:prstClr val="black"/>
                </a:solidFill>
                <a:latin typeface="Cambria" panose="02040503050406030204" pitchFamily="18" charset="0"/>
              </a:rPr>
              <a:t>ư</a:t>
            </a:r>
            <a:r>
              <a:rPr lang="en-US" sz="4000" dirty="0">
                <a:solidFill>
                  <a:prstClr val="black"/>
                </a:solidFill>
                <a:latin typeface="Cambria" panose="02040503050406030204" pitchFamily="18" charset="0"/>
              </a:rPr>
              <a:t> d</a:t>
            </a:r>
            <a:r>
              <a:rPr lang="vi-VN" sz="4000" dirty="0">
                <a:solidFill>
                  <a:prstClr val="black"/>
                </a:solidFill>
                <a:latin typeface="Cambria" panose="02040503050406030204" pitchFamily="18" charset="0"/>
              </a:rPr>
              <a:t>ư</a:t>
            </a:r>
            <a:r>
              <a:rPr lang="en-US" sz="4000" dirty="0" err="1">
                <a:solidFill>
                  <a:prstClr val="black"/>
                </a:solidFill>
                <a:latin typeface="Cambria" panose="02040503050406030204" pitchFamily="18" charset="0"/>
              </a:rPr>
              <a:t>ới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đây</a:t>
            </a:r>
            <a:r>
              <a:rPr lang="en-US" sz="40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Viết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lệnh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xuất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dữ</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liệu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ra</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màn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hình</a:t>
            </a:r>
            <a:r>
              <a:rPr lang="en-US" sz="4000" dirty="0">
                <a:solidFill>
                  <a:prstClr val="black"/>
                </a:solidFill>
                <a:latin typeface="Cambria" panose="02040503050406030204" pitchFamily="18" charset="0"/>
              </a:rPr>
              <a:t>:</a:t>
            </a:r>
          </a:p>
        </p:txBody>
      </p:sp>
      <p:pic>
        <p:nvPicPr>
          <p:cNvPr id="9" name="Picture 8">
            <a:extLst>
              <a:ext uri="{FF2B5EF4-FFF2-40B4-BE49-F238E27FC236}">
                <a16:creationId xmlns:a16="http://schemas.microsoft.com/office/drawing/2014/main" id="{B3AAD976-0159-459A-AC47-ACCB3107FC31}"/>
              </a:ext>
            </a:extLst>
          </p:cNvPr>
          <p:cNvPicPr>
            <a:picLocks noChangeAspect="1"/>
          </p:cNvPicPr>
          <p:nvPr/>
        </p:nvPicPr>
        <p:blipFill>
          <a:blip r:embed="rId3"/>
          <a:stretch>
            <a:fillRect/>
          </a:stretch>
        </p:blipFill>
        <p:spPr>
          <a:xfrm>
            <a:off x="1752600" y="1905000"/>
            <a:ext cx="6057900" cy="1933575"/>
          </a:xfrm>
          <a:prstGeom prst="rect">
            <a:avLst/>
          </a:prstGeom>
        </p:spPr>
      </p:pic>
      <p:pic>
        <p:nvPicPr>
          <p:cNvPr id="11" name="Picture 10">
            <a:extLst>
              <a:ext uri="{FF2B5EF4-FFF2-40B4-BE49-F238E27FC236}">
                <a16:creationId xmlns:a16="http://schemas.microsoft.com/office/drawing/2014/main" id="{AEE62539-598D-48E1-B745-5400CCC9FEA6}"/>
              </a:ext>
            </a:extLst>
          </p:cNvPr>
          <p:cNvPicPr>
            <a:picLocks noChangeAspect="1"/>
          </p:cNvPicPr>
          <p:nvPr/>
        </p:nvPicPr>
        <p:blipFill>
          <a:blip r:embed="rId4"/>
          <a:stretch>
            <a:fillRect/>
          </a:stretch>
        </p:blipFill>
        <p:spPr>
          <a:xfrm>
            <a:off x="623887" y="4514850"/>
            <a:ext cx="10639425" cy="2162175"/>
          </a:xfrm>
          <a:prstGeom prst="rect">
            <a:avLst/>
          </a:prstGeom>
        </p:spPr>
      </p:pic>
      <p:cxnSp>
        <p:nvCxnSpPr>
          <p:cNvPr id="15" name="Straight Arrow Connector 14">
            <a:extLst>
              <a:ext uri="{FF2B5EF4-FFF2-40B4-BE49-F238E27FC236}">
                <a16:creationId xmlns:a16="http://schemas.microsoft.com/office/drawing/2014/main" id="{505D6BC0-053B-46A1-B4AB-24F234CE4991}"/>
              </a:ext>
            </a:extLst>
          </p:cNvPr>
          <p:cNvCxnSpPr/>
          <p:nvPr/>
        </p:nvCxnSpPr>
        <p:spPr>
          <a:xfrm>
            <a:off x="6858000" y="3482171"/>
            <a:ext cx="0" cy="135255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3299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chạy</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mã</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tập</a:t>
            </a:r>
            <a:r>
              <a:rPr lang="en-US" sz="4000" dirty="0">
                <a:solidFill>
                  <a:prstClr val="black"/>
                </a:solidFill>
                <a:latin typeface="Cambria" panose="02040503050406030204" pitchFamily="18" charset="0"/>
              </a:rPr>
              <a:t> tin SayHello.py, </a:t>
            </a:r>
            <a:r>
              <a:rPr lang="en-US" sz="4000" dirty="0" err="1">
                <a:solidFill>
                  <a:prstClr val="black"/>
                </a:solidFill>
                <a:latin typeface="Cambria" panose="02040503050406030204" pitchFamily="18" charset="0"/>
              </a:rPr>
              <a:t>các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bạn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Run/</a:t>
            </a: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Run</a:t>
            </a: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Hoặc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bấm</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chuột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phải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SayHello.py</a:t>
            </a:r>
          </a:p>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chọn</a:t>
            </a:r>
            <a:r>
              <a:rPr lang="en-US" sz="4000" dirty="0">
                <a:solidFill>
                  <a:prstClr val="black"/>
                </a:solidFill>
                <a:latin typeface="Cambria" panose="02040503050406030204" pitchFamily="18" charset="0"/>
              </a:rPr>
              <a:t> Run </a:t>
            </a:r>
            <a:r>
              <a:rPr lang="en-US" sz="4000" dirty="0" err="1">
                <a:solidFill>
                  <a:prstClr val="black"/>
                </a:solidFill>
                <a:latin typeface="Cambria" panose="02040503050406030204" pitchFamily="18" charset="0"/>
              </a:rPr>
              <a:t>SayHello</a:t>
            </a:r>
            <a:endParaRPr lang="en-US" sz="4000" dirty="0">
              <a:solidFill>
                <a:prstClr val="black"/>
              </a:solidFill>
              <a:latin typeface="Cambria" panose="02040503050406030204" pitchFamily="18" charset="0"/>
            </a:endParaRPr>
          </a:p>
        </p:txBody>
      </p:sp>
      <p:pic>
        <p:nvPicPr>
          <p:cNvPr id="9" name="Picture 8">
            <a:extLst>
              <a:ext uri="{FF2B5EF4-FFF2-40B4-BE49-F238E27FC236}">
                <a16:creationId xmlns:a16="http://schemas.microsoft.com/office/drawing/2014/main" id="{2F64398B-219A-4324-B90F-0D95CDCF2444}"/>
              </a:ext>
            </a:extLst>
          </p:cNvPr>
          <p:cNvPicPr>
            <a:picLocks noChangeAspect="1"/>
          </p:cNvPicPr>
          <p:nvPr/>
        </p:nvPicPr>
        <p:blipFill>
          <a:blip r:embed="rId3"/>
          <a:stretch>
            <a:fillRect/>
          </a:stretch>
        </p:blipFill>
        <p:spPr>
          <a:xfrm>
            <a:off x="152400" y="2428875"/>
            <a:ext cx="6419850" cy="1924050"/>
          </a:xfrm>
          <a:prstGeom prst="rect">
            <a:avLst/>
          </a:prstGeom>
        </p:spPr>
      </p:pic>
      <p:pic>
        <p:nvPicPr>
          <p:cNvPr id="10" name="Picture 9">
            <a:extLst>
              <a:ext uri="{FF2B5EF4-FFF2-40B4-BE49-F238E27FC236}">
                <a16:creationId xmlns:a16="http://schemas.microsoft.com/office/drawing/2014/main" id="{680B3E61-8F58-45A7-9D16-4BBD2B3FA9BE}"/>
              </a:ext>
            </a:extLst>
          </p:cNvPr>
          <p:cNvPicPr>
            <a:picLocks noChangeAspect="1"/>
          </p:cNvPicPr>
          <p:nvPr/>
        </p:nvPicPr>
        <p:blipFill>
          <a:blip r:embed="rId4"/>
          <a:stretch>
            <a:fillRect/>
          </a:stretch>
        </p:blipFill>
        <p:spPr>
          <a:xfrm>
            <a:off x="6781800" y="1676400"/>
            <a:ext cx="5208705" cy="3429000"/>
          </a:xfrm>
          <a:prstGeom prst="rect">
            <a:avLst/>
          </a:prstGeom>
        </p:spPr>
      </p:pic>
    </p:spTree>
    <p:extLst>
      <p:ext uri="{BB962C8B-B14F-4D97-AF65-F5344CB8AC3E}">
        <p14:creationId xmlns:p14="http://schemas.microsoft.com/office/powerpoint/2010/main" val="7511342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Kết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quả</a:t>
            </a:r>
            <a:r>
              <a:rPr lang="en-US" sz="4000" dirty="0">
                <a:solidFill>
                  <a:prstClr val="black"/>
                </a:solidFill>
                <a:latin typeface="Cambria" panose="02040503050406030204" pitchFamily="18" charset="0"/>
              </a:rPr>
              <a:t>:</a:t>
            </a:r>
          </a:p>
        </p:txBody>
      </p:sp>
      <p:pic>
        <p:nvPicPr>
          <p:cNvPr id="8" name="Picture 7">
            <a:extLst>
              <a:ext uri="{FF2B5EF4-FFF2-40B4-BE49-F238E27FC236}">
                <a16:creationId xmlns:a16="http://schemas.microsoft.com/office/drawing/2014/main" id="{1D11AAA9-660A-4A1D-A856-6BA79A04FDE4}"/>
              </a:ext>
            </a:extLst>
          </p:cNvPr>
          <p:cNvPicPr>
            <a:picLocks noChangeAspect="1"/>
          </p:cNvPicPr>
          <p:nvPr/>
        </p:nvPicPr>
        <p:blipFill>
          <a:blip r:embed="rId3"/>
          <a:stretch>
            <a:fillRect/>
          </a:stretch>
        </p:blipFill>
        <p:spPr>
          <a:xfrm>
            <a:off x="2667000" y="1103310"/>
            <a:ext cx="8834438" cy="5394067"/>
          </a:xfrm>
          <a:prstGeom prst="rect">
            <a:avLst/>
          </a:prstGeom>
        </p:spPr>
      </p:pic>
      <p:cxnSp>
        <p:nvCxnSpPr>
          <p:cNvPr id="12" name="Straight Arrow Connector 11">
            <a:extLst>
              <a:ext uri="{FF2B5EF4-FFF2-40B4-BE49-F238E27FC236}">
                <a16:creationId xmlns:a16="http://schemas.microsoft.com/office/drawing/2014/main" id="{5D8BC24F-1F0C-4A26-A235-E322D59766FB}"/>
              </a:ext>
            </a:extLst>
          </p:cNvPr>
          <p:cNvCxnSpPr/>
          <p:nvPr/>
        </p:nvCxnSpPr>
        <p:spPr>
          <a:xfrm>
            <a:off x="5943600" y="2217866"/>
            <a:ext cx="0" cy="312420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532307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394011" y="12954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6000" kern="0" dirty="0">
                <a:solidFill>
                  <a:srgbClr val="002060"/>
                </a:solidFill>
                <a:latin typeface="Cambria" panose="02040503050406030204" pitchFamily="18" charset="0"/>
              </a:rPr>
              <a:t>Kiểu dữ liệu cơ bản và khai báo biến trong Python</a:t>
            </a:r>
            <a:endParaRPr lang="en-US" sz="60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63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0" y="35052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33630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1. Các kiểu dữ liệu cơ bản trong Python</a:t>
            </a: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2. Khai báo biến trong Python</a:t>
            </a: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3. Cách xóa biến</a:t>
            </a: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4. Cách kiểm tra vùng lưu trữ giá trị của các biến int, float</a:t>
            </a: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10475610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9677400" cy="508000"/>
            <a:chOff x="789624" y="1191463"/>
            <a:chExt cx="9677400" cy="508000"/>
          </a:xfrm>
        </p:grpSpPr>
        <p:sp>
          <p:nvSpPr>
            <p:cNvPr id="3" name="AutoShape 52"/>
            <p:cNvSpPr>
              <a:spLocks noChangeArrowheads="1"/>
            </p:cNvSpPr>
            <p:nvPr/>
          </p:nvSpPr>
          <p:spPr bwMode="gray">
            <a:xfrm>
              <a:off x="990600" y="1191463"/>
              <a:ext cx="9476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vi-VN" sz="4000" b="1" dirty="0">
                  <a:solidFill>
                    <a:prstClr val="black"/>
                  </a:solidFill>
                  <a:latin typeface="Cambria" panose="02040503050406030204" pitchFamily="18" charset="0"/>
                </a:rPr>
                <a:t>1. Các kiểu dữ liệu cơ bản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4000" dirty="0">
                <a:latin typeface="Cambria" panose="02040503050406030204" pitchFamily="18" charset="0"/>
              </a:rPr>
              <a:t>Kiểu </a:t>
            </a:r>
            <a:r>
              <a:rPr lang="vi-VN" sz="4000" b="1" dirty="0">
                <a:latin typeface="Cambria" panose="02040503050406030204" pitchFamily="18" charset="0"/>
              </a:rPr>
              <a:t>int</a:t>
            </a:r>
            <a:r>
              <a:rPr lang="vi-VN" sz="4000" dirty="0">
                <a:latin typeface="Cambria" panose="02040503050406030204" pitchFamily="18" charset="0"/>
              </a:rPr>
              <a:t>: Kiểu số nguyên (không có chứa dấu chấm thập phân), có thể lưu các số nguyên âm và dương.</a:t>
            </a:r>
          </a:p>
          <a:p>
            <a:pPr lvl="1"/>
            <a:r>
              <a:rPr lang="vi-VN" sz="4000" dirty="0">
                <a:latin typeface="Cambria" panose="02040503050406030204" pitchFamily="18" charset="0"/>
              </a:rPr>
              <a:t>Ví dụ: 113, -114</a:t>
            </a:r>
          </a:p>
          <a:p>
            <a:r>
              <a:rPr lang="vi-VN" sz="4000" dirty="0">
                <a:latin typeface="Cambria" panose="02040503050406030204" pitchFamily="18" charset="0"/>
              </a:rPr>
              <a:t>Kiểu </a:t>
            </a:r>
            <a:r>
              <a:rPr lang="vi-VN" sz="4000" b="1" dirty="0">
                <a:latin typeface="Cambria" panose="02040503050406030204" pitchFamily="18" charset="0"/>
              </a:rPr>
              <a:t>float</a:t>
            </a:r>
            <a:r>
              <a:rPr lang="vi-VN" sz="4000" dirty="0">
                <a:latin typeface="Cambria" panose="02040503050406030204" pitchFamily="18" charset="0"/>
              </a:rPr>
              <a:t>: Kiểu số thực (có chứa dấu chấm thập phân),</a:t>
            </a:r>
          </a:p>
          <a:p>
            <a:pPr lvl="1"/>
            <a:r>
              <a:rPr lang="vi-VN" sz="4000" dirty="0">
                <a:latin typeface="Cambria" panose="02040503050406030204" pitchFamily="18" charset="0"/>
              </a:rPr>
              <a:t>ví dụ: 5.2, -7.3</a:t>
            </a:r>
          </a:p>
        </p:txBody>
      </p:sp>
    </p:spTree>
    <p:extLst>
      <p:ext uri="{BB962C8B-B14F-4D97-AF65-F5344CB8AC3E}">
        <p14:creationId xmlns:p14="http://schemas.microsoft.com/office/powerpoint/2010/main" val="7014301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9677400" cy="508000"/>
            <a:chOff x="789624" y="1191463"/>
            <a:chExt cx="9677400" cy="508000"/>
          </a:xfrm>
        </p:grpSpPr>
        <p:sp>
          <p:nvSpPr>
            <p:cNvPr id="3" name="AutoShape 52"/>
            <p:cNvSpPr>
              <a:spLocks noChangeArrowheads="1"/>
            </p:cNvSpPr>
            <p:nvPr/>
          </p:nvSpPr>
          <p:spPr bwMode="gray">
            <a:xfrm>
              <a:off x="990600" y="1191463"/>
              <a:ext cx="9476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vi-VN" sz="4000" b="1" dirty="0">
                  <a:solidFill>
                    <a:prstClr val="black"/>
                  </a:solidFill>
                  <a:latin typeface="Cambria" panose="02040503050406030204" pitchFamily="18" charset="0"/>
                </a:rPr>
                <a:t>1. Các kiểu dữ liệu cơ bản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4000" dirty="0">
                <a:latin typeface="Cambria" panose="02040503050406030204" pitchFamily="18" charset="0"/>
              </a:rPr>
              <a:t>Kiểu </a:t>
            </a:r>
            <a:r>
              <a:rPr lang="vi-VN" sz="4000" b="1" dirty="0">
                <a:latin typeface="Cambria" panose="02040503050406030204" pitchFamily="18" charset="0"/>
              </a:rPr>
              <a:t>complex</a:t>
            </a:r>
            <a:r>
              <a:rPr lang="vi-VN" sz="4000" dirty="0">
                <a:latin typeface="Cambria" panose="02040503050406030204" pitchFamily="18" charset="0"/>
              </a:rPr>
              <a:t>: Kiểu số phức,</a:t>
            </a:r>
          </a:p>
          <a:p>
            <a:pPr lvl="1"/>
            <a:r>
              <a:rPr lang="vi-VN" sz="4000" dirty="0">
                <a:latin typeface="Cambria" panose="02040503050406030204" pitchFamily="18" charset="0"/>
              </a:rPr>
              <a:t>ví dụ 1: z = 2+3j thì 2 là phần thực, 3 là phần ảo (j là từ khóa để đánh dấu phần ảo)</a:t>
            </a:r>
          </a:p>
          <a:p>
            <a:pPr lvl="1"/>
            <a:r>
              <a:rPr lang="vi-VN" sz="4000" dirty="0">
                <a:latin typeface="Cambria" panose="02040503050406030204" pitchFamily="18" charset="0"/>
              </a:rPr>
              <a:t>ví dụ 2: z=complex(2,3) thì 2 là phần thực, 3 là phần ảo</a:t>
            </a:r>
          </a:p>
          <a:p>
            <a:pPr lvl="1"/>
            <a:r>
              <a:rPr lang="vi-VN" sz="4000" dirty="0">
                <a:latin typeface="Cambria" panose="02040503050406030204" pitchFamily="18" charset="0"/>
              </a:rPr>
              <a:t>khi xuất kết quả ta có thể xuất:</a:t>
            </a:r>
          </a:p>
          <a:p>
            <a:pPr lvl="2"/>
            <a:r>
              <a:rPr lang="vi-VN" sz="4000" dirty="0">
                <a:latin typeface="Cambria" panose="02040503050406030204" pitchFamily="18" charset="0"/>
              </a:rPr>
              <a:t>print(“Phần thực= “,z.real) ==&gt;Phần thực= 2</a:t>
            </a:r>
          </a:p>
          <a:p>
            <a:pPr lvl="2"/>
            <a:r>
              <a:rPr lang="vi-VN" sz="4000" dirty="0">
                <a:latin typeface="Cambria" panose="02040503050406030204" pitchFamily="18" charset="0"/>
              </a:rPr>
              <a:t>print(“Phần ảo= “,z.imag) ==&gt; Phần ảo= 3</a:t>
            </a:r>
          </a:p>
        </p:txBody>
      </p:sp>
    </p:spTree>
    <p:extLst>
      <p:ext uri="{BB962C8B-B14F-4D97-AF65-F5344CB8AC3E}">
        <p14:creationId xmlns:p14="http://schemas.microsoft.com/office/powerpoint/2010/main" val="27001579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9677400" cy="508000"/>
            <a:chOff x="789624" y="1191463"/>
            <a:chExt cx="9677400" cy="508000"/>
          </a:xfrm>
        </p:grpSpPr>
        <p:sp>
          <p:nvSpPr>
            <p:cNvPr id="3" name="AutoShape 52"/>
            <p:cNvSpPr>
              <a:spLocks noChangeArrowheads="1"/>
            </p:cNvSpPr>
            <p:nvPr/>
          </p:nvSpPr>
          <p:spPr bwMode="gray">
            <a:xfrm>
              <a:off x="990600" y="1191463"/>
              <a:ext cx="9476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vi-VN" sz="4000" b="1" dirty="0">
                  <a:solidFill>
                    <a:prstClr val="black"/>
                  </a:solidFill>
                  <a:latin typeface="Cambria" panose="02040503050406030204" pitchFamily="18" charset="0"/>
                </a:rPr>
                <a:t>1. Các kiểu dữ liệu cơ bản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sz="4000" dirty="0">
                <a:latin typeface="Cambria" panose="02040503050406030204" pitchFamily="18" charset="0"/>
              </a:rPr>
              <a:t>Kiểu </a:t>
            </a:r>
            <a:r>
              <a:rPr lang="vi-VN" sz="4000" b="1" dirty="0">
                <a:latin typeface="Cambria" panose="02040503050406030204" pitchFamily="18" charset="0"/>
              </a:rPr>
              <a:t>str</a:t>
            </a:r>
            <a:r>
              <a:rPr lang="vi-VN" sz="4000" dirty="0">
                <a:latin typeface="Cambria" panose="02040503050406030204" pitchFamily="18" charset="0"/>
              </a:rPr>
              <a:t>: Kiểu chuỗi, để trong nháy đôi hoặc nháy đơn</a:t>
            </a:r>
          </a:p>
          <a:p>
            <a:pPr lvl="1"/>
            <a:r>
              <a:rPr lang="vi-VN" sz="4000" dirty="0">
                <a:latin typeface="Cambria" panose="02040503050406030204" pitchFamily="18" charset="0"/>
              </a:rPr>
              <a:t>Ví dụ: “Obama”, ‘Putin’</a:t>
            </a:r>
          </a:p>
          <a:p>
            <a:r>
              <a:rPr lang="vi-VN" sz="4000" dirty="0">
                <a:latin typeface="Cambria" panose="02040503050406030204" pitchFamily="18" charset="0"/>
              </a:rPr>
              <a:t>Kiểu </a:t>
            </a:r>
            <a:r>
              <a:rPr lang="vi-VN" sz="4000" b="1" dirty="0">
                <a:latin typeface="Cambria" panose="02040503050406030204" pitchFamily="18" charset="0"/>
              </a:rPr>
              <a:t>bool</a:t>
            </a:r>
            <a:r>
              <a:rPr lang="vi-VN" sz="4000" dirty="0">
                <a:latin typeface="Cambria" panose="02040503050406030204" pitchFamily="18" charset="0"/>
              </a:rPr>
              <a:t>: Kiểu luận lý, để lưu True hoặc False</a:t>
            </a:r>
          </a:p>
          <a:p>
            <a:pPr lvl="1"/>
            <a:r>
              <a:rPr lang="vi-VN" sz="4000" dirty="0">
                <a:latin typeface="Cambria" panose="02040503050406030204" pitchFamily="18" charset="0"/>
              </a:rPr>
              <a:t>Ví dụ 1: t1=True</a:t>
            </a:r>
          </a:p>
          <a:p>
            <a:pPr lvl="1"/>
            <a:r>
              <a:rPr lang="vi-VN" sz="4000" dirty="0">
                <a:latin typeface="Cambria" panose="02040503050406030204" pitchFamily="18" charset="0"/>
              </a:rPr>
              <a:t>Ví dụ 2: t2=False</a:t>
            </a:r>
          </a:p>
        </p:txBody>
      </p:sp>
    </p:spTree>
    <p:extLst>
      <p:ext uri="{BB962C8B-B14F-4D97-AF65-F5344CB8AC3E}">
        <p14:creationId xmlns:p14="http://schemas.microsoft.com/office/powerpoint/2010/main" val="28426436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696200" cy="508000"/>
            <a:chOff x="789624" y="1191463"/>
            <a:chExt cx="7696200" cy="508000"/>
          </a:xfrm>
        </p:grpSpPr>
        <p:sp>
          <p:nvSpPr>
            <p:cNvPr id="3" name="AutoShape 52"/>
            <p:cNvSpPr>
              <a:spLocks noChangeArrowheads="1"/>
            </p:cNvSpPr>
            <p:nvPr/>
          </p:nvSpPr>
          <p:spPr bwMode="gray">
            <a:xfrm>
              <a:off x="990600" y="1191463"/>
              <a:ext cx="74952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vi-VN" sz="4000" b="1" dirty="0">
                  <a:solidFill>
                    <a:prstClr val="black"/>
                  </a:solidFill>
                  <a:latin typeface="Cambria" panose="02040503050406030204" pitchFamily="18" charset="0"/>
                </a:rPr>
                <a:t>2. Khai báo biến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0000"/>
              </a:lnSpc>
              <a:spcBef>
                <a:spcPts val="1000"/>
              </a:spcBef>
              <a:buClr>
                <a:srgbClr val="215D9F"/>
              </a:buClr>
            </a:pPr>
            <a:r>
              <a:rPr lang="vi-VN" sz="4000" dirty="0">
                <a:solidFill>
                  <a:prstClr val="black"/>
                </a:solidFill>
                <a:latin typeface="Cambria" panose="02040503050406030204" pitchFamily="18" charset="0"/>
              </a:rPr>
              <a:t>Trong Python một biến không cần khai báo kiểu dữ liệu, khi ta gán giá trị thì tự động Python sẽ nội suy ra kiểu dữ liệu của biến. </a:t>
            </a:r>
            <a:endParaRPr lang="en-US" sz="4000" dirty="0">
              <a:solidFill>
                <a:prstClr val="black"/>
              </a:solidFill>
              <a:latin typeface="Cambria" panose="02040503050406030204" pitchFamily="18" charset="0"/>
            </a:endParaRPr>
          </a:p>
          <a:p>
            <a:pPr algn="just">
              <a:lnSpc>
                <a:spcPct val="90000"/>
              </a:lnSpc>
              <a:spcBef>
                <a:spcPts val="1000"/>
              </a:spcBef>
              <a:buClr>
                <a:srgbClr val="215D9F"/>
              </a:buClr>
            </a:pPr>
            <a:r>
              <a:rPr lang="vi-VN" sz="4000" dirty="0">
                <a:solidFill>
                  <a:prstClr val="black"/>
                </a:solidFill>
                <a:latin typeface="Cambria" panose="02040503050406030204" pitchFamily="18" charset="0"/>
              </a:rPr>
              <a:t>Như vậy một biến có thể có nhiều kiểu dữ liệu tùy thuộc vào giá trị mà ta gán. </a:t>
            </a:r>
            <a:endParaRPr lang="en-US" sz="4000" dirty="0">
              <a:solidFill>
                <a:prstClr val="black"/>
              </a:solidFill>
              <a:latin typeface="Cambria" panose="02040503050406030204" pitchFamily="18" charset="0"/>
            </a:endParaRPr>
          </a:p>
          <a:p>
            <a:pPr algn="just">
              <a:lnSpc>
                <a:spcPct val="90000"/>
              </a:lnSpc>
              <a:spcBef>
                <a:spcPts val="1000"/>
              </a:spcBef>
              <a:buClr>
                <a:srgbClr val="215D9F"/>
              </a:buClr>
            </a:pPr>
            <a:r>
              <a:rPr lang="vi-VN" sz="4000" dirty="0">
                <a:solidFill>
                  <a:prstClr val="black"/>
                </a:solidFill>
                <a:latin typeface="Cambria" panose="02040503050406030204" pitchFamily="18" charset="0"/>
              </a:rPr>
              <a:t>Ta có thể dùng hàm type() để kiểm tra kiểu dữ liệu của biến</a:t>
            </a:r>
            <a:r>
              <a:rPr lang="en-US" sz="40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vi-VN"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878390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620000" cy="508000"/>
            <a:chOff x="789624" y="1191463"/>
            <a:chExt cx="7620000" cy="508000"/>
          </a:xfrm>
        </p:grpSpPr>
        <p:sp>
          <p:nvSpPr>
            <p:cNvPr id="3" name="AutoShape 52"/>
            <p:cNvSpPr>
              <a:spLocks noChangeArrowheads="1"/>
            </p:cNvSpPr>
            <p:nvPr/>
          </p:nvSpPr>
          <p:spPr bwMode="gray">
            <a:xfrm>
              <a:off x="990600" y="1191463"/>
              <a:ext cx="7419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vi-VN" sz="4000" b="1" dirty="0">
                  <a:solidFill>
                    <a:prstClr val="black"/>
                  </a:solidFill>
                  <a:latin typeface="Cambria" panose="02040503050406030204" pitchFamily="18" charset="0"/>
                </a:rPr>
                <a:t>2. Khai báo biến trong Python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69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sp>
        <p:nvSpPr>
          <p:cNvPr id="10" name="Rectangle 4">
            <a:extLst>
              <a:ext uri="{FF2B5EF4-FFF2-40B4-BE49-F238E27FC236}">
                <a16:creationId xmlns:a16="http://schemas.microsoft.com/office/drawing/2014/main" id="{B4A67EA3-C3A6-4DDC-B2E8-8BA988CAAC1E}"/>
              </a:ext>
            </a:extLst>
          </p:cNvPr>
          <p:cNvSpPr>
            <a:spLocks noChangeArrowheads="1"/>
          </p:cNvSpPr>
          <p:nvPr/>
        </p:nvSpPr>
        <p:spPr bwMode="auto">
          <a:xfrm>
            <a:off x="685800" y="1228397"/>
            <a:ext cx="4051109" cy="440120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5</a:t>
            </a:r>
            <a:br>
              <a:rPr kumimoji="0" lang="en-US" altLang="en-US" sz="28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28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teo</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b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True</a:t>
            </a:r>
            <a:br>
              <a:rPr kumimoji="0" lang="en-US" altLang="en-US" sz="28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5.5</a:t>
            </a:r>
            <a:br>
              <a:rPr kumimoji="0" lang="en-US" altLang="en-US" sz="28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complex</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113</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FF"/>
                </a:solidFill>
                <a:effectLst/>
                <a:latin typeface="Courier New" panose="02070309020205020404" pitchFamily="49" charset="0"/>
                <a:cs typeface="Courier New" panose="02070309020205020404" pitchFamily="49" charset="0"/>
              </a:rPr>
              <a:t>114</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type</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1" name="Rectangle 10">
            <a:extLst>
              <a:ext uri="{FF2B5EF4-FFF2-40B4-BE49-F238E27FC236}">
                <a16:creationId xmlns:a16="http://schemas.microsoft.com/office/drawing/2014/main" id="{867C7B48-4F0E-410C-A2BF-A2AB8BF0BF7D}"/>
              </a:ext>
            </a:extLst>
          </p:cNvPr>
          <p:cNvSpPr/>
          <p:nvPr/>
        </p:nvSpPr>
        <p:spPr>
          <a:xfrm>
            <a:off x="4965509" y="1248275"/>
            <a:ext cx="6921691" cy="2677656"/>
          </a:xfrm>
          <a:prstGeom prst="rect">
            <a:avLst/>
          </a:prstGeom>
        </p:spPr>
        <p:txBody>
          <a:bodyPr wrap="square">
            <a:spAutoFit/>
          </a:bodyPr>
          <a:lstStyle/>
          <a:p>
            <a:r>
              <a:rPr lang="en-US" sz="2800" dirty="0" err="1">
                <a:latin typeface="Cambria" panose="02040503050406030204" pitchFamily="18" charset="0"/>
              </a:rPr>
              <a:t>Với</a:t>
            </a:r>
            <a:r>
              <a:rPr lang="en-US" sz="2800" dirty="0">
                <a:latin typeface="Cambria" panose="02040503050406030204" pitchFamily="18" charset="0"/>
              </a:rPr>
              <a:t> x = 5 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kiểu</a:t>
            </a:r>
            <a:r>
              <a:rPr lang="en-US" sz="2800" dirty="0">
                <a:latin typeface="Cambria" panose="02040503050406030204" pitchFamily="18" charset="0"/>
              </a:rPr>
              <a:t> </a:t>
            </a:r>
            <a:r>
              <a:rPr lang="en-US" sz="2800" dirty="0" err="1">
                <a:latin typeface="Cambria" panose="02040503050406030204" pitchFamily="18" charset="0"/>
              </a:rPr>
              <a:t>dữ</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 &lt;class ‘</a:t>
            </a:r>
            <a:r>
              <a:rPr lang="en-US" sz="2800" dirty="0" err="1">
                <a:latin typeface="Cambria" panose="02040503050406030204" pitchFamily="18" charset="0"/>
              </a:rPr>
              <a:t>int</a:t>
            </a:r>
            <a:r>
              <a:rPr lang="en-US" sz="2800" dirty="0">
                <a:latin typeface="Cambria" panose="02040503050406030204" pitchFamily="18" charset="0"/>
              </a:rPr>
              <a:t>’&gt;</a:t>
            </a:r>
          </a:p>
          <a:p>
            <a:r>
              <a:rPr lang="en-US" sz="2800" dirty="0" err="1">
                <a:latin typeface="Cambria" panose="02040503050406030204" pitchFamily="18" charset="0"/>
              </a:rPr>
              <a:t>Với</a:t>
            </a:r>
            <a:r>
              <a:rPr lang="en-US" sz="2800" dirty="0">
                <a:latin typeface="Cambria" panose="02040503050406030204" pitchFamily="18" charset="0"/>
              </a:rPr>
              <a:t> x = ‘</a:t>
            </a:r>
            <a:r>
              <a:rPr lang="en-US" sz="2800" dirty="0" err="1">
                <a:latin typeface="Cambria" panose="02040503050406030204" pitchFamily="18" charset="0"/>
              </a:rPr>
              <a:t>teo</a:t>
            </a:r>
            <a:r>
              <a:rPr lang="en-US" sz="2800" dirty="0">
                <a:latin typeface="Cambria" panose="02040503050406030204" pitchFamily="18" charset="0"/>
              </a:rPr>
              <a:t>’ 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kiểu</a:t>
            </a:r>
            <a:r>
              <a:rPr lang="en-US" sz="2800" dirty="0">
                <a:latin typeface="Cambria" panose="02040503050406030204" pitchFamily="18" charset="0"/>
              </a:rPr>
              <a:t> </a:t>
            </a:r>
            <a:r>
              <a:rPr lang="en-US" sz="2800" dirty="0" err="1">
                <a:latin typeface="Cambria" panose="02040503050406030204" pitchFamily="18" charset="0"/>
              </a:rPr>
              <a:t>dữ</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:&lt;class ‘</a:t>
            </a:r>
            <a:r>
              <a:rPr lang="en-US" sz="2800" dirty="0" err="1">
                <a:latin typeface="Cambria" panose="02040503050406030204" pitchFamily="18" charset="0"/>
              </a:rPr>
              <a:t>str</a:t>
            </a:r>
            <a:r>
              <a:rPr lang="en-US" sz="2800" dirty="0">
                <a:latin typeface="Cambria" panose="02040503050406030204" pitchFamily="18" charset="0"/>
              </a:rPr>
              <a:t>’&gt;</a:t>
            </a:r>
          </a:p>
          <a:p>
            <a:r>
              <a:rPr lang="en-US" sz="2800" dirty="0" err="1">
                <a:latin typeface="Cambria" panose="02040503050406030204" pitchFamily="18" charset="0"/>
              </a:rPr>
              <a:t>Với</a:t>
            </a:r>
            <a:r>
              <a:rPr lang="en-US" sz="2800" dirty="0">
                <a:latin typeface="Cambria" panose="02040503050406030204" pitchFamily="18" charset="0"/>
              </a:rPr>
              <a:t> x = True 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kiểu</a:t>
            </a:r>
            <a:r>
              <a:rPr lang="en-US" sz="2800" dirty="0">
                <a:latin typeface="Cambria" panose="02040503050406030204" pitchFamily="18" charset="0"/>
              </a:rPr>
              <a:t> </a:t>
            </a:r>
            <a:r>
              <a:rPr lang="en-US" sz="2800" dirty="0" err="1">
                <a:latin typeface="Cambria" panose="02040503050406030204" pitchFamily="18" charset="0"/>
              </a:rPr>
              <a:t>dữ</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:&lt;class ‘</a:t>
            </a:r>
            <a:r>
              <a:rPr lang="en-US" sz="2800" dirty="0" err="1">
                <a:latin typeface="Cambria" panose="02040503050406030204" pitchFamily="18" charset="0"/>
              </a:rPr>
              <a:t>bool</a:t>
            </a:r>
            <a:r>
              <a:rPr lang="en-US" sz="2800" dirty="0">
                <a:latin typeface="Cambria" panose="02040503050406030204" pitchFamily="18" charset="0"/>
              </a:rPr>
              <a:t>’&gt;</a:t>
            </a:r>
          </a:p>
          <a:p>
            <a:r>
              <a:rPr lang="en-US" sz="2800" dirty="0" err="1">
                <a:latin typeface="Cambria" panose="02040503050406030204" pitchFamily="18" charset="0"/>
              </a:rPr>
              <a:t>Với</a:t>
            </a:r>
            <a:r>
              <a:rPr lang="en-US" sz="2800" dirty="0">
                <a:latin typeface="Cambria" panose="02040503050406030204" pitchFamily="18" charset="0"/>
              </a:rPr>
              <a:t> x = 5.5 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kiểu</a:t>
            </a:r>
            <a:r>
              <a:rPr lang="en-US" sz="2800" dirty="0">
                <a:latin typeface="Cambria" panose="02040503050406030204" pitchFamily="18" charset="0"/>
              </a:rPr>
              <a:t> </a:t>
            </a:r>
            <a:r>
              <a:rPr lang="en-US" sz="2800" dirty="0" err="1">
                <a:latin typeface="Cambria" panose="02040503050406030204" pitchFamily="18" charset="0"/>
              </a:rPr>
              <a:t>dữ</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:&lt;class ‘float’&gt;</a:t>
            </a:r>
          </a:p>
          <a:p>
            <a:r>
              <a:rPr lang="en-US" sz="2800" dirty="0" err="1">
                <a:latin typeface="Cambria" panose="02040503050406030204" pitchFamily="18" charset="0"/>
              </a:rPr>
              <a:t>Với</a:t>
            </a:r>
            <a:r>
              <a:rPr lang="en-US" sz="2800" dirty="0">
                <a:latin typeface="Cambria" panose="02040503050406030204" pitchFamily="18" charset="0"/>
              </a:rPr>
              <a:t> x = complex(113,114) ta </a:t>
            </a:r>
            <a:r>
              <a:rPr lang="en-US" sz="2800" dirty="0" err="1">
                <a:latin typeface="Cambria" panose="02040503050406030204" pitchFamily="18" charset="0"/>
              </a:rPr>
              <a:t>có</a:t>
            </a:r>
            <a:r>
              <a:rPr lang="en-US" sz="2800" dirty="0">
                <a:latin typeface="Cambria" panose="02040503050406030204" pitchFamily="18" charset="0"/>
              </a:rPr>
              <a:t> </a:t>
            </a:r>
            <a:r>
              <a:rPr lang="en-US" sz="2800" dirty="0" err="1">
                <a:latin typeface="Cambria" panose="02040503050406030204" pitchFamily="18" charset="0"/>
              </a:rPr>
              <a:t>kiểu</a:t>
            </a:r>
            <a:r>
              <a:rPr lang="en-US" sz="2800" dirty="0">
                <a:latin typeface="Cambria" panose="02040503050406030204" pitchFamily="18" charset="0"/>
              </a:rPr>
              <a:t> </a:t>
            </a:r>
            <a:r>
              <a:rPr lang="en-US" sz="2800" dirty="0" err="1">
                <a:latin typeface="Cambria" panose="02040503050406030204" pitchFamily="18" charset="0"/>
              </a:rPr>
              <a:t>dữ</a:t>
            </a:r>
            <a:r>
              <a:rPr lang="en-US" sz="2800" dirty="0">
                <a:latin typeface="Cambria" panose="02040503050406030204" pitchFamily="18" charset="0"/>
              </a:rPr>
              <a:t> </a:t>
            </a:r>
            <a:r>
              <a:rPr lang="en-US" sz="2800" dirty="0" err="1">
                <a:latin typeface="Cambria" panose="02040503050406030204" pitchFamily="18" charset="0"/>
              </a:rPr>
              <a:t>liệu</a:t>
            </a:r>
            <a:r>
              <a:rPr lang="en-US" sz="2800" dirty="0">
                <a:latin typeface="Cambria" panose="02040503050406030204" pitchFamily="18" charset="0"/>
              </a:rPr>
              <a:t>:&lt;class ‘complex’&gt;</a:t>
            </a:r>
          </a:p>
        </p:txBody>
      </p:sp>
      <p:sp>
        <p:nvSpPr>
          <p:cNvPr id="12" name="Rectangle 5">
            <a:extLst>
              <a:ext uri="{FF2B5EF4-FFF2-40B4-BE49-F238E27FC236}">
                <a16:creationId xmlns:a16="http://schemas.microsoft.com/office/drawing/2014/main" id="{2F8D65AF-4DF1-4F5B-A3C7-B5D74F286275}"/>
              </a:ext>
            </a:extLst>
          </p:cNvPr>
          <p:cNvSpPr>
            <a:spLocks noChangeArrowheads="1"/>
          </p:cNvSpPr>
          <p:nvPr/>
        </p:nvSpPr>
        <p:spPr bwMode="auto">
          <a:xfrm>
            <a:off x="5243986" y="4386602"/>
            <a:ext cx="4480714" cy="9541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a:ln>
                  <a:noFill/>
                </a:ln>
                <a:solidFill>
                  <a:srgbClr val="000000"/>
                </a:solidFill>
                <a:effectLst/>
                <a:latin typeface="Courier New" panose="02070309020205020404" pitchFamily="49" charset="0"/>
                <a:cs typeface="Courier New" panose="02070309020205020404" pitchFamily="49" charset="0"/>
              </a:rPr>
              <a:t>(x.real,x.imag)</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a:solidFill>
                  <a:srgbClr val="000000"/>
                </a:solidFill>
                <a:latin typeface="Courier New" panose="02070309020205020404" pitchFamily="49" charset="0"/>
                <a:cs typeface="Courier New" panose="02070309020205020404" pitchFamily="49" charset="0"/>
                <a:sym typeface="Wingdings" panose="05000000000000000000" pitchFamily="2" charset="2"/>
              </a:rPr>
              <a:t>thực:113, ảo:114</a:t>
            </a:r>
            <a:endParaRPr kumimoji="0" lang="en-US" altLang="en-US" sz="24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584007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vi-VN" sz="4000" b="1" dirty="0">
                  <a:solidFill>
                    <a:prstClr val="black"/>
                  </a:solidFill>
                  <a:latin typeface="Cambria" panose="02040503050406030204" pitchFamily="18" charset="0"/>
                </a:rPr>
                <a:t>3. Cách xóa biến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70</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Trong Python có một điểm thú vị là: Nếu biến đó đang tồn tại mà ta xóa nó đi thì không còn sử dụng được nữa (tương tự trong C++ khi chúng ta thu hồi bộ nhớ của con trỏ vậy), Python dùng từ khóa del để xóa:</a:t>
            </a:r>
          </a:p>
        </p:txBody>
      </p:sp>
      <p:sp>
        <p:nvSpPr>
          <p:cNvPr id="8" name="Rectangle 1">
            <a:extLst>
              <a:ext uri="{FF2B5EF4-FFF2-40B4-BE49-F238E27FC236}">
                <a16:creationId xmlns:a16="http://schemas.microsoft.com/office/drawing/2014/main" id="{AF5EE939-320D-4D6E-87E9-1AC1D5FE5143}"/>
              </a:ext>
            </a:extLst>
          </p:cNvPr>
          <p:cNvSpPr>
            <a:spLocks noChangeArrowheads="1"/>
          </p:cNvSpPr>
          <p:nvPr/>
        </p:nvSpPr>
        <p:spPr bwMode="auto">
          <a:xfrm>
            <a:off x="1752600" y="3962400"/>
            <a:ext cx="2117887" cy="181588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"Obama"</a:t>
            </a:r>
            <a:br>
              <a:rPr kumimoji="0" lang="en-US" altLang="en-US" sz="28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del  </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b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28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28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(x)</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9" name="Arrow: Right 8">
            <a:extLst>
              <a:ext uri="{FF2B5EF4-FFF2-40B4-BE49-F238E27FC236}">
                <a16:creationId xmlns:a16="http://schemas.microsoft.com/office/drawing/2014/main" id="{1B127C2A-AA24-4916-864B-D0CA60230612}"/>
              </a:ext>
            </a:extLst>
          </p:cNvPr>
          <p:cNvSpPr/>
          <p:nvPr/>
        </p:nvSpPr>
        <p:spPr>
          <a:xfrm>
            <a:off x="4015409" y="4731815"/>
            <a:ext cx="1371600" cy="3810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C80C937-FA78-4075-84BA-2D84FF407A9B}"/>
              </a:ext>
            </a:extLst>
          </p:cNvPr>
          <p:cNvSpPr/>
          <p:nvPr/>
        </p:nvSpPr>
        <p:spPr>
          <a:xfrm>
            <a:off x="5545183" y="3798930"/>
            <a:ext cx="6189617" cy="2246769"/>
          </a:xfrm>
          <a:prstGeom prst="rect">
            <a:avLst/>
          </a:prstGeom>
        </p:spPr>
        <p:txBody>
          <a:bodyPr wrap="square">
            <a:spAutoFit/>
          </a:bodyPr>
          <a:lstStyle/>
          <a:p>
            <a:r>
              <a:rPr lang="en-US" sz="2800" dirty="0"/>
              <a:t>Obama</a:t>
            </a:r>
          </a:p>
          <a:p>
            <a:r>
              <a:rPr lang="en-US" sz="2800" dirty="0" err="1"/>
              <a:t>Traceback</a:t>
            </a:r>
            <a:r>
              <a:rPr lang="en-US" sz="2800" dirty="0"/>
              <a:t> (most recent call last):</a:t>
            </a:r>
          </a:p>
          <a:p>
            <a:r>
              <a:rPr lang="en-US" sz="2800" dirty="0"/>
              <a:t>  File "/XoaBien.py", line 4, in &lt;module&gt;</a:t>
            </a:r>
          </a:p>
          <a:p>
            <a:r>
              <a:rPr lang="en-US" sz="2800" dirty="0"/>
              <a:t>    print(x)</a:t>
            </a:r>
          </a:p>
          <a:p>
            <a:r>
              <a:rPr lang="en-US" sz="2800" dirty="0" err="1"/>
              <a:t>NameError</a:t>
            </a:r>
            <a:r>
              <a:rPr lang="en-US" sz="2800" dirty="0"/>
              <a:t>: name 'x' is not defined</a:t>
            </a:r>
          </a:p>
        </p:txBody>
      </p:sp>
    </p:spTree>
    <p:extLst>
      <p:ext uri="{BB962C8B-B14F-4D97-AF65-F5344CB8AC3E}">
        <p14:creationId xmlns:p14="http://schemas.microsoft.com/office/powerpoint/2010/main" val="278530877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543800" cy="508000"/>
            <a:chOff x="789624" y="1191463"/>
            <a:chExt cx="7543800" cy="508000"/>
          </a:xfrm>
        </p:grpSpPr>
        <p:sp>
          <p:nvSpPr>
            <p:cNvPr id="3" name="AutoShape 52"/>
            <p:cNvSpPr>
              <a:spLocks noChangeArrowheads="1"/>
            </p:cNvSpPr>
            <p:nvPr/>
          </p:nvSpPr>
          <p:spPr bwMode="gray">
            <a:xfrm>
              <a:off x="990600" y="1191463"/>
              <a:ext cx="7342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4. </a:t>
              </a:r>
              <a:r>
                <a:rPr lang="vi-VN" sz="4000" b="1" dirty="0">
                  <a:solidFill>
                    <a:prstClr val="black"/>
                  </a:solidFill>
                  <a:latin typeface="Cambria" panose="02040503050406030204" pitchFamily="18" charset="0"/>
                </a:rPr>
                <a:t>Cách kiểm tra vùng lưu trữ</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Ta có thể kiểm tra vùng lưu trữ giá trị của các bi</a:t>
            </a:r>
            <a:r>
              <a:rPr lang="en-US" sz="4000" dirty="0">
                <a:solidFill>
                  <a:prstClr val="black"/>
                </a:solidFill>
                <a:latin typeface="Cambria" panose="02040503050406030204" pitchFamily="18" charset="0"/>
              </a:rPr>
              <a:t>ế</a:t>
            </a:r>
            <a:r>
              <a:rPr lang="vi-VN" sz="4000" dirty="0">
                <a:solidFill>
                  <a:prstClr val="black"/>
                </a:solidFill>
                <a:latin typeface="Cambria" panose="02040503050406030204" pitchFamily="18" charset="0"/>
              </a:rPr>
              <a:t>n int, float bằng cách import thư viện sys để có thể xem được chi tiết:</a:t>
            </a:r>
            <a:endParaRPr lang="en-US" sz="4000" dirty="0">
              <a:solidFill>
                <a:prstClr val="black"/>
              </a:solidFill>
              <a:latin typeface="Cambria" panose="02040503050406030204" pitchFamily="18" charset="0"/>
            </a:endParaRPr>
          </a:p>
        </p:txBody>
      </p:sp>
      <p:sp>
        <p:nvSpPr>
          <p:cNvPr id="8" name="Rectangle 1">
            <a:extLst>
              <a:ext uri="{FF2B5EF4-FFF2-40B4-BE49-F238E27FC236}">
                <a16:creationId xmlns:a16="http://schemas.microsoft.com/office/drawing/2014/main" id="{1EF91FDA-F41D-4E30-AA5C-7F6F89CB7E1E}"/>
              </a:ext>
            </a:extLst>
          </p:cNvPr>
          <p:cNvSpPr>
            <a:spLocks noChangeArrowheads="1"/>
          </p:cNvSpPr>
          <p:nvPr/>
        </p:nvSpPr>
        <p:spPr bwMode="auto">
          <a:xfrm>
            <a:off x="232112" y="3048000"/>
            <a:ext cx="11880175" cy="31700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4000" b="1"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import </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sys</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Thông</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tin chi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tiết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của</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int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sys.int_info</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Thông</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tin chi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tiết</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a:t>
            </a:r>
            <a:r>
              <a:rPr kumimoji="0" lang="en-US" altLang="en-US" sz="4000" b="1" i="0" u="none" strike="noStrike" cap="none" normalizeH="0" baseline="0" dirty="0" err="1">
                <a:ln>
                  <a:noFill/>
                </a:ln>
                <a:solidFill>
                  <a:srgbClr val="008080"/>
                </a:solidFill>
                <a:effectLst/>
                <a:latin typeface="Courier New" panose="02070309020205020404" pitchFamily="49" charset="0"/>
                <a:cs typeface="Courier New" panose="02070309020205020404" pitchFamily="49" charset="0"/>
              </a:rPr>
              <a:t>của</a:t>
            </a:r>
            <a:r>
              <a:rPr kumimoji="0" lang="en-US" altLang="en-US" sz="4000" b="1" i="0" u="none" strike="noStrike" cap="none" normalizeH="0" baseline="0" dirty="0">
                <a:ln>
                  <a:noFill/>
                </a:ln>
                <a:solidFill>
                  <a:srgbClr val="008080"/>
                </a:solidFill>
                <a:effectLst/>
                <a:latin typeface="Courier New" panose="02070309020205020404" pitchFamily="49" charset="0"/>
                <a:cs typeface="Courier New" panose="02070309020205020404" pitchFamily="49" charset="0"/>
              </a:rPr>
              <a:t> float:"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b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br>
            <a:r>
              <a:rPr kumimoji="0" lang="en-US" altLang="en-US" sz="4000" b="0" i="0" u="none" strike="noStrike" cap="none" normalizeH="0" baseline="0" dirty="0">
                <a:ln>
                  <a:noFill/>
                </a:ln>
                <a:solidFill>
                  <a:srgbClr val="000080"/>
                </a:solidFill>
                <a:effectLst/>
                <a:latin typeface="Courier New" panose="02070309020205020404" pitchFamily="49" charset="0"/>
                <a:cs typeface="Courier New" panose="02070309020205020404" pitchFamily="49" charset="0"/>
              </a:rPr>
              <a:t>print</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r>
              <a:rPr kumimoji="0" lang="en-US" altLang="en-US" sz="4000" b="0" i="0" u="none" strike="noStrike" cap="none" normalizeH="0" baseline="0" dirty="0" err="1">
                <a:ln>
                  <a:noFill/>
                </a:ln>
                <a:solidFill>
                  <a:srgbClr val="000000"/>
                </a:solidFill>
                <a:effectLst/>
                <a:latin typeface="Courier New" panose="02070309020205020404" pitchFamily="49" charset="0"/>
                <a:cs typeface="Courier New" panose="02070309020205020404" pitchFamily="49" charset="0"/>
              </a:rPr>
              <a:t>sys.float_info</a:t>
            </a:r>
            <a:r>
              <a:rPr kumimoji="0" lang="en-US" altLang="en-US" sz="4000" b="0" i="0" u="none" strike="noStrike" cap="none" normalizeH="0" baseline="0" dirty="0">
                <a:ln>
                  <a:noFill/>
                </a:ln>
                <a:solidFill>
                  <a:srgbClr val="000000"/>
                </a:solidFill>
                <a:effectLst/>
                <a:latin typeface="Courier New" panose="02070309020205020404" pitchFamily="49" charset="0"/>
                <a:cs typeface="Courier New" panose="02070309020205020404" pitchFamily="49" charset="0"/>
              </a:rPr>
              <a:t>)</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597200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7543800" cy="508000"/>
            <a:chOff x="789624" y="1191463"/>
            <a:chExt cx="7543800" cy="508000"/>
          </a:xfrm>
        </p:grpSpPr>
        <p:sp>
          <p:nvSpPr>
            <p:cNvPr id="3" name="AutoShape 52"/>
            <p:cNvSpPr>
              <a:spLocks noChangeArrowheads="1"/>
            </p:cNvSpPr>
            <p:nvPr/>
          </p:nvSpPr>
          <p:spPr bwMode="gray">
            <a:xfrm>
              <a:off x="990600" y="1191463"/>
              <a:ext cx="73428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4. </a:t>
              </a:r>
              <a:r>
                <a:rPr lang="vi-VN" sz="4000" b="1" dirty="0">
                  <a:solidFill>
                    <a:prstClr val="black"/>
                  </a:solidFill>
                  <a:latin typeface="Cambria" panose="02040503050406030204" pitchFamily="18" charset="0"/>
                </a:rPr>
                <a:t>Cách kiểm tra vùng lưu trữ</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000" dirty="0" err="1"/>
              <a:t>Thông</a:t>
            </a:r>
            <a:r>
              <a:rPr lang="en-US" sz="4000" dirty="0"/>
              <a:t> tin chi </a:t>
            </a:r>
            <a:r>
              <a:rPr lang="en-US" sz="4000" dirty="0" err="1"/>
              <a:t>tiết</a:t>
            </a:r>
            <a:r>
              <a:rPr lang="en-US" sz="4000" dirty="0"/>
              <a:t> </a:t>
            </a:r>
            <a:r>
              <a:rPr lang="en-US" sz="4000" dirty="0" err="1"/>
              <a:t>của</a:t>
            </a:r>
            <a:r>
              <a:rPr lang="en-US" sz="4000" dirty="0"/>
              <a:t> </a:t>
            </a:r>
            <a:r>
              <a:rPr lang="en-US" sz="4000" b="1" dirty="0" err="1"/>
              <a:t>int</a:t>
            </a:r>
            <a:r>
              <a:rPr lang="en-US" sz="4000" dirty="0"/>
              <a:t>:</a:t>
            </a:r>
          </a:p>
          <a:p>
            <a:r>
              <a:rPr lang="en-US" sz="4000" dirty="0" err="1"/>
              <a:t>sys.int_info</a:t>
            </a:r>
            <a:r>
              <a:rPr lang="en-US" sz="4000" dirty="0"/>
              <a:t>(</a:t>
            </a:r>
            <a:r>
              <a:rPr lang="en-US" sz="4000" dirty="0" err="1"/>
              <a:t>bits_per_digit</a:t>
            </a:r>
            <a:r>
              <a:rPr lang="en-US" sz="4000" dirty="0"/>
              <a:t>=15, </a:t>
            </a:r>
            <a:r>
              <a:rPr lang="en-US" sz="4000" dirty="0" err="1"/>
              <a:t>sizeof_digit</a:t>
            </a:r>
            <a:r>
              <a:rPr lang="en-US" sz="4000" dirty="0"/>
              <a:t>=2)</a:t>
            </a:r>
          </a:p>
          <a:p>
            <a:pPr marL="0" indent="0">
              <a:buNone/>
            </a:pPr>
            <a:r>
              <a:rPr lang="en-US" sz="4000" dirty="0" err="1"/>
              <a:t>Thông</a:t>
            </a:r>
            <a:r>
              <a:rPr lang="en-US" sz="4000" dirty="0"/>
              <a:t> tin chi </a:t>
            </a:r>
            <a:r>
              <a:rPr lang="en-US" sz="4000" dirty="0" err="1"/>
              <a:t>tiết</a:t>
            </a:r>
            <a:r>
              <a:rPr lang="en-US" sz="4000" dirty="0"/>
              <a:t> </a:t>
            </a:r>
            <a:r>
              <a:rPr lang="en-US" sz="4000" dirty="0" err="1"/>
              <a:t>của</a:t>
            </a:r>
            <a:r>
              <a:rPr lang="en-US" sz="4000" dirty="0"/>
              <a:t> </a:t>
            </a:r>
            <a:r>
              <a:rPr lang="en-US" sz="4000" b="1" dirty="0"/>
              <a:t>float</a:t>
            </a:r>
            <a:r>
              <a:rPr lang="en-US" sz="4000" dirty="0"/>
              <a:t>:</a:t>
            </a:r>
          </a:p>
          <a:p>
            <a:r>
              <a:rPr lang="en-US" sz="4000" dirty="0" err="1"/>
              <a:t>sys.float_info</a:t>
            </a:r>
            <a:r>
              <a:rPr lang="en-US" sz="4000" dirty="0"/>
              <a:t>(max=1.7976931348623157e+308, </a:t>
            </a:r>
            <a:r>
              <a:rPr lang="en-US" sz="4000" dirty="0" err="1"/>
              <a:t>max_exp</a:t>
            </a:r>
            <a:r>
              <a:rPr lang="en-US" sz="4000" dirty="0"/>
              <a:t>=1024, max_10_exp=308, min=2.2250738585072014e-308, </a:t>
            </a:r>
            <a:r>
              <a:rPr lang="en-US" sz="4000" dirty="0" err="1"/>
              <a:t>min_exp</a:t>
            </a:r>
            <a:r>
              <a:rPr lang="en-US" sz="4000" dirty="0"/>
              <a:t>=-1021, min_10_exp=-307, dig=15, </a:t>
            </a:r>
            <a:r>
              <a:rPr lang="en-US" sz="4000" dirty="0" err="1"/>
              <a:t>mant_dig</a:t>
            </a:r>
            <a:r>
              <a:rPr lang="en-US" sz="4000" dirty="0"/>
              <a:t>=53, epsilon=2.220446049250313e-16, radix=2, rounds=1)</a:t>
            </a: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41311713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2317812" y="1371600"/>
            <a:ext cx="7239000"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6000" kern="0" dirty="0">
                <a:solidFill>
                  <a:srgbClr val="002060"/>
                </a:solidFill>
                <a:latin typeface="Cambria" panose="02040503050406030204" pitchFamily="18" charset="0"/>
              </a:rPr>
              <a:t>Cách ghi chú lệnh </a:t>
            </a:r>
            <a:endParaRPr lang="en-US" sz="6000" kern="0" dirty="0">
              <a:solidFill>
                <a:srgbClr val="002060"/>
              </a:solidFill>
              <a:latin typeface="Cambria" panose="02040503050406030204" pitchFamily="18" charset="0"/>
            </a:endParaRPr>
          </a:p>
          <a:p>
            <a:pPr>
              <a:defRPr/>
            </a:pPr>
            <a:r>
              <a:rPr lang="vi-VN" sz="6000" kern="0" dirty="0">
                <a:solidFill>
                  <a:srgbClr val="002060"/>
                </a:solidFill>
                <a:latin typeface="Cambria" panose="02040503050406030204" pitchFamily="18" charset="0"/>
              </a:rPr>
              <a:t>trong Python</a:t>
            </a:r>
            <a:endParaRPr lang="en-US" sz="60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73</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31242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73300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74</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1. </a:t>
            </a:r>
            <a:r>
              <a:rPr lang="en-US" sz="4000" dirty="0" err="1">
                <a:solidFill>
                  <a:prstClr val="black"/>
                </a:solidFill>
                <a:latin typeface="Cambria" panose="02040503050406030204" pitchFamily="18" charset="0"/>
              </a:rPr>
              <a:t>Vì</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sao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nên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ghi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chú</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lập</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trình</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it-IT" sz="4000" dirty="0">
                <a:solidFill>
                  <a:prstClr val="black"/>
                </a:solidFill>
                <a:latin typeface="Cambria" panose="02040503050406030204" pitchFamily="18" charset="0"/>
              </a:rPr>
              <a:t>2. Ghi chú 1 dòng </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3. </a:t>
            </a:r>
            <a:r>
              <a:rPr lang="en-US" sz="4000" dirty="0" err="1">
                <a:solidFill>
                  <a:prstClr val="black"/>
                </a:solidFill>
                <a:latin typeface="Cambria" panose="02040503050406030204" pitchFamily="18" charset="0"/>
              </a:rPr>
              <a:t>Ghi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chú</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nhiều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dòng</a:t>
            </a:r>
            <a:r>
              <a:rPr lang="en-US" sz="4000" dirty="0">
                <a:solidFill>
                  <a:prstClr val="black"/>
                </a:solidFill>
                <a:latin typeface="Cambria" panose="02040503050406030204" pitchFamily="18" charset="0"/>
              </a:rPr>
              <a:t>: </a:t>
            </a:r>
          </a:p>
        </p:txBody>
      </p:sp>
    </p:spTree>
    <p:extLst>
      <p:ext uri="{BB962C8B-B14F-4D97-AF65-F5344CB8AC3E}">
        <p14:creationId xmlns:p14="http://schemas.microsoft.com/office/powerpoint/2010/main" val="38437654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382000" cy="508000"/>
            <a:chOff x="789624" y="1191463"/>
            <a:chExt cx="8382000" cy="508000"/>
          </a:xfrm>
        </p:grpSpPr>
        <p:sp>
          <p:nvSpPr>
            <p:cNvPr id="3" name="AutoShape 52"/>
            <p:cNvSpPr>
              <a:spLocks noChangeArrowheads="1"/>
            </p:cNvSpPr>
            <p:nvPr/>
          </p:nvSpPr>
          <p:spPr bwMode="gray">
            <a:xfrm>
              <a:off x="990600" y="1191463"/>
              <a:ext cx="8181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1. </a:t>
              </a:r>
              <a:r>
                <a:rPr lang="en-US" sz="4000" b="1" dirty="0" err="1">
                  <a:solidFill>
                    <a:prstClr val="black"/>
                  </a:solidFill>
                  <a:latin typeface="Cambria" panose="02040503050406030204" pitchFamily="18" charset="0"/>
                </a:rPr>
                <a:t>Vì</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sao</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nên</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ghi</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chú</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khi</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3600" dirty="0">
                <a:solidFill>
                  <a:prstClr val="black"/>
                </a:solidFill>
                <a:latin typeface="Cambria" panose="02040503050406030204" pitchFamily="18" charset="0"/>
              </a:rPr>
              <a:t>Việc ghi chú lệnh một cách cẩn thận khi lập trình thể hiện tính chuyên nghiệp của Lập trình viên</a:t>
            </a:r>
            <a:r>
              <a:rPr lang="vi-VN" sz="3600">
                <a:solidFill>
                  <a:prstClr val="black"/>
                </a:solidFill>
                <a:latin typeface="Cambria" panose="02040503050406030204" pitchFamily="18" charset="0"/>
              </a:rPr>
              <a:t>. </a:t>
            </a:r>
            <a:endParaRPr lang="en-US" sz="360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en-US" sz="3600">
                <a:solidFill>
                  <a:prstClr val="black"/>
                </a:solidFill>
                <a:latin typeface="Cambria" panose="02040503050406030204" pitchFamily="18" charset="0"/>
              </a:rPr>
              <a:t>N</a:t>
            </a:r>
            <a:r>
              <a:rPr lang="vi-VN" sz="3600">
                <a:solidFill>
                  <a:prstClr val="black"/>
                </a:solidFill>
                <a:latin typeface="Cambria" panose="02040503050406030204" pitchFamily="18" charset="0"/>
              </a:rPr>
              <a:t>ếu </a:t>
            </a:r>
            <a:r>
              <a:rPr lang="vi-VN" sz="3600" dirty="0">
                <a:solidFill>
                  <a:prstClr val="black"/>
                </a:solidFill>
                <a:latin typeface="Cambria" panose="02040503050406030204" pitchFamily="18" charset="0"/>
              </a:rPr>
              <a:t>như các bạn được phỏng vấn xin việc, nếu Công ty kiểm tra coding từ các Project sample của bạn mà thấy bạn không có ghi chú một cách cẩn thận (cho dù bạn có lập trình giỏi tới mấy) thì khả năng bị loại cực cao, nếu giỏi mà cẩu thả thì càng nguy hiểm, vì độ “sát thương” cho các dự án rất cao.</a:t>
            </a:r>
            <a:endParaRPr lang="en-US" sz="36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52232988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8382000" cy="508000"/>
            <a:chOff x="789624" y="1191463"/>
            <a:chExt cx="8382000" cy="508000"/>
          </a:xfrm>
        </p:grpSpPr>
        <p:sp>
          <p:nvSpPr>
            <p:cNvPr id="3" name="AutoShape 52"/>
            <p:cNvSpPr>
              <a:spLocks noChangeArrowheads="1"/>
            </p:cNvSpPr>
            <p:nvPr/>
          </p:nvSpPr>
          <p:spPr bwMode="gray">
            <a:xfrm>
              <a:off x="990600" y="1191463"/>
              <a:ext cx="81810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1. </a:t>
              </a:r>
              <a:r>
                <a:rPr lang="en-US" sz="4000" b="1" dirty="0" err="1">
                  <a:solidFill>
                    <a:prstClr val="black"/>
                  </a:solidFill>
                  <a:latin typeface="Cambria" panose="02040503050406030204" pitchFamily="18" charset="0"/>
                </a:rPr>
                <a:t>Vì</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sao</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nên</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ghi</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chú</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khi</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lập</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trình</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Triển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khai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nhiều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dự</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án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viết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nhiều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lệnh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nếu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không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ghi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chú</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khăn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chính</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bản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thân</a:t>
            </a:r>
            <a:r>
              <a:rPr lang="en-US" sz="4000" dirty="0">
                <a:solidFill>
                  <a:prstClr val="black"/>
                </a:solidFill>
                <a:latin typeface="Cambria" panose="02040503050406030204" pitchFamily="18" charset="0"/>
              </a:rPr>
              <a:t> Programmer </a:t>
            </a:r>
            <a:r>
              <a:rPr lang="en-US" sz="4000" dirty="0" err="1">
                <a:solidFill>
                  <a:prstClr val="black"/>
                </a:solidFill>
                <a:latin typeface="Cambria" panose="02040503050406030204" pitchFamily="18" charset="0"/>
              </a:rPr>
              <a:t>khi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đọc</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lại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rất</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khó</a:t>
            </a:r>
            <a:r>
              <a:rPr lang="en-US" sz="4000" dirty="0">
                <a:solidFill>
                  <a:prstClr val="black"/>
                </a:solidFill>
                <a:latin typeface="Cambria" panose="02040503050406030204" pitchFamily="18" charset="0"/>
              </a:rPr>
              <a:t> training </a:t>
            </a:r>
            <a:r>
              <a:rPr lang="en-US" sz="4000" dirty="0" err="1">
                <a:solidFill>
                  <a:prstClr val="black"/>
                </a:solidFill>
                <a:latin typeface="Cambria" panose="02040503050406030204" pitchFamily="18" charset="0"/>
              </a:rPr>
              <a:t>khi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có</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nhân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viên</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mới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vào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làm</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việc</a:t>
            </a:r>
            <a:r>
              <a:rPr lang="en-US" sz="4000" dirty="0">
                <a:solidFill>
                  <a:prstClr val="black"/>
                </a:solidFill>
                <a:latin typeface="Cambria" panose="02040503050406030204" pitchFamily="18" charset="0"/>
              </a:rPr>
              <a:t>.</a:t>
            </a:r>
          </a:p>
        </p:txBody>
      </p:sp>
    </p:spTree>
    <p:extLst>
      <p:ext uri="{BB962C8B-B14F-4D97-AF65-F5344CB8AC3E}">
        <p14:creationId xmlns:p14="http://schemas.microsoft.com/office/powerpoint/2010/main" val="22148758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it-IT" sz="4000" b="1" dirty="0">
                  <a:solidFill>
                    <a:prstClr val="black"/>
                  </a:solidFill>
                  <a:latin typeface="Cambria" panose="02040503050406030204" pitchFamily="18" charset="0"/>
                </a:rPr>
                <a:t>2.Ghi chú 1 dòng </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Python </a:t>
            </a:r>
            <a:r>
              <a:rPr lang="en-US" sz="4000" dirty="0" err="1">
                <a:solidFill>
                  <a:prstClr val="black"/>
                </a:solidFill>
                <a:latin typeface="Cambria" panose="02040503050406030204" pitchFamily="18" charset="0"/>
              </a:rPr>
              <a:t>dùng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từ</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khóa</a:t>
            </a:r>
            <a:r>
              <a:rPr lang="en-US" sz="4000" dirty="0">
                <a:solidFill>
                  <a:prstClr val="black"/>
                </a:solidFill>
                <a:latin typeface="Cambria" panose="02040503050406030204" pitchFamily="18" charset="0"/>
              </a:rPr>
              <a:t> # </a:t>
            </a: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cho</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phép</a:t>
            </a:r>
            <a:r>
              <a:rPr lang="en-US" sz="4000" dirty="0">
                <a:solidFill>
                  <a:prstClr val="black"/>
                </a:solidFill>
                <a:latin typeface="Cambria" panose="02040503050406030204" pitchFamily="18" charset="0"/>
              </a:rPr>
              <a:t> ta </a:t>
            </a:r>
            <a:r>
              <a:rPr lang="en-US" sz="4000" dirty="0" err="1">
                <a:solidFill>
                  <a:prstClr val="black"/>
                </a:solidFill>
                <a:latin typeface="Cambria" panose="02040503050406030204" pitchFamily="18" charset="0"/>
              </a:rPr>
              <a:t>ghi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chú</a:t>
            </a:r>
            <a:r>
              <a:rPr lang="en-US" sz="4000" dirty="0">
                <a:solidFill>
                  <a:prstClr val="black"/>
                </a:solidFill>
                <a:latin typeface="Cambria" panose="02040503050406030204" pitchFamily="18" charset="0"/>
              </a:rPr>
              <a:t> 1 </a:t>
            </a:r>
            <a:r>
              <a:rPr lang="en-US" sz="4000" dirty="0" err="1">
                <a:solidFill>
                  <a:prstClr val="black"/>
                </a:solidFill>
                <a:latin typeface="Cambria" panose="02040503050406030204" pitchFamily="18" charset="0"/>
              </a:rPr>
              <a:t>dòng</a:t>
            </a:r>
            <a:r>
              <a:rPr lang="en-US" sz="4000" dirty="0">
                <a:solidFill>
                  <a:prstClr val="black"/>
                </a:solidFill>
                <a:latin typeface="Cambria" panose="02040503050406030204" pitchFamily="18" charset="0"/>
              </a:rPr>
              <a:t>:</a:t>
            </a: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196DDFE2-57E3-4AF5-B4D0-112B6436ABE4}"/>
              </a:ext>
            </a:extLst>
          </p:cNvPr>
          <p:cNvPicPr>
            <a:picLocks noChangeAspect="1"/>
          </p:cNvPicPr>
          <p:nvPr/>
        </p:nvPicPr>
        <p:blipFill>
          <a:blip r:embed="rId3"/>
          <a:stretch>
            <a:fillRect/>
          </a:stretch>
        </p:blipFill>
        <p:spPr>
          <a:xfrm>
            <a:off x="2595115" y="1938706"/>
            <a:ext cx="7154169" cy="4714876"/>
          </a:xfrm>
          <a:prstGeom prst="rect">
            <a:avLst/>
          </a:prstGeom>
        </p:spPr>
      </p:pic>
    </p:spTree>
    <p:extLst>
      <p:ext uri="{BB962C8B-B14F-4D97-AF65-F5344CB8AC3E}">
        <p14:creationId xmlns:p14="http://schemas.microsoft.com/office/powerpoint/2010/main" val="140508204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3. </a:t>
              </a:r>
              <a:r>
                <a:rPr lang="en-US" sz="4000" b="1" dirty="0" err="1">
                  <a:solidFill>
                    <a:prstClr val="black"/>
                  </a:solidFill>
                  <a:latin typeface="Cambria" panose="02040503050406030204" pitchFamily="18" charset="0"/>
                </a:rPr>
                <a:t>Ghi</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chú</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nhiều</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dòng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78</a:t>
            </a:fld>
            <a:endParaRPr lang="en-US"/>
          </a:p>
        </p:txBody>
      </p:sp>
      <p:sp>
        <p:nvSpPr>
          <p:cNvPr id="14" name="Content Placeholder 2"/>
          <p:cNvSpPr txBox="1">
            <a:spLocks/>
          </p:cNvSpPr>
          <p:nvPr/>
        </p:nvSpPr>
        <p:spPr>
          <a:xfrm>
            <a:off x="457200" y="1076325"/>
            <a:ext cx="4433299"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ghi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chú</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nhiều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dòng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lệnh</a:t>
            </a:r>
            <a:r>
              <a:rPr lang="en-US" sz="4000" dirty="0">
                <a:solidFill>
                  <a:prstClr val="black"/>
                </a:solidFill>
                <a:latin typeface="Cambria" panose="02040503050406030204" pitchFamily="18" charset="0"/>
              </a:rPr>
              <a:t>, Ta d</a:t>
            </a:r>
            <a:r>
              <a:rPr lang="vi-VN" sz="4000" dirty="0">
                <a:solidFill>
                  <a:prstClr val="black"/>
                </a:solidFill>
                <a:latin typeface="Cambria" panose="02040503050406030204" pitchFamily="18" charset="0"/>
              </a:rPr>
              <a:t>ùng """ """ (3 cặp nháy đôi) hoặc ''' '''(3 cập nháy đơn)</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p:txBody>
      </p:sp>
      <p:pic>
        <p:nvPicPr>
          <p:cNvPr id="8" name="Picture 7">
            <a:extLst>
              <a:ext uri="{FF2B5EF4-FFF2-40B4-BE49-F238E27FC236}">
                <a16:creationId xmlns:a16="http://schemas.microsoft.com/office/drawing/2014/main" id="{0FC9E89C-4A07-4EE1-AD1A-A69767DC6DDC}"/>
              </a:ext>
            </a:extLst>
          </p:cNvPr>
          <p:cNvPicPr>
            <a:picLocks noChangeAspect="1"/>
          </p:cNvPicPr>
          <p:nvPr/>
        </p:nvPicPr>
        <p:blipFill>
          <a:blip r:embed="rId3"/>
          <a:stretch>
            <a:fillRect/>
          </a:stretch>
        </p:blipFill>
        <p:spPr>
          <a:xfrm>
            <a:off x="5105400" y="1076324"/>
            <a:ext cx="6871699" cy="5406885"/>
          </a:xfrm>
          <a:prstGeom prst="rect">
            <a:avLst/>
          </a:prstGeom>
        </p:spPr>
      </p:pic>
    </p:spTree>
    <p:extLst>
      <p:ext uri="{BB962C8B-B14F-4D97-AF65-F5344CB8AC3E}">
        <p14:creationId xmlns:p14="http://schemas.microsoft.com/office/powerpoint/2010/main" val="9706514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a:solidFill>
                    <a:prstClr val="black"/>
                  </a:solidFill>
                  <a:latin typeface="Cambria" panose="02040503050406030204" pitchFamily="18" charset="0"/>
                </a:rPr>
                <a:t>3. </a:t>
              </a:r>
              <a:r>
                <a:rPr lang="en-US" sz="4000" b="1" dirty="0" err="1">
                  <a:solidFill>
                    <a:prstClr val="black"/>
                  </a:solidFill>
                  <a:latin typeface="Cambria" panose="02040503050406030204" pitchFamily="18" charset="0"/>
                </a:rPr>
                <a:t>Ghi</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chú</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nhiều</a:t>
              </a:r>
              <a:r>
                <a:rPr lang="en-US" sz="4000" b="1" dirty="0">
                  <a:solidFill>
                    <a:prstClr val="black"/>
                  </a:solidFill>
                  <a:latin typeface="Cambria" panose="02040503050406030204" pitchFamily="18" charset="0"/>
                </a:rPr>
                <a:t> </a:t>
              </a:r>
              <a:r>
                <a:rPr lang="en-US" sz="4000" b="1" dirty="0" err="1">
                  <a:solidFill>
                    <a:prstClr val="black"/>
                  </a:solidFill>
                  <a:latin typeface="Cambria" panose="02040503050406030204" pitchFamily="18" charset="0"/>
                </a:rPr>
                <a:t>dòng</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79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err="1">
                <a:solidFill>
                  <a:prstClr val="black"/>
                </a:solidFill>
                <a:latin typeface="Cambria" panose="02040503050406030204" pitchFamily="18" charset="0"/>
              </a:rPr>
              <a:t>Để</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ghi</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chú</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nhiều</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dòng</a:t>
            </a:r>
            <a:r>
              <a:rPr lang="en-US" sz="4000" dirty="0">
                <a:solidFill>
                  <a:prstClr val="black"/>
                </a:solidFill>
                <a:latin typeface="Cambria" panose="02040503050406030204" pitchFamily="18" charset="0"/>
              </a:rPr>
              <a:t> </a:t>
            </a:r>
            <a:r>
              <a:rPr lang="en-US" sz="4000" dirty="0" err="1">
                <a:solidFill>
                  <a:prstClr val="black"/>
                </a:solidFill>
                <a:latin typeface="Cambria" panose="02040503050406030204" pitchFamily="18" charset="0"/>
              </a:rPr>
              <a:t>lệnh</a:t>
            </a:r>
            <a:r>
              <a:rPr lang="en-US" sz="4000" dirty="0">
                <a:solidFill>
                  <a:prstClr val="black"/>
                </a:solidFill>
                <a:latin typeface="Cambria" panose="02040503050406030204" pitchFamily="18" charset="0"/>
              </a:rPr>
              <a:t>, Ta d</a:t>
            </a:r>
            <a:r>
              <a:rPr lang="vi-VN" sz="4000" dirty="0">
                <a:solidFill>
                  <a:prstClr val="black"/>
                </a:solidFill>
                <a:latin typeface="Cambria" panose="02040503050406030204" pitchFamily="18" charset="0"/>
              </a:rPr>
              <a:t>ùng """ """ (3 cặp nháy đôi) hoặc ''' '''(3 cập nháy đơn)</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endParaRPr lang="en-US" sz="4000" dirty="0">
              <a:solidFill>
                <a:prstClr val="black"/>
              </a:solidFill>
              <a:latin typeface="Cambria" panose="02040503050406030204" pitchFamily="18" charset="0"/>
            </a:endParaRPr>
          </a:p>
        </p:txBody>
      </p:sp>
      <p:pic>
        <p:nvPicPr>
          <p:cNvPr id="9" name="Picture 8">
            <a:extLst>
              <a:ext uri="{FF2B5EF4-FFF2-40B4-BE49-F238E27FC236}">
                <a16:creationId xmlns:a16="http://schemas.microsoft.com/office/drawing/2014/main" id="{8E55D5A9-3B88-4D22-A74D-2A448FCFC546}"/>
              </a:ext>
            </a:extLst>
          </p:cNvPr>
          <p:cNvPicPr>
            <a:picLocks noChangeAspect="1"/>
          </p:cNvPicPr>
          <p:nvPr/>
        </p:nvPicPr>
        <p:blipFill>
          <a:blip r:embed="rId3"/>
          <a:stretch>
            <a:fillRect/>
          </a:stretch>
        </p:blipFill>
        <p:spPr>
          <a:xfrm>
            <a:off x="1419905" y="2428912"/>
            <a:ext cx="9504589" cy="4191000"/>
          </a:xfrm>
          <a:prstGeom prst="rect">
            <a:avLst/>
          </a:prstGeom>
        </p:spPr>
      </p:pic>
    </p:spTree>
    <p:extLst>
      <p:ext uri="{BB962C8B-B14F-4D97-AF65-F5344CB8AC3E}">
        <p14:creationId xmlns:p14="http://schemas.microsoft.com/office/powerpoint/2010/main" val="25399400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1705829" y="1600200"/>
            <a:ext cx="8920163" cy="190499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defRPr/>
            </a:pPr>
            <a:r>
              <a:rPr lang="vi-VN" sz="6000" kern="0" dirty="0">
                <a:solidFill>
                  <a:srgbClr val="002060"/>
                </a:solidFill>
                <a:latin typeface="Cambria" panose="02040503050406030204" pitchFamily="18" charset="0"/>
              </a:rPr>
              <a:t>Các toán tử thường dùng trong Python</a:t>
            </a:r>
            <a:endParaRPr lang="en-US" sz="6000" kern="0" dirty="0">
              <a:solidFill>
                <a:srgbClr val="002060"/>
              </a:solidFill>
              <a:latin typeface="Cambria" panose="02040503050406030204" pitchFamily="18" charset="0"/>
            </a:endParaRPr>
          </a:p>
        </p:txBody>
      </p:sp>
      <p:sp>
        <p:nvSpPr>
          <p:cNvPr id="5" name="Slide Number Placeholder 4"/>
          <p:cNvSpPr>
            <a:spLocks noGrp="1"/>
          </p:cNvSpPr>
          <p:nvPr>
            <p:ph type="sldNum" sz="quarter" idx="12"/>
          </p:nvPr>
        </p:nvSpPr>
        <p:spPr/>
        <p:txBody>
          <a:bodyPr/>
          <a:lstStyle/>
          <a:p>
            <a:r>
              <a:rPr lang="en-US"/>
              <a:t>Trang </a:t>
            </a:r>
            <a:fld id="{99166BD8-DA3C-4BE0-9C00-AA0485D1F6DE}" type="slidenum">
              <a:rPr lang="en-US" smtClean="0"/>
              <a:pPr/>
              <a:t>80</a:t>
            </a:fld>
            <a:endParaRPr lang="en-US"/>
          </a:p>
        </p:txBody>
      </p:sp>
      <p:pic>
        <p:nvPicPr>
          <p:cNvPr id="1026" name="Picture 2" descr="Image result for Python">
            <a:extLst>
              <a:ext uri="{FF2B5EF4-FFF2-40B4-BE49-F238E27FC236}">
                <a16:creationId xmlns:a16="http://schemas.microsoft.com/office/drawing/2014/main" id="{DB89E5ED-4BAE-4B8E-BE15-5C0C50797C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352800"/>
            <a:ext cx="5169023" cy="2609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885593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81</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90000"/>
              </a:lnSpc>
              <a:spcBef>
                <a:spcPts val="1000"/>
              </a:spcBef>
              <a:buClr>
                <a:srgbClr val="215D9F"/>
              </a:buClr>
              <a:buNone/>
            </a:pPr>
            <a:r>
              <a:rPr lang="vi-VN" sz="4400" dirty="0">
                <a:solidFill>
                  <a:prstClr val="black"/>
                </a:solidFill>
                <a:latin typeface="Cambria" panose="02040503050406030204" pitchFamily="18" charset="0"/>
              </a:rPr>
              <a:t>Mỗi một ngôn ngữ lập trình đều có tập các toán tử thường dùng và đa phần chúng khá giống nhau. Những bạn nào đã học C++, java, C# thì qua Python cũng tương tự. Trong Python còn bổ sung thêm nhiều toán tử khá hữu ích khác nữa, </a:t>
            </a:r>
            <a:r>
              <a:rPr lang="en-US" sz="4400" dirty="0" err="1">
                <a:solidFill>
                  <a:prstClr val="black"/>
                </a:solidFill>
                <a:latin typeface="Cambria" panose="02040503050406030204" pitchFamily="18" charset="0"/>
              </a:rPr>
              <a:t>bên</a:t>
            </a:r>
            <a:r>
              <a:rPr lang="en-US" sz="4400" dirty="0">
                <a:solidFill>
                  <a:prstClr val="black"/>
                </a:solidFill>
                <a:latin typeface="Cambria" panose="02040503050406030204" pitchFamily="18" charset="0"/>
              </a:rPr>
              <a:t> </a:t>
            </a:r>
            <a:r>
              <a:rPr lang="vi-VN" sz="4400" dirty="0">
                <a:solidFill>
                  <a:prstClr val="black"/>
                </a:solidFill>
                <a:latin typeface="Cambria" panose="02040503050406030204" pitchFamily="18" charset="0"/>
              </a:rPr>
              <a:t>dưới liệt kê 4 loại toán tử cơ bản thường dùng nhất trong Python (các loại khác có thể xem thêm tại:</a:t>
            </a:r>
            <a:r>
              <a:rPr lang="en-US" sz="4400" dirty="0">
                <a:solidFill>
                  <a:prstClr val="black"/>
                </a:solidFill>
                <a:latin typeface="Cambria" panose="02040503050406030204" pitchFamily="18" charset="0"/>
              </a:rPr>
              <a:t> </a:t>
            </a:r>
            <a:r>
              <a:rPr lang="vi-VN" sz="4400" dirty="0">
                <a:solidFill>
                  <a:prstClr val="black"/>
                </a:solidFill>
                <a:latin typeface="Cambria" panose="02040503050406030204" pitchFamily="18" charset="0"/>
                <a:hlinkClick r:id="rId3"/>
              </a:rPr>
              <a:t>https://docs.python.org/3/library/stdtypes.html</a:t>
            </a:r>
            <a:r>
              <a:rPr lang="vi-VN" sz="4400" dirty="0">
                <a:solidFill>
                  <a:prstClr val="black"/>
                </a:solidFill>
                <a:latin typeface="Cambria" panose="02040503050406030204" pitchFamily="18" charset="0"/>
              </a:rPr>
              <a:t>):</a:t>
            </a:r>
            <a:endParaRPr lang="en-US" sz="4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6733005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4000" b="1" dirty="0" err="1">
                  <a:latin typeface="Cambria" panose="02040503050406030204" pitchFamily="18" charset="0"/>
                </a:rPr>
                <a:t>Nội</a:t>
              </a:r>
              <a:r>
                <a:rPr lang="en-US" sz="4000" b="1" dirty="0">
                  <a:latin typeface="Cambria" panose="02040503050406030204" pitchFamily="18" charset="0"/>
                </a:rPr>
                <a:t> dung </a:t>
              </a:r>
              <a:r>
                <a:rPr lang="en-US" sz="4000" b="1" dirty="0" err="1">
                  <a:latin typeface="Cambria" panose="02040503050406030204" pitchFamily="18" charset="0"/>
                </a:rPr>
                <a:t>bài</a:t>
              </a:r>
              <a:r>
                <a:rPr lang="en-US" sz="4000" b="1" dirty="0">
                  <a:latin typeface="Cambria" panose="02040503050406030204" pitchFamily="18" charset="0"/>
                </a:rPr>
                <a:t> </a:t>
              </a:r>
              <a:r>
                <a:rPr lang="en-US" sz="4000" b="1" dirty="0" err="1">
                  <a:latin typeface="Cambria" panose="02040503050406030204" pitchFamily="18" charset="0"/>
                </a:rPr>
                <a:t>học</a:t>
              </a:r>
              <a:endParaRPr lang="en-US" sz="4000" b="1" kern="0" dirty="0">
                <a:solidFill>
                  <a:srgbClr val="000000"/>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82</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1.</a:t>
            </a:r>
            <a:r>
              <a:rPr lang="vi-VN" sz="4000" dirty="0">
                <a:solidFill>
                  <a:prstClr val="black"/>
                </a:solidFill>
                <a:latin typeface="Cambria" panose="02040503050406030204" pitchFamily="18" charset="0"/>
              </a:rPr>
              <a:t>Toán tử số học cơ bản</a:t>
            </a:r>
          </a:p>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2.</a:t>
            </a:r>
            <a:r>
              <a:rPr lang="vi-VN" sz="4000" dirty="0">
                <a:solidFill>
                  <a:prstClr val="black"/>
                </a:solidFill>
                <a:latin typeface="Cambria" panose="02040503050406030204" pitchFamily="18" charset="0"/>
              </a:rPr>
              <a:t>Toán tử gán</a:t>
            </a:r>
          </a:p>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3.</a:t>
            </a:r>
            <a:r>
              <a:rPr lang="vi-VN" sz="4000" dirty="0">
                <a:solidFill>
                  <a:prstClr val="black"/>
                </a:solidFill>
                <a:latin typeface="Cambria" panose="02040503050406030204" pitchFamily="18" charset="0"/>
              </a:rPr>
              <a:t>Toán tử So sánh</a:t>
            </a:r>
          </a:p>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4.</a:t>
            </a:r>
            <a:r>
              <a:rPr lang="vi-VN" sz="4000" dirty="0">
                <a:solidFill>
                  <a:prstClr val="black"/>
                </a:solidFill>
                <a:latin typeface="Cambria" panose="02040503050406030204" pitchFamily="18" charset="0"/>
              </a:rPr>
              <a:t>Toán tử Logic</a:t>
            </a:r>
          </a:p>
          <a:p>
            <a:pPr marL="0" lvl="0" indent="0" algn="just">
              <a:lnSpc>
                <a:spcPct val="90000"/>
              </a:lnSpc>
              <a:spcBef>
                <a:spcPts val="1000"/>
              </a:spcBef>
              <a:buClr>
                <a:srgbClr val="215D9F"/>
              </a:buClr>
              <a:buNone/>
            </a:pPr>
            <a:r>
              <a:rPr lang="en-US" sz="4000" dirty="0">
                <a:solidFill>
                  <a:prstClr val="black"/>
                </a:solidFill>
                <a:latin typeface="Cambria" panose="02040503050406030204" pitchFamily="18" charset="0"/>
              </a:rPr>
              <a:t>5.</a:t>
            </a:r>
            <a:r>
              <a:rPr lang="vi-VN" sz="4000" dirty="0">
                <a:solidFill>
                  <a:prstClr val="black"/>
                </a:solidFill>
                <a:latin typeface="Cambria" panose="02040503050406030204" pitchFamily="18" charset="0"/>
              </a:rPr>
              <a:t>Độ ưu tiên toán tử</a:t>
            </a: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001285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1.</a:t>
              </a:r>
              <a:r>
                <a:rPr lang="vi-VN" sz="4000" b="1" dirty="0">
                  <a:solidFill>
                    <a:prstClr val="black"/>
                  </a:solidFill>
                  <a:latin typeface="Cambria" panose="02040503050406030204" pitchFamily="18" charset="0"/>
                </a:rPr>
                <a:t>Toán tử số học cơ bản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83</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graphicFrame>
        <p:nvGraphicFramePr>
          <p:cNvPr id="11" name="Table 10">
            <a:extLst>
              <a:ext uri="{FF2B5EF4-FFF2-40B4-BE49-F238E27FC236}">
                <a16:creationId xmlns:a16="http://schemas.microsoft.com/office/drawing/2014/main" id="{E20EA413-3D18-4BCC-958C-55002BB5BEB4}"/>
              </a:ext>
            </a:extLst>
          </p:cNvPr>
          <p:cNvGraphicFramePr>
            <a:graphicFrameLocks noGrp="1"/>
          </p:cNvGraphicFramePr>
          <p:nvPr>
            <p:extLst/>
          </p:nvPr>
        </p:nvGraphicFramePr>
        <p:xfrm>
          <a:off x="304799" y="1295400"/>
          <a:ext cx="11582401" cy="5029200"/>
        </p:xfrm>
        <a:graphic>
          <a:graphicData uri="http://schemas.openxmlformats.org/drawingml/2006/table">
            <a:tbl>
              <a:tblPr firstRow="1" firstCol="1" bandRow="1"/>
              <a:tblGrid>
                <a:gridCol w="2224917">
                  <a:extLst>
                    <a:ext uri="{9D8B030D-6E8A-4147-A177-3AD203B41FA5}">
                      <a16:colId xmlns:a16="http://schemas.microsoft.com/office/drawing/2014/main" val="2100911752"/>
                    </a:ext>
                  </a:extLst>
                </a:gridCol>
                <a:gridCol w="4201286">
                  <a:extLst>
                    <a:ext uri="{9D8B030D-6E8A-4147-A177-3AD203B41FA5}">
                      <a16:colId xmlns:a16="http://schemas.microsoft.com/office/drawing/2014/main" val="3541184973"/>
                    </a:ext>
                  </a:extLst>
                </a:gridCol>
                <a:gridCol w="5156198">
                  <a:extLst>
                    <a:ext uri="{9D8B030D-6E8A-4147-A177-3AD203B41FA5}">
                      <a16:colId xmlns:a16="http://schemas.microsoft.com/office/drawing/2014/main" val="2955522244"/>
                    </a:ext>
                  </a:extLst>
                </a:gridCol>
              </a:tblGrid>
              <a:tr h="628650">
                <a:tc>
                  <a:txBody>
                    <a:bodyPr/>
                    <a:lstStyle/>
                    <a:p>
                      <a:pPr marL="0" marR="0" algn="ctr">
                        <a:lnSpc>
                          <a:spcPts val="1800"/>
                        </a:lnSpc>
                        <a:spcBef>
                          <a:spcPts val="0"/>
                        </a:spcBef>
                        <a:spcAft>
                          <a:spcPts val="1875"/>
                        </a:spcAft>
                      </a:pPr>
                      <a:r>
                        <a:rPr lang="en-US" sz="32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3200" b="1"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endParaRPr lang="en-US" sz="3200" dirty="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ts val="1800"/>
                        </a:lnSpc>
                        <a:spcBef>
                          <a:spcPts val="0"/>
                        </a:spcBef>
                        <a:spcAft>
                          <a:spcPts val="1875"/>
                        </a:spcAft>
                      </a:pPr>
                      <a:r>
                        <a:rPr lang="en-US" sz="32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a:t>
                      </a:r>
                      <a:r>
                        <a:rPr lang="en-US" sz="3200" b="1"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tả</a:t>
                      </a:r>
                      <a:endParaRPr lang="en-US" sz="3200" dirty="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ts val="1800"/>
                        </a:lnSpc>
                        <a:spcBef>
                          <a:spcPts val="0"/>
                        </a:spcBef>
                        <a:spcAft>
                          <a:spcPts val="1875"/>
                        </a:spcAft>
                      </a:pPr>
                      <a:r>
                        <a:rPr lang="en-US" sz="32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251920941"/>
                  </a:ext>
                </a:extLst>
              </a:tr>
              <a:tr h="628650">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Cộng</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12 + 4.9 =&gt; kết quả  16.9</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a16="http://schemas.microsoft.com/office/drawing/2014/main" val="3334761513"/>
                  </a:ext>
                </a:extLst>
              </a:tr>
              <a:tr h="628650">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Trừ</a:t>
                      </a:r>
                      <a:endParaRPr lang="en-US" sz="3200" dirty="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3.98 – 4 =&gt; kết quả  -0.02</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a16="http://schemas.microsoft.com/office/drawing/2014/main" val="3576153234"/>
                  </a:ext>
                </a:extLst>
              </a:tr>
              <a:tr h="628650">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Nhân</a:t>
                      </a:r>
                      <a:endParaRPr lang="en-US" sz="3200" dirty="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2 * 3.4 =&gt; kết quả 6.8</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a16="http://schemas.microsoft.com/office/drawing/2014/main" val="887091777"/>
                  </a:ext>
                </a:extLst>
              </a:tr>
              <a:tr h="628650">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9 / 2 =&gt; kết quả 4.5</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a16="http://schemas.microsoft.com/office/drawing/2014/main" val="1118865542"/>
                  </a:ext>
                </a:extLst>
              </a:tr>
              <a:tr h="628650">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Chia lấy phần nguyên</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9 // 2 =&gt;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kết</a:t>
                      </a: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quả</a:t>
                      </a: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4</a:t>
                      </a:r>
                      <a:endParaRPr lang="en-US" sz="3200" dirty="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a16="http://schemas.microsoft.com/office/drawing/2014/main" val="3617343596"/>
                  </a:ext>
                </a:extLst>
              </a:tr>
              <a:tr h="628650">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lấy</a:t>
                      </a: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phần</a:t>
                      </a: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dư</a:t>
                      </a:r>
                      <a:endParaRPr lang="en-US" sz="3200" dirty="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9%2 =&gt;kết quả 1</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a16="http://schemas.microsoft.com/office/drawing/2014/main" val="3378011105"/>
                  </a:ext>
                </a:extLst>
              </a:tr>
              <a:tr h="628650">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Lũy thừa</a:t>
                      </a:r>
                      <a:endParaRPr lang="en-US" sz="320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3**4=&gt;</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kết</a:t>
                      </a: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32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quả</a:t>
                      </a:r>
                      <a:r>
                        <a:rPr lang="en-US" sz="32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81</a:t>
                      </a:r>
                      <a:endParaRPr lang="en-US" sz="3200" dirty="0">
                        <a:effectLst/>
                        <a:latin typeface="Cambria" panose="02040503050406030204" pitchFamily="18" charset="0"/>
                        <a:ea typeface="Calibri" panose="020F0502020204030204" pitchFamily="34" charset="0"/>
                        <a:cs typeface="Times New Roman" panose="02020603050405020304" pitchFamily="18" charset="0"/>
                      </a:endParaRPr>
                    </a:p>
                  </a:txBody>
                  <a:tcPr marL="118110" marR="11811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4EEF3"/>
                    </a:solidFill>
                  </a:tcPr>
                </a:tc>
                <a:extLst>
                  <a:ext uri="{0D108BD9-81ED-4DB2-BD59-A6C34878D82A}">
                    <a16:rowId xmlns:a16="http://schemas.microsoft.com/office/drawing/2014/main" val="1616614196"/>
                  </a:ext>
                </a:extLst>
              </a:tr>
            </a:tbl>
          </a:graphicData>
        </a:graphic>
      </p:graphicFrame>
    </p:spTree>
    <p:extLst>
      <p:ext uri="{BB962C8B-B14F-4D97-AF65-F5344CB8AC3E}">
        <p14:creationId xmlns:p14="http://schemas.microsoft.com/office/powerpoint/2010/main" val="26700054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2.</a:t>
              </a:r>
              <a:r>
                <a:rPr lang="vi-VN" sz="4000" b="1" dirty="0">
                  <a:solidFill>
                    <a:prstClr val="black"/>
                  </a:solidFill>
                  <a:latin typeface="Cambria" panose="02040503050406030204" pitchFamily="18" charset="0"/>
                </a:rPr>
                <a:t>Toán tử gán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84</a:t>
            </a:fld>
            <a:endParaRPr lang="en-US"/>
          </a:p>
        </p:txBody>
      </p:sp>
      <p:sp>
        <p:nvSpPr>
          <p:cNvPr id="14" name="Content Placeholder 2"/>
          <p:cNvSpPr txBox="1">
            <a:spLocks/>
          </p:cNvSpPr>
          <p:nvPr/>
        </p:nvSpPr>
        <p:spPr>
          <a:xfrm>
            <a:off x="457200" y="1066800"/>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a16="http://schemas.microsoft.com/office/drawing/2014/main" id="{ABED1B59-D609-48D6-B92B-EB2A66DD90AD}"/>
              </a:ext>
            </a:extLst>
          </p:cNvPr>
          <p:cNvGraphicFramePr>
            <a:graphicFrameLocks noGrp="1"/>
          </p:cNvGraphicFramePr>
          <p:nvPr>
            <p:extLst/>
          </p:nvPr>
        </p:nvGraphicFramePr>
        <p:xfrm>
          <a:off x="457200" y="1124652"/>
          <a:ext cx="11277599" cy="4936884"/>
        </p:xfrm>
        <a:graphic>
          <a:graphicData uri="http://schemas.openxmlformats.org/drawingml/2006/table">
            <a:tbl>
              <a:tblPr firstRow="1" firstCol="1" bandRow="1"/>
              <a:tblGrid>
                <a:gridCol w="1614139">
                  <a:extLst>
                    <a:ext uri="{9D8B030D-6E8A-4147-A177-3AD203B41FA5}">
                      <a16:colId xmlns:a16="http://schemas.microsoft.com/office/drawing/2014/main" val="108613731"/>
                    </a:ext>
                  </a:extLst>
                </a:gridCol>
                <a:gridCol w="4672508">
                  <a:extLst>
                    <a:ext uri="{9D8B030D-6E8A-4147-A177-3AD203B41FA5}">
                      <a16:colId xmlns:a16="http://schemas.microsoft.com/office/drawing/2014/main" val="3188897363"/>
                    </a:ext>
                  </a:extLst>
                </a:gridCol>
                <a:gridCol w="2019153">
                  <a:extLst>
                    <a:ext uri="{9D8B030D-6E8A-4147-A177-3AD203B41FA5}">
                      <a16:colId xmlns:a16="http://schemas.microsoft.com/office/drawing/2014/main" val="828429648"/>
                    </a:ext>
                  </a:extLst>
                </a:gridCol>
                <a:gridCol w="2971799">
                  <a:extLst>
                    <a:ext uri="{9D8B030D-6E8A-4147-A177-3AD203B41FA5}">
                      <a16:colId xmlns:a16="http://schemas.microsoft.com/office/drawing/2014/main" val="3599990734"/>
                    </a:ext>
                  </a:extLst>
                </a:gridCol>
              </a:tblGrid>
              <a:tr h="627948">
                <a:tc>
                  <a:txBody>
                    <a:bodyPr/>
                    <a:lstStyle/>
                    <a:p>
                      <a:pPr marL="0" marR="0">
                        <a:lnSpc>
                          <a:spcPts val="1800"/>
                        </a:lnSpc>
                        <a:spcBef>
                          <a:spcPts val="0"/>
                        </a:spcBef>
                        <a:spcAft>
                          <a:spcPts val="1875"/>
                        </a:spcAft>
                      </a:pP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b="1"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Tương đương với</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799080471"/>
                  </a:ext>
                </a:extLst>
              </a:tr>
              <a:tr h="685800">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ct val="100000"/>
                        </a:lnSpc>
                        <a:spcBef>
                          <a:spcPts val="0"/>
                        </a:spcBef>
                        <a:spcAft>
                          <a:spcPts val="1875"/>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Phép</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gán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giá</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trị</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bên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phải</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cho</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biến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bên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trái</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dấu</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bằng</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a:lnSpc>
                          <a:spcPct val="107000"/>
                        </a:lnSpc>
                      </a:pPr>
                      <a:endParaRPr lang="en-US" sz="2400">
                        <a:effectLst/>
                        <a:latin typeface="Cambria" panose="02040503050406030204" pitchFamily="18"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2451717586"/>
                  </a:ext>
                </a:extLst>
              </a:tr>
              <a:tr h="681714">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Cộng</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và</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gán</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p>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p>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09132460"/>
                  </a:ext>
                </a:extLst>
              </a:tr>
              <a:tr h="584326">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Trừ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==&gt;x=-3</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140843877"/>
                  </a:ext>
                </a:extLst>
              </a:tr>
              <a:tr h="584326">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Nhân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==&gt;x=10</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787276245"/>
                  </a:ext>
                </a:extLst>
              </a:tr>
            </a:tbl>
          </a:graphicData>
        </a:graphic>
      </p:graphicFrame>
    </p:spTree>
    <p:extLst>
      <p:ext uri="{BB962C8B-B14F-4D97-AF65-F5344CB8AC3E}">
        <p14:creationId xmlns:p14="http://schemas.microsoft.com/office/powerpoint/2010/main" val="286699160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2.</a:t>
              </a:r>
              <a:r>
                <a:rPr lang="vi-VN" sz="4000" b="1" dirty="0">
                  <a:solidFill>
                    <a:prstClr val="black"/>
                  </a:solidFill>
                  <a:latin typeface="Cambria" panose="02040503050406030204" pitchFamily="18" charset="0"/>
                </a:rPr>
                <a:t>Toán tử gán</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85</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a16="http://schemas.microsoft.com/office/drawing/2014/main" id="{ABED1B59-D609-48D6-B92B-EB2A66DD90AD}"/>
              </a:ext>
            </a:extLst>
          </p:cNvPr>
          <p:cNvGraphicFramePr>
            <a:graphicFrameLocks noGrp="1"/>
          </p:cNvGraphicFramePr>
          <p:nvPr>
            <p:extLst/>
          </p:nvPr>
        </p:nvGraphicFramePr>
        <p:xfrm>
          <a:off x="457200" y="1059347"/>
          <a:ext cx="11430000" cy="5260183"/>
        </p:xfrm>
        <a:graphic>
          <a:graphicData uri="http://schemas.openxmlformats.org/drawingml/2006/table">
            <a:tbl>
              <a:tblPr firstRow="1" firstCol="1" bandRow="1"/>
              <a:tblGrid>
                <a:gridCol w="1635952">
                  <a:extLst>
                    <a:ext uri="{9D8B030D-6E8A-4147-A177-3AD203B41FA5}">
                      <a16:colId xmlns:a16="http://schemas.microsoft.com/office/drawing/2014/main" val="108613731"/>
                    </a:ext>
                  </a:extLst>
                </a:gridCol>
                <a:gridCol w="4155248">
                  <a:extLst>
                    <a:ext uri="{9D8B030D-6E8A-4147-A177-3AD203B41FA5}">
                      <a16:colId xmlns:a16="http://schemas.microsoft.com/office/drawing/2014/main" val="3188897363"/>
                    </a:ext>
                  </a:extLst>
                </a:gridCol>
                <a:gridCol w="2590800">
                  <a:extLst>
                    <a:ext uri="{9D8B030D-6E8A-4147-A177-3AD203B41FA5}">
                      <a16:colId xmlns:a16="http://schemas.microsoft.com/office/drawing/2014/main" val="828429648"/>
                    </a:ext>
                  </a:extLst>
                </a:gridCol>
                <a:gridCol w="3048000">
                  <a:extLst>
                    <a:ext uri="{9D8B030D-6E8A-4147-A177-3AD203B41FA5}">
                      <a16:colId xmlns:a16="http://schemas.microsoft.com/office/drawing/2014/main" val="3599990734"/>
                    </a:ext>
                  </a:extLst>
                </a:gridCol>
              </a:tblGrid>
              <a:tr h="434500">
                <a:tc>
                  <a:txBody>
                    <a:bodyPr/>
                    <a:lstStyle/>
                    <a:p>
                      <a:pPr marL="0" marR="0">
                        <a:lnSpc>
                          <a:spcPts val="1800"/>
                        </a:lnSpc>
                        <a:spcBef>
                          <a:spcPts val="0"/>
                        </a:spcBef>
                        <a:spcAft>
                          <a:spcPts val="1875"/>
                        </a:spcAft>
                      </a:pP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b="1"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Tương đương với</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799080471"/>
                  </a:ext>
                </a:extLst>
              </a:tr>
              <a:tr h="1173153">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==&gt;x=1.4</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191190516"/>
                  </a:ext>
                </a:extLst>
              </a:tr>
              <a:tr h="1353688">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và gán (lấy nguyên)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==&gt;x=1</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494811912"/>
                  </a:ext>
                </a:extLst>
              </a:tr>
              <a:tr h="1353688">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Chia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lấy</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dư</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x=7</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==&gt;x=2</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x=x%5</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079879150"/>
                  </a:ext>
                </a:extLst>
              </a:tr>
              <a:tr h="912564">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Lấy lũy thừa và gán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x=2</a:t>
                      </a:r>
                    </a:p>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x**=3</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p>
                      <a:pPr marL="0" marR="0">
                        <a:lnSpc>
                          <a:spcPts val="1800"/>
                        </a:lnSpc>
                        <a:spcBef>
                          <a:spcPts val="1800"/>
                        </a:spcBef>
                        <a:spcAft>
                          <a:spcPts val="180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==&gt;x là 2 mũ 3 =8</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x=x**3</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47669" marR="47669" marT="15377" marB="15377"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219867586"/>
                  </a:ext>
                </a:extLst>
              </a:tr>
            </a:tbl>
          </a:graphicData>
        </a:graphic>
      </p:graphicFrame>
    </p:spTree>
    <p:extLst>
      <p:ext uri="{BB962C8B-B14F-4D97-AF65-F5344CB8AC3E}">
        <p14:creationId xmlns:p14="http://schemas.microsoft.com/office/powerpoint/2010/main" val="412968568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3.</a:t>
              </a:r>
              <a:r>
                <a:rPr lang="vi-VN" sz="4000" b="1" dirty="0">
                  <a:solidFill>
                    <a:prstClr val="black"/>
                  </a:solidFill>
                  <a:latin typeface="Cambria" panose="02040503050406030204" pitchFamily="18" charset="0"/>
                </a:rPr>
                <a:t>Toán tử So sánh</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86</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a16="http://schemas.microsoft.com/office/drawing/2014/main" id="{54890679-CF74-4CE3-9643-C59FEDA93809}"/>
              </a:ext>
            </a:extLst>
          </p:cNvPr>
          <p:cNvGraphicFramePr>
            <a:graphicFrameLocks noGrp="1"/>
          </p:cNvGraphicFramePr>
          <p:nvPr>
            <p:extLst/>
          </p:nvPr>
        </p:nvGraphicFramePr>
        <p:xfrm>
          <a:off x="509436" y="1099176"/>
          <a:ext cx="11225364" cy="5368302"/>
        </p:xfrm>
        <a:graphic>
          <a:graphicData uri="http://schemas.openxmlformats.org/drawingml/2006/table">
            <a:tbl>
              <a:tblPr firstRow="1" firstCol="1" bandRow="1"/>
              <a:tblGrid>
                <a:gridCol w="2233764">
                  <a:extLst>
                    <a:ext uri="{9D8B030D-6E8A-4147-A177-3AD203B41FA5}">
                      <a16:colId xmlns:a16="http://schemas.microsoft.com/office/drawing/2014/main" val="3564859840"/>
                    </a:ext>
                  </a:extLst>
                </a:gridCol>
                <a:gridCol w="5249812">
                  <a:extLst>
                    <a:ext uri="{9D8B030D-6E8A-4147-A177-3AD203B41FA5}">
                      <a16:colId xmlns:a16="http://schemas.microsoft.com/office/drawing/2014/main" val="2020449217"/>
                    </a:ext>
                  </a:extLst>
                </a:gridCol>
                <a:gridCol w="3741788">
                  <a:extLst>
                    <a:ext uri="{9D8B030D-6E8A-4147-A177-3AD203B41FA5}">
                      <a16:colId xmlns:a16="http://schemas.microsoft.com/office/drawing/2014/main" val="1365086398"/>
                    </a:ext>
                  </a:extLst>
                </a:gridCol>
              </a:tblGrid>
              <a:tr h="549105">
                <a:tc>
                  <a:txBody>
                    <a:bodyPr/>
                    <a:lstStyle/>
                    <a:p>
                      <a:pPr marL="0" marR="0">
                        <a:lnSpc>
                          <a:spcPts val="1800"/>
                        </a:lnSpc>
                        <a:spcBef>
                          <a:spcPts val="0"/>
                        </a:spcBef>
                        <a:spcAft>
                          <a:spcPts val="1875"/>
                        </a:spcAft>
                      </a:pP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b="1"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2194783193"/>
                  </a:ext>
                </a:extLst>
              </a:tr>
              <a:tr h="324169">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 5 =&gt; kết quả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2415108097"/>
                  </a:ext>
                </a:extLst>
              </a:tr>
              <a:tr h="324169">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không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 5  =&gt; kết quả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018252264"/>
                  </a:ext>
                </a:extLst>
              </a:tr>
              <a:tr h="324169">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nhỏ hơn</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&lt; 5  =&gt; kết quả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4106831354"/>
                  </a:ext>
                </a:extLst>
              </a:tr>
              <a:tr h="352681">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nhỏ hơn hoặc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&lt;= 5 =&gt; kết quả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4086168544"/>
                  </a:ext>
                </a:extLst>
              </a:tr>
              <a:tr h="324169">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 </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sánh</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lớn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hơn</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5 &gt; 5.5 =&gt; kết quả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561407737"/>
                  </a:ext>
                </a:extLst>
              </a:tr>
              <a:tr h="352681">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&gt;=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So sánh lớn hơn hoặc bằng</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113&gt;= 5 =&gt; kết quả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425913551"/>
                  </a:ext>
                </a:extLst>
              </a:tr>
              <a:tr h="1104140">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is</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Trả về true nếu các biến ở hai bên toán tử cùng trỏ tới một đối tượng(hoặc cùng giá trị), nếu không là false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y=5</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 </a:t>
                      </a:r>
                      <a:r>
                        <a:rPr lang="en-US" sz="2400">
                          <a:solidFill>
                            <a:srgbClr val="0000FF"/>
                          </a:solidFill>
                          <a:effectLst/>
                          <a:latin typeface="Cambria" panose="02040503050406030204" pitchFamily="18" charset="0"/>
                          <a:ea typeface="Times New Roman" panose="02020603050405020304" pitchFamily="18" charset="0"/>
                          <a:cs typeface="Times New Roman" panose="02020603050405020304" pitchFamily="18" charset="0"/>
                        </a:rPr>
                        <a:t>is</a:t>
                      </a: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y)</a:t>
                      </a:r>
                      <a:b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=&gt;kết quả là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2917843301"/>
                  </a:ext>
                </a:extLst>
              </a:tr>
              <a:tr h="1713019">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is not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Trả về false nếu các biến ở hai bên toán tử cùng trỏ tới một đối tượng(hoặc cùng giá trị), nếu không là true</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0"/>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x=5</a:t>
                      </a:r>
                      <a:b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y=5</a:t>
                      </a:r>
                      <a:b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 </a:t>
                      </a:r>
                      <a:r>
                        <a:rPr lang="en-US" sz="2400" dirty="0">
                          <a:solidFill>
                            <a:srgbClr val="0000FF"/>
                          </a:solidFill>
                          <a:effectLst/>
                          <a:latin typeface="Cambria" panose="02040503050406030204" pitchFamily="18" charset="0"/>
                          <a:ea typeface="Times New Roman" panose="02020603050405020304" pitchFamily="18" charset="0"/>
                          <a:cs typeface="Times New Roman" panose="02020603050405020304" pitchFamily="18" charset="0"/>
                        </a:rPr>
                        <a:t>is not</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y)</a:t>
                      </a:r>
                      <a:b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kết</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quả</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là</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False</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68665" marR="68665" marT="22150" marB="22150"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676587174"/>
                  </a:ext>
                </a:extLst>
              </a:tr>
            </a:tbl>
          </a:graphicData>
        </a:graphic>
      </p:graphicFrame>
    </p:spTree>
    <p:extLst>
      <p:ext uri="{BB962C8B-B14F-4D97-AF65-F5344CB8AC3E}">
        <p14:creationId xmlns:p14="http://schemas.microsoft.com/office/powerpoint/2010/main" val="286440611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4.</a:t>
              </a:r>
              <a:r>
                <a:rPr lang="vi-VN" sz="4000" b="1" dirty="0">
                  <a:solidFill>
                    <a:prstClr val="black"/>
                  </a:solidFill>
                  <a:latin typeface="Cambria" panose="02040503050406030204" pitchFamily="18" charset="0"/>
                </a:rPr>
                <a:t>Toán tử Logic</a:t>
              </a: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87</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vi-VN" sz="2800">
              <a:solidFill>
                <a:prstClr val="black"/>
              </a:solidFill>
              <a:latin typeface="Cambria" panose="02040503050406030204" pitchFamily="18" charset="0"/>
            </a:endParaRPr>
          </a:p>
        </p:txBody>
      </p:sp>
      <p:graphicFrame>
        <p:nvGraphicFramePr>
          <p:cNvPr id="8" name="Table 7">
            <a:extLst>
              <a:ext uri="{FF2B5EF4-FFF2-40B4-BE49-F238E27FC236}">
                <a16:creationId xmlns:a16="http://schemas.microsoft.com/office/drawing/2014/main" id="{C69DCC46-AECF-4FA5-BD31-0A3D1C8DD2A7}"/>
              </a:ext>
            </a:extLst>
          </p:cNvPr>
          <p:cNvGraphicFramePr>
            <a:graphicFrameLocks noGrp="1"/>
          </p:cNvGraphicFramePr>
          <p:nvPr>
            <p:extLst/>
          </p:nvPr>
        </p:nvGraphicFramePr>
        <p:xfrm>
          <a:off x="353376" y="1143000"/>
          <a:ext cx="10957782" cy="5617610"/>
        </p:xfrm>
        <a:graphic>
          <a:graphicData uri="http://schemas.openxmlformats.org/drawingml/2006/table">
            <a:tbl>
              <a:tblPr firstRow="1" firstCol="1" bandRow="1"/>
              <a:tblGrid>
                <a:gridCol w="1325990">
                  <a:extLst>
                    <a:ext uri="{9D8B030D-6E8A-4147-A177-3AD203B41FA5}">
                      <a16:colId xmlns:a16="http://schemas.microsoft.com/office/drawing/2014/main" val="2987631128"/>
                    </a:ext>
                  </a:extLst>
                </a:gridCol>
                <a:gridCol w="5979198">
                  <a:extLst>
                    <a:ext uri="{9D8B030D-6E8A-4147-A177-3AD203B41FA5}">
                      <a16:colId xmlns:a16="http://schemas.microsoft.com/office/drawing/2014/main" val="1572082132"/>
                    </a:ext>
                  </a:extLst>
                </a:gridCol>
                <a:gridCol w="3652594">
                  <a:extLst>
                    <a:ext uri="{9D8B030D-6E8A-4147-A177-3AD203B41FA5}">
                      <a16:colId xmlns:a16="http://schemas.microsoft.com/office/drawing/2014/main" val="342511131"/>
                    </a:ext>
                  </a:extLst>
                </a:gridCol>
              </a:tblGrid>
              <a:tr h="596142">
                <a:tc>
                  <a:txBody>
                    <a:bodyPr/>
                    <a:lstStyle/>
                    <a:p>
                      <a:pPr marL="0" marR="0">
                        <a:lnSpc>
                          <a:spcPts val="1800"/>
                        </a:lnSpc>
                        <a:spcBef>
                          <a:spcPts val="0"/>
                        </a:spcBef>
                        <a:spcAft>
                          <a:spcPts val="1875"/>
                        </a:spcAft>
                      </a:pP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b="1"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b="1"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Mô tả</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ts val="1800"/>
                        </a:lnSpc>
                        <a:spcBef>
                          <a:spcPts val="0"/>
                        </a:spcBef>
                        <a:spcAft>
                          <a:spcPts val="1875"/>
                        </a:spcAft>
                      </a:pPr>
                      <a:r>
                        <a:rPr lang="en-US" sz="2400" b="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Ví dụ</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a:noFill/>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2926192269"/>
                  </a:ext>
                </a:extLst>
              </a:tr>
              <a:tr h="1538930">
                <a:tc>
                  <a:txBody>
                    <a:bodyPr/>
                    <a:lstStyle/>
                    <a:p>
                      <a:pPr marL="0" marR="0">
                        <a:lnSpc>
                          <a:spcPts val="1800"/>
                        </a:lnSpc>
                        <a:spcBef>
                          <a:spcPts val="0"/>
                        </a:spcBef>
                        <a:spcAft>
                          <a:spcPts val="1875"/>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and</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ct val="100000"/>
                        </a:lnSpc>
                        <a:spcBef>
                          <a:spcPts val="0"/>
                        </a:spcBef>
                        <a:spcAft>
                          <a:spcPts val="1875"/>
                        </a:spcAft>
                      </a:pP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Và</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Nếu</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cả</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hai</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điều</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kiện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là</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True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thì</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kết</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quả</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sẽ</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là</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True</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ct val="100000"/>
                        </a:lnSpc>
                        <a:spcBef>
                          <a:spcPts val="0"/>
                        </a:spcBef>
                        <a:spcAft>
                          <a:spcPts val="1875"/>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x=2016</a:t>
                      </a:r>
                      <a:b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print(x%4==0 </a:t>
                      </a:r>
                      <a:r>
                        <a:rPr lang="en-US" sz="24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rPr>
                        <a:t>and</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x%100!=0)</a:t>
                      </a:r>
                      <a:b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=&gt;True</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952417013"/>
                  </a:ext>
                </a:extLst>
              </a:tr>
              <a:tr h="1538930">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or</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ct val="100000"/>
                        </a:lnSpc>
                        <a:spcBef>
                          <a:spcPts val="0"/>
                        </a:spcBef>
                        <a:spcAft>
                          <a:spcPts val="0"/>
                        </a:spcAft>
                      </a:pP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Hoặc</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Chỉ</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cần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một</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điều</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kiện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True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thì</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nó</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True,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tất</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cả</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điều</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kiện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False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thì</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nó</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False</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ct val="100000"/>
                        </a:lnSpc>
                        <a:spcBef>
                          <a:spcPts val="1800"/>
                        </a:spcBef>
                        <a:spcAft>
                          <a:spcPts val="1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x=2016</a:t>
                      </a:r>
                      <a:b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print((x%4==0 and x%100!=0) </a:t>
                      </a:r>
                      <a:r>
                        <a:rPr lang="en-US" sz="24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rPr>
                        <a:t>or</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x%400==0)</a:t>
                      </a:r>
                      <a:b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=&gt;True</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976828098"/>
                  </a:ext>
                </a:extLst>
              </a:tr>
              <a:tr h="1943608">
                <a:tc>
                  <a:txBody>
                    <a:bodyPr/>
                    <a:lstStyle/>
                    <a:p>
                      <a:pPr marL="0" marR="0">
                        <a:lnSpc>
                          <a:spcPts val="1800"/>
                        </a:lnSpc>
                        <a:spcBef>
                          <a:spcPts val="0"/>
                        </a:spcBef>
                        <a:spcAft>
                          <a:spcPts val="0"/>
                        </a:spcAft>
                      </a:pPr>
                      <a:r>
                        <a:rPr lang="en-US" sz="240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not</a:t>
                      </a:r>
                      <a:endParaRPr lang="en-US" sz="240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a:noFill/>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ct val="100000"/>
                        </a:lnSpc>
                        <a:spcBef>
                          <a:spcPts val="0"/>
                        </a:spcBef>
                        <a:spcAft>
                          <a:spcPts val="0"/>
                        </a:spcAft>
                      </a:pP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tử</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Phủ</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định</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Thông</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thường</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nó</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được</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dùng</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để</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đảo</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ngược</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trạng</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thái</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logic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của</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toán</a:t>
                      </a: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hạng</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tc>
                  <a:txBody>
                    <a:bodyPr/>
                    <a:lstStyle/>
                    <a:p>
                      <a:pPr marL="0" marR="0">
                        <a:lnSpc>
                          <a:spcPct val="100000"/>
                        </a:lnSpc>
                        <a:spcBef>
                          <a:spcPts val="0"/>
                        </a:spcBef>
                        <a:spcAft>
                          <a:spcPts val="0"/>
                        </a:spcAft>
                      </a:pPr>
                      <a:r>
                        <a:rPr lang="en-US" sz="2400" dirty="0">
                          <a:solidFill>
                            <a:srgbClr val="01435F"/>
                          </a:solidFill>
                          <a:effectLst/>
                          <a:latin typeface="Cambria" panose="02040503050406030204" pitchFamily="18" charset="0"/>
                          <a:ea typeface="Times New Roman" panose="02020603050405020304" pitchFamily="18" charset="0"/>
                          <a:cs typeface="Times New Roman" panose="02020603050405020304" pitchFamily="18" charset="0"/>
                        </a:rPr>
                        <a:t>x=4</a:t>
                      </a:r>
                    </a:p>
                    <a:p>
                      <a:pPr marL="0" marR="0">
                        <a:lnSpc>
                          <a:spcPct val="100000"/>
                        </a:lnSpc>
                        <a:spcBef>
                          <a:spcPts val="0"/>
                        </a:spcBef>
                        <a:spcAft>
                          <a:spcPts val="0"/>
                        </a:spcAft>
                      </a:pP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if (</a:t>
                      </a:r>
                      <a:r>
                        <a:rPr lang="en-US" sz="2400" dirty="0">
                          <a:solidFill>
                            <a:srgbClr val="FF0000"/>
                          </a:solidFill>
                          <a:effectLst/>
                          <a:latin typeface="Cambria" panose="02040503050406030204" pitchFamily="18" charset="0"/>
                          <a:ea typeface="Times New Roman" panose="02020603050405020304" pitchFamily="18" charset="0"/>
                          <a:cs typeface="Times New Roman" panose="02020603050405020304" pitchFamily="18" charset="0"/>
                        </a:rPr>
                        <a:t>not</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x&gt;=5):    print("</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Ngắm</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gà</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khỏa</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thân</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và</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nải</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 </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chuối</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a:t>
                      </a:r>
                      <a:b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b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else:    print("</a:t>
                      </a:r>
                      <a:r>
                        <a:rPr lang="en-US" sz="2400" dirty="0" err="1">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Đậu</a:t>
                      </a:r>
                      <a:r>
                        <a:rPr lang="en-US" sz="2400" dirty="0">
                          <a:solidFill>
                            <a:srgbClr val="5B1601"/>
                          </a:solidFill>
                          <a:effectLst/>
                          <a:latin typeface="Cambria" panose="02040503050406030204" pitchFamily="18" charset="0"/>
                          <a:ea typeface="Times New Roman" panose="02020603050405020304" pitchFamily="18" charset="0"/>
                          <a:cs typeface="Times New Roman" panose="02020603050405020304" pitchFamily="18" charset="0"/>
                        </a:rPr>
                        <a:t>")</a:t>
                      </a:r>
                      <a:endParaRPr lang="en-US" sz="2400" dirty="0">
                        <a:effectLst/>
                        <a:latin typeface="Cambria" panose="02040503050406030204" pitchFamily="18" charset="0"/>
                        <a:ea typeface="Calibri" panose="020F0502020204030204" pitchFamily="34" charset="0"/>
                        <a:cs typeface="Times New Roman" panose="02020603050405020304" pitchFamily="18" charset="0"/>
                      </a:endParaRPr>
                    </a:p>
                  </a:txBody>
                  <a:tcPr marL="70036" marR="70036" marT="22592" marB="22592" anchor="ctr">
                    <a:lnL w="12700" cap="flat" cmpd="sng" algn="ctr">
                      <a:solidFill>
                        <a:srgbClr val="88C7E2"/>
                      </a:solidFill>
                      <a:prstDash val="solid"/>
                      <a:round/>
                      <a:headEnd type="none" w="med" len="med"/>
                      <a:tailEnd type="none" w="med" len="med"/>
                    </a:lnL>
                    <a:lnR w="12700" cap="flat" cmpd="sng" algn="ctr">
                      <a:solidFill>
                        <a:srgbClr val="88C7E2"/>
                      </a:solidFill>
                      <a:prstDash val="solid"/>
                      <a:round/>
                      <a:headEnd type="none" w="med" len="med"/>
                      <a:tailEnd type="none" w="med" len="med"/>
                    </a:lnR>
                    <a:lnT w="12700" cap="flat" cmpd="sng" algn="ctr">
                      <a:solidFill>
                        <a:srgbClr val="88C7E2"/>
                      </a:solidFill>
                      <a:prstDash val="solid"/>
                      <a:round/>
                      <a:headEnd type="none" w="med" len="med"/>
                      <a:tailEnd type="none" w="med" len="med"/>
                    </a:lnT>
                    <a:lnB w="12700"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31720340"/>
                  </a:ext>
                </a:extLst>
              </a:tr>
            </a:tbl>
          </a:graphicData>
        </a:graphic>
      </p:graphicFrame>
    </p:spTree>
    <p:extLst>
      <p:ext uri="{BB962C8B-B14F-4D97-AF65-F5344CB8AC3E}">
        <p14:creationId xmlns:p14="http://schemas.microsoft.com/office/powerpoint/2010/main" val="259540089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5.</a:t>
              </a:r>
              <a:r>
                <a:rPr lang="vi-VN" sz="4000" b="1" dirty="0">
                  <a:solidFill>
                    <a:prstClr val="black"/>
                  </a:solidFill>
                  <a:latin typeface="Cambria" panose="02040503050406030204" pitchFamily="18" charset="0"/>
                </a:rPr>
                <a:t>Độ ưu tiên toán tử</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88</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Python có ràng buộc thứ tự ưu tiên của các toán tử. Tuy nhiên tốt nhất là các bạn hay điều khiển nó bằng cách dùng cặp ngoặc tròn ( ) để nó rõ nghĩa hơn. </a:t>
            </a:r>
            <a:endParaRPr lang="en-US" sz="4000" dirty="0">
              <a:solidFill>
                <a:prstClr val="black"/>
              </a:solidFill>
              <a:latin typeface="Cambria" panose="02040503050406030204" pitchFamily="18" charset="0"/>
            </a:endParaRPr>
          </a:p>
          <a:p>
            <a:pPr marL="0" lvl="0" indent="0" algn="just">
              <a:lnSpc>
                <a:spcPct val="90000"/>
              </a:lnSpc>
              <a:spcBef>
                <a:spcPts val="1000"/>
              </a:spcBef>
              <a:buClr>
                <a:srgbClr val="215D9F"/>
              </a:buClr>
              <a:buNone/>
            </a:pPr>
            <a:r>
              <a:rPr lang="vi-VN" sz="4000" dirty="0">
                <a:solidFill>
                  <a:prstClr val="black"/>
                </a:solidFill>
                <a:latin typeface="Cambria" panose="02040503050406030204" pitchFamily="18" charset="0"/>
              </a:rPr>
              <a:t>Bảng dưới đây để tham khảo độ ưu tiên từ cao xuống thấp (tuy nhiên có thể quên nó đi mà hãy dùng ngoặc tròn () để chỉ định rõ).</a:t>
            </a:r>
            <a:endParaRPr lang="en-US" sz="40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3969576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52400" y="482600"/>
            <a:ext cx="6629400" cy="508000"/>
            <a:chOff x="789624" y="1191463"/>
            <a:chExt cx="6629400" cy="508000"/>
          </a:xfrm>
        </p:grpSpPr>
        <p:sp>
          <p:nvSpPr>
            <p:cNvPr id="3" name="AutoShape 52"/>
            <p:cNvSpPr>
              <a:spLocks noChangeArrowheads="1"/>
            </p:cNvSpPr>
            <p:nvPr/>
          </p:nvSpPr>
          <p:spPr bwMode="gray">
            <a:xfrm>
              <a:off x="990600" y="1191463"/>
              <a:ext cx="6428424"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lvl="0" algn="just">
                <a:lnSpc>
                  <a:spcPct val="90000"/>
                </a:lnSpc>
                <a:spcBef>
                  <a:spcPts val="1000"/>
                </a:spcBef>
                <a:buClr>
                  <a:srgbClr val="215D9F"/>
                </a:buClr>
              </a:pPr>
              <a:r>
                <a:rPr lang="en-US" sz="4000" b="1" dirty="0">
                  <a:solidFill>
                    <a:prstClr val="black"/>
                  </a:solidFill>
                  <a:latin typeface="Cambria" panose="02040503050406030204" pitchFamily="18" charset="0"/>
                </a:rPr>
                <a:t>5.</a:t>
              </a:r>
              <a:r>
                <a:rPr lang="vi-VN" sz="4000" b="1" dirty="0">
                  <a:solidFill>
                    <a:prstClr val="black"/>
                  </a:solidFill>
                  <a:latin typeface="Cambria" panose="02040503050406030204" pitchFamily="18" charset="0"/>
                </a:rPr>
                <a:t>Độ ưu tiên toán tử</a:t>
              </a:r>
              <a:endParaRPr lang="en-US" sz="4000" b="1" dirty="0">
                <a:solidFill>
                  <a:prstClr val="black"/>
                </a:solidFill>
                <a:latin typeface="Cambria" panose="02040503050406030204" pitchFamily="18" charset="0"/>
              </a:endParaRPr>
            </a:p>
          </p:txBody>
        </p:sp>
        <p:grpSp>
          <p:nvGrpSpPr>
            <p:cNvPr id="4" name="Group 17"/>
            <p:cNvGrpSpPr>
              <a:grpSpLocks/>
            </p:cNvGrpSpPr>
            <p:nvPr/>
          </p:nvGrpSpPr>
          <p:grpSpPr bwMode="auto">
            <a:xfrm>
              <a:off x="789624" y="1295400"/>
              <a:ext cx="353376" cy="272472"/>
              <a:chOff x="1110" y="2656"/>
              <a:chExt cx="1549" cy="1351"/>
            </a:xfrm>
          </p:grpSpPr>
          <p:sp>
            <p:nvSpPr>
              <p:cNvPr id="5" name="AutoShape 18"/>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Slide Number Placeholder 12"/>
          <p:cNvSpPr>
            <a:spLocks noGrp="1"/>
          </p:cNvSpPr>
          <p:nvPr>
            <p:ph type="sldNum" sz="quarter" idx="12"/>
          </p:nvPr>
        </p:nvSpPr>
        <p:spPr/>
        <p:txBody>
          <a:bodyPr/>
          <a:lstStyle/>
          <a:p>
            <a:r>
              <a:rPr lang="en-US"/>
              <a:t>Trang </a:t>
            </a:r>
            <a:fld id="{99166BD8-DA3C-4BE0-9C00-AA0485D1F6DE}" type="slidenum">
              <a:rPr lang="en-US" smtClean="0"/>
              <a:pPr/>
              <a:t>89</a:t>
            </a:fld>
            <a:endParaRPr lang="en-US"/>
          </a:p>
        </p:txBody>
      </p:sp>
      <p:sp>
        <p:nvSpPr>
          <p:cNvPr id="14" name="Content Placeholder 2"/>
          <p:cNvSpPr txBox="1">
            <a:spLocks/>
          </p:cNvSpPr>
          <p:nvPr/>
        </p:nvSpPr>
        <p:spPr>
          <a:xfrm>
            <a:off x="457200" y="1076325"/>
            <a:ext cx="11430000" cy="5248275"/>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just">
              <a:lnSpc>
                <a:spcPct val="90000"/>
              </a:lnSpc>
              <a:spcBef>
                <a:spcPts val="1000"/>
              </a:spcBef>
              <a:buClr>
                <a:srgbClr val="215D9F"/>
              </a:buClr>
              <a:buNone/>
            </a:pPr>
            <a:endParaRPr lang="en-US" sz="2800">
              <a:solidFill>
                <a:prstClr val="black"/>
              </a:solidFill>
              <a:latin typeface="Cambria" panose="02040503050406030204" pitchFamily="18" charset="0"/>
            </a:endParaRPr>
          </a:p>
        </p:txBody>
      </p:sp>
      <p:graphicFrame>
        <p:nvGraphicFramePr>
          <p:cNvPr id="8" name="Table 7">
            <a:extLst>
              <a:ext uri="{FF2B5EF4-FFF2-40B4-BE49-F238E27FC236}">
                <a16:creationId xmlns:a16="http://schemas.microsoft.com/office/drawing/2014/main" id="{69B32C16-5B9C-4414-A618-426A7D65064A}"/>
              </a:ext>
            </a:extLst>
          </p:cNvPr>
          <p:cNvGraphicFramePr>
            <a:graphicFrameLocks noGrp="1"/>
          </p:cNvGraphicFramePr>
          <p:nvPr>
            <p:extLst/>
          </p:nvPr>
        </p:nvGraphicFramePr>
        <p:xfrm>
          <a:off x="457200" y="1166017"/>
          <a:ext cx="11277600" cy="5158582"/>
        </p:xfrm>
        <a:graphic>
          <a:graphicData uri="http://schemas.openxmlformats.org/drawingml/2006/table">
            <a:tbl>
              <a:tblPr/>
              <a:tblGrid>
                <a:gridCol w="2255520">
                  <a:extLst>
                    <a:ext uri="{9D8B030D-6E8A-4147-A177-3AD203B41FA5}">
                      <a16:colId xmlns:a16="http://schemas.microsoft.com/office/drawing/2014/main" val="2098638574"/>
                    </a:ext>
                  </a:extLst>
                </a:gridCol>
                <a:gridCol w="4511040">
                  <a:extLst>
                    <a:ext uri="{9D8B030D-6E8A-4147-A177-3AD203B41FA5}">
                      <a16:colId xmlns:a16="http://schemas.microsoft.com/office/drawing/2014/main" val="3094919106"/>
                    </a:ext>
                  </a:extLst>
                </a:gridCol>
                <a:gridCol w="4511040">
                  <a:extLst>
                    <a:ext uri="{9D8B030D-6E8A-4147-A177-3AD203B41FA5}">
                      <a16:colId xmlns:a16="http://schemas.microsoft.com/office/drawing/2014/main" val="2250826372"/>
                    </a:ext>
                  </a:extLst>
                </a:gridCol>
              </a:tblGrid>
              <a:tr h="544104">
                <a:tc>
                  <a:txBody>
                    <a:bodyPr/>
                    <a:lstStyle/>
                    <a:p>
                      <a:r>
                        <a:rPr lang="vi-VN" sz="2400" b="1" dirty="0">
                          <a:solidFill>
                            <a:srgbClr val="01435F"/>
                          </a:solidFill>
                          <a:effectLst/>
                          <a:latin typeface="Cambria" panose="02040503050406030204" pitchFamily="18" charset="0"/>
                        </a:rPr>
                        <a:t>Thứ tự ưu tiên</a:t>
                      </a:r>
                      <a:endParaRPr lang="vi-VN" sz="2400" dirty="0">
                        <a:solidFill>
                          <a:srgbClr val="01435F"/>
                        </a:solidFill>
                        <a:effectLst/>
                        <a:latin typeface="Cambria" panose="02040503050406030204" pitchFamily="18" charset="0"/>
                      </a:endParaRP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a:noFill/>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b="1">
                          <a:solidFill>
                            <a:srgbClr val="01435F"/>
                          </a:solidFill>
                          <a:effectLst/>
                          <a:latin typeface="Cambria" panose="02040503050406030204" pitchFamily="18" charset="0"/>
                        </a:rPr>
                        <a:t>Toán tử</a:t>
                      </a:r>
                      <a:endParaRPr lang="en-US" sz="2400">
                        <a:solidFill>
                          <a:srgbClr val="01435F"/>
                        </a:solidFill>
                        <a:effectLst/>
                        <a:latin typeface="Cambria" panose="02040503050406030204" pitchFamily="18" charset="0"/>
                      </a:endParaRP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a:noFill/>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b="1">
                          <a:solidFill>
                            <a:srgbClr val="01435F"/>
                          </a:solidFill>
                          <a:effectLst/>
                          <a:latin typeface="Cambria" panose="02040503050406030204" pitchFamily="18" charset="0"/>
                        </a:rPr>
                        <a:t>Miêu tả</a:t>
                      </a:r>
                      <a:endParaRPr lang="en-US" sz="2400">
                        <a:solidFill>
                          <a:srgbClr val="01435F"/>
                        </a:solidFill>
                        <a:effectLst/>
                        <a:latin typeface="Cambria" panose="02040503050406030204" pitchFamily="18" charset="0"/>
                      </a:endParaRP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a:noFill/>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286998335"/>
                  </a:ext>
                </a:extLst>
              </a:tr>
              <a:tr h="544104">
                <a:tc>
                  <a:txBody>
                    <a:bodyPr/>
                    <a:lstStyle/>
                    <a:p>
                      <a:r>
                        <a:rPr lang="en-US" sz="2400">
                          <a:solidFill>
                            <a:srgbClr val="01435F"/>
                          </a:solidFill>
                          <a:effectLst/>
                          <a:latin typeface="Cambria" panose="02040503050406030204" pitchFamily="18" charset="0"/>
                        </a:rPr>
                        <a:t>1</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Toán tử mũ</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442634536"/>
                  </a:ext>
                </a:extLst>
              </a:tr>
              <a:tr h="805750">
                <a:tc>
                  <a:txBody>
                    <a:bodyPr/>
                    <a:lstStyle/>
                    <a:p>
                      <a:r>
                        <a:rPr lang="en-US" sz="2400">
                          <a:solidFill>
                            <a:srgbClr val="01435F"/>
                          </a:solidFill>
                          <a:effectLst/>
                          <a:latin typeface="Cambria" panose="02040503050406030204" pitchFamily="18" charset="0"/>
                        </a:rPr>
                        <a:t>2</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     /     %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vi-VN" sz="2400">
                          <a:solidFill>
                            <a:srgbClr val="01435F"/>
                          </a:solidFill>
                          <a:effectLst/>
                          <a:latin typeface="Cambria" panose="02040503050406030204" pitchFamily="18" charset="0"/>
                        </a:rPr>
                        <a:t>Phép nhân, chia, lấy phần dư và phép chia lấy phần nguyên</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3582803933"/>
                  </a:ext>
                </a:extLst>
              </a:tr>
              <a:tr h="544104">
                <a:tc>
                  <a:txBody>
                    <a:bodyPr/>
                    <a:lstStyle/>
                    <a:p>
                      <a:r>
                        <a:rPr lang="en-US" sz="2400" dirty="0">
                          <a:solidFill>
                            <a:srgbClr val="01435F"/>
                          </a:solidFill>
                          <a:effectLst/>
                          <a:latin typeface="Cambria" panose="02040503050406030204" pitchFamily="18" charset="0"/>
                        </a:rPr>
                        <a:t>3</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Toán tử Cộng, Trừ</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629054188"/>
                  </a:ext>
                </a:extLst>
              </a:tr>
              <a:tr h="544104">
                <a:tc>
                  <a:txBody>
                    <a:bodyPr/>
                    <a:lstStyle/>
                    <a:p>
                      <a:r>
                        <a:rPr lang="en-US" sz="2400">
                          <a:solidFill>
                            <a:srgbClr val="01435F"/>
                          </a:solidFill>
                          <a:effectLst/>
                          <a:latin typeface="Cambria" panose="02040503050406030204" pitchFamily="18" charset="0"/>
                        </a:rPr>
                        <a:t>4</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&lt;=  &lt;   &gt;    &gt;=</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dirty="0" err="1">
                          <a:solidFill>
                            <a:srgbClr val="01435F"/>
                          </a:solidFill>
                          <a:effectLst/>
                          <a:latin typeface="Cambria" panose="02040503050406030204" pitchFamily="18" charset="0"/>
                        </a:rPr>
                        <a:t>Các</a:t>
                      </a:r>
                      <a:r>
                        <a:rPr lang="en-US" sz="2400" dirty="0">
                          <a:solidFill>
                            <a:srgbClr val="01435F"/>
                          </a:solidFill>
                          <a:effectLst/>
                          <a:latin typeface="Cambria" panose="02040503050406030204" pitchFamily="18" charset="0"/>
                        </a:rPr>
                        <a:t> </a:t>
                      </a:r>
                      <a:r>
                        <a:rPr lang="en-US" sz="2400" dirty="0" err="1">
                          <a:solidFill>
                            <a:srgbClr val="01435F"/>
                          </a:solidFill>
                          <a:effectLst/>
                          <a:latin typeface="Cambria" panose="02040503050406030204" pitchFamily="18" charset="0"/>
                        </a:rPr>
                        <a:t>toán</a:t>
                      </a:r>
                      <a:r>
                        <a:rPr lang="en-US" sz="2400" dirty="0">
                          <a:solidFill>
                            <a:srgbClr val="01435F"/>
                          </a:solidFill>
                          <a:effectLst/>
                          <a:latin typeface="Cambria" panose="02040503050406030204" pitchFamily="18" charset="0"/>
                        </a:rPr>
                        <a:t> </a:t>
                      </a:r>
                      <a:r>
                        <a:rPr lang="en-US" sz="2400" dirty="0" err="1">
                          <a:solidFill>
                            <a:srgbClr val="01435F"/>
                          </a:solidFill>
                          <a:effectLst/>
                          <a:latin typeface="Cambria" panose="02040503050406030204" pitchFamily="18" charset="0"/>
                        </a:rPr>
                        <a:t>tử</a:t>
                      </a:r>
                      <a:r>
                        <a:rPr lang="en-US" sz="2400" dirty="0">
                          <a:solidFill>
                            <a:srgbClr val="01435F"/>
                          </a:solidFill>
                          <a:effectLst/>
                          <a:latin typeface="Cambria" panose="02040503050406030204" pitchFamily="18" charset="0"/>
                        </a:rPr>
                        <a:t> so </a:t>
                      </a:r>
                      <a:r>
                        <a:rPr lang="en-US" sz="2400" dirty="0" err="1">
                          <a:solidFill>
                            <a:srgbClr val="01435F"/>
                          </a:solidFill>
                          <a:effectLst/>
                          <a:latin typeface="Cambria" panose="02040503050406030204" pitchFamily="18" charset="0"/>
                        </a:rPr>
                        <a:t>sánh</a:t>
                      </a:r>
                      <a:endParaRPr lang="en-US" sz="2400" dirty="0">
                        <a:solidFill>
                          <a:srgbClr val="01435F"/>
                        </a:solidFill>
                        <a:effectLst/>
                        <a:latin typeface="Cambria" panose="02040503050406030204" pitchFamily="18" charset="0"/>
                      </a:endParaRP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445411995"/>
                  </a:ext>
                </a:extLst>
              </a:tr>
              <a:tr h="544104">
                <a:tc>
                  <a:txBody>
                    <a:bodyPr/>
                    <a:lstStyle/>
                    <a:p>
                      <a:r>
                        <a:rPr lang="en-US" sz="2400">
                          <a:solidFill>
                            <a:srgbClr val="01435F"/>
                          </a:solidFill>
                          <a:effectLst/>
                          <a:latin typeface="Cambria" panose="02040503050406030204" pitchFamily="18" charset="0"/>
                        </a:rPr>
                        <a:t>5</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&lt;&gt; ==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so sánh</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2448982567"/>
                  </a:ext>
                </a:extLst>
              </a:tr>
              <a:tr h="544104">
                <a:tc>
                  <a:txBody>
                    <a:bodyPr/>
                    <a:lstStyle/>
                    <a:p>
                      <a:r>
                        <a:rPr lang="en-US" sz="2400">
                          <a:solidFill>
                            <a:srgbClr val="01435F"/>
                          </a:solidFill>
                          <a:effectLst/>
                          <a:latin typeface="Cambria" panose="02040503050406030204" pitchFamily="18" charset="0"/>
                        </a:rPr>
                        <a:t>6</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   %=   /=   //=   -=   +=   *=   **=</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gán</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331716504"/>
                  </a:ext>
                </a:extLst>
              </a:tr>
              <a:tr h="544104">
                <a:tc>
                  <a:txBody>
                    <a:bodyPr/>
                    <a:lstStyle/>
                    <a:p>
                      <a:r>
                        <a:rPr lang="en-US" sz="2400">
                          <a:solidFill>
                            <a:srgbClr val="01435F"/>
                          </a:solidFill>
                          <a:effectLst/>
                          <a:latin typeface="Cambria" panose="02040503050406030204" pitchFamily="18" charset="0"/>
                        </a:rPr>
                        <a:t>7</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is , is not</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Các toán tử so sánh</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677734794"/>
                  </a:ext>
                </a:extLst>
              </a:tr>
              <a:tr h="544104">
                <a:tc>
                  <a:txBody>
                    <a:bodyPr/>
                    <a:lstStyle/>
                    <a:p>
                      <a:r>
                        <a:rPr lang="en-US" sz="2400">
                          <a:solidFill>
                            <a:srgbClr val="01435F"/>
                          </a:solidFill>
                          <a:effectLst/>
                          <a:latin typeface="Cambria" panose="02040503050406030204" pitchFamily="18" charset="0"/>
                        </a:rPr>
                        <a:t>8</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a:solidFill>
                            <a:srgbClr val="01435F"/>
                          </a:solidFill>
                          <a:effectLst/>
                          <a:latin typeface="Cambria" panose="02040503050406030204" pitchFamily="18" charset="0"/>
                        </a:rPr>
                        <a:t>not, or, and</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tc>
                  <a:txBody>
                    <a:bodyPr/>
                    <a:lstStyle/>
                    <a:p>
                      <a:r>
                        <a:rPr lang="en-US" sz="2400" dirty="0" err="1">
                          <a:solidFill>
                            <a:srgbClr val="01435F"/>
                          </a:solidFill>
                          <a:effectLst/>
                          <a:latin typeface="Cambria" panose="02040503050406030204" pitchFamily="18" charset="0"/>
                        </a:rPr>
                        <a:t>Các</a:t>
                      </a:r>
                      <a:r>
                        <a:rPr lang="en-US" sz="2400" dirty="0">
                          <a:solidFill>
                            <a:srgbClr val="01435F"/>
                          </a:solidFill>
                          <a:effectLst/>
                          <a:latin typeface="Cambria" panose="02040503050406030204" pitchFamily="18" charset="0"/>
                        </a:rPr>
                        <a:t> </a:t>
                      </a:r>
                      <a:r>
                        <a:rPr lang="en-US" sz="2400" dirty="0" err="1">
                          <a:solidFill>
                            <a:srgbClr val="01435F"/>
                          </a:solidFill>
                          <a:effectLst/>
                          <a:latin typeface="Cambria" panose="02040503050406030204" pitchFamily="18" charset="0"/>
                        </a:rPr>
                        <a:t>toán</a:t>
                      </a:r>
                      <a:r>
                        <a:rPr lang="en-US" sz="2400" dirty="0">
                          <a:solidFill>
                            <a:srgbClr val="01435F"/>
                          </a:solidFill>
                          <a:effectLst/>
                          <a:latin typeface="Cambria" panose="02040503050406030204" pitchFamily="18" charset="0"/>
                        </a:rPr>
                        <a:t> </a:t>
                      </a:r>
                      <a:r>
                        <a:rPr lang="en-US" sz="2400" dirty="0" err="1">
                          <a:solidFill>
                            <a:srgbClr val="01435F"/>
                          </a:solidFill>
                          <a:effectLst/>
                          <a:latin typeface="Cambria" panose="02040503050406030204" pitchFamily="18" charset="0"/>
                        </a:rPr>
                        <a:t>tử</a:t>
                      </a:r>
                      <a:r>
                        <a:rPr lang="en-US" sz="2400" dirty="0">
                          <a:solidFill>
                            <a:srgbClr val="01435F"/>
                          </a:solidFill>
                          <a:effectLst/>
                          <a:latin typeface="Cambria" panose="02040503050406030204" pitchFamily="18" charset="0"/>
                        </a:rPr>
                        <a:t> Logic</a:t>
                      </a:r>
                    </a:p>
                  </a:txBody>
                  <a:tcPr marL="20404" marR="20404" marT="6595" marB="6595" anchor="ctr">
                    <a:lnL w="9525" cap="flat" cmpd="sng" algn="ctr">
                      <a:solidFill>
                        <a:srgbClr val="88C7E2"/>
                      </a:solidFill>
                      <a:prstDash val="solid"/>
                      <a:round/>
                      <a:headEnd type="none" w="med" len="med"/>
                      <a:tailEnd type="none" w="med" len="med"/>
                    </a:lnL>
                    <a:lnR w="9525" cap="flat" cmpd="sng" algn="ctr">
                      <a:solidFill>
                        <a:srgbClr val="88C7E2"/>
                      </a:solidFill>
                      <a:prstDash val="solid"/>
                      <a:round/>
                      <a:headEnd type="none" w="med" len="med"/>
                      <a:tailEnd type="none" w="med" len="med"/>
                    </a:lnR>
                    <a:lnT w="9525" cap="flat" cmpd="sng" algn="ctr">
                      <a:solidFill>
                        <a:srgbClr val="88C7E2"/>
                      </a:solidFill>
                      <a:prstDash val="solid"/>
                      <a:round/>
                      <a:headEnd type="none" w="med" len="med"/>
                      <a:tailEnd type="none" w="med" len="med"/>
                    </a:lnT>
                    <a:lnB w="9525" cap="flat" cmpd="sng" algn="ctr">
                      <a:solidFill>
                        <a:srgbClr val="88C7E2"/>
                      </a:solidFill>
                      <a:prstDash val="solid"/>
                      <a:round/>
                      <a:headEnd type="none" w="med" len="med"/>
                      <a:tailEnd type="none" w="med" len="med"/>
                    </a:lnB>
                    <a:solidFill>
                      <a:srgbClr val="E4EEF3"/>
                    </a:solidFill>
                  </a:tcPr>
                </a:tc>
                <a:extLst>
                  <a:ext uri="{0D108BD9-81ED-4DB2-BD59-A6C34878D82A}">
                    <a16:rowId xmlns:a16="http://schemas.microsoft.com/office/drawing/2014/main" val="188662283"/>
                  </a:ext>
                </a:extLst>
              </a:tr>
            </a:tbl>
          </a:graphicData>
        </a:graphic>
      </p:graphicFrame>
    </p:spTree>
    <p:extLst>
      <p:ext uri="{BB962C8B-B14F-4D97-AF65-F5344CB8AC3E}">
        <p14:creationId xmlns:p14="http://schemas.microsoft.com/office/powerpoint/2010/main" val="124695748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a:spLocks noChangeArrowheads="1"/>
          </p:cNvSpPr>
          <p:nvPr/>
        </p:nvSpPr>
        <p:spPr bwMode="auto">
          <a:xfrm>
            <a:off x="4495800" y="2555117"/>
            <a:ext cx="502920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6600">
                <a:latin typeface="Cambria" panose="02040503050406030204" pitchFamily="18" charset="0"/>
                <a:cs typeface="Arial" charset="0"/>
              </a:rPr>
              <a:t>THE END</a:t>
            </a:r>
          </a:p>
        </p:txBody>
      </p:sp>
      <p:sp>
        <p:nvSpPr>
          <p:cNvPr id="10" name="Cloud Callout 9"/>
          <p:cNvSpPr/>
          <p:nvPr/>
        </p:nvSpPr>
        <p:spPr>
          <a:xfrm>
            <a:off x="7010400" y="533400"/>
            <a:ext cx="1714500" cy="1745064"/>
          </a:xfrm>
          <a:prstGeom prst="cloudCallout">
            <a:avLst>
              <a:gd name="adj1" fmla="val 45968"/>
              <a:gd name="adj2" fmla="val 92351"/>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b="1">
                <a:latin typeface="Cambria" panose="02040503050406030204" pitchFamily="18" charset="0"/>
              </a:rPr>
              <a:t>Hey! Coding is easy!</a:t>
            </a:r>
          </a:p>
        </p:txBody>
      </p:sp>
      <p:sp>
        <p:nvSpPr>
          <p:cNvPr id="4" name="Slide Number Placeholder 3"/>
          <p:cNvSpPr>
            <a:spLocks noGrp="1"/>
          </p:cNvSpPr>
          <p:nvPr>
            <p:ph type="sldNum" sz="quarter" idx="12"/>
          </p:nvPr>
        </p:nvSpPr>
        <p:spPr/>
        <p:txBody>
          <a:bodyPr/>
          <a:lstStyle/>
          <a:p>
            <a:r>
              <a:rPr lang="en-US"/>
              <a:t>Trang </a:t>
            </a:r>
            <a:fld id="{99166BD8-DA3C-4BE0-9C00-AA0485D1F6DE}" type="slidenum">
              <a:rPr lang="en-US" smtClean="0"/>
              <a:pPr/>
              <a:t>90</a:t>
            </a:fld>
            <a:endParaRPr lang="en-US"/>
          </a:p>
        </p:txBody>
      </p:sp>
    </p:spTree>
    <p:extLst>
      <p:ext uri="{BB962C8B-B14F-4D97-AF65-F5344CB8AC3E}">
        <p14:creationId xmlns:p14="http://schemas.microsoft.com/office/powerpoint/2010/main" val="1163144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1726</TotalTime>
  <Words>3144</Words>
  <Application>Microsoft Office PowerPoint</Application>
  <PresentationFormat>Widescreen</PresentationFormat>
  <Paragraphs>604</Paragraphs>
  <Slides>90</Slides>
  <Notes>90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90</vt:i4>
      </vt:variant>
    </vt:vector>
  </HeadingPairs>
  <TitlesOfParts>
    <vt:vector size="98" baseType="lpstr">
      <vt:lpstr>Arial</vt:lpstr>
      <vt:lpstr>Calibri</vt:lpstr>
      <vt:lpstr>Cambria</vt:lpstr>
      <vt:lpstr>Courier New</vt:lpstr>
      <vt:lpstr>Google Sans</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ADMIN</cp:lastModifiedBy>
  <cp:revision>628</cp:revision>
  <dcterms:created xsi:type="dcterms:W3CDTF">2011-04-06T04:04:31Z</dcterms:created>
  <dcterms:modified xsi:type="dcterms:W3CDTF">2025-08-13T04:10:08Z</dcterms:modified>
</cp:coreProperties>
</file>
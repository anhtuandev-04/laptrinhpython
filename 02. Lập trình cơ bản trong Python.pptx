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sldIdLst>
    <p:sldId id="337" r:id="rId2"/>
    <p:sldId id="25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53" r:id="rId88"/>
    <p:sldId id="354" r:id="rId89"/>
    <p:sldId id="355" r:id="rId90"/>
    <p:sldId id="356" r:id="rId91"/>
    <p:sldId id="357" r:id="rId92"/>
    <p:sldId id="358" r:id="rId93"/>
    <p:sldId id="359" r:id="rId94"/>
    <p:sldId id="360" r:id="rId95"/>
    <p:sldId id="361" r:id="rId96"/>
    <p:sldId id="362" r:id="rId97"/>
    <p:sldId id="363" r:id="rId98"/>
    <p:sldId id="364" r:id="rId99"/>
    <p:sldId id="365"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 id="381" r:id="rId116"/>
    <p:sldId id="382" r:id="rId117"/>
    <p:sldId id="383" r:id="rId118"/>
    <p:sldId id="384" r:id="rId119"/>
    <p:sldId id="322"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249" autoAdjust="0"/>
  </p:normalViewPr>
  <p:slideViewPr>
    <p:cSldViewPr>
      <p:cViewPr varScale="1">
        <p:scale>
          <a:sx n="46" d="100"/>
          <a:sy n="46" d="100"/>
        </p:scale>
        <p:origin x="62" y="85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8/18/2025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2793580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a:t>
            </a:fld>
            <a:endParaRPr lang="en-US"/>
          </a:p>
        </p:txBody>
      </p:sp>
    </p:spTree>
    <p:extLst>
      <p:ext uri="{BB962C8B-B14F-4D97-AF65-F5344CB8AC3E}">
        <p14:creationId xmlns:p14="http://schemas.microsoft.com/office/powerpoint/2010/main" val="2679113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a:t>
            </a:fld>
            <a:endParaRPr lang="en-US"/>
          </a:p>
        </p:txBody>
      </p:sp>
    </p:spTree>
    <p:extLst>
      <p:ext uri="{BB962C8B-B14F-4D97-AF65-F5344CB8AC3E}">
        <p14:creationId xmlns:p14="http://schemas.microsoft.com/office/powerpoint/2010/main" val="282076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a:t>
            </a:fld>
            <a:endParaRPr lang="en-US"/>
          </a:p>
        </p:txBody>
      </p:sp>
    </p:spTree>
    <p:extLst>
      <p:ext uri="{BB962C8B-B14F-4D97-AF65-F5344CB8AC3E}">
        <p14:creationId xmlns:p14="http://schemas.microsoft.com/office/powerpoint/2010/main" val="2916827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a:t>
            </a:fld>
            <a:endParaRPr lang="en-US"/>
          </a:p>
        </p:txBody>
      </p:sp>
    </p:spTree>
    <p:extLst>
      <p:ext uri="{BB962C8B-B14F-4D97-AF65-F5344CB8AC3E}">
        <p14:creationId xmlns:p14="http://schemas.microsoft.com/office/powerpoint/2010/main" val="4170991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3595646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1299735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a:t>
            </a:fld>
            <a:endParaRPr lang="en-US"/>
          </a:p>
        </p:txBody>
      </p:sp>
    </p:spTree>
    <p:extLst>
      <p:ext uri="{BB962C8B-B14F-4D97-AF65-F5344CB8AC3E}">
        <p14:creationId xmlns:p14="http://schemas.microsoft.com/office/powerpoint/2010/main" val="1824843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1147636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a:t>
            </a:fld>
            <a:endParaRPr lang="en-US"/>
          </a:p>
        </p:txBody>
      </p:sp>
    </p:spTree>
    <p:extLst>
      <p:ext uri="{BB962C8B-B14F-4D97-AF65-F5344CB8AC3E}">
        <p14:creationId xmlns:p14="http://schemas.microsoft.com/office/powerpoint/2010/main" val="3623139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1802810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13</a:t>
            </a:fld>
            <a:endParaRPr lang="en-US"/>
          </a:p>
        </p:txBody>
      </p:sp>
    </p:spTree>
    <p:extLst>
      <p:ext uri="{BB962C8B-B14F-4D97-AF65-F5344CB8AC3E}">
        <p14:creationId xmlns:p14="http://schemas.microsoft.com/office/powerpoint/2010/main" val="1674680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3812772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15</a:t>
            </a:fld>
            <a:endParaRPr lang="en-US"/>
          </a:p>
        </p:txBody>
      </p:sp>
    </p:spTree>
    <p:extLst>
      <p:ext uri="{BB962C8B-B14F-4D97-AF65-F5344CB8AC3E}">
        <p14:creationId xmlns:p14="http://schemas.microsoft.com/office/powerpoint/2010/main" val="3491119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1631893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762187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18</a:t>
            </a:fld>
            <a:endParaRPr lang="en-US"/>
          </a:p>
        </p:txBody>
      </p:sp>
    </p:spTree>
    <p:extLst>
      <p:ext uri="{BB962C8B-B14F-4D97-AF65-F5344CB8AC3E}">
        <p14:creationId xmlns:p14="http://schemas.microsoft.com/office/powerpoint/2010/main" val="2169314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6122073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20</a:t>
            </a:fld>
            <a:endParaRPr lang="en-US"/>
          </a:p>
        </p:txBody>
      </p:sp>
    </p:spTree>
    <p:extLst>
      <p:ext uri="{BB962C8B-B14F-4D97-AF65-F5344CB8AC3E}">
        <p14:creationId xmlns:p14="http://schemas.microsoft.com/office/powerpoint/2010/main" val="811708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981569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4193257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1025071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2976797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4105683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26</a:t>
            </a:fld>
            <a:endParaRPr lang="en-US"/>
          </a:p>
        </p:txBody>
      </p:sp>
    </p:spTree>
    <p:extLst>
      <p:ext uri="{BB962C8B-B14F-4D97-AF65-F5344CB8AC3E}">
        <p14:creationId xmlns:p14="http://schemas.microsoft.com/office/powerpoint/2010/main" val="2473819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12254213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1477245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17008456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29670895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1555384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2776377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11171641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2911855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38918579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42697180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1226050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27605742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39</a:t>
            </a:fld>
            <a:endParaRPr lang="en-US"/>
          </a:p>
        </p:txBody>
      </p:sp>
    </p:spTree>
    <p:extLst>
      <p:ext uri="{BB962C8B-B14F-4D97-AF65-F5344CB8AC3E}">
        <p14:creationId xmlns:p14="http://schemas.microsoft.com/office/powerpoint/2010/main" val="2065558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40</a:t>
            </a:fld>
            <a:endParaRPr lang="en-US"/>
          </a:p>
        </p:txBody>
      </p:sp>
    </p:spTree>
    <p:extLst>
      <p:ext uri="{BB962C8B-B14F-4D97-AF65-F5344CB8AC3E}">
        <p14:creationId xmlns:p14="http://schemas.microsoft.com/office/powerpoint/2010/main" val="32955758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41</a:t>
            </a:fld>
            <a:endParaRPr lang="en-US"/>
          </a:p>
        </p:txBody>
      </p:sp>
    </p:spTree>
    <p:extLst>
      <p:ext uri="{BB962C8B-B14F-4D97-AF65-F5344CB8AC3E}">
        <p14:creationId xmlns:p14="http://schemas.microsoft.com/office/powerpoint/2010/main" val="2132351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42</a:t>
            </a:fld>
            <a:endParaRPr lang="en-US"/>
          </a:p>
        </p:txBody>
      </p:sp>
    </p:spTree>
    <p:extLst>
      <p:ext uri="{BB962C8B-B14F-4D97-AF65-F5344CB8AC3E}">
        <p14:creationId xmlns:p14="http://schemas.microsoft.com/office/powerpoint/2010/main" val="693756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43</a:t>
            </a:fld>
            <a:endParaRPr lang="en-US"/>
          </a:p>
        </p:txBody>
      </p:sp>
    </p:spTree>
    <p:extLst>
      <p:ext uri="{BB962C8B-B14F-4D97-AF65-F5344CB8AC3E}">
        <p14:creationId xmlns:p14="http://schemas.microsoft.com/office/powerpoint/2010/main" val="3332189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44</a:t>
            </a:fld>
            <a:endParaRPr lang="en-US"/>
          </a:p>
        </p:txBody>
      </p:sp>
    </p:spTree>
    <p:extLst>
      <p:ext uri="{BB962C8B-B14F-4D97-AF65-F5344CB8AC3E}">
        <p14:creationId xmlns:p14="http://schemas.microsoft.com/office/powerpoint/2010/main" val="2481937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45</a:t>
            </a:fld>
            <a:endParaRPr lang="en-US"/>
          </a:p>
        </p:txBody>
      </p:sp>
    </p:spTree>
    <p:extLst>
      <p:ext uri="{BB962C8B-B14F-4D97-AF65-F5344CB8AC3E}">
        <p14:creationId xmlns:p14="http://schemas.microsoft.com/office/powerpoint/2010/main" val="35680301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46</a:t>
            </a:fld>
            <a:endParaRPr lang="en-US"/>
          </a:p>
        </p:txBody>
      </p:sp>
    </p:spTree>
    <p:extLst>
      <p:ext uri="{BB962C8B-B14F-4D97-AF65-F5344CB8AC3E}">
        <p14:creationId xmlns:p14="http://schemas.microsoft.com/office/powerpoint/2010/main" val="10738524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47</a:t>
            </a:fld>
            <a:endParaRPr lang="en-US"/>
          </a:p>
        </p:txBody>
      </p:sp>
    </p:spTree>
    <p:extLst>
      <p:ext uri="{BB962C8B-B14F-4D97-AF65-F5344CB8AC3E}">
        <p14:creationId xmlns:p14="http://schemas.microsoft.com/office/powerpoint/2010/main" val="2117057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48</a:t>
            </a:fld>
            <a:endParaRPr lang="en-US"/>
          </a:p>
        </p:txBody>
      </p:sp>
    </p:spTree>
    <p:extLst>
      <p:ext uri="{BB962C8B-B14F-4D97-AF65-F5344CB8AC3E}">
        <p14:creationId xmlns:p14="http://schemas.microsoft.com/office/powerpoint/2010/main" val="6278908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49</a:t>
            </a:fld>
            <a:endParaRPr lang="en-US"/>
          </a:p>
        </p:txBody>
      </p:sp>
    </p:spTree>
    <p:extLst>
      <p:ext uri="{BB962C8B-B14F-4D97-AF65-F5344CB8AC3E}">
        <p14:creationId xmlns:p14="http://schemas.microsoft.com/office/powerpoint/2010/main" val="22646211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50</a:t>
            </a:fld>
            <a:endParaRPr lang="en-US"/>
          </a:p>
        </p:txBody>
      </p:sp>
    </p:spTree>
    <p:extLst>
      <p:ext uri="{BB962C8B-B14F-4D97-AF65-F5344CB8AC3E}">
        <p14:creationId xmlns:p14="http://schemas.microsoft.com/office/powerpoint/2010/main" val="35321028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51</a:t>
            </a:fld>
            <a:endParaRPr lang="en-US"/>
          </a:p>
        </p:txBody>
      </p:sp>
    </p:spTree>
    <p:extLst>
      <p:ext uri="{BB962C8B-B14F-4D97-AF65-F5344CB8AC3E}">
        <p14:creationId xmlns:p14="http://schemas.microsoft.com/office/powerpoint/2010/main" val="35425559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52</a:t>
            </a:fld>
            <a:endParaRPr lang="en-US"/>
          </a:p>
        </p:txBody>
      </p:sp>
    </p:spTree>
    <p:extLst>
      <p:ext uri="{BB962C8B-B14F-4D97-AF65-F5344CB8AC3E}">
        <p14:creationId xmlns:p14="http://schemas.microsoft.com/office/powerpoint/2010/main" val="21790833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53</a:t>
            </a:fld>
            <a:endParaRPr lang="en-US"/>
          </a:p>
        </p:txBody>
      </p:sp>
    </p:spTree>
    <p:extLst>
      <p:ext uri="{BB962C8B-B14F-4D97-AF65-F5344CB8AC3E}">
        <p14:creationId xmlns:p14="http://schemas.microsoft.com/office/powerpoint/2010/main" val="135165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54</a:t>
            </a:fld>
            <a:endParaRPr lang="en-US"/>
          </a:p>
        </p:txBody>
      </p:sp>
    </p:spTree>
    <p:extLst>
      <p:ext uri="{BB962C8B-B14F-4D97-AF65-F5344CB8AC3E}">
        <p14:creationId xmlns:p14="http://schemas.microsoft.com/office/powerpoint/2010/main" val="631672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55</a:t>
            </a:fld>
            <a:endParaRPr lang="en-US"/>
          </a:p>
        </p:txBody>
      </p:sp>
    </p:spTree>
    <p:extLst>
      <p:ext uri="{BB962C8B-B14F-4D97-AF65-F5344CB8AC3E}">
        <p14:creationId xmlns:p14="http://schemas.microsoft.com/office/powerpoint/2010/main" val="25771377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56</a:t>
            </a:fld>
            <a:endParaRPr lang="en-US"/>
          </a:p>
        </p:txBody>
      </p:sp>
    </p:spTree>
    <p:extLst>
      <p:ext uri="{BB962C8B-B14F-4D97-AF65-F5344CB8AC3E}">
        <p14:creationId xmlns:p14="http://schemas.microsoft.com/office/powerpoint/2010/main" val="25321489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57</a:t>
            </a:fld>
            <a:endParaRPr lang="en-US"/>
          </a:p>
        </p:txBody>
      </p:sp>
    </p:spTree>
    <p:extLst>
      <p:ext uri="{BB962C8B-B14F-4D97-AF65-F5344CB8AC3E}">
        <p14:creationId xmlns:p14="http://schemas.microsoft.com/office/powerpoint/2010/main" val="34061063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58</a:t>
            </a:fld>
            <a:endParaRPr lang="en-US"/>
          </a:p>
        </p:txBody>
      </p:sp>
    </p:spTree>
    <p:extLst>
      <p:ext uri="{BB962C8B-B14F-4D97-AF65-F5344CB8AC3E}">
        <p14:creationId xmlns:p14="http://schemas.microsoft.com/office/powerpoint/2010/main" val="10484946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59</a:t>
            </a:fld>
            <a:endParaRPr lang="en-US"/>
          </a:p>
        </p:txBody>
      </p:sp>
    </p:spTree>
    <p:extLst>
      <p:ext uri="{BB962C8B-B14F-4D97-AF65-F5344CB8AC3E}">
        <p14:creationId xmlns:p14="http://schemas.microsoft.com/office/powerpoint/2010/main" val="21873646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60</a:t>
            </a:fld>
            <a:endParaRPr lang="en-US"/>
          </a:p>
        </p:txBody>
      </p:sp>
    </p:spTree>
    <p:extLst>
      <p:ext uri="{BB962C8B-B14F-4D97-AF65-F5344CB8AC3E}">
        <p14:creationId xmlns:p14="http://schemas.microsoft.com/office/powerpoint/2010/main" val="775655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62</a:t>
            </a:fld>
            <a:endParaRPr lang="en-US"/>
          </a:p>
        </p:txBody>
      </p:sp>
    </p:spTree>
    <p:extLst>
      <p:ext uri="{BB962C8B-B14F-4D97-AF65-F5344CB8AC3E}">
        <p14:creationId xmlns:p14="http://schemas.microsoft.com/office/powerpoint/2010/main" val="1899100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63</a:t>
            </a:fld>
            <a:endParaRPr lang="en-US"/>
          </a:p>
        </p:txBody>
      </p:sp>
    </p:spTree>
    <p:extLst>
      <p:ext uri="{BB962C8B-B14F-4D97-AF65-F5344CB8AC3E}">
        <p14:creationId xmlns:p14="http://schemas.microsoft.com/office/powerpoint/2010/main" val="23763969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64</a:t>
            </a:fld>
            <a:endParaRPr lang="en-US"/>
          </a:p>
        </p:txBody>
      </p:sp>
    </p:spTree>
    <p:extLst>
      <p:ext uri="{BB962C8B-B14F-4D97-AF65-F5344CB8AC3E}">
        <p14:creationId xmlns:p14="http://schemas.microsoft.com/office/powerpoint/2010/main" val="25579514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66</a:t>
            </a:fld>
            <a:endParaRPr lang="en-US"/>
          </a:p>
        </p:txBody>
      </p:sp>
    </p:spTree>
    <p:extLst>
      <p:ext uri="{BB962C8B-B14F-4D97-AF65-F5344CB8AC3E}">
        <p14:creationId xmlns:p14="http://schemas.microsoft.com/office/powerpoint/2010/main" val="16629105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67</a:t>
            </a:fld>
            <a:endParaRPr lang="en-US"/>
          </a:p>
        </p:txBody>
      </p:sp>
    </p:spTree>
    <p:extLst>
      <p:ext uri="{BB962C8B-B14F-4D97-AF65-F5344CB8AC3E}">
        <p14:creationId xmlns:p14="http://schemas.microsoft.com/office/powerpoint/2010/main" val="28900999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68</a:t>
            </a:fld>
            <a:endParaRPr lang="en-US"/>
          </a:p>
        </p:txBody>
      </p:sp>
    </p:spTree>
    <p:extLst>
      <p:ext uri="{BB962C8B-B14F-4D97-AF65-F5344CB8AC3E}">
        <p14:creationId xmlns:p14="http://schemas.microsoft.com/office/powerpoint/2010/main" val="38879294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69</a:t>
            </a:fld>
            <a:endParaRPr lang="en-US"/>
          </a:p>
        </p:txBody>
      </p:sp>
    </p:spTree>
    <p:extLst>
      <p:ext uri="{BB962C8B-B14F-4D97-AF65-F5344CB8AC3E}">
        <p14:creationId xmlns:p14="http://schemas.microsoft.com/office/powerpoint/2010/main" val="17597647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70</a:t>
            </a:fld>
            <a:endParaRPr lang="en-US"/>
          </a:p>
        </p:txBody>
      </p:sp>
    </p:spTree>
    <p:extLst>
      <p:ext uri="{BB962C8B-B14F-4D97-AF65-F5344CB8AC3E}">
        <p14:creationId xmlns:p14="http://schemas.microsoft.com/office/powerpoint/2010/main" val="11617917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71</a:t>
            </a:fld>
            <a:endParaRPr lang="en-US"/>
          </a:p>
        </p:txBody>
      </p:sp>
    </p:spTree>
    <p:extLst>
      <p:ext uri="{BB962C8B-B14F-4D97-AF65-F5344CB8AC3E}">
        <p14:creationId xmlns:p14="http://schemas.microsoft.com/office/powerpoint/2010/main" val="30101233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72</a:t>
            </a:fld>
            <a:endParaRPr lang="en-US"/>
          </a:p>
        </p:txBody>
      </p:sp>
    </p:spTree>
    <p:extLst>
      <p:ext uri="{BB962C8B-B14F-4D97-AF65-F5344CB8AC3E}">
        <p14:creationId xmlns:p14="http://schemas.microsoft.com/office/powerpoint/2010/main" val="21716032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73</a:t>
            </a:fld>
            <a:endParaRPr lang="en-US"/>
          </a:p>
        </p:txBody>
      </p:sp>
    </p:spTree>
    <p:extLst>
      <p:ext uri="{BB962C8B-B14F-4D97-AF65-F5344CB8AC3E}">
        <p14:creationId xmlns:p14="http://schemas.microsoft.com/office/powerpoint/2010/main" val="15898723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74</a:t>
            </a:fld>
            <a:endParaRPr lang="en-US"/>
          </a:p>
        </p:txBody>
      </p:sp>
    </p:spTree>
    <p:extLst>
      <p:ext uri="{BB962C8B-B14F-4D97-AF65-F5344CB8AC3E}">
        <p14:creationId xmlns:p14="http://schemas.microsoft.com/office/powerpoint/2010/main" val="10443951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75</a:t>
            </a:fld>
            <a:endParaRPr lang="en-US"/>
          </a:p>
        </p:txBody>
      </p:sp>
    </p:spTree>
    <p:extLst>
      <p:ext uri="{BB962C8B-B14F-4D97-AF65-F5344CB8AC3E}">
        <p14:creationId xmlns:p14="http://schemas.microsoft.com/office/powerpoint/2010/main" val="14943388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76</a:t>
            </a:fld>
            <a:endParaRPr lang="en-US"/>
          </a:p>
        </p:txBody>
      </p:sp>
    </p:spTree>
    <p:extLst>
      <p:ext uri="{BB962C8B-B14F-4D97-AF65-F5344CB8AC3E}">
        <p14:creationId xmlns:p14="http://schemas.microsoft.com/office/powerpoint/2010/main" val="4906589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77</a:t>
            </a:fld>
            <a:endParaRPr lang="en-US"/>
          </a:p>
        </p:txBody>
      </p:sp>
    </p:spTree>
    <p:extLst>
      <p:ext uri="{BB962C8B-B14F-4D97-AF65-F5344CB8AC3E}">
        <p14:creationId xmlns:p14="http://schemas.microsoft.com/office/powerpoint/2010/main" val="19778752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78</a:t>
            </a:fld>
            <a:endParaRPr lang="en-US"/>
          </a:p>
        </p:txBody>
      </p:sp>
    </p:spTree>
    <p:extLst>
      <p:ext uri="{BB962C8B-B14F-4D97-AF65-F5344CB8AC3E}">
        <p14:creationId xmlns:p14="http://schemas.microsoft.com/office/powerpoint/2010/main" val="107078648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79</a:t>
            </a:fld>
            <a:endParaRPr lang="en-US"/>
          </a:p>
        </p:txBody>
      </p:sp>
    </p:spTree>
    <p:extLst>
      <p:ext uri="{BB962C8B-B14F-4D97-AF65-F5344CB8AC3E}">
        <p14:creationId xmlns:p14="http://schemas.microsoft.com/office/powerpoint/2010/main" val="18023015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81</a:t>
            </a:fld>
            <a:endParaRPr lang="en-US"/>
          </a:p>
        </p:txBody>
      </p:sp>
    </p:spTree>
    <p:extLst>
      <p:ext uri="{BB962C8B-B14F-4D97-AF65-F5344CB8AC3E}">
        <p14:creationId xmlns:p14="http://schemas.microsoft.com/office/powerpoint/2010/main" val="34252615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82</a:t>
            </a:fld>
            <a:endParaRPr lang="en-US"/>
          </a:p>
        </p:txBody>
      </p:sp>
    </p:spTree>
    <p:extLst>
      <p:ext uri="{BB962C8B-B14F-4D97-AF65-F5344CB8AC3E}">
        <p14:creationId xmlns:p14="http://schemas.microsoft.com/office/powerpoint/2010/main" val="5656067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83</a:t>
            </a:fld>
            <a:endParaRPr lang="en-US"/>
          </a:p>
        </p:txBody>
      </p:sp>
    </p:spTree>
    <p:extLst>
      <p:ext uri="{BB962C8B-B14F-4D97-AF65-F5344CB8AC3E}">
        <p14:creationId xmlns:p14="http://schemas.microsoft.com/office/powerpoint/2010/main" val="5752690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84</a:t>
            </a:fld>
            <a:endParaRPr lang="en-US"/>
          </a:p>
        </p:txBody>
      </p:sp>
    </p:spTree>
    <p:extLst>
      <p:ext uri="{BB962C8B-B14F-4D97-AF65-F5344CB8AC3E}">
        <p14:creationId xmlns:p14="http://schemas.microsoft.com/office/powerpoint/2010/main" val="10115127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85</a:t>
            </a:fld>
            <a:endParaRPr lang="en-US"/>
          </a:p>
        </p:txBody>
      </p:sp>
    </p:spTree>
    <p:extLst>
      <p:ext uri="{BB962C8B-B14F-4D97-AF65-F5344CB8AC3E}">
        <p14:creationId xmlns:p14="http://schemas.microsoft.com/office/powerpoint/2010/main" val="77209581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86</a:t>
            </a:fld>
            <a:endParaRPr lang="en-US"/>
          </a:p>
        </p:txBody>
      </p:sp>
    </p:spTree>
    <p:extLst>
      <p:ext uri="{BB962C8B-B14F-4D97-AF65-F5344CB8AC3E}">
        <p14:creationId xmlns:p14="http://schemas.microsoft.com/office/powerpoint/2010/main" val="42684782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87</a:t>
            </a:fld>
            <a:endParaRPr lang="en-US"/>
          </a:p>
        </p:txBody>
      </p:sp>
    </p:spTree>
    <p:extLst>
      <p:ext uri="{BB962C8B-B14F-4D97-AF65-F5344CB8AC3E}">
        <p14:creationId xmlns:p14="http://schemas.microsoft.com/office/powerpoint/2010/main" val="24420679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88</a:t>
            </a:fld>
            <a:endParaRPr lang="en-US"/>
          </a:p>
        </p:txBody>
      </p:sp>
    </p:spTree>
    <p:extLst>
      <p:ext uri="{BB962C8B-B14F-4D97-AF65-F5344CB8AC3E}">
        <p14:creationId xmlns:p14="http://schemas.microsoft.com/office/powerpoint/2010/main" val="55023584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89</a:t>
            </a:fld>
            <a:endParaRPr lang="en-US"/>
          </a:p>
        </p:txBody>
      </p:sp>
    </p:spTree>
    <p:extLst>
      <p:ext uri="{BB962C8B-B14F-4D97-AF65-F5344CB8AC3E}">
        <p14:creationId xmlns:p14="http://schemas.microsoft.com/office/powerpoint/2010/main" val="382297411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90</a:t>
            </a:fld>
            <a:endParaRPr lang="en-US"/>
          </a:p>
        </p:txBody>
      </p:sp>
    </p:spTree>
    <p:extLst>
      <p:ext uri="{BB962C8B-B14F-4D97-AF65-F5344CB8AC3E}">
        <p14:creationId xmlns:p14="http://schemas.microsoft.com/office/powerpoint/2010/main" val="17199698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91</a:t>
            </a:fld>
            <a:endParaRPr lang="en-US"/>
          </a:p>
        </p:txBody>
      </p:sp>
    </p:spTree>
    <p:extLst>
      <p:ext uri="{BB962C8B-B14F-4D97-AF65-F5344CB8AC3E}">
        <p14:creationId xmlns:p14="http://schemas.microsoft.com/office/powerpoint/2010/main" val="64442718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92</a:t>
            </a:fld>
            <a:endParaRPr lang="en-US"/>
          </a:p>
        </p:txBody>
      </p:sp>
    </p:spTree>
    <p:extLst>
      <p:ext uri="{BB962C8B-B14F-4D97-AF65-F5344CB8AC3E}">
        <p14:creationId xmlns:p14="http://schemas.microsoft.com/office/powerpoint/2010/main" val="197165747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93</a:t>
            </a:fld>
            <a:endParaRPr lang="en-US"/>
          </a:p>
        </p:txBody>
      </p:sp>
    </p:spTree>
    <p:extLst>
      <p:ext uri="{BB962C8B-B14F-4D97-AF65-F5344CB8AC3E}">
        <p14:creationId xmlns:p14="http://schemas.microsoft.com/office/powerpoint/2010/main" val="23305568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94</a:t>
            </a:fld>
            <a:endParaRPr lang="en-US"/>
          </a:p>
        </p:txBody>
      </p:sp>
    </p:spTree>
    <p:extLst>
      <p:ext uri="{BB962C8B-B14F-4D97-AF65-F5344CB8AC3E}">
        <p14:creationId xmlns:p14="http://schemas.microsoft.com/office/powerpoint/2010/main" val="47432405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95</a:t>
            </a:fld>
            <a:endParaRPr lang="en-US"/>
          </a:p>
        </p:txBody>
      </p:sp>
    </p:spTree>
    <p:extLst>
      <p:ext uri="{BB962C8B-B14F-4D97-AF65-F5344CB8AC3E}">
        <p14:creationId xmlns:p14="http://schemas.microsoft.com/office/powerpoint/2010/main" val="11355886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96</a:t>
            </a:fld>
            <a:endParaRPr lang="en-US"/>
          </a:p>
        </p:txBody>
      </p:sp>
    </p:spTree>
    <p:extLst>
      <p:ext uri="{BB962C8B-B14F-4D97-AF65-F5344CB8AC3E}">
        <p14:creationId xmlns:p14="http://schemas.microsoft.com/office/powerpoint/2010/main" val="21838048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97</a:t>
            </a:fld>
            <a:endParaRPr lang="en-US"/>
          </a:p>
        </p:txBody>
      </p:sp>
    </p:spTree>
    <p:extLst>
      <p:ext uri="{BB962C8B-B14F-4D97-AF65-F5344CB8AC3E}">
        <p14:creationId xmlns:p14="http://schemas.microsoft.com/office/powerpoint/2010/main" val="407989642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98</a:t>
            </a:fld>
            <a:endParaRPr lang="en-US"/>
          </a:p>
        </p:txBody>
      </p:sp>
    </p:spTree>
    <p:extLst>
      <p:ext uri="{BB962C8B-B14F-4D97-AF65-F5344CB8AC3E}">
        <p14:creationId xmlns:p14="http://schemas.microsoft.com/office/powerpoint/2010/main" val="35531989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99</a:t>
            </a:fld>
            <a:endParaRPr lang="en-US"/>
          </a:p>
        </p:txBody>
      </p:sp>
    </p:spTree>
    <p:extLst>
      <p:ext uri="{BB962C8B-B14F-4D97-AF65-F5344CB8AC3E}">
        <p14:creationId xmlns:p14="http://schemas.microsoft.com/office/powerpoint/2010/main" val="420664614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100</a:t>
            </a:fld>
            <a:endParaRPr lang="en-US"/>
          </a:p>
        </p:txBody>
      </p:sp>
    </p:spTree>
    <p:extLst>
      <p:ext uri="{BB962C8B-B14F-4D97-AF65-F5344CB8AC3E}">
        <p14:creationId xmlns:p14="http://schemas.microsoft.com/office/powerpoint/2010/main" val="133488618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101</a:t>
            </a:fld>
            <a:endParaRPr lang="en-US"/>
          </a:p>
        </p:txBody>
      </p:sp>
    </p:spTree>
    <p:extLst>
      <p:ext uri="{BB962C8B-B14F-4D97-AF65-F5344CB8AC3E}">
        <p14:creationId xmlns:p14="http://schemas.microsoft.com/office/powerpoint/2010/main" val="79222199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102</a:t>
            </a:fld>
            <a:endParaRPr lang="en-US"/>
          </a:p>
        </p:txBody>
      </p:sp>
    </p:spTree>
    <p:extLst>
      <p:ext uri="{BB962C8B-B14F-4D97-AF65-F5344CB8AC3E}">
        <p14:creationId xmlns:p14="http://schemas.microsoft.com/office/powerpoint/2010/main" val="307576011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103</a:t>
            </a:fld>
            <a:endParaRPr lang="en-US"/>
          </a:p>
        </p:txBody>
      </p:sp>
    </p:spTree>
    <p:extLst>
      <p:ext uri="{BB962C8B-B14F-4D97-AF65-F5344CB8AC3E}">
        <p14:creationId xmlns:p14="http://schemas.microsoft.com/office/powerpoint/2010/main" val="228896549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104</a:t>
            </a:fld>
            <a:endParaRPr lang="en-US"/>
          </a:p>
        </p:txBody>
      </p:sp>
    </p:spTree>
    <p:extLst>
      <p:ext uri="{BB962C8B-B14F-4D97-AF65-F5344CB8AC3E}">
        <p14:creationId xmlns:p14="http://schemas.microsoft.com/office/powerpoint/2010/main" val="92235504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105</a:t>
            </a:fld>
            <a:endParaRPr lang="en-US"/>
          </a:p>
        </p:txBody>
      </p:sp>
    </p:spTree>
    <p:extLst>
      <p:ext uri="{BB962C8B-B14F-4D97-AF65-F5344CB8AC3E}">
        <p14:creationId xmlns:p14="http://schemas.microsoft.com/office/powerpoint/2010/main" val="168623891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106</a:t>
            </a:fld>
            <a:endParaRPr lang="en-US"/>
          </a:p>
        </p:txBody>
      </p:sp>
    </p:spTree>
    <p:extLst>
      <p:ext uri="{BB962C8B-B14F-4D97-AF65-F5344CB8AC3E}">
        <p14:creationId xmlns:p14="http://schemas.microsoft.com/office/powerpoint/2010/main" val="274332194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107</a:t>
            </a:fld>
            <a:endParaRPr lang="en-US"/>
          </a:p>
        </p:txBody>
      </p:sp>
    </p:spTree>
    <p:extLst>
      <p:ext uri="{BB962C8B-B14F-4D97-AF65-F5344CB8AC3E}">
        <p14:creationId xmlns:p14="http://schemas.microsoft.com/office/powerpoint/2010/main" val="184382582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108</a:t>
            </a:fld>
            <a:endParaRPr lang="en-US"/>
          </a:p>
        </p:txBody>
      </p:sp>
    </p:spTree>
    <p:extLst>
      <p:ext uri="{BB962C8B-B14F-4D97-AF65-F5344CB8AC3E}">
        <p14:creationId xmlns:p14="http://schemas.microsoft.com/office/powerpoint/2010/main" val="351898501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109</a:t>
            </a:fld>
            <a:endParaRPr lang="en-US"/>
          </a:p>
        </p:txBody>
      </p:sp>
    </p:spTree>
    <p:extLst>
      <p:ext uri="{BB962C8B-B14F-4D97-AF65-F5344CB8AC3E}">
        <p14:creationId xmlns:p14="http://schemas.microsoft.com/office/powerpoint/2010/main" val="71859922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110</a:t>
            </a:fld>
            <a:endParaRPr lang="en-US"/>
          </a:p>
        </p:txBody>
      </p:sp>
    </p:spTree>
    <p:extLst>
      <p:ext uri="{BB962C8B-B14F-4D97-AF65-F5344CB8AC3E}">
        <p14:creationId xmlns:p14="http://schemas.microsoft.com/office/powerpoint/2010/main" val="31781781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111</a:t>
            </a:fld>
            <a:endParaRPr lang="en-US"/>
          </a:p>
        </p:txBody>
      </p:sp>
    </p:spTree>
    <p:extLst>
      <p:ext uri="{BB962C8B-B14F-4D97-AF65-F5344CB8AC3E}">
        <p14:creationId xmlns:p14="http://schemas.microsoft.com/office/powerpoint/2010/main" val="407904414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112</a:t>
            </a:fld>
            <a:endParaRPr lang="en-US"/>
          </a:p>
        </p:txBody>
      </p:sp>
    </p:spTree>
    <p:extLst>
      <p:ext uri="{BB962C8B-B14F-4D97-AF65-F5344CB8AC3E}">
        <p14:creationId xmlns:p14="http://schemas.microsoft.com/office/powerpoint/2010/main" val="407178680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113</a:t>
            </a:fld>
            <a:endParaRPr lang="en-US"/>
          </a:p>
        </p:txBody>
      </p:sp>
    </p:spTree>
    <p:extLst>
      <p:ext uri="{BB962C8B-B14F-4D97-AF65-F5344CB8AC3E}">
        <p14:creationId xmlns:p14="http://schemas.microsoft.com/office/powerpoint/2010/main" val="66890985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114</a:t>
            </a:fld>
            <a:endParaRPr lang="en-US"/>
          </a:p>
        </p:txBody>
      </p:sp>
    </p:spTree>
    <p:extLst>
      <p:ext uri="{BB962C8B-B14F-4D97-AF65-F5344CB8AC3E}">
        <p14:creationId xmlns:p14="http://schemas.microsoft.com/office/powerpoint/2010/main" val="382017856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115</a:t>
            </a:fld>
            <a:endParaRPr lang="en-US"/>
          </a:p>
        </p:txBody>
      </p:sp>
    </p:spTree>
    <p:extLst>
      <p:ext uri="{BB962C8B-B14F-4D97-AF65-F5344CB8AC3E}">
        <p14:creationId xmlns:p14="http://schemas.microsoft.com/office/powerpoint/2010/main" val="377306803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116</a:t>
            </a:fld>
            <a:endParaRPr lang="en-US"/>
          </a:p>
        </p:txBody>
      </p:sp>
    </p:spTree>
    <p:extLst>
      <p:ext uri="{BB962C8B-B14F-4D97-AF65-F5344CB8AC3E}">
        <p14:creationId xmlns:p14="http://schemas.microsoft.com/office/powerpoint/2010/main" val="216376554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117</a:t>
            </a:fld>
            <a:endParaRPr lang="en-US"/>
          </a:p>
        </p:txBody>
      </p:sp>
    </p:spTree>
    <p:extLst>
      <p:ext uri="{BB962C8B-B14F-4D97-AF65-F5344CB8AC3E}">
        <p14:creationId xmlns:p14="http://schemas.microsoft.com/office/powerpoint/2010/main" val="257197893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118</a:t>
            </a:fld>
            <a:endParaRPr lang="en-US"/>
          </a:p>
        </p:txBody>
      </p:sp>
    </p:spTree>
    <p:extLst>
      <p:ext uri="{BB962C8B-B14F-4D97-AF65-F5344CB8AC3E}">
        <p14:creationId xmlns:p14="http://schemas.microsoft.com/office/powerpoint/2010/main" val="131690771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119</a:t>
            </a:fld>
            <a:endParaRPr lang="en-US"/>
          </a:p>
        </p:txBody>
      </p:sp>
    </p:spTree>
    <p:extLst>
      <p:ext uri="{BB962C8B-B14F-4D97-AF65-F5344CB8AC3E}">
        <p14:creationId xmlns:p14="http://schemas.microsoft.com/office/powerpoint/2010/main" val="2768015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367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7"/>
          <p:cNvSpPr>
            <a:spLocks noChangeArrowheads="1"/>
          </p:cNvSpPr>
          <p:nvPr userDrawn="1"/>
        </p:nvSpPr>
        <p:spPr bwMode="auto">
          <a:xfrm flipH="1">
            <a:off x="0" y="6460968"/>
            <a:ext cx="12192000" cy="397032"/>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gn="r">
              <a:lnSpc>
                <a:spcPct val="180000"/>
              </a:lnSpc>
            </a:pPr>
            <a:endParaRPr lang="en-US" sz="1100" b="1" baseline="0">
              <a:solidFill>
                <a:srgbClr val="0070C0"/>
              </a:solidFill>
              <a:latin typeface="Times New Roman" pitchFamily="18" charset="0"/>
              <a:cs typeface="Times New Roman" pitchFamily="18" charset="0"/>
            </a:endParaRPr>
          </a:p>
        </p:txBody>
      </p:sp>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100668"/>
            <a:ext cx="12192000" cy="525400"/>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800" b="1" i="0" kern="1200">
                <a:solidFill>
                  <a:schemeClr val="tx1"/>
                </a:solidFill>
                <a:effectLst/>
                <a:latin typeface="Cambria" panose="02040503050406030204" pitchFamily="18" charset="0"/>
                <a:ea typeface="+mn-ea"/>
                <a:cs typeface="+mn-cs"/>
              </a:rPr>
              <a:t>Ngôn ngữ lập trình 1</a:t>
            </a:r>
            <a:endParaRPr lang="en-US" sz="1400" b="1" baseline="0" dirty="0">
              <a:solidFill>
                <a:srgbClr val="0070C0"/>
              </a:solidFill>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0556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1520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621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52609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3214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6385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981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86971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4119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2312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254884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9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NGÔN NGỮ LẬP TRÌNH 1</a:t>
            </a:r>
            <a:endParaRPr lang="en-US" sz="96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563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Cách nhập liệu từ bàn phím trong Python</a:t>
            </a:r>
            <a:endParaRPr lang="en-US" sz="96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Trong Python để nhập liệu từ bàn phím ta dùng hàm input(). Giá trị nhập vào của hàm input() thường là kiểu chuỗi, do đó ta cần chuyển kiểu nếu như muốn lưu trữ giá trị nhập vào không phải kiểu chuỗi.</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sp>
        <p:nvSpPr>
          <p:cNvPr id="9" name="Rectangle 2">
            <a:extLst>
              <a:ext uri="{FF2B5EF4-FFF2-40B4-BE49-F238E27FC236}">
                <a16:creationId xmlns:a16="http://schemas.microsoft.com/office/drawing/2014/main" id="{AAD277E9-C4E1-4FFF-ABCE-675ACB7C1DEB}"/>
              </a:ext>
            </a:extLst>
          </p:cNvPr>
          <p:cNvSpPr>
            <a:spLocks noChangeArrowheads="1"/>
          </p:cNvSpPr>
          <p:nvPr/>
        </p:nvSpPr>
        <p:spPr bwMode="auto">
          <a:xfrm>
            <a:off x="1642755" y="4016276"/>
            <a:ext cx="9058890"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cái</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gì</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đó</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sz="36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36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b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36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dữ</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36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liệu</a:t>
            </a:r>
            <a:r>
              <a:rPr kumimoji="0" lang="en-US" altLang="en-US" sz="36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36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3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406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Muốn</a:t>
            </a:r>
            <a:r>
              <a:rPr lang="en-US" sz="4000" dirty="0">
                <a:solidFill>
                  <a:prstClr val="black"/>
                </a:solidFill>
                <a:latin typeface="Cambria" panose="02040503050406030204" pitchFamily="18" charset="0"/>
              </a:rPr>
              <a:t> đ</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a </a:t>
            </a:r>
            <a:r>
              <a:rPr lang="en-US" sz="4000" dirty="0" err="1">
                <a:solidFill>
                  <a:prstClr val="black"/>
                </a:solidFill>
                <a:latin typeface="Cambria" panose="02040503050406030204" pitchFamily="18" charset="0"/>
              </a:rPr>
              <a:t>về</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số</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int</a:t>
            </a:r>
            <a:endParaRPr lang="en-US" sz="4000" dirty="0">
              <a:solidFill>
                <a:prstClr val="black"/>
              </a:solidFill>
              <a:latin typeface="Cambria" panose="02040503050406030204" pitchFamily="18" charset="0"/>
            </a:endParaRPr>
          </a:p>
        </p:txBody>
      </p:sp>
      <p:sp>
        <p:nvSpPr>
          <p:cNvPr id="11" name="Rectangle 4">
            <a:extLst>
              <a:ext uri="{FF2B5EF4-FFF2-40B4-BE49-F238E27FC236}">
                <a16:creationId xmlns:a16="http://schemas.microsoft.com/office/drawing/2014/main" id="{E9799B61-1A17-493C-B0E4-B5137D2890A8}"/>
              </a:ext>
            </a:extLst>
          </p:cNvPr>
          <p:cNvSpPr>
            <a:spLocks noChangeArrowheads="1"/>
          </p:cNvSpPr>
          <p:nvPr/>
        </p:nvSpPr>
        <p:spPr bwMode="auto">
          <a:xfrm>
            <a:off x="847665" y="2423189"/>
            <a:ext cx="10649069"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1</a:t>
            </a:r>
            <a:r>
              <a:rPr lang="en-US" altLang="en-US" sz="4000" b="1" dirty="0">
                <a:solidFill>
                  <a:srgbClr val="008080"/>
                </a:solidFill>
                <a:latin typeface="Courier New" panose="02070309020205020404" pitchFamily="49" charset="0"/>
                <a:cs typeface="Courier New" panose="02070309020205020404" pitchFamily="49" charset="0"/>
              </a:rPr>
              <a:t> </a:t>
            </a:r>
            <a:r>
              <a:rPr lang="en-US" altLang="en-US" sz="4000" b="1" dirty="0" err="1">
                <a:solidFill>
                  <a:srgbClr val="008080"/>
                </a:solidFill>
                <a:latin typeface="Courier New" panose="02070309020205020404" pitchFamily="49" charset="0"/>
                <a:cs typeface="Courier New" panose="02070309020205020404" pitchFamily="49" charset="0"/>
              </a:rPr>
              <a:t>số</a:t>
            </a:r>
            <a:r>
              <a:rPr lang="en-US" altLang="en-US" sz="4000" b="1" dirty="0">
                <a:solidFill>
                  <a:srgbClr val="008080"/>
                </a:solidFill>
                <a:latin typeface="Courier New" panose="02070309020205020404" pitchFamily="49" charset="0"/>
                <a:cs typeface="Courier New" panose="02070309020205020404" pitchFamily="49" charset="0"/>
              </a:rPr>
              <a:t> </a:t>
            </a:r>
            <a:r>
              <a:rPr lang="en-US" altLang="en-US" sz="4000" b="1" dirty="0" err="1">
                <a:solidFill>
                  <a:srgbClr val="008080"/>
                </a:solidFill>
                <a:latin typeface="Courier New" panose="02070309020205020404" pitchFamily="49" charset="0"/>
                <a:cs typeface="Courier New" panose="02070309020205020404" pitchFamily="49" charset="0"/>
              </a:rPr>
              <a:t>nguyên</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4000" b="0" i="0" u="none" strike="noStrike" cap="none" normalizeH="0" baseline="0" dirty="0" err="1">
                <a:ln>
                  <a:noFill/>
                </a:ln>
                <a:solidFill>
                  <a:srgbClr val="000080"/>
                </a:solidFill>
                <a:effectLst/>
                <a:latin typeface="Courier New" panose="02070309020205020404" pitchFamily="49" charset="0"/>
                <a:cs typeface="Courier New" panose="02070309020205020404" pitchFamily="49" charset="0"/>
              </a:rPr>
              <a:t>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dữ</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liệu</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239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a:latin typeface="Cambria" panose="02040503050406030204" pitchFamily="18" charset="0"/>
                </a:rPr>
                <a:t>Nội dung bài học</a:t>
              </a:r>
              <a:endParaRPr lang="en-US" sz="40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a:solidFill>
                  <a:prstClr val="black"/>
                </a:solidFill>
                <a:latin typeface="Cambria" panose="02040503050406030204" pitchFamily="18" charset="0"/>
              </a:rPr>
              <a:t>Muốn đ</a:t>
            </a:r>
            <a:r>
              <a:rPr lang="vi-VN" sz="4000">
                <a:solidFill>
                  <a:prstClr val="black"/>
                </a:solidFill>
                <a:latin typeface="Cambria" panose="02040503050406030204" pitchFamily="18" charset="0"/>
              </a:rPr>
              <a:t>ư</a:t>
            </a:r>
            <a:r>
              <a:rPr lang="en-US" sz="4000">
                <a:solidFill>
                  <a:prstClr val="black"/>
                </a:solidFill>
                <a:latin typeface="Cambria" panose="02040503050406030204" pitchFamily="18" charset="0"/>
              </a:rPr>
              <a:t>a về số float</a:t>
            </a:r>
          </a:p>
        </p:txBody>
      </p:sp>
      <p:sp>
        <p:nvSpPr>
          <p:cNvPr id="11" name="Rectangle 4">
            <a:extLst>
              <a:ext uri="{FF2B5EF4-FFF2-40B4-BE49-F238E27FC236}">
                <a16:creationId xmlns:a16="http://schemas.microsoft.com/office/drawing/2014/main" id="{E9799B61-1A17-493C-B0E4-B5137D2890A8}"/>
              </a:ext>
            </a:extLst>
          </p:cNvPr>
          <p:cNvSpPr>
            <a:spLocks noChangeArrowheads="1"/>
          </p:cNvSpPr>
          <p:nvPr/>
        </p:nvSpPr>
        <p:spPr bwMode="auto">
          <a:xfrm>
            <a:off x="1155442" y="2423189"/>
            <a:ext cx="10033516"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1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số</a:t>
            </a:r>
            <a:r>
              <a:rPr kumimoji="0" lang="en-US" altLang="en-US" sz="4000" b="1" i="0" u="none" strike="noStrike" cap="none" normalizeH="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dirty="0" err="1">
                <a:ln>
                  <a:noFill/>
                </a:ln>
                <a:solidFill>
                  <a:srgbClr val="008080"/>
                </a:solidFill>
                <a:effectLst/>
                <a:latin typeface="Courier New" panose="02070309020205020404" pitchFamily="49" charset="0"/>
                <a:cs typeface="Courier New" panose="02070309020205020404" pitchFamily="49" charset="0"/>
              </a:rPr>
              <a:t>thực</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float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dữ</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liệu</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3000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Muốn</a:t>
            </a:r>
            <a:r>
              <a:rPr lang="en-US" sz="4000" dirty="0">
                <a:solidFill>
                  <a:prstClr val="black"/>
                </a:solidFill>
                <a:latin typeface="Cambria" panose="02040503050406030204" pitchFamily="18" charset="0"/>
              </a:rPr>
              <a:t> đ</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a </a:t>
            </a:r>
            <a:r>
              <a:rPr lang="en-US" sz="4000" dirty="0" err="1">
                <a:solidFill>
                  <a:prstClr val="black"/>
                </a:solidFill>
                <a:latin typeface="Cambria" panose="02040503050406030204" pitchFamily="18" charset="0"/>
              </a:rPr>
              <a:t>về</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số</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boolean</a:t>
            </a:r>
            <a:endParaRPr lang="en-US" sz="4000" dirty="0">
              <a:solidFill>
                <a:prstClr val="black"/>
              </a:solidFill>
              <a:latin typeface="Cambria" panose="02040503050406030204" pitchFamily="18" charset="0"/>
            </a:endParaRPr>
          </a:p>
        </p:txBody>
      </p:sp>
      <p:sp>
        <p:nvSpPr>
          <p:cNvPr id="8" name="Rectangle 2">
            <a:extLst>
              <a:ext uri="{FF2B5EF4-FFF2-40B4-BE49-F238E27FC236}">
                <a16:creationId xmlns:a16="http://schemas.microsoft.com/office/drawing/2014/main" id="{9A105133-AE45-4BBF-8CFD-81157A55E381}"/>
              </a:ext>
            </a:extLst>
          </p:cNvPr>
          <p:cNvSpPr>
            <a:spLocks noChangeArrowheads="1"/>
          </p:cNvSpPr>
          <p:nvPr/>
        </p:nvSpPr>
        <p:spPr bwMode="auto">
          <a:xfrm>
            <a:off x="817208" y="1930747"/>
            <a:ext cx="10709983" cy="35394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rgbClr val="000080"/>
                </a:solidFill>
                <a:effectLst/>
                <a:latin typeface="Courier New" panose="02070309020205020404" pitchFamily="49" charset="0"/>
                <a:cs typeface="Courier New" panose="02070309020205020404" pitchFamily="49" charset="0"/>
              </a:rPr>
              <a:t>def</a:t>
            </a:r>
            <a: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 </a:t>
            </a:r>
            <a:r>
              <a:rPr kumimoji="0" lang="en-US" altLang="en-US" sz="28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StrToBool</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8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s.lower</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 </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"yes"</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"true"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"1"</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lang="en-US" altLang="en-US" sz="2800" b="1" dirty="0" err="1">
                <a:solidFill>
                  <a:srgbClr val="008080"/>
                </a:solidFill>
                <a:latin typeface="Courier New" panose="02070309020205020404" pitchFamily="49" charset="0"/>
                <a:cs typeface="Courier New" panose="02070309020205020404" pitchFamily="49" charset="0"/>
              </a:rPr>
              <a:t>bạn</a:t>
            </a:r>
            <a:r>
              <a:rPr lang="en-US" altLang="en-US" sz="2800" b="1" dirty="0">
                <a:solidFill>
                  <a:srgbClr val="008080"/>
                </a:solidFill>
                <a:latin typeface="Courier New" panose="02070309020205020404" pitchFamily="49" charset="0"/>
                <a:cs typeface="Courier New" panose="02070309020205020404" pitchFamily="49" charset="0"/>
              </a:rPr>
              <a:t>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1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số</a:t>
            </a:r>
            <a:r>
              <a:rPr kumimoji="0" lang="en-US" altLang="en-US" sz="2800" b="1" i="0" u="none" strike="noStrike" cap="none" normalizeH="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bool</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 = </a:t>
            </a:r>
            <a:r>
              <a:rPr kumimoji="0" lang="en-US" altLang="en-US" sz="28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StrToBool</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dữ</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liệu</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1007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a:latin typeface="Cambria" panose="02040503050406030204" pitchFamily="18" charset="0"/>
                </a:rPr>
                <a:t>Nội dung bài học</a:t>
              </a:r>
              <a:endParaRPr lang="en-US" sz="40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Ngoài ra hàm input() còn có cho phép ta nhập nhãn tiêu đề vào như sau:</a:t>
            </a:r>
            <a:endParaRPr lang="en-US" sz="4000" dirty="0">
              <a:solidFill>
                <a:prstClr val="black"/>
              </a:solidFill>
              <a:latin typeface="Cambria" panose="02040503050406030204" pitchFamily="18" charset="0"/>
            </a:endParaRPr>
          </a:p>
        </p:txBody>
      </p:sp>
      <p:sp>
        <p:nvSpPr>
          <p:cNvPr id="9" name="Rectangle 2">
            <a:extLst>
              <a:ext uri="{FF2B5EF4-FFF2-40B4-BE49-F238E27FC236}">
                <a16:creationId xmlns:a16="http://schemas.microsoft.com/office/drawing/2014/main" id="{8DBB73D9-2321-494B-8AD3-172150672E1C}"/>
              </a:ext>
            </a:extLst>
          </p:cNvPr>
          <p:cNvSpPr>
            <a:spLocks noChangeArrowheads="1"/>
          </p:cNvSpPr>
          <p:nvPr/>
        </p:nvSpPr>
        <p:spPr bwMode="auto">
          <a:xfrm>
            <a:off x="232112" y="3038742"/>
            <a:ext cx="11880175"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giá</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trị</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gì</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đó</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9835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Các kiểu xuất dữ liệu</a:t>
            </a:r>
            <a:endParaRPr lang="en-US" sz="96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789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xuất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lặp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dữ</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liệu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ra</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màn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hình</a:t>
            </a:r>
            <a:r>
              <a:rPr lang="en-US" sz="4000" dirty="0">
                <a:solidFill>
                  <a:prstClr val="black"/>
                </a:solidFill>
                <a:latin typeface="Cambria" panose="02040503050406030204" pitchFamily="18" charset="0"/>
              </a:rPr>
              <a:t> ta </a:t>
            </a:r>
            <a:r>
              <a:rPr lang="en-US" sz="4000" dirty="0" err="1">
                <a:solidFill>
                  <a:prstClr val="black"/>
                </a:solidFill>
                <a:latin typeface="Cambria" panose="02040503050406030204" pitchFamily="18" charset="0"/>
              </a:rPr>
              <a:t>làm</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sau</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sym typeface="Wingdings" panose="05000000000000000000" pitchFamily="2" charset="2"/>
              </a:rPr>
              <a:t></a:t>
            </a:r>
            <a:r>
              <a:rPr lang="en-US" sz="4000" dirty="0" err="1">
                <a:solidFill>
                  <a:prstClr val="black"/>
                </a:solidFill>
                <a:latin typeface="Cambria" panose="02040503050406030204" pitchFamily="18" charset="0"/>
                <a:sym typeface="Wingdings" panose="05000000000000000000" pitchFamily="2" charset="2"/>
              </a:rPr>
              <a:t>Xuất</a:t>
            </a:r>
            <a:r>
              <a:rPr lang="en-US" sz="4000" dirty="0">
                <a:solidFill>
                  <a:prstClr val="black"/>
                </a:solidFill>
                <a:latin typeface="Cambria" panose="02040503050406030204" pitchFamily="18" charset="0"/>
                <a:sym typeface="Wingdings" panose="05000000000000000000" pitchFamily="2" charset="2"/>
              </a:rPr>
              <a:t> </a:t>
            </a:r>
            <a:r>
              <a:rPr lang="en-US" sz="4000" dirty="0" err="1">
                <a:solidFill>
                  <a:prstClr val="black"/>
                </a:solidFill>
                <a:latin typeface="Cambria" panose="02040503050406030204" pitchFamily="18" charset="0"/>
                <a:sym typeface="Wingdings" panose="05000000000000000000" pitchFamily="2" charset="2"/>
              </a:rPr>
              <a:t>dấu</a:t>
            </a:r>
            <a:r>
              <a:rPr lang="en-US" sz="4000" dirty="0">
                <a:solidFill>
                  <a:prstClr val="black"/>
                </a:solidFill>
                <a:latin typeface="Cambria" panose="02040503050406030204" pitchFamily="18" charset="0"/>
                <a:sym typeface="Wingdings" panose="05000000000000000000" pitchFamily="2" charset="2"/>
              </a:rPr>
              <a:t> * 15 </a:t>
            </a:r>
            <a:r>
              <a:rPr lang="en-US" sz="4000" dirty="0" err="1">
                <a:solidFill>
                  <a:prstClr val="black"/>
                </a:solidFill>
                <a:latin typeface="Cambria" panose="02040503050406030204" pitchFamily="18" charset="0"/>
                <a:sym typeface="Wingdings" panose="05000000000000000000" pitchFamily="2" charset="2"/>
              </a:rPr>
              <a:t>lần</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sp>
        <p:nvSpPr>
          <p:cNvPr id="11" name="Rectangle 3">
            <a:extLst>
              <a:ext uri="{FF2B5EF4-FFF2-40B4-BE49-F238E27FC236}">
                <a16:creationId xmlns:a16="http://schemas.microsoft.com/office/drawing/2014/main" id="{935D9CC2-54BD-4128-9C85-35F485E54F6D}"/>
              </a:ext>
            </a:extLst>
          </p:cNvPr>
          <p:cNvSpPr>
            <a:spLocks noChangeArrowheads="1"/>
          </p:cNvSpPr>
          <p:nvPr/>
        </p:nvSpPr>
        <p:spPr bwMode="auto">
          <a:xfrm>
            <a:off x="3588844" y="1802520"/>
            <a:ext cx="4185761"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lang="en-US" altLang="en-US" sz="4000" b="1" dirty="0">
                <a:solidFill>
                  <a:srgbClr val="008080"/>
                </a:solidFill>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15</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CA22F732-E9E9-4584-B5DC-86FE4817D10B}"/>
              </a:ext>
            </a:extLst>
          </p:cNvPr>
          <p:cNvSpPr/>
          <p:nvPr/>
        </p:nvSpPr>
        <p:spPr>
          <a:xfrm>
            <a:off x="3886200" y="2514600"/>
            <a:ext cx="3591048" cy="707886"/>
          </a:xfrm>
          <a:prstGeom prst="rect">
            <a:avLst/>
          </a:prstGeom>
        </p:spPr>
        <p:txBody>
          <a:bodyPr wrap="none">
            <a:spAutoFit/>
          </a:bodyPr>
          <a:lstStyle/>
          <a:p>
            <a:r>
              <a:rPr lang="en-US" sz="4000" dirty="0">
                <a:solidFill>
                  <a:prstClr val="black"/>
                </a:solidFill>
                <a:latin typeface="Cambria" panose="02040503050406030204" pitchFamily="18" charset="0"/>
                <a:sym typeface="Wingdings" panose="05000000000000000000" pitchFamily="2" charset="2"/>
              </a:rPr>
              <a:t>*************** </a:t>
            </a:r>
            <a:endParaRPr lang="en-US" sz="4000" dirty="0"/>
          </a:p>
        </p:txBody>
      </p:sp>
    </p:spTree>
    <p:extLst>
      <p:ext uri="{BB962C8B-B14F-4D97-AF65-F5344CB8AC3E}">
        <p14:creationId xmlns:p14="http://schemas.microsoft.com/office/powerpoint/2010/main" val="3335665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40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Dùng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hàm</a:t>
            </a:r>
            <a:r>
              <a:rPr lang="en-US" sz="4000" dirty="0">
                <a:solidFill>
                  <a:prstClr val="black"/>
                </a:solidFill>
                <a:latin typeface="Cambria" panose="02040503050406030204" pitchFamily="18" charset="0"/>
              </a:rPr>
              <a:t> format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xuất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dữ</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liệu</a:t>
            </a:r>
            <a:r>
              <a:rPr lang="en-US" sz="40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B1FE116A-2505-4E26-ADE3-91C6F92E3017}"/>
              </a:ext>
            </a:extLst>
          </p:cNvPr>
          <p:cNvPicPr>
            <a:picLocks noChangeAspect="1"/>
          </p:cNvPicPr>
          <p:nvPr/>
        </p:nvPicPr>
        <p:blipFill>
          <a:blip r:embed="rId3"/>
          <a:stretch>
            <a:fillRect/>
          </a:stretch>
        </p:blipFill>
        <p:spPr>
          <a:xfrm>
            <a:off x="2809875" y="2344554"/>
            <a:ext cx="6724650" cy="4486275"/>
          </a:xfrm>
          <a:prstGeom prst="rect">
            <a:avLst/>
          </a:prstGeom>
        </p:spPr>
      </p:pic>
      <p:pic>
        <p:nvPicPr>
          <p:cNvPr id="9" name="Picture 8">
            <a:extLst>
              <a:ext uri="{FF2B5EF4-FFF2-40B4-BE49-F238E27FC236}">
                <a16:creationId xmlns:a16="http://schemas.microsoft.com/office/drawing/2014/main" id="{60C15FF4-6AAF-4C68-B237-CE21ED31D679}"/>
              </a:ext>
            </a:extLst>
          </p:cNvPr>
          <p:cNvPicPr>
            <a:picLocks noChangeAspect="1"/>
          </p:cNvPicPr>
          <p:nvPr/>
        </p:nvPicPr>
        <p:blipFill>
          <a:blip r:embed="rId4"/>
          <a:stretch>
            <a:fillRect/>
          </a:stretch>
        </p:blipFill>
        <p:spPr>
          <a:xfrm>
            <a:off x="2865495" y="1676400"/>
            <a:ext cx="6613409" cy="802683"/>
          </a:xfrm>
          <a:prstGeom prst="rect">
            <a:avLst/>
          </a:prstGeom>
        </p:spPr>
      </p:pic>
    </p:spTree>
    <p:extLst>
      <p:ext uri="{BB962C8B-B14F-4D97-AF65-F5344CB8AC3E}">
        <p14:creationId xmlns:p14="http://schemas.microsoft.com/office/powerpoint/2010/main" val="160878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dirty="0" err="1">
                <a:solidFill>
                  <a:prstClr val="black"/>
                </a:solidFill>
                <a:latin typeface="Cambria" panose="02040503050406030204" pitchFamily="18" charset="0"/>
              </a:rPr>
              <a:t>Muốn</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xuất</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căn</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phải</a:t>
            </a:r>
            <a:r>
              <a:rPr lang="en-US" dirty="0">
                <a:solidFill>
                  <a:prstClr val="black"/>
                </a:solidFill>
                <a:latin typeface="Cambria" panose="02040503050406030204" pitchFamily="18" charset="0"/>
              </a:rPr>
              <a:t> ta </a:t>
            </a:r>
            <a:r>
              <a:rPr lang="en-US" dirty="0" err="1">
                <a:solidFill>
                  <a:prstClr val="black"/>
                </a:solidFill>
                <a:latin typeface="Cambria" panose="02040503050406030204" pitchFamily="18" charset="0"/>
              </a:rPr>
              <a:t>có</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thể</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làm</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nh</a:t>
            </a:r>
            <a:r>
              <a:rPr lang="vi-VN" dirty="0">
                <a:solidFill>
                  <a:prstClr val="black"/>
                </a:solidFill>
                <a:latin typeface="Cambria" panose="02040503050406030204" pitchFamily="18" charset="0"/>
              </a:rPr>
              <a:t>ư</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sau</a:t>
            </a:r>
            <a:r>
              <a:rPr lang="en-US" dirty="0">
                <a:solidFill>
                  <a:prstClr val="black"/>
                </a:solidFill>
                <a:latin typeface="Cambria" panose="02040503050406030204" pitchFamily="18" charset="0"/>
              </a:rPr>
              <a:t>:</a:t>
            </a:r>
          </a:p>
        </p:txBody>
      </p:sp>
      <p:sp>
        <p:nvSpPr>
          <p:cNvPr id="10" name="Rectangle 1">
            <a:extLst>
              <a:ext uri="{FF2B5EF4-FFF2-40B4-BE49-F238E27FC236}">
                <a16:creationId xmlns:a16="http://schemas.microsoft.com/office/drawing/2014/main" id="{6A7302C5-97D7-45D4-8C46-EFFE13F8F795}"/>
              </a:ext>
            </a:extLst>
          </p:cNvPr>
          <p:cNvSpPr>
            <a:spLocks noChangeArrowheads="1"/>
          </p:cNvSpPr>
          <p:nvPr/>
        </p:nvSpPr>
        <p:spPr bwMode="auto">
          <a:xfrm>
            <a:off x="434009" y="1563946"/>
            <a:ext cx="8340745" cy="48320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'STT'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'Giá trị'</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9</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8</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4</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7</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6</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6</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7</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4</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8</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9</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200" b="0" i="0" u="none" strike="noStrike" cap="none" normalizeH="0" baseline="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D7BFCA42-DA75-4286-9AB7-9581180892CC}"/>
              </a:ext>
            </a:extLst>
          </p:cNvPr>
          <p:cNvPicPr>
            <a:picLocks noChangeAspect="1"/>
          </p:cNvPicPr>
          <p:nvPr/>
        </p:nvPicPr>
        <p:blipFill>
          <a:blip r:embed="rId3"/>
          <a:stretch>
            <a:fillRect/>
          </a:stretch>
        </p:blipFill>
        <p:spPr>
          <a:xfrm>
            <a:off x="9414565" y="1566862"/>
            <a:ext cx="2162175" cy="4267200"/>
          </a:xfrm>
          <a:prstGeom prst="rect">
            <a:avLst/>
          </a:prstGeom>
        </p:spPr>
      </p:pic>
      <p:cxnSp>
        <p:nvCxnSpPr>
          <p:cNvPr id="15" name="Straight Arrow Connector 14">
            <a:extLst>
              <a:ext uri="{FF2B5EF4-FFF2-40B4-BE49-F238E27FC236}">
                <a16:creationId xmlns:a16="http://schemas.microsoft.com/office/drawing/2014/main" id="{00544AA3-A254-4AE5-9EF9-473B299D3ABB}"/>
              </a:ext>
            </a:extLst>
          </p:cNvPr>
          <p:cNvCxnSpPr/>
          <p:nvPr/>
        </p:nvCxnSpPr>
        <p:spPr>
          <a:xfrm>
            <a:off x="7924800" y="3429000"/>
            <a:ext cx="152400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48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 loại lỗi trong Python</a:t>
            </a:r>
            <a:endParaRPr lang="en-US" sz="96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806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dirty="0" err="1">
                <a:solidFill>
                  <a:prstClr val="black"/>
                </a:solidFill>
                <a:latin typeface="Cambria" panose="02040503050406030204" pitchFamily="18" charset="0"/>
              </a:rPr>
              <a:t>Bất</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cứ</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a:t>
            </a:r>
            <a:r>
              <a:rPr lang="vi-VN" dirty="0">
                <a:solidFill>
                  <a:prstClr val="black"/>
                </a:solidFill>
                <a:latin typeface="Cambria" panose="02040503050406030204" pitchFamily="18" charset="0"/>
              </a:rPr>
              <a:t>ư</a:t>
            </a:r>
            <a:r>
              <a:rPr lang="en-US" dirty="0" err="1">
                <a:solidFill>
                  <a:prstClr val="black"/>
                </a:solidFill>
                <a:latin typeface="Cambria" panose="02040503050406030204" pitchFamily="18" charset="0"/>
              </a:rPr>
              <a:t>ời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nào</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lập</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trình</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cũng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đều</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sinh</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ra</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tùy</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vào</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và</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khả</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và</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kinh</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nghiệm</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của</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từng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a:t>
            </a:r>
            <a:r>
              <a:rPr lang="vi-VN" dirty="0">
                <a:solidFill>
                  <a:prstClr val="black"/>
                </a:solidFill>
                <a:latin typeface="Cambria" panose="02040503050406030204" pitchFamily="18" charset="0"/>
              </a:rPr>
              <a:t>ư</a:t>
            </a:r>
            <a:r>
              <a:rPr lang="en-US" dirty="0" err="1">
                <a:solidFill>
                  <a:prstClr val="black"/>
                </a:solidFill>
                <a:latin typeface="Cambria" panose="02040503050406030204" pitchFamily="18" charset="0"/>
              </a:rPr>
              <a:t>ời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mà</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gặp</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các</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loại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khác</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nhau</a:t>
            </a:r>
            <a:r>
              <a:rPr lang="en-US" dirty="0">
                <a:solidFill>
                  <a:prstClr val="black"/>
                </a:solidFill>
                <a:latin typeface="Cambria" panose="02040503050406030204" pitchFamily="18" charset="0"/>
              </a:rPr>
              <a:t>. </a:t>
            </a:r>
          </a:p>
          <a:p>
            <a:pPr marL="0" lvl="0" indent="0" algn="just">
              <a:lnSpc>
                <a:spcPct val="90000"/>
              </a:lnSpc>
              <a:spcBef>
                <a:spcPts val="1000"/>
              </a:spcBef>
              <a:buClr>
                <a:srgbClr val="215D9F"/>
              </a:buClr>
              <a:buNone/>
            </a:pPr>
            <a:endParaRPr lang="en-US"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dirty="0" err="1">
                <a:solidFill>
                  <a:prstClr val="black"/>
                </a:solidFill>
                <a:latin typeface="Cambria" panose="02040503050406030204" pitchFamily="18" charset="0"/>
              </a:rPr>
              <a:t>Có</a:t>
            </a:r>
            <a:r>
              <a:rPr lang="en-US" dirty="0">
                <a:solidFill>
                  <a:prstClr val="black"/>
                </a:solidFill>
                <a:latin typeface="Cambria" panose="02040503050406030204" pitchFamily="18" charset="0"/>
              </a:rPr>
              <a:t> 3 </a:t>
            </a:r>
            <a:r>
              <a:rPr lang="en-US" dirty="0" err="1">
                <a:solidFill>
                  <a:prstClr val="black"/>
                </a:solidFill>
                <a:latin typeface="Cambria" panose="02040503050406030204" pitchFamily="18" charset="0"/>
              </a:rPr>
              <a:t>loại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th</a:t>
            </a:r>
            <a:r>
              <a:rPr lang="vi-VN" dirty="0">
                <a:solidFill>
                  <a:prstClr val="black"/>
                </a:solidFill>
                <a:latin typeface="Cambria" panose="02040503050406030204" pitchFamily="18" charset="0"/>
              </a:rPr>
              <a:t>ư</a:t>
            </a:r>
            <a:r>
              <a:rPr lang="en-US" dirty="0" err="1">
                <a:solidFill>
                  <a:prstClr val="black"/>
                </a:solidFill>
                <a:latin typeface="Cambria" panose="02040503050406030204" pitchFamily="18" charset="0"/>
              </a:rPr>
              <a:t>ờng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gặp</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là</a:t>
            </a:r>
            <a:r>
              <a:rPr lang="en-US"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r>
              <a:rPr lang="en-US" dirty="0">
                <a:solidFill>
                  <a:prstClr val="black"/>
                </a:solidFill>
                <a:latin typeface="Cambria" panose="02040503050406030204" pitchFamily="18" charset="0"/>
              </a:rPr>
              <a:t>1.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cú</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pháp</a:t>
            </a:r>
            <a:r>
              <a:rPr lang="en-US" dirty="0">
                <a:solidFill>
                  <a:prstClr val="black"/>
                </a:solidFill>
                <a:latin typeface="Cambria" panose="02040503050406030204" pitchFamily="18" charset="0"/>
              </a:rPr>
              <a:t> (Syntax Errors)</a:t>
            </a:r>
          </a:p>
          <a:p>
            <a:pPr marL="0" lvl="0" indent="0" algn="just">
              <a:lnSpc>
                <a:spcPct val="90000"/>
              </a:lnSpc>
              <a:spcBef>
                <a:spcPts val="1000"/>
              </a:spcBef>
              <a:buClr>
                <a:srgbClr val="215D9F"/>
              </a:buClr>
              <a:buNone/>
            </a:pPr>
            <a:r>
              <a:rPr lang="en-US" dirty="0">
                <a:solidFill>
                  <a:prstClr val="black"/>
                </a:solidFill>
                <a:latin typeface="Cambria" panose="02040503050406030204" pitchFamily="18" charset="0"/>
              </a:rPr>
              <a:t>2.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thực</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thi</a:t>
            </a:r>
            <a:r>
              <a:rPr lang="en-US" dirty="0">
                <a:solidFill>
                  <a:prstClr val="black"/>
                </a:solidFill>
                <a:latin typeface="Cambria" panose="02040503050406030204" pitchFamily="18" charset="0"/>
              </a:rPr>
              <a:t> (Run-time Exceptions)</a:t>
            </a:r>
          </a:p>
          <a:p>
            <a:pPr marL="0" lvl="0" indent="0" algn="just">
              <a:lnSpc>
                <a:spcPct val="90000"/>
              </a:lnSpc>
              <a:spcBef>
                <a:spcPts val="1000"/>
              </a:spcBef>
              <a:buClr>
                <a:srgbClr val="215D9F"/>
              </a:buClr>
              <a:buNone/>
            </a:pPr>
            <a:r>
              <a:rPr lang="en-US" dirty="0">
                <a:solidFill>
                  <a:prstClr val="black"/>
                </a:solidFill>
                <a:latin typeface="Cambria" panose="02040503050406030204" pitchFamily="18" charset="0"/>
              </a:rPr>
              <a:t>3.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nghiệp</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vụ</a:t>
            </a:r>
            <a:r>
              <a:rPr lang="en-US" dirty="0">
                <a:solidFill>
                  <a:prstClr val="black"/>
                </a:solidFill>
                <a:latin typeface="Cambria" panose="02040503050406030204" pitchFamily="18" charset="0"/>
              </a:rPr>
              <a:t> (Logic Errors)</a:t>
            </a:r>
          </a:p>
          <a:p>
            <a:pPr marL="0" lvl="0" indent="0" algn="just">
              <a:lnSpc>
                <a:spcPct val="90000"/>
              </a:lnSpc>
              <a:spcBef>
                <a:spcPts val="1000"/>
              </a:spcBef>
              <a:buClr>
                <a:srgbClr val="215D9F"/>
              </a:buClr>
              <a:buNone/>
            </a:pPr>
            <a:endParaRPr lang="en-US"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dirty="0">
                <a:solidFill>
                  <a:prstClr val="black"/>
                </a:solidFill>
                <a:latin typeface="Cambria" panose="02040503050406030204" pitchFamily="18" charset="0"/>
              </a:rPr>
              <a:t>Python </a:t>
            </a:r>
            <a:r>
              <a:rPr lang="en-US" dirty="0" err="1">
                <a:solidFill>
                  <a:prstClr val="black"/>
                </a:solidFill>
                <a:latin typeface="Cambria" panose="02040503050406030204" pitchFamily="18" charset="0"/>
              </a:rPr>
              <a:t>cũng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giống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nh</a:t>
            </a:r>
            <a:r>
              <a:rPr lang="vi-VN" dirty="0">
                <a:solidFill>
                  <a:prstClr val="black"/>
                </a:solidFill>
                <a:latin typeface="Cambria" panose="02040503050406030204" pitchFamily="18" charset="0"/>
              </a:rPr>
              <a:t>ư</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các</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ngôn</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ngữ</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khác</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là</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cho</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phép</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bắt</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lỗi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bằng</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khối</a:t>
            </a:r>
            <a:r>
              <a:rPr lang="en-US" dirty="0">
                <a:solidFill>
                  <a:prstClr val="black"/>
                </a:solidFill>
                <a:latin typeface="Cambria" panose="02040503050406030204" pitchFamily="18" charset="0"/>
              </a:rPr>
              <a:t> </a:t>
            </a:r>
            <a:r>
              <a:rPr lang="en-US" dirty="0" err="1">
                <a:solidFill>
                  <a:prstClr val="black"/>
                </a:solidFill>
                <a:latin typeface="Cambria" panose="02040503050406030204" pitchFamily="18" charset="0"/>
              </a:rPr>
              <a:t>lệnh</a:t>
            </a:r>
            <a:r>
              <a:rPr lang="en-US" dirty="0">
                <a:solidFill>
                  <a:prstClr val="black"/>
                </a:solidFill>
                <a:latin typeface="Cambria" panose="02040503050406030204" pitchFamily="18" charset="0"/>
              </a:rPr>
              <a:t> try…catch</a:t>
            </a:r>
          </a:p>
        </p:txBody>
      </p:sp>
    </p:spTree>
    <p:extLst>
      <p:ext uri="{BB962C8B-B14F-4D97-AF65-F5344CB8AC3E}">
        <p14:creationId xmlns:p14="http://schemas.microsoft.com/office/powerpoint/2010/main" val="1896194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010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dirty="0">
                  <a:solidFill>
                    <a:prstClr val="black"/>
                  </a:solidFill>
                  <a:latin typeface="Cambria" panose="02040503050406030204" pitchFamily="18" charset="0"/>
                </a:rPr>
                <a:t>1. </a:t>
              </a:r>
              <a:r>
                <a:rPr lang="en-US" sz="4000" dirty="0" err="1">
                  <a:solidFill>
                    <a:prstClr val="black"/>
                  </a:solidFill>
                  <a:latin typeface="Cambria" panose="02040503050406030204" pitchFamily="18" charset="0"/>
                </a:rPr>
                <a:t>Lỗi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pháp</a:t>
              </a:r>
              <a:r>
                <a:rPr lang="en-US" sz="4000" dirty="0">
                  <a:solidFill>
                    <a:prstClr val="black"/>
                  </a:solidFill>
                  <a:latin typeface="Cambria" panose="02040503050406030204" pitchFamily="18" charset="0"/>
                </a:rPr>
                <a:t>(Syntax Errors)</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thường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gặp</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với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những</a:t>
            </a:r>
            <a:r>
              <a:rPr lang="en-US" sz="2800" dirty="0">
                <a:solidFill>
                  <a:prstClr val="black"/>
                </a:solidFill>
                <a:latin typeface="Cambria" panose="02040503050406030204" pitchFamily="18" charset="0"/>
              </a:rPr>
              <a:t> Programmer </a:t>
            </a:r>
            <a:r>
              <a:rPr lang="en-US" sz="2800" dirty="0" err="1">
                <a:solidFill>
                  <a:prstClr val="black"/>
                </a:solidFill>
                <a:latin typeface="Cambria" panose="02040503050406030204" pitchFamily="18" charset="0"/>
              </a:rPr>
              <a:t>mới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bắt</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đầu</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học</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viết</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đâu</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sai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đó</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không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thể</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thông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dịch</a:t>
            </a:r>
            <a:r>
              <a:rPr lang="en-US" sz="2800" dirty="0">
                <a:solidFill>
                  <a:prstClr val="black"/>
                </a:solidFill>
                <a:latin typeface="Cambria" panose="02040503050406030204" pitchFamily="18" charset="0"/>
              </a:rPr>
              <a:t> đ</a:t>
            </a:r>
            <a:r>
              <a:rPr lang="vi-VN" sz="2800" dirty="0">
                <a:solidFill>
                  <a:prstClr val="black"/>
                </a:solidFill>
                <a:latin typeface="Cambria" panose="02040503050406030204" pitchFamily="18" charset="0"/>
              </a:rPr>
              <a:t>ư</a:t>
            </a:r>
            <a:r>
              <a:rPr lang="en-US" sz="2800" dirty="0" err="1">
                <a:solidFill>
                  <a:prstClr val="black"/>
                </a:solidFill>
                <a:latin typeface="Cambria" panose="02040503050406030204" pitchFamily="18" charset="0"/>
              </a:rPr>
              <a:t>ợc</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phần</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mềm</a:t>
            </a:r>
            <a:r>
              <a:rPr lang="en-US" sz="28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62842BD3-8FFE-49EC-9EEE-B3409567E6C5}"/>
              </a:ext>
            </a:extLst>
          </p:cNvPr>
          <p:cNvPicPr>
            <a:picLocks noChangeAspect="1"/>
          </p:cNvPicPr>
          <p:nvPr/>
        </p:nvPicPr>
        <p:blipFill>
          <a:blip r:embed="rId3"/>
          <a:stretch>
            <a:fillRect/>
          </a:stretch>
        </p:blipFill>
        <p:spPr>
          <a:xfrm>
            <a:off x="962025" y="1902102"/>
            <a:ext cx="10467975" cy="4572000"/>
          </a:xfrm>
          <a:prstGeom prst="rect">
            <a:avLst/>
          </a:prstGeom>
        </p:spPr>
      </p:pic>
    </p:spTree>
    <p:extLst>
      <p:ext uri="{BB962C8B-B14F-4D97-AF65-F5344CB8AC3E}">
        <p14:creationId xmlns:p14="http://schemas.microsoft.com/office/powerpoint/2010/main" val="2458272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686800" cy="508000"/>
            <a:chOff x="789624" y="1191463"/>
            <a:chExt cx="8686800" cy="508000"/>
          </a:xfrm>
        </p:grpSpPr>
        <p:sp>
          <p:nvSpPr>
            <p:cNvPr id="3" name="AutoShape 52"/>
            <p:cNvSpPr>
              <a:spLocks noChangeArrowheads="1"/>
            </p:cNvSpPr>
            <p:nvPr/>
          </p:nvSpPr>
          <p:spPr bwMode="gray">
            <a:xfrm>
              <a:off x="990600" y="1191463"/>
              <a:ext cx="848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dirty="0">
                  <a:solidFill>
                    <a:prstClr val="black"/>
                  </a:solidFill>
                  <a:latin typeface="Cambria" panose="02040503050406030204" pitchFamily="18" charset="0"/>
                </a:rPr>
                <a:t>2. </a:t>
              </a:r>
              <a:r>
                <a:rPr lang="en-US" sz="4000" dirty="0" err="1">
                  <a:solidFill>
                    <a:prstClr val="black"/>
                  </a:solidFill>
                  <a:latin typeface="Cambria" panose="02040503050406030204" pitchFamily="18" charset="0"/>
                </a:rPr>
                <a:t>Lỗi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thực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thi</a:t>
              </a:r>
              <a:r>
                <a:rPr lang="en-US" sz="4000" dirty="0">
                  <a:solidFill>
                    <a:prstClr val="black"/>
                  </a:solidFill>
                  <a:latin typeface="Cambria" panose="02040503050406030204" pitchFamily="18" charset="0"/>
                </a:rPr>
                <a:t>(Run-time Exceptions)</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dirty="0" err="1">
                <a:solidFill>
                  <a:prstClr val="black"/>
                </a:solidFill>
                <a:latin typeface="Cambria" panose="02040503050406030204" pitchFamily="18" charset="0"/>
              </a:rPr>
              <a:t>Thường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này</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thông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dịch</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hoàn</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tất</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nh</a:t>
            </a:r>
            <a:r>
              <a:rPr lang="vi-VN" sz="2800" dirty="0">
                <a:solidFill>
                  <a:prstClr val="black"/>
                </a:solidFill>
                <a:latin typeface="Cambria" panose="02040503050406030204" pitchFamily="18" charset="0"/>
              </a:rPr>
              <a:t>ư</a:t>
            </a:r>
            <a:r>
              <a:rPr lang="en-US" sz="2800" dirty="0" err="1">
                <a:solidFill>
                  <a:prstClr val="black"/>
                </a:solidFill>
                <a:latin typeface="Cambria" panose="02040503050406030204" pitchFamily="18" charset="0"/>
              </a:rPr>
              <a:t>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trong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quá</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trình</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thực</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lại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phát</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sinh</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ra</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Các</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th</a:t>
            </a:r>
            <a:r>
              <a:rPr lang="vi-VN" sz="2800" dirty="0">
                <a:solidFill>
                  <a:prstClr val="black"/>
                </a:solidFill>
                <a:latin typeface="Cambria" panose="02040503050406030204" pitchFamily="18" charset="0"/>
              </a:rPr>
              <a:t>ư</a:t>
            </a:r>
            <a:r>
              <a:rPr lang="en-US" sz="2800" dirty="0" err="1">
                <a:solidFill>
                  <a:prstClr val="black"/>
                </a:solidFill>
                <a:latin typeface="Cambria" panose="02040503050406030204" pitchFamily="18" charset="0"/>
              </a:rPr>
              <a:t>ờng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gặp</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nh</a:t>
            </a:r>
            <a:r>
              <a:rPr lang="vi-VN" sz="2800" dirty="0">
                <a:solidFill>
                  <a:prstClr val="black"/>
                </a:solidFill>
                <a:latin typeface="Cambria" panose="02040503050406030204" pitchFamily="18" charset="0"/>
              </a:rPr>
              <a:t>ư</a:t>
            </a:r>
            <a:r>
              <a:rPr lang="en-US" sz="2800" dirty="0">
                <a:solidFill>
                  <a:prstClr val="black"/>
                </a:solidFill>
                <a:latin typeface="Cambria" panose="02040503050406030204" pitchFamily="18" charset="0"/>
              </a:rPr>
              <a:t> chia </a:t>
            </a:r>
            <a:r>
              <a:rPr lang="en-US" sz="2800" dirty="0" err="1">
                <a:solidFill>
                  <a:prstClr val="black"/>
                </a:solidFill>
                <a:latin typeface="Cambria" panose="02040503050406030204" pitchFamily="18" charset="0"/>
              </a:rPr>
              <a:t>cho</a:t>
            </a:r>
            <a:r>
              <a:rPr lang="en-US" sz="2800" dirty="0">
                <a:solidFill>
                  <a:prstClr val="black"/>
                </a:solidFill>
                <a:latin typeface="Cambria" panose="02040503050406030204" pitchFamily="18" charset="0"/>
              </a:rPr>
              <a:t> 0, </a:t>
            </a:r>
            <a:r>
              <a:rPr lang="en-US" sz="2800" dirty="0" err="1">
                <a:solidFill>
                  <a:prstClr val="black"/>
                </a:solidFill>
                <a:latin typeface="Cambria" panose="02040503050406030204" pitchFamily="18" charset="0"/>
              </a:rPr>
              <a:t>ép</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kiểu</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sai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đọc</a:t>
            </a:r>
            <a:r>
              <a:rPr lang="en-US" sz="2800" dirty="0">
                <a:solidFill>
                  <a:prstClr val="black"/>
                </a:solidFill>
                <a:latin typeface="Cambria" panose="02040503050406030204" pitchFamily="18" charset="0"/>
              </a:rPr>
              <a:t> file </a:t>
            </a: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kết</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nối</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mạng</a:t>
            </a:r>
            <a:r>
              <a:rPr lang="en-US" sz="2800" dirty="0">
                <a:solidFill>
                  <a:prstClr val="black"/>
                </a:solidFill>
                <a:latin typeface="Cambria" panose="02040503050406030204" pitchFamily="18" charset="0"/>
              </a:rPr>
              <a:t> </a:t>
            </a:r>
            <a:r>
              <a:rPr lang="en-US" sz="2800" dirty="0" err="1">
                <a:solidFill>
                  <a:prstClr val="black"/>
                </a:solidFill>
                <a:latin typeface="Cambria" panose="02040503050406030204" pitchFamily="18" charset="0"/>
              </a:rPr>
              <a:t>lỗi</a:t>
            </a:r>
            <a:r>
              <a:rPr lang="en-US" sz="28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5FB98D91-9AA2-4704-A910-B1D6F0CEF247}"/>
              </a:ext>
            </a:extLst>
          </p:cNvPr>
          <p:cNvPicPr>
            <a:picLocks noChangeAspect="1"/>
          </p:cNvPicPr>
          <p:nvPr/>
        </p:nvPicPr>
        <p:blipFill>
          <a:blip r:embed="rId3"/>
          <a:stretch>
            <a:fillRect/>
          </a:stretch>
        </p:blipFill>
        <p:spPr>
          <a:xfrm>
            <a:off x="1521447" y="2321454"/>
            <a:ext cx="9224962" cy="4003146"/>
          </a:xfrm>
          <a:prstGeom prst="rect">
            <a:avLst/>
          </a:prstGeom>
        </p:spPr>
      </p:pic>
    </p:spTree>
    <p:extLst>
      <p:ext uri="{BB962C8B-B14F-4D97-AF65-F5344CB8AC3E}">
        <p14:creationId xmlns:p14="http://schemas.microsoft.com/office/powerpoint/2010/main" val="1852219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dirty="0">
                  <a:solidFill>
                    <a:prstClr val="black"/>
                  </a:solidFill>
                  <a:latin typeface="Cambria" panose="02040503050406030204" pitchFamily="18" charset="0"/>
                </a:rPr>
                <a:t>3. </a:t>
              </a:r>
              <a:r>
                <a:rPr lang="en-US" sz="4000" dirty="0" err="1">
                  <a:solidFill>
                    <a:prstClr val="black"/>
                  </a:solidFill>
                  <a:latin typeface="Cambria" panose="02040503050406030204" pitchFamily="18" charset="0"/>
                </a:rPr>
                <a:t>Lỗi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nghiệp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vụ</a:t>
              </a:r>
              <a:r>
                <a:rPr lang="en-US" sz="4000" dirty="0">
                  <a:solidFill>
                    <a:prstClr val="black"/>
                  </a:solidFill>
                  <a:latin typeface="Cambria" panose="02040503050406030204" pitchFamily="18" charset="0"/>
                </a:rPr>
                <a:t>(Logic Errors)</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8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3600" dirty="0" err="1">
                <a:solidFill>
                  <a:prstClr val="black"/>
                </a:solidFill>
                <a:latin typeface="Cambria" panose="02040503050406030204" pitchFamily="18" charset="0"/>
              </a:rPr>
              <a:t>Lỗi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này</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rất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nghiêm</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trọng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thông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dịch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và</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chạy</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ngon</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lành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Nh</a:t>
            </a:r>
            <a:r>
              <a:rPr lang="vi-VN" sz="3600" dirty="0">
                <a:solidFill>
                  <a:prstClr val="black"/>
                </a:solidFill>
                <a:latin typeface="Cambria" panose="02040503050406030204" pitchFamily="18" charset="0"/>
              </a:rPr>
              <a:t>ư</a:t>
            </a:r>
            <a:r>
              <a:rPr lang="en-US" sz="3600" dirty="0" err="1">
                <a:solidFill>
                  <a:prstClr val="black"/>
                </a:solidFill>
                <a:latin typeface="Cambria" panose="02040503050406030204" pitchFamily="18" charset="0"/>
              </a:rPr>
              <a:t>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kết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quả</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sai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với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yêu</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cầu</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nghiệp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của</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Khách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hàng</a:t>
            </a:r>
            <a:r>
              <a:rPr lang="en-US" sz="36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3600" dirty="0">
              <a:solidFill>
                <a:prstClr val="black"/>
              </a:solidFill>
              <a:latin typeface="Cambria" panose="02040503050406030204" pitchFamily="18" charset="0"/>
              <a:sym typeface="Wingdings" panose="05000000000000000000" pitchFamily="2" charset="2"/>
            </a:endParaRPr>
          </a:p>
          <a:p>
            <a:pPr marL="0" lvl="0" indent="0" algn="just">
              <a:lnSpc>
                <a:spcPct val="90000"/>
              </a:lnSpc>
              <a:spcBef>
                <a:spcPts val="1000"/>
              </a:spcBef>
              <a:buClr>
                <a:srgbClr val="215D9F"/>
              </a:buClr>
              <a:buNone/>
            </a:pPr>
            <a:r>
              <a:rPr lang="en-US" sz="3600" dirty="0" err="1">
                <a:solidFill>
                  <a:prstClr val="black"/>
                </a:solidFill>
                <a:latin typeface="Cambria" panose="02040503050406030204" pitchFamily="18" charset="0"/>
                <a:sym typeface="Wingdings" panose="05000000000000000000" pitchFamily="2" charset="2"/>
              </a:rPr>
              <a:t>Các</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lỗi</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này</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th</a:t>
            </a:r>
            <a:r>
              <a:rPr lang="vi-VN" sz="3600" dirty="0">
                <a:solidFill>
                  <a:prstClr val="black"/>
                </a:solidFill>
                <a:latin typeface="Cambria" panose="02040503050406030204" pitchFamily="18" charset="0"/>
                <a:sym typeface="Wingdings" panose="05000000000000000000" pitchFamily="2" charset="2"/>
              </a:rPr>
              <a:t>ư</a:t>
            </a:r>
            <a:r>
              <a:rPr lang="en-US" sz="3600" dirty="0" err="1">
                <a:solidFill>
                  <a:prstClr val="black"/>
                </a:solidFill>
                <a:latin typeface="Cambria" panose="02040503050406030204" pitchFamily="18" charset="0"/>
                <a:sym typeface="Wingdings" panose="05000000000000000000" pitchFamily="2" charset="2"/>
              </a:rPr>
              <a:t>ờng</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rất</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hiếm</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khi</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xảy</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ra</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nh</a:t>
            </a:r>
            <a:r>
              <a:rPr lang="vi-VN" sz="3600" dirty="0">
                <a:solidFill>
                  <a:prstClr val="black"/>
                </a:solidFill>
                <a:latin typeface="Cambria" panose="02040503050406030204" pitchFamily="18" charset="0"/>
                <a:sym typeface="Wingdings" panose="05000000000000000000" pitchFamily="2" charset="2"/>
              </a:rPr>
              <a:t>ư</a:t>
            </a:r>
            <a:r>
              <a:rPr lang="en-US" sz="3600" dirty="0" err="1">
                <a:solidFill>
                  <a:prstClr val="black"/>
                </a:solidFill>
                <a:latin typeface="Cambria" panose="02040503050406030204" pitchFamily="18" charset="0"/>
                <a:sym typeface="Wingdings" panose="05000000000000000000" pitchFamily="2" charset="2"/>
              </a:rPr>
              <a:t>ng</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khi</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xảy</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ra</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rồi</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thì</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rất</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khó</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tìm</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thấy</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và</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thấy</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rồi</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cũng</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th</a:t>
            </a:r>
            <a:r>
              <a:rPr lang="vi-VN" sz="3600" dirty="0">
                <a:solidFill>
                  <a:prstClr val="black"/>
                </a:solidFill>
                <a:latin typeface="Cambria" panose="02040503050406030204" pitchFamily="18" charset="0"/>
                <a:sym typeface="Wingdings" panose="05000000000000000000" pitchFamily="2" charset="2"/>
              </a:rPr>
              <a:t>ư</a:t>
            </a:r>
            <a:r>
              <a:rPr lang="en-US" sz="3600" dirty="0" err="1">
                <a:solidFill>
                  <a:prstClr val="black"/>
                </a:solidFill>
                <a:latin typeface="Cambria" panose="02040503050406030204" pitchFamily="18" charset="0"/>
                <a:sym typeface="Wingdings" panose="05000000000000000000" pitchFamily="2" charset="2"/>
              </a:rPr>
              <a:t>ờng</a:t>
            </a:r>
            <a:r>
              <a:rPr lang="en-US" sz="3600" dirty="0">
                <a:solidFill>
                  <a:prstClr val="black"/>
                </a:solidFill>
                <a:latin typeface="Cambria" panose="02040503050406030204" pitchFamily="18" charset="0"/>
                <a:sym typeface="Wingdings" panose="05000000000000000000" pitchFamily="2" charset="2"/>
              </a:rPr>
              <a:t> </a:t>
            </a:r>
            <a:r>
              <a:rPr lang="en-US" sz="3600" dirty="0" err="1">
                <a:solidFill>
                  <a:prstClr val="black"/>
                </a:solidFill>
                <a:latin typeface="Cambria" panose="02040503050406030204" pitchFamily="18" charset="0"/>
                <a:sym typeface="Wingdings" panose="05000000000000000000" pitchFamily="2" charset="2"/>
              </a:rPr>
              <a:t>khó</a:t>
            </a:r>
            <a:r>
              <a:rPr lang="en-US" sz="3600" dirty="0">
                <a:solidFill>
                  <a:prstClr val="black"/>
                </a:solidFill>
                <a:latin typeface="Cambria" panose="02040503050406030204" pitchFamily="18" charset="0"/>
                <a:sym typeface="Wingdings" panose="05000000000000000000" pitchFamily="2" charset="2"/>
              </a:rPr>
              <a:t> fix bug.</a:t>
            </a:r>
            <a:endParaRPr lang="en-US" sz="36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082018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dirty="0">
                  <a:solidFill>
                    <a:prstClr val="black"/>
                  </a:solidFill>
                  <a:latin typeface="Cambria" panose="02040503050406030204" pitchFamily="18" charset="0"/>
                </a:rPr>
                <a:t>4. </a:t>
              </a:r>
              <a:r>
                <a:rPr lang="en-US" sz="4000" dirty="0" err="1">
                  <a:solidFill>
                    <a:prstClr val="black"/>
                  </a:solidFill>
                  <a:latin typeface="Cambria" panose="02040503050406030204" pitchFamily="18" charset="0"/>
                </a:rPr>
                <a:t>Bắt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lỗi</a:t>
              </a:r>
              <a:endParaRPr lang="en-US" sz="4000"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3600" dirty="0">
                <a:solidFill>
                  <a:prstClr val="black"/>
                </a:solidFill>
                <a:latin typeface="Cambria" panose="02040503050406030204" pitchFamily="18" charset="0"/>
              </a:rPr>
              <a:t>Python </a:t>
            </a:r>
            <a:r>
              <a:rPr lang="en-US" sz="3600" dirty="0" err="1">
                <a:solidFill>
                  <a:prstClr val="black"/>
                </a:solidFill>
                <a:latin typeface="Cambria" panose="02040503050406030204" pitchFamily="18" charset="0"/>
              </a:rPr>
              <a:t>hỗ</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trợ</a:t>
            </a:r>
            <a:r>
              <a:rPr lang="en-US" sz="3600" dirty="0">
                <a:solidFill>
                  <a:prstClr val="black"/>
                </a:solidFill>
                <a:latin typeface="Cambria" panose="02040503050406030204" pitchFamily="18" charset="0"/>
              </a:rPr>
              <a:t> </a:t>
            </a:r>
            <a:r>
              <a:rPr lang="en-US" sz="3600" b="1" dirty="0">
                <a:solidFill>
                  <a:prstClr val="black"/>
                </a:solidFill>
                <a:latin typeface="Cambria" panose="02040503050406030204" pitchFamily="18" charset="0"/>
              </a:rPr>
              <a:t>try…catch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để</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bắt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lỗi</a:t>
            </a:r>
            <a:r>
              <a:rPr lang="en-US" sz="3600" dirty="0">
                <a:solidFill>
                  <a:prstClr val="black"/>
                </a:solidFill>
                <a:latin typeface="Cambria" panose="02040503050406030204" pitchFamily="18" charset="0"/>
              </a:rPr>
              <a:t> </a:t>
            </a:r>
            <a:r>
              <a:rPr lang="en-US" sz="3600" b="1" dirty="0">
                <a:solidFill>
                  <a:prstClr val="black"/>
                </a:solidFill>
                <a:latin typeface="Cambria" panose="02040503050406030204" pitchFamily="18" charset="0"/>
              </a:rPr>
              <a:t>Runtime</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giúp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báo</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rõ</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loại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lỗi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ch</a:t>
            </a:r>
            <a:r>
              <a:rPr lang="vi-VN" sz="3600" dirty="0">
                <a:solidFill>
                  <a:prstClr val="black"/>
                </a:solidFill>
                <a:latin typeface="Cambria" panose="02040503050406030204" pitchFamily="18" charset="0"/>
              </a:rPr>
              <a:t>ư</a:t>
            </a:r>
            <a:r>
              <a:rPr lang="en-US" sz="3600" dirty="0" err="1">
                <a:solidFill>
                  <a:prstClr val="black"/>
                </a:solidFill>
                <a:latin typeface="Cambria" panose="02040503050406030204" pitchFamily="18" charset="0"/>
              </a:rPr>
              <a:t>ơng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trình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đang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gặp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và</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vẫn</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tiếp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tục</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hoạt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động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khi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gặp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lỗi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Có</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rất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nhiều</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tr</a:t>
            </a:r>
            <a:r>
              <a:rPr lang="vi-VN" sz="3600" dirty="0">
                <a:solidFill>
                  <a:prstClr val="black"/>
                </a:solidFill>
                <a:latin typeface="Cambria" panose="02040503050406030204" pitchFamily="18" charset="0"/>
              </a:rPr>
              <a:t>ư</a:t>
            </a:r>
            <a:r>
              <a:rPr lang="en-US" sz="3600" dirty="0" err="1">
                <a:solidFill>
                  <a:prstClr val="black"/>
                </a:solidFill>
                <a:latin typeface="Cambria" panose="02040503050406030204" pitchFamily="18" charset="0"/>
              </a:rPr>
              <a:t>ờng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hợp</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sử</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dụng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bài</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học</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trình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bày</a:t>
            </a:r>
            <a:r>
              <a:rPr lang="en-US" sz="3600" dirty="0">
                <a:solidFill>
                  <a:prstClr val="black"/>
                </a:solidFill>
                <a:latin typeface="Cambria" panose="02040503050406030204" pitchFamily="18" charset="0"/>
              </a:rPr>
              <a:t> 1 </a:t>
            </a:r>
            <a:r>
              <a:rPr lang="en-US" sz="3600" dirty="0" err="1">
                <a:solidFill>
                  <a:prstClr val="black"/>
                </a:solidFill>
                <a:latin typeface="Cambria" panose="02040503050406030204" pitchFamily="18" charset="0"/>
              </a:rPr>
              <a:t>cách</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tổng</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quát</a:t>
            </a:r>
            <a:r>
              <a:rPr lang="en-US" sz="3600" dirty="0">
                <a:solidFill>
                  <a:prstClr val="black"/>
                </a:solidFill>
                <a:latin typeface="Cambria" panose="02040503050406030204" pitchFamily="18" charset="0"/>
              </a:rPr>
              <a:t> </a:t>
            </a:r>
            <a:r>
              <a:rPr lang="en-US" sz="3600" dirty="0" err="1">
                <a:solidFill>
                  <a:prstClr val="black"/>
                </a:solidFill>
                <a:latin typeface="Cambria" panose="02040503050406030204" pitchFamily="18" charset="0"/>
              </a:rPr>
              <a:t>nhất</a:t>
            </a:r>
            <a:r>
              <a:rPr lang="en-US" sz="36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36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E3A371CE-3D18-4D93-AA6E-28391F580A4D}"/>
              </a:ext>
            </a:extLst>
          </p:cNvPr>
          <p:cNvPicPr>
            <a:picLocks noChangeAspect="1"/>
          </p:cNvPicPr>
          <p:nvPr/>
        </p:nvPicPr>
        <p:blipFill>
          <a:blip r:embed="rId3"/>
          <a:stretch>
            <a:fillRect/>
          </a:stretch>
        </p:blipFill>
        <p:spPr>
          <a:xfrm>
            <a:off x="972047" y="3276600"/>
            <a:ext cx="10400306" cy="2743200"/>
          </a:xfrm>
          <a:prstGeom prst="rect">
            <a:avLst/>
          </a:prstGeom>
        </p:spPr>
      </p:pic>
    </p:spTree>
    <p:extLst>
      <p:ext uri="{BB962C8B-B14F-4D97-AF65-F5344CB8AC3E}">
        <p14:creationId xmlns:p14="http://schemas.microsoft.com/office/powerpoint/2010/main" val="2988096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r>
              <a:rPr lang="en-US" sz="4400" kern="0" dirty="0">
                <a:solidFill>
                  <a:srgbClr val="002060"/>
                </a:solidFill>
                <a:latin typeface="Cambria" panose="02040503050406030204" pitchFamily="18" charset="0"/>
              </a:rPr>
              <a:t> </a:t>
            </a:r>
          </a:p>
          <a:p>
            <a:pPr>
              <a:defRPr/>
            </a:pPr>
            <a:r>
              <a:rPr lang="en-US" sz="4400" kern="0" dirty="0" err="1">
                <a:solidFill>
                  <a:srgbClr val="002060"/>
                </a:solidFill>
                <a:latin typeface="Cambria" panose="02040503050406030204" pitchFamily="18" charset="0"/>
              </a:rPr>
              <a:t>Tính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chu</a:t>
            </a:r>
            <a:r>
              <a:rPr lang="en-US" sz="4400" kern="0" dirty="0">
                <a:solidFill>
                  <a:srgbClr val="002060"/>
                </a:solidFill>
                <a:latin typeface="Cambria" panose="02040503050406030204" pitchFamily="18" charset="0"/>
              </a:rPr>
              <a:t> vi </a:t>
            </a:r>
            <a:r>
              <a:rPr lang="en-US" sz="4400" kern="0" dirty="0" err="1">
                <a:solidFill>
                  <a:srgbClr val="002060"/>
                </a:solidFill>
                <a:latin typeface="Cambria" panose="02040503050406030204" pitchFamily="18" charset="0"/>
              </a:rPr>
              <a:t>diện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tích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Hình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tròn</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2401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4000" dirty="0">
                <a:latin typeface="Cambria" panose="02040503050406030204" pitchFamily="18" charset="0"/>
              </a:rPr>
              <a:t>Nhập bán kính </a:t>
            </a:r>
            <a:r>
              <a:rPr lang="en-US" sz="4000" dirty="0">
                <a:latin typeface="Cambria" panose="02040503050406030204" pitchFamily="18" charset="0"/>
              </a:rPr>
              <a:t>đ</a:t>
            </a:r>
            <a:r>
              <a:rPr lang="vi-VN" sz="4000" dirty="0">
                <a:latin typeface="Cambria" panose="02040503050406030204" pitchFamily="18" charset="0"/>
              </a:rPr>
              <a:t>ường tròn r. </a:t>
            </a:r>
            <a:endParaRPr lang="en-US" sz="4000" dirty="0">
              <a:latin typeface="Cambria" panose="02040503050406030204" pitchFamily="18" charset="0"/>
            </a:endParaRPr>
          </a:p>
          <a:p>
            <a:pPr marL="0" indent="0">
              <a:buNone/>
            </a:pPr>
            <a:r>
              <a:rPr lang="vi-VN" sz="4000" dirty="0">
                <a:latin typeface="Cambria" panose="02040503050406030204" pitchFamily="18" charset="0"/>
              </a:rPr>
              <a:t>Tính và xuất chu vi,</a:t>
            </a:r>
            <a:r>
              <a:rPr lang="en-US" sz="4000" dirty="0">
                <a:latin typeface="Cambria" panose="02040503050406030204" pitchFamily="18" charset="0"/>
              </a:rPr>
              <a:t> </a:t>
            </a:r>
            <a:r>
              <a:rPr lang="vi-VN" sz="4000" dirty="0">
                <a:latin typeface="Cambria" panose="02040503050406030204" pitchFamily="18" charset="0"/>
              </a:rPr>
              <a:t>diện tích </a:t>
            </a:r>
            <a:r>
              <a:rPr lang="en-US" sz="4000" dirty="0">
                <a:latin typeface="Cambria" panose="02040503050406030204" pitchFamily="18" charset="0"/>
              </a:rPr>
              <a:t>đ</a:t>
            </a:r>
            <a:r>
              <a:rPr lang="vi-VN" sz="4000" dirty="0">
                <a:latin typeface="Cambria" panose="02040503050406030204" pitchFamily="18" charset="0"/>
              </a:rPr>
              <a:t>ường tròn tương ứng. </a:t>
            </a:r>
          </a:p>
          <a:p>
            <a:pPr marL="0" indent="0">
              <a:buNone/>
            </a:pPr>
            <a:r>
              <a:rPr lang="vi-VN" sz="4000" dirty="0">
                <a:latin typeface="Cambria" panose="02040503050406030204" pitchFamily="18" charset="0"/>
              </a:rPr>
              <a:t>HD: cv=2*</a:t>
            </a:r>
            <a:r>
              <a:rPr lang="el-GR" sz="4000" dirty="0">
                <a:latin typeface="Cambria" panose="02040503050406030204" pitchFamily="18" charset="0"/>
              </a:rPr>
              <a:t>π*</a:t>
            </a:r>
            <a:r>
              <a:rPr lang="vi-VN" sz="4000" dirty="0">
                <a:latin typeface="Cambria" panose="02040503050406030204" pitchFamily="18" charset="0"/>
              </a:rPr>
              <a:t>r và dt=</a:t>
            </a:r>
            <a:r>
              <a:rPr lang="el-GR" sz="4000" dirty="0">
                <a:latin typeface="Cambria" panose="02040503050406030204" pitchFamily="18" charset="0"/>
              </a:rPr>
              <a:t>π*</a:t>
            </a:r>
            <a:r>
              <a:rPr lang="vi-VN" sz="4000" dirty="0">
                <a:latin typeface="Cambria" panose="02040503050406030204" pitchFamily="18" charset="0"/>
              </a:rPr>
              <a:t>r</a:t>
            </a:r>
            <a:r>
              <a:rPr lang="en-US" sz="4000" dirty="0">
                <a:latin typeface="Cambria" panose="02040503050406030204" pitchFamily="18" charset="0"/>
              </a:rPr>
              <a:t>*r</a:t>
            </a:r>
            <a:endParaRPr lang="vi-VN" sz="4000" dirty="0">
              <a:latin typeface="Cambria" panose="02040503050406030204" pitchFamily="18" charset="0"/>
            </a:endParaRPr>
          </a:p>
          <a:p>
            <a:pPr marL="0" indent="0">
              <a:buNone/>
            </a:pPr>
            <a:endParaRPr lang="en-US" sz="4000" dirty="0">
              <a:latin typeface="Cambria" panose="02040503050406030204" pitchFamily="18" charset="0"/>
            </a:endParaRPr>
          </a:p>
        </p:txBody>
      </p:sp>
    </p:spTree>
    <p:extLst>
      <p:ext uri="{BB962C8B-B14F-4D97-AF65-F5344CB8AC3E}">
        <p14:creationId xmlns:p14="http://schemas.microsoft.com/office/powerpoint/2010/main" val="965091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r>
              <a:rPr lang="en-US" sz="4400" kern="0" dirty="0">
                <a:solidFill>
                  <a:srgbClr val="002060"/>
                </a:solidFill>
                <a:latin typeface="Cambria" panose="02040503050406030204" pitchFamily="18" charset="0"/>
              </a:rPr>
              <a:t> </a:t>
            </a:r>
          </a:p>
          <a:p>
            <a:pPr>
              <a:defRPr/>
            </a:pPr>
            <a:r>
              <a:rPr lang="en-US" sz="4400" kern="0" dirty="0" err="1">
                <a:solidFill>
                  <a:srgbClr val="002060"/>
                </a:solidFill>
                <a:latin typeface="Cambria" panose="02040503050406030204" pitchFamily="18" charset="0"/>
              </a:rPr>
              <a:t>Tính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giờ</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phút</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giây</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390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dirty="0" err="1"/>
              <a:t>Trang</a:t>
            </a:r>
            <a:r>
              <a:rPr lang="en-US" dirty="0"/>
              <a:t> </a:t>
            </a:r>
            <a:fld id="{99166BD8-DA3C-4BE0-9C00-AA0485D1F6DE}" type="slidenum">
              <a:rPr lang="en-US" smtClean="0"/>
              <a:pPr/>
              <a:t>21</a:t>
            </a:fld>
            <a:endParaRPr lang="en-US" dirty="0"/>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3600" dirty="0">
                <a:latin typeface="Cambria" panose="02040503050406030204" pitchFamily="18" charset="0"/>
              </a:rPr>
              <a:t>Nhập vào số </a:t>
            </a:r>
            <a:r>
              <a:rPr lang="vi-VN" sz="3600" b="1" dirty="0">
                <a:latin typeface="Cambria" panose="02040503050406030204" pitchFamily="18" charset="0"/>
              </a:rPr>
              <a:t>giây</a:t>
            </a:r>
            <a:r>
              <a:rPr lang="vi-VN" sz="3600" dirty="0">
                <a:latin typeface="Cambria" panose="02040503050406030204" pitchFamily="18" charset="0"/>
              </a:rPr>
              <a:t> bất kỳ  t. Tính và xuất ra dạng </a:t>
            </a:r>
          </a:p>
          <a:p>
            <a:pPr marL="0" indent="0">
              <a:buNone/>
            </a:pPr>
            <a:r>
              <a:rPr lang="vi-VN" sz="3600" b="1" dirty="0">
                <a:latin typeface="Cambria" panose="02040503050406030204" pitchFamily="18" charset="0"/>
              </a:rPr>
              <a:t>Giờ:Phút:Giây</a:t>
            </a:r>
          </a:p>
          <a:p>
            <a:pPr marL="0" indent="0">
              <a:buNone/>
            </a:pPr>
            <a:r>
              <a:rPr lang="vi-VN" sz="3600" dirty="0">
                <a:latin typeface="Cambria" panose="02040503050406030204" pitchFamily="18" charset="0"/>
              </a:rPr>
              <a:t>Ví dụ: Nhập 3750</a:t>
            </a:r>
            <a:r>
              <a:rPr lang="en-US" sz="3600" dirty="0">
                <a:latin typeface="Cambria" panose="02040503050406030204" pitchFamily="18" charset="0"/>
              </a:rPr>
              <a:t> </a:t>
            </a:r>
            <a:r>
              <a:rPr lang="vi-VN" sz="3600" dirty="0">
                <a:latin typeface="Cambria" panose="02040503050406030204" pitchFamily="18" charset="0"/>
              </a:rPr>
              <a:t>thì xuất ra 1:2:30 AM </a:t>
            </a:r>
          </a:p>
          <a:p>
            <a:pPr marL="0" indent="0">
              <a:buNone/>
            </a:pPr>
            <a:r>
              <a:rPr lang="vi-VN" sz="3600" dirty="0">
                <a:latin typeface="Cambria" panose="02040503050406030204" pitchFamily="18" charset="0"/>
              </a:rPr>
              <a:t>Nhập 51100</a:t>
            </a:r>
            <a:r>
              <a:rPr lang="en-US" sz="3600" dirty="0">
                <a:latin typeface="Cambria" panose="02040503050406030204" pitchFamily="18" charset="0"/>
              </a:rPr>
              <a:t> </a:t>
            </a:r>
            <a:r>
              <a:rPr lang="vi-VN" sz="3600" dirty="0">
                <a:latin typeface="Cambria" panose="02040503050406030204" pitchFamily="18" charset="0"/>
              </a:rPr>
              <a:t>thì xuất ra 2:11:40 PM</a:t>
            </a:r>
          </a:p>
          <a:p>
            <a:pPr marL="0" indent="0">
              <a:buNone/>
            </a:pPr>
            <a:r>
              <a:rPr lang="vi-VN" sz="3600" dirty="0">
                <a:latin typeface="Cambria" panose="02040503050406030204" pitchFamily="18" charset="0"/>
              </a:rPr>
              <a:t>HD: </a:t>
            </a:r>
            <a:endParaRPr lang="en-US" sz="3600" dirty="0">
              <a:latin typeface="Cambria" panose="02040503050406030204" pitchFamily="18" charset="0"/>
            </a:endParaRPr>
          </a:p>
          <a:p>
            <a:pPr marL="0" indent="0">
              <a:buNone/>
            </a:pPr>
            <a:r>
              <a:rPr lang="vi-VN" sz="3600" dirty="0">
                <a:latin typeface="Cambria" panose="02040503050406030204" pitchFamily="18" charset="0"/>
              </a:rPr>
              <a:t>hour=(t/3600)%24 </a:t>
            </a:r>
          </a:p>
          <a:p>
            <a:pPr marL="0" indent="0">
              <a:buNone/>
            </a:pPr>
            <a:r>
              <a:rPr lang="vi-VN" sz="3600" dirty="0">
                <a:latin typeface="Cambria" panose="02040503050406030204" pitchFamily="18" charset="0"/>
              </a:rPr>
              <a:t>minute=(t%3600)/60 </a:t>
            </a:r>
          </a:p>
          <a:p>
            <a:pPr marL="0" indent="0">
              <a:buNone/>
            </a:pPr>
            <a:r>
              <a:rPr lang="vi-VN" sz="3600" dirty="0">
                <a:latin typeface="Cambria" panose="02040503050406030204" pitchFamily="18" charset="0"/>
              </a:rPr>
              <a:t>second=(t%3600)%60 </a:t>
            </a:r>
            <a:endParaRPr lang="en-US" sz="3600" dirty="0">
              <a:latin typeface="Cambria" panose="02040503050406030204" pitchFamily="18" charset="0"/>
            </a:endParaRPr>
          </a:p>
        </p:txBody>
      </p:sp>
    </p:spTree>
    <p:extLst>
      <p:ext uri="{BB962C8B-B14F-4D97-AF65-F5344CB8AC3E}">
        <p14:creationId xmlns:p14="http://schemas.microsoft.com/office/powerpoint/2010/main" val="3224322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r>
              <a:rPr lang="en-US" sz="4400" kern="0" dirty="0">
                <a:solidFill>
                  <a:srgbClr val="002060"/>
                </a:solidFill>
                <a:latin typeface="Cambria" panose="02040503050406030204" pitchFamily="18" charset="0"/>
              </a:rPr>
              <a:t> </a:t>
            </a:r>
          </a:p>
          <a:p>
            <a:pPr>
              <a:defRPr/>
            </a:pPr>
            <a:r>
              <a:rPr lang="en-US" sz="4400" kern="0" dirty="0" err="1">
                <a:solidFill>
                  <a:srgbClr val="002060"/>
                </a:solidFill>
                <a:latin typeface="Cambria" panose="02040503050406030204" pitchFamily="18" charset="0"/>
              </a:rPr>
              <a:t>Tính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điểm</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trung</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bình</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738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4000" dirty="0">
                <a:latin typeface="Cambria" panose="02040503050406030204" pitchFamily="18" charset="0"/>
              </a:rPr>
              <a:t>Viết chương trình nhập vào </a:t>
            </a:r>
            <a:r>
              <a:rPr lang="en-US" sz="4000" dirty="0">
                <a:latin typeface="Cambria" panose="02040503050406030204" pitchFamily="18" charset="0"/>
              </a:rPr>
              <a:t>đ</a:t>
            </a:r>
            <a:r>
              <a:rPr lang="vi-VN" sz="4000" dirty="0">
                <a:latin typeface="Cambria" panose="02040503050406030204" pitchFamily="18" charset="0"/>
              </a:rPr>
              <a:t>iểm ba môn Toán, Lý, Hóa của</a:t>
            </a:r>
            <a:r>
              <a:rPr lang="en-US" sz="4000" dirty="0">
                <a:latin typeface="Cambria" panose="02040503050406030204" pitchFamily="18" charset="0"/>
              </a:rPr>
              <a:t> </a:t>
            </a:r>
            <a:r>
              <a:rPr lang="vi-VN" sz="4000" dirty="0">
                <a:latin typeface="Cambria" panose="02040503050406030204" pitchFamily="18" charset="0"/>
              </a:rPr>
              <a:t>một học sinh. </a:t>
            </a:r>
            <a:endParaRPr lang="en-US" sz="4000" dirty="0">
              <a:latin typeface="Cambria" panose="02040503050406030204" pitchFamily="18" charset="0"/>
            </a:endParaRPr>
          </a:p>
          <a:p>
            <a:pPr marL="0" indent="0">
              <a:buNone/>
            </a:pPr>
            <a:r>
              <a:rPr lang="vi-VN" sz="4000" dirty="0">
                <a:latin typeface="Cambria" panose="02040503050406030204" pitchFamily="18" charset="0"/>
              </a:rPr>
              <a:t>In ra </a:t>
            </a:r>
            <a:r>
              <a:rPr lang="en-US" sz="4000" dirty="0">
                <a:latin typeface="Cambria" panose="02040503050406030204" pitchFamily="18" charset="0"/>
              </a:rPr>
              <a:t>đ</a:t>
            </a:r>
            <a:r>
              <a:rPr lang="vi-VN" sz="4000" dirty="0">
                <a:latin typeface="Cambria" panose="02040503050406030204" pitchFamily="18" charset="0"/>
              </a:rPr>
              <a:t>iểm trung bình của học sinh </a:t>
            </a:r>
            <a:r>
              <a:rPr lang="en-US" sz="4000" dirty="0" err="1">
                <a:latin typeface="Cambria" panose="02040503050406030204" pitchFamily="18" charset="0"/>
              </a:rPr>
              <a:t>đó</a:t>
            </a:r>
            <a:r>
              <a:rPr lang="en-US" sz="4000" dirty="0">
                <a:latin typeface="Cambria" panose="02040503050406030204" pitchFamily="18" charset="0"/>
              </a:rPr>
              <a:t> </a:t>
            </a:r>
            <a:r>
              <a:rPr lang="vi-VN" sz="4000" dirty="0">
                <a:latin typeface="Cambria" panose="02040503050406030204" pitchFamily="18" charset="0"/>
              </a:rPr>
              <a:t>với hai số lẻ thập phân. </a:t>
            </a:r>
            <a:endParaRPr lang="en-US" sz="4000" dirty="0">
              <a:latin typeface="Cambria" panose="02040503050406030204" pitchFamily="18" charset="0"/>
            </a:endParaRPr>
          </a:p>
        </p:txBody>
      </p:sp>
    </p:spTree>
    <p:extLst>
      <p:ext uri="{BB962C8B-B14F-4D97-AF65-F5344CB8AC3E}">
        <p14:creationId xmlns:p14="http://schemas.microsoft.com/office/powerpoint/2010/main" val="4095462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Các</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tự</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24</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313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err="1">
                <a:latin typeface="Cambria" panose="02040503050406030204" pitchFamily="18" charset="0"/>
              </a:rPr>
              <a:t>Câu</a:t>
            </a:r>
            <a:r>
              <a:rPr lang="en-US" sz="3600" b="1" dirty="0">
                <a:latin typeface="Cambria" panose="02040503050406030204" pitchFamily="18" charset="0"/>
              </a:rPr>
              <a:t> 1: </a:t>
            </a:r>
            <a:r>
              <a:rPr lang="en-US" sz="3600" dirty="0">
                <a:latin typeface="Cambria" panose="02040503050406030204" pitchFamily="18" charset="0"/>
              </a:rPr>
              <a:t>Python </a:t>
            </a:r>
            <a:r>
              <a:rPr lang="en-US" sz="3600" dirty="0" err="1">
                <a:latin typeface="Cambria" panose="02040503050406030204" pitchFamily="18" charset="0"/>
              </a:rPr>
              <a:t>hỗ</a:t>
            </a:r>
            <a:r>
              <a:rPr lang="en-US" sz="3600" dirty="0">
                <a:latin typeface="Cambria" panose="02040503050406030204" pitchFamily="18" charset="0"/>
              </a:rPr>
              <a:t> </a:t>
            </a:r>
            <a:r>
              <a:rPr lang="en-US" sz="3600" dirty="0" err="1">
                <a:latin typeface="Cambria" panose="02040503050406030204" pitchFamily="18" charset="0"/>
              </a:rPr>
              <a:t>trợ</a:t>
            </a:r>
            <a:r>
              <a:rPr lang="en-US" sz="3600" dirty="0">
                <a:latin typeface="Cambria" panose="02040503050406030204" pitchFamily="18" charset="0"/>
              </a:rPr>
              <a:t> </a:t>
            </a:r>
            <a:r>
              <a:rPr lang="en-US" sz="3600" dirty="0" err="1">
                <a:latin typeface="Cambria" panose="02040503050406030204" pitchFamily="18" charset="0"/>
              </a:rPr>
              <a:t>những</a:t>
            </a:r>
            <a:r>
              <a:rPr lang="en-US" sz="3600" dirty="0">
                <a:latin typeface="Cambria" panose="02040503050406030204" pitchFamily="18" charset="0"/>
              </a:rPr>
              <a:t> </a:t>
            </a:r>
            <a:r>
              <a:rPr lang="en-US" sz="3600" dirty="0" err="1">
                <a:latin typeface="Cambria" panose="02040503050406030204" pitchFamily="18" charset="0"/>
              </a:rPr>
              <a:t>kiểu</a:t>
            </a:r>
            <a:r>
              <a:rPr lang="en-US" sz="3600" dirty="0">
                <a:latin typeface="Cambria" panose="02040503050406030204" pitchFamily="18" charset="0"/>
              </a:rPr>
              <a:t> </a:t>
            </a:r>
            <a:r>
              <a:rPr lang="en-US" sz="3600" dirty="0" err="1">
                <a:latin typeface="Cambria" panose="02040503050406030204" pitchFamily="18" charset="0"/>
              </a:rPr>
              <a:t>dữ</a:t>
            </a:r>
            <a:r>
              <a:rPr lang="en-US" sz="3600" dirty="0">
                <a:latin typeface="Cambria" panose="02040503050406030204" pitchFamily="18" charset="0"/>
              </a:rPr>
              <a:t> </a:t>
            </a:r>
            <a:r>
              <a:rPr lang="en-US" sz="3600" dirty="0" err="1">
                <a:latin typeface="Cambria" panose="02040503050406030204" pitchFamily="18" charset="0"/>
              </a:rPr>
              <a:t>liệu</a:t>
            </a:r>
            <a:r>
              <a:rPr lang="en-US" sz="3600" dirty="0">
                <a:latin typeface="Cambria" panose="02040503050406030204" pitchFamily="18" charset="0"/>
              </a:rPr>
              <a:t> c</a:t>
            </a:r>
            <a:r>
              <a:rPr lang="vi-VN" sz="3600" dirty="0">
                <a:latin typeface="Cambria" panose="02040503050406030204" pitchFamily="18" charset="0"/>
              </a:rPr>
              <a:t>ơ</a:t>
            </a:r>
            <a:r>
              <a:rPr lang="en-US" sz="3600" dirty="0">
                <a:latin typeface="Cambria" panose="02040503050406030204" pitchFamily="18" charset="0"/>
              </a:rPr>
              <a:t> </a:t>
            </a:r>
            <a:r>
              <a:rPr lang="en-US" sz="3600" dirty="0" err="1">
                <a:latin typeface="Cambria" panose="02040503050406030204" pitchFamily="18" charset="0"/>
              </a:rPr>
              <a:t>bản</a:t>
            </a:r>
            <a:r>
              <a:rPr lang="en-US" sz="3600" dirty="0">
                <a:latin typeface="Cambria" panose="02040503050406030204" pitchFamily="18" charset="0"/>
              </a:rPr>
              <a:t> </a:t>
            </a:r>
            <a:r>
              <a:rPr lang="en-US" sz="3600" dirty="0" err="1">
                <a:latin typeface="Cambria" panose="02040503050406030204" pitchFamily="18" charset="0"/>
              </a:rPr>
              <a:t>nào</a:t>
            </a:r>
            <a:r>
              <a:rPr lang="en-US" sz="3600" dirty="0">
                <a:latin typeface="Cambria" panose="02040503050406030204" pitchFamily="18" charset="0"/>
              </a:rPr>
              <a:t>?</a:t>
            </a:r>
          </a:p>
          <a:p>
            <a:pPr marL="0" indent="0">
              <a:buNone/>
            </a:pPr>
            <a:r>
              <a:rPr lang="en-US" sz="3600" b="1" dirty="0" err="1">
                <a:latin typeface="Cambria" panose="02040503050406030204" pitchFamily="18" charset="0"/>
              </a:rPr>
              <a:t>Câu</a:t>
            </a:r>
            <a:r>
              <a:rPr lang="en-US" sz="3600" b="1" dirty="0">
                <a:latin typeface="Cambria" panose="02040503050406030204" pitchFamily="18" charset="0"/>
              </a:rPr>
              <a:t> 2: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bày</a:t>
            </a:r>
            <a:r>
              <a:rPr lang="en-US" sz="3600" dirty="0">
                <a:latin typeface="Cambria" panose="02040503050406030204" pitchFamily="18" charset="0"/>
              </a:rPr>
              <a:t> </a:t>
            </a:r>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loại</a:t>
            </a:r>
            <a:r>
              <a:rPr lang="en-US" sz="3600" dirty="0">
                <a:latin typeface="Cambria" panose="02040503050406030204" pitchFamily="18" charset="0"/>
              </a:rPr>
              <a:t> </a:t>
            </a:r>
            <a:r>
              <a:rPr lang="en-US" sz="3600" dirty="0" err="1">
                <a:latin typeface="Cambria" panose="02040503050406030204" pitchFamily="18" charset="0"/>
              </a:rPr>
              <a:t>ghi</a:t>
            </a:r>
            <a:r>
              <a:rPr lang="en-US" sz="3600" dirty="0">
                <a:latin typeface="Cambria" panose="02040503050406030204" pitchFamily="18" charset="0"/>
              </a:rPr>
              <a:t> </a:t>
            </a:r>
            <a:r>
              <a:rPr lang="en-US" sz="3600" dirty="0" err="1">
                <a:latin typeface="Cambria" panose="02040503050406030204" pitchFamily="18" charset="0"/>
              </a:rPr>
              <a:t>chú</a:t>
            </a:r>
            <a:r>
              <a:rPr lang="en-US" sz="3600" dirty="0">
                <a:latin typeface="Cambria" panose="02040503050406030204" pitchFamily="18" charset="0"/>
              </a:rPr>
              <a:t> </a:t>
            </a:r>
            <a:r>
              <a:rPr lang="en-US" sz="3600" dirty="0" err="1">
                <a:latin typeface="Cambria" panose="02040503050406030204" pitchFamily="18" charset="0"/>
              </a:rPr>
              <a:t>trong</a:t>
            </a:r>
            <a:r>
              <a:rPr lang="en-US" sz="3600" dirty="0">
                <a:latin typeface="Cambria" panose="02040503050406030204" pitchFamily="18" charset="0"/>
              </a:rPr>
              <a:t> Python</a:t>
            </a:r>
          </a:p>
          <a:p>
            <a:pPr marL="0" indent="0">
              <a:buNone/>
            </a:pPr>
            <a:r>
              <a:rPr lang="en-US" sz="3600" b="1" dirty="0" err="1">
                <a:latin typeface="Cambria" panose="02040503050406030204" pitchFamily="18" charset="0"/>
              </a:rPr>
              <a:t>Câu</a:t>
            </a:r>
            <a:r>
              <a:rPr lang="en-US" sz="3600" b="1" dirty="0">
                <a:latin typeface="Cambria" panose="02040503050406030204" pitchFamily="18" charset="0"/>
              </a:rPr>
              <a:t> 3: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bày</a:t>
            </a:r>
            <a:r>
              <a:rPr lang="en-US" sz="3600" dirty="0">
                <a:latin typeface="Cambria" panose="02040503050406030204" pitchFamily="18" charset="0"/>
              </a:rPr>
              <a:t> ý </a:t>
            </a:r>
            <a:r>
              <a:rPr lang="en-US" sz="3600" dirty="0" err="1">
                <a:latin typeface="Cambria" panose="02040503050406030204" pitchFamily="18" charset="0"/>
              </a:rPr>
              <a:t>nghĩa</a:t>
            </a:r>
            <a:r>
              <a:rPr lang="en-US" sz="3600" dirty="0">
                <a:latin typeface="Cambria" panose="02040503050406030204" pitchFamily="18" charset="0"/>
              </a:rPr>
              <a:t> </a:t>
            </a:r>
            <a:r>
              <a:rPr lang="en-US" sz="3600" dirty="0" err="1">
                <a:latin typeface="Cambria" panose="02040503050406030204" pitchFamily="18" charset="0"/>
              </a:rPr>
              <a:t>toán</a:t>
            </a:r>
            <a:r>
              <a:rPr lang="en-US" sz="3600" dirty="0">
                <a:latin typeface="Cambria" panose="02040503050406030204" pitchFamily="18" charset="0"/>
              </a:rPr>
              <a:t> </a:t>
            </a:r>
            <a:r>
              <a:rPr lang="en-US" sz="3600" dirty="0" err="1">
                <a:latin typeface="Cambria" panose="02040503050406030204" pitchFamily="18" charset="0"/>
              </a:rPr>
              <a:t>tử</a:t>
            </a:r>
            <a:r>
              <a:rPr lang="en-US" sz="3600" dirty="0">
                <a:latin typeface="Cambria" panose="02040503050406030204" pitchFamily="18" charset="0"/>
              </a:rPr>
              <a:t> /, //, %, **, and, or, is</a:t>
            </a:r>
          </a:p>
          <a:p>
            <a:pPr marL="0" indent="0">
              <a:buNone/>
            </a:pPr>
            <a:r>
              <a:rPr lang="en-US" sz="3600" b="1" dirty="0" err="1">
                <a:latin typeface="Cambria" panose="02040503050406030204" pitchFamily="18" charset="0"/>
              </a:rPr>
              <a:t>Câu</a:t>
            </a:r>
            <a:r>
              <a:rPr lang="en-US" sz="3600" b="1" dirty="0">
                <a:latin typeface="Cambria" panose="02040503050406030204" pitchFamily="18" charset="0"/>
              </a:rPr>
              <a:t> 4: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bày</a:t>
            </a:r>
            <a:r>
              <a:rPr lang="en-US" sz="3600" dirty="0">
                <a:latin typeface="Cambria" panose="02040503050406030204" pitchFamily="18" charset="0"/>
              </a:rPr>
              <a:t> </a:t>
            </a:r>
            <a:r>
              <a:rPr lang="en-US" sz="3600" dirty="0" err="1">
                <a:latin typeface="Cambria" panose="02040503050406030204" pitchFamily="18" charset="0"/>
              </a:rPr>
              <a:t>một</a:t>
            </a:r>
            <a:r>
              <a:rPr lang="en-US" sz="3600" dirty="0">
                <a:latin typeface="Cambria" panose="02040503050406030204" pitchFamily="18" charset="0"/>
              </a:rPr>
              <a:t> </a:t>
            </a:r>
            <a:r>
              <a:rPr lang="en-US" sz="3600" dirty="0" err="1">
                <a:latin typeface="Cambria" panose="02040503050406030204" pitchFamily="18" charset="0"/>
              </a:rPr>
              <a:t>số</a:t>
            </a:r>
            <a:r>
              <a:rPr lang="en-US" sz="3600" dirty="0">
                <a:latin typeface="Cambria" panose="02040503050406030204" pitchFamily="18" charset="0"/>
              </a:rPr>
              <a:t> </a:t>
            </a:r>
            <a:r>
              <a:rPr lang="en-US" sz="3600" dirty="0" err="1">
                <a:latin typeface="Cambria" panose="02040503050406030204" pitchFamily="18" charset="0"/>
              </a:rPr>
              <a:t>cách</a:t>
            </a:r>
            <a:r>
              <a:rPr lang="en-US" sz="3600" dirty="0">
                <a:latin typeface="Cambria" panose="02040503050406030204" pitchFamily="18" charset="0"/>
              </a:rPr>
              <a:t> </a:t>
            </a:r>
            <a:r>
              <a:rPr lang="en-US" sz="3600" dirty="0" err="1">
                <a:latin typeface="Cambria" panose="02040503050406030204" pitchFamily="18" charset="0"/>
              </a:rPr>
              <a:t>nhập</a:t>
            </a:r>
            <a:r>
              <a:rPr lang="en-US" sz="3600" dirty="0">
                <a:latin typeface="Cambria" panose="02040503050406030204" pitchFamily="18" charset="0"/>
              </a:rPr>
              <a:t> </a:t>
            </a:r>
            <a:r>
              <a:rPr lang="en-US" sz="3600" dirty="0" err="1">
                <a:latin typeface="Cambria" panose="02040503050406030204" pitchFamily="18" charset="0"/>
              </a:rPr>
              <a:t>dữ</a:t>
            </a:r>
            <a:r>
              <a:rPr lang="en-US" sz="3600" dirty="0">
                <a:latin typeface="Cambria" panose="02040503050406030204" pitchFamily="18" charset="0"/>
              </a:rPr>
              <a:t> </a:t>
            </a:r>
            <a:r>
              <a:rPr lang="en-US" sz="3600" dirty="0" err="1">
                <a:latin typeface="Cambria" panose="02040503050406030204" pitchFamily="18" charset="0"/>
              </a:rPr>
              <a:t>liệu</a:t>
            </a:r>
            <a:r>
              <a:rPr lang="en-US" sz="3600" dirty="0">
                <a:latin typeface="Cambria" panose="02040503050406030204" pitchFamily="18" charset="0"/>
              </a:rPr>
              <a:t> </a:t>
            </a:r>
            <a:r>
              <a:rPr lang="en-US" sz="3600" dirty="0" err="1">
                <a:latin typeface="Cambria" panose="02040503050406030204" pitchFamily="18" charset="0"/>
              </a:rPr>
              <a:t>từ</a:t>
            </a:r>
            <a:r>
              <a:rPr lang="en-US" sz="3600" dirty="0">
                <a:latin typeface="Cambria" panose="02040503050406030204" pitchFamily="18" charset="0"/>
              </a:rPr>
              <a:t> </a:t>
            </a:r>
            <a:r>
              <a:rPr lang="en-US" sz="3600" dirty="0" err="1">
                <a:latin typeface="Cambria" panose="02040503050406030204" pitchFamily="18" charset="0"/>
              </a:rPr>
              <a:t>bàn</a:t>
            </a:r>
            <a:r>
              <a:rPr lang="en-US" sz="3600" dirty="0">
                <a:latin typeface="Cambria" panose="02040503050406030204" pitchFamily="18" charset="0"/>
              </a:rPr>
              <a:t> </a:t>
            </a:r>
            <a:r>
              <a:rPr lang="en-US" sz="3600" dirty="0" err="1">
                <a:latin typeface="Cambria" panose="02040503050406030204" pitchFamily="18" charset="0"/>
              </a:rPr>
              <a:t>phím</a:t>
            </a:r>
            <a:endParaRPr lang="en-US" sz="3600" dirty="0">
              <a:latin typeface="Cambria" panose="02040503050406030204" pitchFamily="18" charset="0"/>
            </a:endParaRPr>
          </a:p>
          <a:p>
            <a:pPr marL="0" indent="0">
              <a:buNone/>
            </a:pPr>
            <a:r>
              <a:rPr lang="en-US" sz="3600" b="1" dirty="0" err="1">
                <a:latin typeface="Cambria" panose="02040503050406030204" pitchFamily="18" charset="0"/>
              </a:rPr>
              <a:t>Câu</a:t>
            </a:r>
            <a:r>
              <a:rPr lang="en-US" sz="3600" b="1" dirty="0">
                <a:latin typeface="Cambria" panose="02040503050406030204" pitchFamily="18" charset="0"/>
              </a:rPr>
              <a:t> 5: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bày</a:t>
            </a:r>
            <a:r>
              <a:rPr lang="en-US" sz="3600" dirty="0">
                <a:latin typeface="Cambria" panose="02040503050406030204" pitchFamily="18" charset="0"/>
              </a:rPr>
              <a:t> </a:t>
            </a:r>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loại</a:t>
            </a:r>
            <a:r>
              <a:rPr lang="en-US" sz="3600" dirty="0">
                <a:latin typeface="Cambria" panose="02040503050406030204" pitchFamily="18" charset="0"/>
              </a:rPr>
              <a:t> </a:t>
            </a:r>
            <a:r>
              <a:rPr lang="en-US" sz="3600" dirty="0" err="1">
                <a:latin typeface="Cambria" panose="02040503050406030204" pitchFamily="18" charset="0"/>
              </a:rPr>
              <a:t>lỗi</a:t>
            </a:r>
            <a:r>
              <a:rPr lang="en-US" sz="3600" dirty="0">
                <a:latin typeface="Cambria" panose="02040503050406030204" pitchFamily="18" charset="0"/>
              </a:rPr>
              <a:t> </a:t>
            </a:r>
            <a:r>
              <a:rPr lang="en-US" sz="3600" dirty="0" err="1">
                <a:latin typeface="Cambria" panose="02040503050406030204" pitchFamily="18" charset="0"/>
              </a:rPr>
              <a:t>khi</a:t>
            </a:r>
            <a:r>
              <a:rPr lang="en-US" sz="3600" dirty="0">
                <a:latin typeface="Cambria" panose="02040503050406030204" pitchFamily="18" charset="0"/>
              </a:rPr>
              <a:t> </a:t>
            </a:r>
            <a:r>
              <a:rPr lang="en-US" sz="3600" dirty="0" err="1">
                <a:latin typeface="Cambria" panose="02040503050406030204" pitchFamily="18" charset="0"/>
              </a:rPr>
              <a:t>lập</a:t>
            </a:r>
            <a:r>
              <a:rPr lang="en-US" sz="3600" dirty="0">
                <a:latin typeface="Cambria" panose="02040503050406030204" pitchFamily="18" charset="0"/>
              </a:rPr>
              <a:t>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và</a:t>
            </a:r>
            <a:r>
              <a:rPr lang="en-US" sz="3600" dirty="0">
                <a:latin typeface="Cambria" panose="02040503050406030204" pitchFamily="18" charset="0"/>
              </a:rPr>
              <a:t> </a:t>
            </a:r>
            <a:r>
              <a:rPr lang="en-US" sz="3600" dirty="0" err="1">
                <a:latin typeface="Cambria" panose="02040503050406030204" pitchFamily="18" charset="0"/>
              </a:rPr>
              <a:t>cách</a:t>
            </a:r>
            <a:r>
              <a:rPr lang="en-US" sz="3600" dirty="0">
                <a:latin typeface="Cambria" panose="02040503050406030204" pitchFamily="18" charset="0"/>
              </a:rPr>
              <a:t> </a:t>
            </a:r>
            <a:r>
              <a:rPr lang="en-US" sz="3600" dirty="0" err="1">
                <a:latin typeface="Cambria" panose="02040503050406030204" pitchFamily="18" charset="0"/>
              </a:rPr>
              <a:t>bắt</a:t>
            </a:r>
            <a:r>
              <a:rPr lang="en-US" sz="3600" dirty="0">
                <a:latin typeface="Cambria" panose="02040503050406030204" pitchFamily="18" charset="0"/>
              </a:rPr>
              <a:t> </a:t>
            </a:r>
            <a:r>
              <a:rPr lang="en-US" sz="3600" dirty="0" err="1">
                <a:latin typeface="Cambria" panose="02040503050406030204" pitchFamily="18" charset="0"/>
              </a:rPr>
              <a:t>lỗi</a:t>
            </a:r>
            <a:r>
              <a:rPr lang="en-US" sz="3600" dirty="0">
                <a:latin typeface="Cambria" panose="02040503050406030204" pitchFamily="18" charset="0"/>
              </a:rPr>
              <a:t> </a:t>
            </a:r>
            <a:r>
              <a:rPr lang="en-US" sz="3600" dirty="0" err="1">
                <a:latin typeface="Cambria" panose="02040503050406030204" pitchFamily="18" charset="0"/>
              </a:rPr>
              <a:t>trong</a:t>
            </a:r>
            <a:r>
              <a:rPr lang="en-US" sz="3600" dirty="0">
                <a:latin typeface="Cambria" panose="02040503050406030204" pitchFamily="18" charset="0"/>
              </a:rPr>
              <a:t> Python</a:t>
            </a:r>
          </a:p>
        </p:txBody>
      </p:sp>
    </p:spTree>
    <p:extLst>
      <p:ext uri="{BB962C8B-B14F-4D97-AF65-F5344CB8AC3E}">
        <p14:creationId xmlns:p14="http://schemas.microsoft.com/office/powerpoint/2010/main" val="399938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dirty="0" err="1">
                <a:latin typeface="Cambria" panose="02040503050406030204" pitchFamily="18" charset="0"/>
              </a:rPr>
              <a:t>Câu</a:t>
            </a:r>
            <a:r>
              <a:rPr lang="en-US" sz="2800" b="1" dirty="0">
                <a:latin typeface="Cambria" panose="02040503050406030204" pitchFamily="18" charset="0"/>
              </a:rPr>
              <a:t> 6:</a:t>
            </a:r>
          </a:p>
          <a:p>
            <a:pPr marL="0" indent="0">
              <a:buNone/>
            </a:pPr>
            <a:r>
              <a:rPr lang="en-US" sz="2800" dirty="0">
                <a:latin typeface="Cambria" panose="02040503050406030204" pitchFamily="18" charset="0"/>
              </a:rPr>
              <a:t>Cho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biến</a:t>
            </a:r>
            <a:r>
              <a:rPr lang="en-US" sz="2800" dirty="0">
                <a:latin typeface="Cambria" panose="02040503050406030204" pitchFamily="18" charset="0"/>
              </a:rPr>
              <a:t> </a:t>
            </a:r>
            <a:r>
              <a:rPr lang="en-US" sz="2800" dirty="0" err="1">
                <a:latin typeface="Cambria" panose="02040503050406030204" pitchFamily="18" charset="0"/>
              </a:rPr>
              <a:t>với</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endParaRPr lang="en-US" sz="2800" dirty="0">
              <a:latin typeface="Cambria" panose="02040503050406030204" pitchFamily="18" charset="0"/>
            </a:endParaRPr>
          </a:p>
          <a:p>
            <a:pPr marL="0" indent="0">
              <a:buNone/>
            </a:pPr>
            <a:r>
              <a:rPr lang="nn-NO" sz="2800" dirty="0">
                <a:latin typeface="Cambria" panose="02040503050406030204" pitchFamily="18" charset="0"/>
              </a:rPr>
              <a:t>i1 = 2</a:t>
            </a:r>
          </a:p>
          <a:p>
            <a:pPr marL="0" indent="0">
              <a:buNone/>
            </a:pPr>
            <a:r>
              <a:rPr lang="nn-NO" sz="2800" dirty="0">
                <a:latin typeface="Cambria" panose="02040503050406030204" pitchFamily="18" charset="0"/>
              </a:rPr>
              <a:t>i2 = 5</a:t>
            </a:r>
          </a:p>
          <a:p>
            <a:pPr marL="0" indent="0">
              <a:buNone/>
            </a:pPr>
            <a:r>
              <a:rPr lang="nn-NO" sz="2800" dirty="0">
                <a:latin typeface="Cambria" panose="02040503050406030204" pitchFamily="18" charset="0"/>
              </a:rPr>
              <a:t>i3 = -3</a:t>
            </a:r>
          </a:p>
          <a:p>
            <a:pPr marL="0" indent="0">
              <a:buNone/>
            </a:pPr>
            <a:r>
              <a:rPr lang="nn-NO" sz="2800" dirty="0">
                <a:latin typeface="Cambria" panose="02040503050406030204" pitchFamily="18" charset="0"/>
              </a:rPr>
              <a:t>d1 = 2.0</a:t>
            </a:r>
          </a:p>
          <a:p>
            <a:pPr marL="0" indent="0">
              <a:buNone/>
            </a:pPr>
            <a:r>
              <a:rPr lang="nn-NO" sz="2800" dirty="0">
                <a:latin typeface="Cambria" panose="02040503050406030204" pitchFamily="18" charset="0"/>
              </a:rPr>
              <a:t>d2 = 5.0</a:t>
            </a:r>
          </a:p>
          <a:p>
            <a:pPr marL="0" indent="0">
              <a:buNone/>
            </a:pPr>
            <a:r>
              <a:rPr lang="nn-NO" sz="2800" dirty="0">
                <a:latin typeface="Cambria" panose="02040503050406030204" pitchFamily="18" charset="0"/>
              </a:rPr>
              <a:t>d3 = -0.5</a:t>
            </a:r>
            <a:endParaRPr lang="en-US" sz="2800" dirty="0">
              <a:latin typeface="Cambria" panose="02040503050406030204" pitchFamily="18" charset="0"/>
            </a:endParaRPr>
          </a:p>
        </p:txBody>
      </p:sp>
      <p:sp>
        <p:nvSpPr>
          <p:cNvPr id="8" name="Rectangle 7">
            <a:extLst>
              <a:ext uri="{FF2B5EF4-FFF2-40B4-BE49-F238E27FC236}">
                <a16:creationId xmlns:a16="http://schemas.microsoft.com/office/drawing/2014/main" id="{61D497A2-37C9-4CAE-B9CE-FD726CA89F09}"/>
              </a:ext>
            </a:extLst>
          </p:cNvPr>
          <p:cNvSpPr/>
          <p:nvPr/>
        </p:nvSpPr>
        <p:spPr>
          <a:xfrm>
            <a:off x="4691269" y="2387418"/>
            <a:ext cx="3200400" cy="3785652"/>
          </a:xfrm>
          <a:prstGeom prst="rect">
            <a:avLst/>
          </a:prstGeom>
        </p:spPr>
        <p:txBody>
          <a:bodyPr wrap="square">
            <a:spAutoFit/>
          </a:bodyPr>
          <a:lstStyle/>
          <a:p>
            <a:r>
              <a:rPr lang="en-US" sz="2400">
                <a:latin typeface="Cambria" panose="02040503050406030204" pitchFamily="18" charset="0"/>
              </a:rPr>
              <a:t>(a) i1 + (i2 * i3)</a:t>
            </a:r>
          </a:p>
          <a:p>
            <a:r>
              <a:rPr lang="en-US" sz="2400">
                <a:latin typeface="Cambria" panose="02040503050406030204" pitchFamily="18" charset="0"/>
              </a:rPr>
              <a:t>(b) i1 * (i2 + i3)</a:t>
            </a:r>
          </a:p>
          <a:p>
            <a:r>
              <a:rPr lang="en-US" sz="2400">
                <a:latin typeface="Cambria" panose="02040503050406030204" pitchFamily="18" charset="0"/>
              </a:rPr>
              <a:t>(c) i1 / (i2 + i3)</a:t>
            </a:r>
          </a:p>
          <a:p>
            <a:r>
              <a:rPr lang="en-US" sz="2400">
                <a:latin typeface="Cambria" panose="02040503050406030204" pitchFamily="18" charset="0"/>
              </a:rPr>
              <a:t>(d) i1 // (i2 + i3)</a:t>
            </a:r>
          </a:p>
          <a:p>
            <a:r>
              <a:rPr lang="en-US" sz="2400">
                <a:latin typeface="Cambria" panose="02040503050406030204" pitchFamily="18" charset="0"/>
              </a:rPr>
              <a:t>(e) i1 / i2 + i3</a:t>
            </a:r>
          </a:p>
          <a:p>
            <a:r>
              <a:rPr lang="en-US" sz="2400">
                <a:latin typeface="Cambria" panose="02040503050406030204" pitchFamily="18" charset="0"/>
              </a:rPr>
              <a:t>(f) i1 // i2 + i3</a:t>
            </a:r>
          </a:p>
          <a:p>
            <a:r>
              <a:rPr lang="en-US" sz="2400">
                <a:latin typeface="Cambria" panose="02040503050406030204" pitchFamily="18" charset="0"/>
              </a:rPr>
              <a:t>(g) 3 + 4 + 5 / 3</a:t>
            </a:r>
          </a:p>
          <a:p>
            <a:r>
              <a:rPr lang="en-US" sz="2400">
                <a:latin typeface="Cambria" panose="02040503050406030204" pitchFamily="18" charset="0"/>
              </a:rPr>
              <a:t>(h) 3 + 4 + 5 // 3</a:t>
            </a:r>
          </a:p>
          <a:p>
            <a:r>
              <a:rPr lang="en-US" sz="2400">
                <a:latin typeface="Cambria" panose="02040503050406030204" pitchFamily="18" charset="0"/>
              </a:rPr>
              <a:t>(i) (3 + 4 + 5) / 3</a:t>
            </a:r>
          </a:p>
          <a:p>
            <a:r>
              <a:rPr lang="en-US" sz="2400">
                <a:latin typeface="Cambria" panose="02040503050406030204" pitchFamily="18" charset="0"/>
              </a:rPr>
              <a:t>(j) (3 + 4 + 5) // 3</a:t>
            </a:r>
          </a:p>
        </p:txBody>
      </p:sp>
      <p:sp>
        <p:nvSpPr>
          <p:cNvPr id="11" name="Rectangle 10">
            <a:extLst>
              <a:ext uri="{FF2B5EF4-FFF2-40B4-BE49-F238E27FC236}">
                <a16:creationId xmlns:a16="http://schemas.microsoft.com/office/drawing/2014/main" id="{2D2FCA2A-5193-40D2-9FD0-90D39CA540B6}"/>
              </a:ext>
            </a:extLst>
          </p:cNvPr>
          <p:cNvSpPr/>
          <p:nvPr/>
        </p:nvSpPr>
        <p:spPr>
          <a:xfrm>
            <a:off x="7875104" y="2286000"/>
            <a:ext cx="4038600" cy="3046988"/>
          </a:xfrm>
          <a:prstGeom prst="rect">
            <a:avLst/>
          </a:prstGeom>
        </p:spPr>
        <p:txBody>
          <a:bodyPr wrap="square">
            <a:spAutoFit/>
          </a:bodyPr>
          <a:lstStyle/>
          <a:p>
            <a:r>
              <a:rPr lang="en-US" sz="2400" dirty="0">
                <a:latin typeface="Cambria" panose="02040503050406030204" pitchFamily="18" charset="0"/>
              </a:rPr>
              <a:t>(k) d1 + (d2 * d3)</a:t>
            </a:r>
          </a:p>
          <a:p>
            <a:r>
              <a:rPr lang="en-US" sz="2400" dirty="0">
                <a:latin typeface="Cambria" panose="02040503050406030204" pitchFamily="18" charset="0"/>
              </a:rPr>
              <a:t>(l) d1 + d2 * d3</a:t>
            </a:r>
          </a:p>
          <a:p>
            <a:r>
              <a:rPr lang="en-US" sz="2400" dirty="0">
                <a:latin typeface="Cambria" panose="02040503050406030204" pitchFamily="18" charset="0"/>
              </a:rPr>
              <a:t>(m) d1 / d2 - d3</a:t>
            </a:r>
          </a:p>
          <a:p>
            <a:r>
              <a:rPr lang="en-US" sz="2400" dirty="0">
                <a:latin typeface="Cambria" panose="02040503050406030204" pitchFamily="18" charset="0"/>
              </a:rPr>
              <a:t>(n) d1 / (d2 - d3)</a:t>
            </a:r>
          </a:p>
          <a:p>
            <a:r>
              <a:rPr lang="en-US" sz="2400" dirty="0">
                <a:latin typeface="Cambria" panose="02040503050406030204" pitchFamily="18" charset="0"/>
              </a:rPr>
              <a:t>(o) d1 + d2 + d3 / 3</a:t>
            </a:r>
          </a:p>
          <a:p>
            <a:r>
              <a:rPr lang="en-US" sz="2400" dirty="0">
                <a:latin typeface="Cambria" panose="02040503050406030204" pitchFamily="18" charset="0"/>
              </a:rPr>
              <a:t>(p) (d1 + d2 + d3) / 3</a:t>
            </a:r>
          </a:p>
          <a:p>
            <a:r>
              <a:rPr lang="en-US" sz="2400" dirty="0">
                <a:latin typeface="Cambria" panose="02040503050406030204" pitchFamily="18" charset="0"/>
              </a:rPr>
              <a:t>(q) d1 + d2 + (d3 / 3)</a:t>
            </a:r>
          </a:p>
          <a:p>
            <a:r>
              <a:rPr lang="en-US" sz="2400" dirty="0">
                <a:latin typeface="Cambria" panose="02040503050406030204" pitchFamily="18" charset="0"/>
              </a:rPr>
              <a:t>(r) 3 * (d1 + d2) * (d1 - d3)</a:t>
            </a:r>
          </a:p>
        </p:txBody>
      </p:sp>
      <p:sp>
        <p:nvSpPr>
          <p:cNvPr id="12" name="Rectangle 11">
            <a:extLst>
              <a:ext uri="{FF2B5EF4-FFF2-40B4-BE49-F238E27FC236}">
                <a16:creationId xmlns:a16="http://schemas.microsoft.com/office/drawing/2014/main" id="{360924F0-1E6A-47D6-8F28-7BF605F0B260}"/>
              </a:ext>
            </a:extLst>
          </p:cNvPr>
          <p:cNvSpPr/>
          <p:nvPr/>
        </p:nvSpPr>
        <p:spPr>
          <a:xfrm>
            <a:off x="4953000" y="1882890"/>
            <a:ext cx="5293139" cy="461665"/>
          </a:xfrm>
          <a:prstGeom prst="rect">
            <a:avLst/>
          </a:prstGeom>
        </p:spPr>
        <p:txBody>
          <a:bodyPr wrap="square">
            <a:spAutoFit/>
          </a:bodyPr>
          <a:lstStyle/>
          <a:p>
            <a:r>
              <a:rPr lang="en-US" sz="2400">
                <a:latin typeface="Cambria" panose="02040503050406030204" pitchFamily="18" charset="0"/>
              </a:rPr>
              <a:t>Cho biết kết quả của các lệnh sau:</a:t>
            </a:r>
          </a:p>
        </p:txBody>
      </p:sp>
    </p:spTree>
    <p:extLst>
      <p:ext uri="{BB962C8B-B14F-4D97-AF65-F5344CB8AC3E}">
        <p14:creationId xmlns:p14="http://schemas.microsoft.com/office/powerpoint/2010/main" val="2594242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err="1">
                <a:latin typeface="Cambria" panose="02040503050406030204" pitchFamily="18" charset="0"/>
              </a:rPr>
              <a:t>Câu</a:t>
            </a:r>
            <a:r>
              <a:rPr lang="en-US" b="1" dirty="0">
                <a:latin typeface="Cambria" panose="02040503050406030204" pitchFamily="18" charset="0"/>
              </a:rPr>
              <a:t> 7: </a:t>
            </a:r>
            <a:r>
              <a:rPr lang="en-US" dirty="0" err="1">
                <a:latin typeface="Cambria" panose="02040503050406030204" pitchFamily="18" charset="0"/>
              </a:rPr>
              <a:t>Hãy</a:t>
            </a:r>
            <a:r>
              <a:rPr lang="en-US" dirty="0">
                <a:latin typeface="Cambria" panose="02040503050406030204" pitchFamily="18" charset="0"/>
              </a:rPr>
              <a:t> </a:t>
            </a:r>
            <a:r>
              <a:rPr lang="en-US" dirty="0" err="1">
                <a:latin typeface="Cambria" panose="02040503050406030204" pitchFamily="18" charset="0"/>
              </a:rPr>
              <a:t>viết</a:t>
            </a:r>
            <a:r>
              <a:rPr lang="en-US" dirty="0">
                <a:latin typeface="Cambria" panose="02040503050406030204" pitchFamily="18" charset="0"/>
              </a:rPr>
              <a:t> </a:t>
            </a:r>
            <a:r>
              <a:rPr lang="en-US" dirty="0" err="1">
                <a:latin typeface="Cambria" panose="02040503050406030204" pitchFamily="18" charset="0"/>
              </a:rPr>
              <a:t>ngắn</a:t>
            </a:r>
            <a:r>
              <a:rPr lang="en-US" dirty="0">
                <a:latin typeface="Cambria" panose="02040503050406030204" pitchFamily="18" charset="0"/>
              </a:rPr>
              <a:t> </a:t>
            </a:r>
            <a:r>
              <a:rPr lang="en-US" dirty="0" err="1">
                <a:latin typeface="Cambria" panose="02040503050406030204" pitchFamily="18" charset="0"/>
              </a:rPr>
              <a:t>gọn</a:t>
            </a:r>
            <a:r>
              <a:rPr lang="en-US" dirty="0">
                <a:latin typeface="Cambria" panose="02040503050406030204" pitchFamily="18" charset="0"/>
              </a:rPr>
              <a:t> </a:t>
            </a:r>
            <a:r>
              <a:rPr lang="en-US" dirty="0" err="1">
                <a:latin typeface="Cambria" panose="02040503050406030204" pitchFamily="18" charset="0"/>
              </a:rPr>
              <a:t>lại</a:t>
            </a:r>
            <a:r>
              <a:rPr lang="en-US" dirty="0">
                <a:latin typeface="Cambria" panose="02040503050406030204" pitchFamily="18" charset="0"/>
              </a:rPr>
              <a:t> </a:t>
            </a:r>
            <a:r>
              <a:rPr lang="en-US" dirty="0" err="1">
                <a:latin typeface="Cambria" panose="02040503050406030204" pitchFamily="18" charset="0"/>
              </a:rPr>
              <a:t>các</a:t>
            </a:r>
            <a:r>
              <a:rPr lang="en-US" dirty="0">
                <a:latin typeface="Cambria" panose="02040503050406030204" pitchFamily="18" charset="0"/>
              </a:rPr>
              <a:t> </a:t>
            </a:r>
            <a:r>
              <a:rPr lang="en-US" dirty="0" err="1">
                <a:latin typeface="Cambria" panose="02040503050406030204" pitchFamily="18" charset="0"/>
              </a:rPr>
              <a:t>lệnh</a:t>
            </a:r>
            <a:r>
              <a:rPr lang="en-US" dirty="0">
                <a:latin typeface="Cambria" panose="02040503050406030204" pitchFamily="18" charset="0"/>
              </a:rPr>
              <a:t> d</a:t>
            </a:r>
            <a:r>
              <a:rPr lang="vi-VN" dirty="0">
                <a:latin typeface="Cambria" panose="02040503050406030204" pitchFamily="18" charset="0"/>
              </a:rPr>
              <a:t>ư</a:t>
            </a:r>
            <a:r>
              <a:rPr lang="en-US" dirty="0" err="1">
                <a:latin typeface="Cambria" panose="02040503050406030204" pitchFamily="18" charset="0"/>
              </a:rPr>
              <a:t>ới</a:t>
            </a:r>
            <a:r>
              <a:rPr lang="en-US" dirty="0">
                <a:latin typeface="Cambria" panose="02040503050406030204" pitchFamily="18" charset="0"/>
              </a:rPr>
              <a:t> </a:t>
            </a:r>
            <a:r>
              <a:rPr lang="en-US" dirty="0" err="1">
                <a:latin typeface="Cambria" panose="02040503050406030204" pitchFamily="18" charset="0"/>
              </a:rPr>
              <a:t>đây</a:t>
            </a:r>
            <a:r>
              <a:rPr lang="en-US" dirty="0">
                <a:latin typeface="Cambria" panose="02040503050406030204" pitchFamily="18" charset="0"/>
              </a:rPr>
              <a:t>:</a:t>
            </a:r>
          </a:p>
          <a:p>
            <a:pPr marL="0" indent="0">
              <a:buNone/>
            </a:pPr>
            <a:r>
              <a:rPr lang="pt-BR" dirty="0">
                <a:latin typeface="Cambria" panose="02040503050406030204" pitchFamily="18" charset="0"/>
              </a:rPr>
              <a:t>(a) x = x + 1</a:t>
            </a:r>
            <a:r>
              <a:rPr lang="pt-BR" dirty="0">
                <a:latin typeface="Cambria" panose="02040503050406030204" pitchFamily="18" charset="0"/>
                <a:sym typeface="Wingdings" panose="05000000000000000000" pitchFamily="2" charset="2"/>
              </a:rPr>
              <a:t>x+=1</a:t>
            </a:r>
            <a:endParaRPr lang="pt-BR" dirty="0">
              <a:latin typeface="Cambria" panose="02040503050406030204" pitchFamily="18" charset="0"/>
            </a:endParaRPr>
          </a:p>
          <a:p>
            <a:pPr marL="0" indent="0">
              <a:buNone/>
            </a:pPr>
            <a:r>
              <a:rPr lang="pt-BR" dirty="0">
                <a:latin typeface="Cambria" panose="02040503050406030204" pitchFamily="18" charset="0"/>
              </a:rPr>
              <a:t>(b) x = x / 2</a:t>
            </a:r>
          </a:p>
          <a:p>
            <a:pPr marL="0" indent="0">
              <a:buNone/>
            </a:pPr>
            <a:r>
              <a:rPr lang="pt-BR" dirty="0">
                <a:latin typeface="Cambria" panose="02040503050406030204" pitchFamily="18" charset="0"/>
              </a:rPr>
              <a:t>(c) x = x – 1</a:t>
            </a:r>
          </a:p>
          <a:p>
            <a:pPr marL="0" indent="0">
              <a:buNone/>
            </a:pPr>
            <a:r>
              <a:rPr lang="en-US" dirty="0">
                <a:latin typeface="Cambria" panose="02040503050406030204" pitchFamily="18" charset="0"/>
              </a:rPr>
              <a:t>(d) x = x + y</a:t>
            </a:r>
          </a:p>
          <a:p>
            <a:pPr marL="0" indent="0">
              <a:buNone/>
            </a:pPr>
            <a:r>
              <a:rPr lang="en-US" dirty="0">
                <a:latin typeface="Cambria" panose="02040503050406030204" pitchFamily="18" charset="0"/>
              </a:rPr>
              <a:t>(e) x = x - (y + 7)</a:t>
            </a:r>
          </a:p>
          <a:p>
            <a:pPr marL="0" indent="0">
              <a:buNone/>
            </a:pPr>
            <a:r>
              <a:rPr lang="en-US" dirty="0">
                <a:latin typeface="Cambria" panose="02040503050406030204" pitchFamily="18" charset="0"/>
              </a:rPr>
              <a:t>(f) x = 2*x</a:t>
            </a:r>
          </a:p>
          <a:p>
            <a:pPr marL="0" indent="0">
              <a:buNone/>
            </a:pPr>
            <a:r>
              <a:rPr lang="en-US" dirty="0">
                <a:latin typeface="Cambria" panose="02040503050406030204" pitchFamily="18" charset="0"/>
              </a:rPr>
              <a:t>(g) </a:t>
            </a:r>
            <a:r>
              <a:rPr lang="en-US" dirty="0" err="1">
                <a:latin typeface="Cambria" panose="02040503050406030204" pitchFamily="18" charset="0"/>
              </a:rPr>
              <a:t>number_of_closed_cases</a:t>
            </a:r>
            <a:r>
              <a:rPr lang="en-US" dirty="0">
                <a:latin typeface="Cambria" panose="02040503050406030204" pitchFamily="18" charset="0"/>
              </a:rPr>
              <a:t> = </a:t>
            </a:r>
            <a:r>
              <a:rPr lang="en-US" dirty="0" err="1">
                <a:latin typeface="Cambria" panose="02040503050406030204" pitchFamily="18" charset="0"/>
              </a:rPr>
              <a:t>number_of_closed_cases</a:t>
            </a:r>
            <a:r>
              <a:rPr lang="en-US" dirty="0">
                <a:latin typeface="Cambria" panose="02040503050406030204" pitchFamily="18" charset="0"/>
              </a:rPr>
              <a:t> + 2*</a:t>
            </a:r>
            <a:r>
              <a:rPr lang="en-US" dirty="0" err="1">
                <a:latin typeface="Cambria" panose="02040503050406030204" pitchFamily="18" charset="0"/>
              </a:rPr>
              <a:t>ncc</a:t>
            </a:r>
            <a:endParaRPr lang="en-US" dirty="0">
              <a:latin typeface="Cambria" panose="02040503050406030204" pitchFamily="18" charset="0"/>
            </a:endParaRPr>
          </a:p>
        </p:txBody>
      </p:sp>
    </p:spTree>
    <p:extLst>
      <p:ext uri="{BB962C8B-B14F-4D97-AF65-F5344CB8AC3E}">
        <p14:creationId xmlns:p14="http://schemas.microsoft.com/office/powerpoint/2010/main" val="92743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Biểu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thức</a:t>
            </a:r>
            <a:r>
              <a:rPr lang="en-US" sz="4400" kern="0" dirty="0">
                <a:solidFill>
                  <a:srgbClr val="002060"/>
                </a:solidFill>
                <a:latin typeface="Cambria" panose="02040503050406030204" pitchFamily="18" charset="0"/>
              </a:rPr>
              <a:t> Boolean</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316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err="1">
                <a:latin typeface="Cambria" panose="02040503050406030204" pitchFamily="18" charset="0"/>
              </a:rPr>
              <a:t>Biểu</a:t>
            </a:r>
            <a:r>
              <a:rPr lang="en-US" sz="3600" dirty="0">
                <a:latin typeface="Cambria" panose="02040503050406030204" pitchFamily="18" charset="0"/>
              </a:rPr>
              <a:t> </a:t>
            </a:r>
            <a:r>
              <a:rPr lang="en-US" sz="3600" dirty="0" err="1">
                <a:latin typeface="Cambria" panose="02040503050406030204" pitchFamily="18" charset="0"/>
              </a:rPr>
              <a:t>thức</a:t>
            </a:r>
            <a:r>
              <a:rPr lang="en-US" sz="3600" dirty="0">
                <a:latin typeface="Cambria" panose="02040503050406030204" pitchFamily="18" charset="0"/>
              </a:rPr>
              <a:t> </a:t>
            </a:r>
            <a:r>
              <a:rPr lang="en-US" sz="3600" b="1" dirty="0">
                <a:latin typeface="Cambria" panose="02040503050406030204" pitchFamily="18" charset="0"/>
              </a:rPr>
              <a:t>Boolean</a:t>
            </a:r>
            <a:r>
              <a:rPr lang="en-US" sz="3600" dirty="0">
                <a:latin typeface="Cambria" panose="02040503050406030204" pitchFamily="18" charset="0"/>
              </a:rPr>
              <a:t> (</a:t>
            </a:r>
            <a:r>
              <a:rPr lang="en-US" sz="3600" b="1" dirty="0">
                <a:latin typeface="Cambria" panose="02040503050406030204" pitchFamily="18" charset="0"/>
              </a:rPr>
              <a:t>Boolean Expression</a:t>
            </a:r>
            <a:r>
              <a:rPr lang="en-US" sz="3600" dirty="0">
                <a:latin typeface="Cambria" panose="02040503050406030204" pitchFamily="18" charset="0"/>
              </a:rPr>
              <a:t>) </a:t>
            </a:r>
            <a:r>
              <a:rPr lang="en-US" sz="3600" dirty="0" err="1">
                <a:latin typeface="Cambria" panose="02040503050406030204" pitchFamily="18" charset="0"/>
              </a:rPr>
              <a:t>còn</a:t>
            </a:r>
            <a:r>
              <a:rPr lang="en-US" sz="3600" dirty="0">
                <a:latin typeface="Cambria" panose="02040503050406030204" pitchFamily="18" charset="0"/>
              </a:rPr>
              <a:t> đ</a:t>
            </a:r>
            <a:r>
              <a:rPr lang="vi-VN" sz="3600" dirty="0">
                <a:latin typeface="Cambria" panose="02040503050406030204" pitchFamily="18" charset="0"/>
              </a:rPr>
              <a:t>ư</a:t>
            </a:r>
            <a:r>
              <a:rPr lang="en-US" sz="3600" dirty="0" err="1">
                <a:latin typeface="Cambria" panose="02040503050406030204" pitchFamily="18" charset="0"/>
              </a:rPr>
              <a:t>ợc</a:t>
            </a:r>
            <a:r>
              <a:rPr lang="en-US" sz="3600" dirty="0">
                <a:latin typeface="Cambria" panose="02040503050406030204" pitchFamily="18" charset="0"/>
              </a:rPr>
              <a:t> </a:t>
            </a:r>
            <a:r>
              <a:rPr lang="en-US" sz="3600" dirty="0" err="1">
                <a:latin typeface="Cambria" panose="02040503050406030204" pitchFamily="18" charset="0"/>
              </a:rPr>
              <a:t>gọi</a:t>
            </a:r>
            <a:r>
              <a:rPr lang="en-US" sz="3600" dirty="0">
                <a:latin typeface="Cambria" panose="02040503050406030204" pitchFamily="18" charset="0"/>
              </a:rPr>
              <a:t> </a:t>
            </a:r>
            <a:r>
              <a:rPr lang="en-US" sz="3600" dirty="0" err="1">
                <a:latin typeface="Cambria" panose="02040503050406030204" pitchFamily="18" charset="0"/>
              </a:rPr>
              <a:t>là</a:t>
            </a:r>
            <a:r>
              <a:rPr lang="en-US" sz="3600" dirty="0">
                <a:latin typeface="Cambria" panose="02040503050406030204" pitchFamily="18" charset="0"/>
              </a:rPr>
              <a:t> </a:t>
            </a:r>
            <a:r>
              <a:rPr lang="en-US" sz="3600" b="1" dirty="0">
                <a:latin typeface="Cambria" panose="02040503050406030204" pitchFamily="18" charset="0"/>
              </a:rPr>
              <a:t>Predicate</a:t>
            </a:r>
            <a:r>
              <a:rPr lang="en-US" sz="3600" dirty="0">
                <a:latin typeface="Cambria" panose="02040503050406030204" pitchFamily="18" charset="0"/>
              </a:rPr>
              <a:t>. </a:t>
            </a:r>
          </a:p>
          <a:p>
            <a:r>
              <a:rPr lang="en-US" sz="3600" dirty="0" err="1">
                <a:latin typeface="Cambria" panose="02040503050406030204" pitchFamily="18" charset="0"/>
              </a:rPr>
              <a:t>Là</a:t>
            </a:r>
            <a:r>
              <a:rPr lang="en-US" sz="3600" dirty="0">
                <a:latin typeface="Cambria" panose="02040503050406030204" pitchFamily="18" charset="0"/>
              </a:rPr>
              <a:t> </a:t>
            </a:r>
            <a:r>
              <a:rPr lang="en-US" sz="3600" dirty="0" err="1">
                <a:latin typeface="Cambria" panose="02040503050406030204" pitchFamily="18" charset="0"/>
              </a:rPr>
              <a:t>một</a:t>
            </a:r>
            <a:r>
              <a:rPr lang="en-US" sz="3600" dirty="0">
                <a:latin typeface="Cambria" panose="02040503050406030204" pitchFamily="18" charset="0"/>
              </a:rPr>
              <a:t> </a:t>
            </a:r>
            <a:r>
              <a:rPr lang="en-US" sz="3600" dirty="0" err="1">
                <a:latin typeface="Cambria" panose="02040503050406030204" pitchFamily="18" charset="0"/>
              </a:rPr>
              <a:t>biểu</a:t>
            </a:r>
            <a:r>
              <a:rPr lang="en-US" sz="3600" dirty="0">
                <a:latin typeface="Cambria" panose="02040503050406030204" pitchFamily="18" charset="0"/>
              </a:rPr>
              <a:t> </a:t>
            </a:r>
            <a:r>
              <a:rPr lang="en-US" sz="3600" dirty="0" err="1">
                <a:latin typeface="Cambria" panose="02040503050406030204" pitchFamily="18" charset="0"/>
              </a:rPr>
              <a:t>thức</a:t>
            </a:r>
            <a:r>
              <a:rPr lang="en-US" sz="3600" dirty="0">
                <a:latin typeface="Cambria" panose="02040503050406030204" pitchFamily="18" charset="0"/>
              </a:rPr>
              <a:t> </a:t>
            </a:r>
            <a:r>
              <a:rPr lang="en-US" sz="3600" dirty="0" err="1">
                <a:latin typeface="Cambria" panose="02040503050406030204" pitchFamily="18" charset="0"/>
              </a:rPr>
              <a:t>rất</a:t>
            </a:r>
            <a:r>
              <a:rPr lang="en-US" sz="3600" dirty="0">
                <a:latin typeface="Cambria" panose="02040503050406030204" pitchFamily="18" charset="0"/>
              </a:rPr>
              <a:t> </a:t>
            </a:r>
            <a:r>
              <a:rPr lang="en-US" sz="3600" dirty="0" err="1">
                <a:latin typeface="Cambria" panose="02040503050406030204" pitchFamily="18" charset="0"/>
              </a:rPr>
              <a:t>quan</a:t>
            </a:r>
            <a:r>
              <a:rPr lang="en-US" sz="3600" dirty="0">
                <a:latin typeface="Cambria" panose="02040503050406030204" pitchFamily="18" charset="0"/>
              </a:rPr>
              <a:t> </a:t>
            </a:r>
            <a:r>
              <a:rPr lang="en-US" sz="3600" dirty="0" err="1">
                <a:latin typeface="Cambria" panose="02040503050406030204" pitchFamily="18" charset="0"/>
              </a:rPr>
              <a:t>trọng</a:t>
            </a:r>
            <a:r>
              <a:rPr lang="en-US" sz="3600" dirty="0">
                <a:latin typeface="Cambria" panose="02040503050406030204" pitchFamily="18" charset="0"/>
              </a:rPr>
              <a:t> </a:t>
            </a:r>
            <a:r>
              <a:rPr lang="en-US" sz="3600" dirty="0" err="1">
                <a:latin typeface="Cambria" panose="02040503050406030204" pitchFamily="18" charset="0"/>
              </a:rPr>
              <a:t>và</a:t>
            </a:r>
            <a:r>
              <a:rPr lang="en-US" sz="3600" dirty="0">
                <a:latin typeface="Cambria" panose="02040503050406030204" pitchFamily="18" charset="0"/>
              </a:rPr>
              <a:t> </a:t>
            </a:r>
            <a:r>
              <a:rPr lang="en-US" sz="3600" dirty="0" err="1">
                <a:latin typeface="Cambria" panose="02040503050406030204" pitchFamily="18" charset="0"/>
              </a:rPr>
              <a:t>phổ</a:t>
            </a:r>
            <a:r>
              <a:rPr lang="en-US" sz="3600" dirty="0">
                <a:latin typeface="Cambria" panose="02040503050406030204" pitchFamily="18" charset="0"/>
              </a:rPr>
              <a:t> </a:t>
            </a:r>
            <a:r>
              <a:rPr lang="en-US" sz="3600" dirty="0" err="1">
                <a:latin typeface="Cambria" panose="02040503050406030204" pitchFamily="18" charset="0"/>
              </a:rPr>
              <a:t>biến</a:t>
            </a:r>
            <a:r>
              <a:rPr lang="en-US" sz="3600" dirty="0">
                <a:latin typeface="Cambria" panose="02040503050406030204" pitchFamily="18" charset="0"/>
              </a:rPr>
              <a:t> </a:t>
            </a:r>
            <a:r>
              <a:rPr lang="en-US" sz="3600" dirty="0" err="1">
                <a:latin typeface="Cambria" panose="02040503050406030204" pitchFamily="18" charset="0"/>
              </a:rPr>
              <a:t>trong</a:t>
            </a:r>
            <a:r>
              <a:rPr lang="en-US" sz="3600" dirty="0">
                <a:latin typeface="Cambria" panose="02040503050406030204" pitchFamily="18" charset="0"/>
              </a:rPr>
              <a:t> </a:t>
            </a:r>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lệnh</a:t>
            </a:r>
            <a:r>
              <a:rPr lang="en-US" sz="3600" dirty="0">
                <a:latin typeface="Cambria" panose="02040503050406030204" pitchFamily="18" charset="0"/>
              </a:rPr>
              <a:t> </a:t>
            </a:r>
            <a:r>
              <a:rPr lang="en-US" sz="3600" dirty="0" err="1">
                <a:latin typeface="Cambria" panose="02040503050406030204" pitchFamily="18" charset="0"/>
              </a:rPr>
              <a:t>của</a:t>
            </a:r>
            <a:r>
              <a:rPr lang="en-US" sz="3600" dirty="0">
                <a:latin typeface="Cambria" panose="02040503050406030204" pitchFamily="18" charset="0"/>
              </a:rPr>
              <a:t> Python </a:t>
            </a:r>
            <a:r>
              <a:rPr lang="en-US" sz="3600" dirty="0" err="1">
                <a:latin typeface="Cambria" panose="02040503050406030204" pitchFamily="18" charset="0"/>
              </a:rPr>
              <a:t>cũng</a:t>
            </a:r>
            <a:r>
              <a:rPr lang="en-US" sz="3600" dirty="0">
                <a:latin typeface="Cambria" panose="02040503050406030204" pitchFamily="18" charset="0"/>
              </a:rPr>
              <a:t> </a:t>
            </a:r>
            <a:r>
              <a:rPr lang="en-US" sz="3600" dirty="0" err="1">
                <a:latin typeface="Cambria" panose="02040503050406030204" pitchFamily="18" charset="0"/>
              </a:rPr>
              <a:t>nh</a:t>
            </a:r>
            <a:r>
              <a:rPr lang="vi-VN" sz="3600" dirty="0">
                <a:latin typeface="Cambria" panose="02040503050406030204" pitchFamily="18" charset="0"/>
              </a:rPr>
              <a:t>ư</a:t>
            </a:r>
            <a:r>
              <a:rPr lang="en-US" sz="3600" dirty="0">
                <a:latin typeface="Cambria" panose="02040503050406030204" pitchFamily="18" charset="0"/>
              </a:rPr>
              <a:t> </a:t>
            </a:r>
            <a:r>
              <a:rPr lang="en-US" sz="3600" dirty="0" err="1">
                <a:latin typeface="Cambria" panose="02040503050406030204" pitchFamily="18" charset="0"/>
              </a:rPr>
              <a:t>ngôn</a:t>
            </a:r>
            <a:r>
              <a:rPr lang="en-US" sz="3600" dirty="0">
                <a:latin typeface="Cambria" panose="02040503050406030204" pitchFamily="18" charset="0"/>
              </a:rPr>
              <a:t> </a:t>
            </a:r>
            <a:r>
              <a:rPr lang="en-US" sz="3600" dirty="0" err="1">
                <a:latin typeface="Cambria" panose="02040503050406030204" pitchFamily="18" charset="0"/>
              </a:rPr>
              <a:t>ngữ</a:t>
            </a:r>
            <a:r>
              <a:rPr lang="en-US" sz="3600" dirty="0">
                <a:latin typeface="Cambria" panose="02040503050406030204" pitchFamily="18" charset="0"/>
              </a:rPr>
              <a:t> </a:t>
            </a:r>
            <a:r>
              <a:rPr lang="en-US" sz="3600" dirty="0" err="1">
                <a:latin typeface="Cambria" panose="02040503050406030204" pitchFamily="18" charset="0"/>
              </a:rPr>
              <a:t>lập</a:t>
            </a:r>
            <a:r>
              <a:rPr lang="en-US" sz="3600" dirty="0">
                <a:latin typeface="Cambria" panose="02040503050406030204" pitchFamily="18" charset="0"/>
              </a:rPr>
              <a:t> </a:t>
            </a:r>
            <a:r>
              <a:rPr lang="en-US" sz="3600" dirty="0" err="1">
                <a:latin typeface="Cambria" panose="02040503050406030204" pitchFamily="18" charset="0"/>
              </a:rPr>
              <a:t>trình</a:t>
            </a:r>
            <a:r>
              <a:rPr lang="en-US" sz="3600" dirty="0">
                <a:latin typeface="Cambria" panose="02040503050406030204" pitchFamily="18" charset="0"/>
              </a:rPr>
              <a:t> </a:t>
            </a:r>
            <a:r>
              <a:rPr lang="en-US" sz="3600" dirty="0" err="1">
                <a:latin typeface="Cambria" panose="02040503050406030204" pitchFamily="18" charset="0"/>
              </a:rPr>
              <a:t>khác</a:t>
            </a:r>
            <a:r>
              <a:rPr lang="en-US" sz="3600" dirty="0">
                <a:latin typeface="Cambria" panose="02040503050406030204" pitchFamily="18" charset="0"/>
              </a:rPr>
              <a:t>.</a:t>
            </a:r>
          </a:p>
          <a:p>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giá</a:t>
            </a:r>
            <a:r>
              <a:rPr lang="en-US" sz="3600" dirty="0">
                <a:latin typeface="Cambria" panose="02040503050406030204" pitchFamily="18" charset="0"/>
              </a:rPr>
              <a:t> </a:t>
            </a:r>
            <a:r>
              <a:rPr lang="en-US" sz="3600" dirty="0" err="1">
                <a:latin typeface="Cambria" panose="02040503050406030204" pitchFamily="18" charset="0"/>
              </a:rPr>
              <a:t>trị</a:t>
            </a:r>
            <a:r>
              <a:rPr lang="en-US" sz="3600" dirty="0">
                <a:latin typeface="Cambria" panose="02040503050406030204" pitchFamily="18" charset="0"/>
              </a:rPr>
              <a:t> </a:t>
            </a:r>
            <a:r>
              <a:rPr lang="en-US" sz="3600" dirty="0" err="1">
                <a:latin typeface="Cambria" panose="02040503050406030204" pitchFamily="18" charset="0"/>
              </a:rPr>
              <a:t>là</a:t>
            </a:r>
            <a:r>
              <a:rPr lang="en-US" sz="3600" dirty="0">
                <a:latin typeface="Cambria" panose="02040503050406030204" pitchFamily="18" charset="0"/>
              </a:rPr>
              <a:t> </a:t>
            </a:r>
            <a:r>
              <a:rPr lang="en-US" sz="3600" b="1" dirty="0">
                <a:solidFill>
                  <a:srgbClr val="FF0000"/>
                </a:solidFill>
                <a:latin typeface="Cambria" panose="02040503050406030204" pitchFamily="18" charset="0"/>
              </a:rPr>
              <a:t>T</a:t>
            </a:r>
            <a:r>
              <a:rPr lang="en-US" sz="3600" b="1" dirty="0">
                <a:latin typeface="Cambria" panose="02040503050406030204" pitchFamily="18" charset="0"/>
              </a:rPr>
              <a:t>rue</a:t>
            </a:r>
            <a:r>
              <a:rPr lang="en-US" sz="3600" dirty="0">
                <a:latin typeface="Cambria" panose="02040503050406030204" pitchFamily="18" charset="0"/>
              </a:rPr>
              <a:t> </a:t>
            </a:r>
            <a:r>
              <a:rPr lang="en-US" sz="3600" dirty="0" err="1">
                <a:latin typeface="Cambria" panose="02040503050406030204" pitchFamily="18" charset="0"/>
              </a:rPr>
              <a:t>hoặc</a:t>
            </a:r>
            <a:r>
              <a:rPr lang="en-US" sz="3600" dirty="0">
                <a:latin typeface="Cambria" panose="02040503050406030204" pitchFamily="18" charset="0"/>
              </a:rPr>
              <a:t> </a:t>
            </a:r>
            <a:r>
              <a:rPr lang="en-US" sz="3600" b="1" dirty="0">
                <a:solidFill>
                  <a:srgbClr val="FF0000"/>
                </a:solidFill>
                <a:latin typeface="Cambria" panose="02040503050406030204" pitchFamily="18" charset="0"/>
              </a:rPr>
              <a:t>F</a:t>
            </a:r>
            <a:r>
              <a:rPr lang="en-US" sz="3600" b="1" dirty="0">
                <a:latin typeface="Cambria" panose="02040503050406030204" pitchFamily="18" charset="0"/>
              </a:rPr>
              <a:t>alse</a:t>
            </a:r>
            <a:r>
              <a:rPr lang="en-US" sz="3600" dirty="0">
                <a:latin typeface="Cambria" panose="02040503050406030204" pitchFamily="18" charset="0"/>
              </a:rPr>
              <a:t>, </a:t>
            </a:r>
            <a:r>
              <a:rPr lang="en-US" sz="3600" dirty="0" err="1">
                <a:latin typeface="Cambria" panose="02040503050406030204" pitchFamily="18" charset="0"/>
              </a:rPr>
              <a:t>dựa</a:t>
            </a:r>
            <a:r>
              <a:rPr lang="en-US" sz="3600" dirty="0">
                <a:latin typeface="Cambria" panose="02040503050406030204" pitchFamily="18" charset="0"/>
              </a:rPr>
              <a:t> </a:t>
            </a:r>
            <a:r>
              <a:rPr lang="en-US" sz="3600" dirty="0" err="1">
                <a:latin typeface="Cambria" panose="02040503050406030204" pitchFamily="18" charset="0"/>
              </a:rPr>
              <a:t>vào</a:t>
            </a:r>
            <a:r>
              <a:rPr lang="en-US" sz="3600" dirty="0">
                <a:latin typeface="Cambria" panose="02040503050406030204" pitchFamily="18" charset="0"/>
              </a:rPr>
              <a:t> </a:t>
            </a:r>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giá</a:t>
            </a:r>
            <a:r>
              <a:rPr lang="en-US" sz="3600" dirty="0">
                <a:latin typeface="Cambria" panose="02040503050406030204" pitchFamily="18" charset="0"/>
              </a:rPr>
              <a:t> </a:t>
            </a:r>
            <a:r>
              <a:rPr lang="en-US" sz="3600" dirty="0" err="1">
                <a:latin typeface="Cambria" panose="02040503050406030204" pitchFamily="18" charset="0"/>
              </a:rPr>
              <a:t>trị</a:t>
            </a:r>
            <a:r>
              <a:rPr lang="en-US" sz="3600" dirty="0">
                <a:latin typeface="Cambria" panose="02040503050406030204" pitchFamily="18" charset="0"/>
              </a:rPr>
              <a:t> </a:t>
            </a:r>
            <a:r>
              <a:rPr lang="en-US" sz="3600" dirty="0" err="1">
                <a:latin typeface="Cambria" panose="02040503050406030204" pitchFamily="18" charset="0"/>
              </a:rPr>
              <a:t>này</a:t>
            </a:r>
            <a:r>
              <a:rPr lang="en-US" sz="3600" dirty="0">
                <a:latin typeface="Cambria" panose="02040503050406030204" pitchFamily="18" charset="0"/>
              </a:rPr>
              <a:t> </a:t>
            </a:r>
            <a:r>
              <a:rPr lang="en-US" sz="3600" dirty="0" err="1">
                <a:latin typeface="Cambria" panose="02040503050406030204" pitchFamily="18" charset="0"/>
              </a:rPr>
              <a:t>mà</a:t>
            </a:r>
            <a:r>
              <a:rPr lang="en-US" sz="3600" dirty="0">
                <a:latin typeface="Cambria" panose="02040503050406030204" pitchFamily="18" charset="0"/>
              </a:rPr>
              <a:t> ta </a:t>
            </a:r>
            <a:r>
              <a:rPr lang="en-US" sz="3600" dirty="0" err="1">
                <a:latin typeface="Cambria" panose="02040503050406030204" pitchFamily="18" charset="0"/>
              </a:rPr>
              <a:t>điều</a:t>
            </a:r>
            <a:r>
              <a:rPr lang="en-US" sz="3600" dirty="0">
                <a:latin typeface="Cambria" panose="02040503050406030204" pitchFamily="18" charset="0"/>
              </a:rPr>
              <a:t> h</a:t>
            </a:r>
            <a:r>
              <a:rPr lang="vi-VN" sz="3600" dirty="0">
                <a:latin typeface="Cambria" panose="02040503050406030204" pitchFamily="18" charset="0"/>
              </a:rPr>
              <a:t>ư</a:t>
            </a:r>
            <a:r>
              <a:rPr lang="en-US" sz="3600" dirty="0" err="1">
                <a:latin typeface="Cambria" panose="02040503050406030204" pitchFamily="18" charset="0"/>
              </a:rPr>
              <a:t>ớng</a:t>
            </a:r>
            <a:r>
              <a:rPr lang="en-US" sz="3600" dirty="0">
                <a:latin typeface="Cambria" panose="02040503050406030204" pitchFamily="18" charset="0"/>
              </a:rPr>
              <a:t> </a:t>
            </a:r>
            <a:r>
              <a:rPr lang="en-US" sz="3600" dirty="0" err="1">
                <a:latin typeface="Cambria" panose="02040503050406030204" pitchFamily="18" charset="0"/>
              </a:rPr>
              <a:t>các</a:t>
            </a:r>
            <a:r>
              <a:rPr lang="en-US" sz="3600" dirty="0">
                <a:latin typeface="Cambria" panose="02040503050406030204" pitchFamily="18" charset="0"/>
              </a:rPr>
              <a:t> </a:t>
            </a:r>
            <a:r>
              <a:rPr lang="en-US" sz="3600" dirty="0" err="1">
                <a:latin typeface="Cambria" panose="02040503050406030204" pitchFamily="18" charset="0"/>
              </a:rPr>
              <a:t>công</a:t>
            </a:r>
            <a:r>
              <a:rPr lang="en-US" sz="3600" dirty="0">
                <a:latin typeface="Cambria" panose="02040503050406030204" pitchFamily="18" charset="0"/>
              </a:rPr>
              <a:t> </a:t>
            </a:r>
            <a:r>
              <a:rPr lang="en-US" sz="3600" dirty="0" err="1">
                <a:latin typeface="Cambria" panose="02040503050406030204" pitchFamily="18" charset="0"/>
              </a:rPr>
              <a:t>việc</a:t>
            </a:r>
            <a:r>
              <a:rPr lang="en-US" sz="3600" dirty="0">
                <a:latin typeface="Cambria" panose="02040503050406030204" pitchFamily="18" charset="0"/>
              </a:rPr>
              <a:t> </a:t>
            </a:r>
            <a:r>
              <a:rPr lang="en-US" sz="3600" dirty="0" err="1">
                <a:latin typeface="Cambria" panose="02040503050406030204" pitchFamily="18" charset="0"/>
              </a:rPr>
              <a:t>trong</a:t>
            </a:r>
            <a:r>
              <a:rPr lang="en-US" sz="3600" dirty="0">
                <a:latin typeface="Cambria" panose="02040503050406030204" pitchFamily="18" charset="0"/>
              </a:rPr>
              <a:t> </a:t>
            </a:r>
            <a:r>
              <a:rPr lang="en-US" sz="3600" dirty="0" err="1">
                <a:latin typeface="Cambria" panose="02040503050406030204" pitchFamily="18" charset="0"/>
              </a:rPr>
              <a:t>phần</a:t>
            </a:r>
            <a:r>
              <a:rPr lang="en-US" sz="3600" dirty="0">
                <a:latin typeface="Cambria" panose="02040503050406030204" pitchFamily="18" charset="0"/>
              </a:rPr>
              <a:t> </a:t>
            </a:r>
            <a:r>
              <a:rPr lang="en-US" sz="3600" dirty="0" err="1">
                <a:latin typeface="Cambria" panose="02040503050406030204" pitchFamily="18" charset="0"/>
              </a:rPr>
              <a:t>mềm</a:t>
            </a:r>
            <a:r>
              <a:rPr lang="en-US" sz="3600" dirty="0">
                <a:latin typeface="Cambria" panose="02040503050406030204" pitchFamily="18" charset="0"/>
              </a:rPr>
              <a:t>.</a:t>
            </a:r>
          </a:p>
        </p:txBody>
      </p:sp>
    </p:spTree>
    <p:extLst>
      <p:ext uri="{BB962C8B-B14F-4D97-AF65-F5344CB8AC3E}">
        <p14:creationId xmlns:p14="http://schemas.microsoft.com/office/powerpoint/2010/main" val="3261788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err="1">
                <a:latin typeface="Cambria" panose="02040503050406030204" pitchFamily="18" charset="0"/>
              </a:rPr>
              <a:t>Ví</a:t>
            </a:r>
            <a:r>
              <a:rPr lang="en-US" sz="2800" dirty="0">
                <a:latin typeface="Cambria" panose="02040503050406030204" pitchFamily="18" charset="0"/>
              </a:rPr>
              <a:t> </a:t>
            </a:r>
            <a:r>
              <a:rPr lang="en-US" sz="2800" dirty="0" err="1">
                <a:latin typeface="Cambria" panose="02040503050406030204" pitchFamily="18" charset="0"/>
              </a:rPr>
              <a:t>dụ</a:t>
            </a:r>
            <a:r>
              <a:rPr lang="en-US" sz="2800" dirty="0">
                <a:latin typeface="Cambria" panose="02040503050406030204" pitchFamily="18" charset="0"/>
              </a:rPr>
              <a:t>:</a:t>
            </a:r>
          </a:p>
          <a:p>
            <a:pPr marL="0" indent="0">
              <a:buNone/>
            </a:pPr>
            <a:r>
              <a:rPr lang="en-US" sz="2800" dirty="0">
                <a:latin typeface="Cambria" panose="02040503050406030204" pitchFamily="18" charset="0"/>
              </a:rPr>
              <a:t>a = True</a:t>
            </a:r>
          </a:p>
          <a:p>
            <a:pPr marL="0" indent="0">
              <a:buNone/>
            </a:pPr>
            <a:r>
              <a:rPr lang="en-US" sz="2800" dirty="0">
                <a:latin typeface="Cambria" panose="02040503050406030204" pitchFamily="18" charset="0"/>
              </a:rPr>
              <a:t>b = False</a:t>
            </a:r>
          </a:p>
          <a:p>
            <a:pPr marL="0" indent="0">
              <a:buNone/>
            </a:pPr>
            <a:r>
              <a:rPr lang="en-US" sz="2800" dirty="0">
                <a:latin typeface="Cambria" panose="02040503050406030204" pitchFamily="18" charset="0"/>
              </a:rPr>
              <a:t>print('a =', a, ' b =', b)</a:t>
            </a:r>
          </a:p>
          <a:p>
            <a:pPr marL="0" indent="0">
              <a:buNone/>
            </a:pPr>
            <a:r>
              <a:rPr lang="en-US" sz="2800" dirty="0">
                <a:latin typeface="Cambria" panose="02040503050406030204" pitchFamily="18" charset="0"/>
              </a:rPr>
              <a:t># </a:t>
            </a:r>
            <a:r>
              <a:rPr lang="en-US" sz="2800" dirty="0" err="1">
                <a:latin typeface="Cambria" panose="02040503050406030204" pitchFamily="18" charset="0"/>
              </a:rPr>
              <a:t>gán</a:t>
            </a:r>
            <a:r>
              <a:rPr lang="en-US" sz="2800" dirty="0">
                <a:latin typeface="Cambria" panose="02040503050406030204" pitchFamily="18" charset="0"/>
              </a:rPr>
              <a:t> </a:t>
            </a:r>
            <a:r>
              <a:rPr lang="en-US" sz="2800" dirty="0" err="1">
                <a:latin typeface="Cambria" panose="02040503050406030204" pitchFamily="18" charset="0"/>
              </a:rPr>
              <a:t>lại</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qua </a:t>
            </a:r>
            <a:r>
              <a:rPr lang="en-US" sz="2800" dirty="0" err="1">
                <a:latin typeface="Cambria" panose="02040503050406030204" pitchFamily="18" charset="0"/>
              </a:rPr>
              <a:t>cho</a:t>
            </a:r>
            <a:r>
              <a:rPr lang="en-US" sz="2800" dirty="0">
                <a:latin typeface="Cambria" panose="02040503050406030204" pitchFamily="18" charset="0"/>
              </a:rPr>
              <a:t> a</a:t>
            </a:r>
          </a:p>
          <a:p>
            <a:pPr marL="0" indent="0">
              <a:buNone/>
            </a:pPr>
            <a:r>
              <a:rPr lang="en-US" sz="2800" dirty="0">
                <a:latin typeface="Cambria" panose="02040503050406030204" pitchFamily="18" charset="0"/>
              </a:rPr>
              <a:t>a = False</a:t>
            </a:r>
          </a:p>
          <a:p>
            <a:pPr marL="0" indent="0">
              <a:buNone/>
            </a:pPr>
            <a:r>
              <a:rPr lang="en-US" sz="2800" dirty="0">
                <a:latin typeface="Cambria" panose="02040503050406030204" pitchFamily="18" charset="0"/>
              </a:rPr>
              <a:t>print('a =', a, ' b =', b)</a:t>
            </a:r>
          </a:p>
        </p:txBody>
      </p:sp>
      <p:sp>
        <p:nvSpPr>
          <p:cNvPr id="8" name="Rectangle 7">
            <a:extLst>
              <a:ext uri="{FF2B5EF4-FFF2-40B4-BE49-F238E27FC236}">
                <a16:creationId xmlns:a16="http://schemas.microsoft.com/office/drawing/2014/main" id="{A8D4988A-04A7-4CED-A2D8-818D33857D24}"/>
              </a:ext>
            </a:extLst>
          </p:cNvPr>
          <p:cNvSpPr/>
          <p:nvPr/>
        </p:nvSpPr>
        <p:spPr>
          <a:xfrm>
            <a:off x="5943600" y="2902803"/>
            <a:ext cx="5791200" cy="830997"/>
          </a:xfrm>
          <a:prstGeom prst="rect">
            <a:avLst/>
          </a:prstGeom>
        </p:spPr>
        <p:txBody>
          <a:bodyPr wrap="square">
            <a:spAutoFit/>
          </a:bodyPr>
          <a:lstStyle/>
          <a:p>
            <a:r>
              <a:rPr lang="en-US" sz="2400" dirty="0">
                <a:latin typeface="Cambria" panose="02040503050406030204" pitchFamily="18" charset="0"/>
              </a:rPr>
              <a:t>a = True b = False</a:t>
            </a:r>
          </a:p>
          <a:p>
            <a:r>
              <a:rPr lang="en-US" sz="2400" dirty="0">
                <a:latin typeface="Cambria" panose="02040503050406030204" pitchFamily="18" charset="0"/>
              </a:rPr>
              <a:t>a = False b = False</a:t>
            </a:r>
          </a:p>
        </p:txBody>
      </p:sp>
      <p:sp>
        <p:nvSpPr>
          <p:cNvPr id="9" name="Arrow: Right 8">
            <a:extLst>
              <a:ext uri="{FF2B5EF4-FFF2-40B4-BE49-F238E27FC236}">
                <a16:creationId xmlns:a16="http://schemas.microsoft.com/office/drawing/2014/main" id="{A54A1B3F-FF05-4667-9BD0-85B886501977}"/>
              </a:ext>
            </a:extLst>
          </p:cNvPr>
          <p:cNvSpPr/>
          <p:nvPr/>
        </p:nvSpPr>
        <p:spPr>
          <a:xfrm>
            <a:off x="4267200" y="2971800"/>
            <a:ext cx="1371600" cy="762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858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dirty="0" err="1">
                <a:latin typeface="Cambria" panose="02040503050406030204" pitchFamily="18" charset="0"/>
              </a:rPr>
              <a:t>Bảng</a:t>
            </a:r>
            <a:r>
              <a:rPr lang="en-US" sz="4000" dirty="0">
                <a:latin typeface="Cambria" panose="02040503050406030204" pitchFamily="18" charset="0"/>
              </a:rPr>
              <a:t> </a:t>
            </a:r>
            <a:r>
              <a:rPr lang="en-US" sz="4000" dirty="0" err="1">
                <a:latin typeface="Cambria" panose="02040503050406030204" pitchFamily="18" charset="0"/>
              </a:rPr>
              <a:t>tổng</a:t>
            </a:r>
            <a:r>
              <a:rPr lang="en-US" sz="4000" dirty="0">
                <a:latin typeface="Cambria" panose="02040503050406030204" pitchFamily="18" charset="0"/>
              </a:rPr>
              <a:t> </a:t>
            </a:r>
            <a:r>
              <a:rPr lang="en-US" sz="4000" dirty="0" err="1">
                <a:latin typeface="Cambria" panose="02040503050406030204" pitchFamily="18" charset="0"/>
              </a:rPr>
              <a:t>quát</a:t>
            </a:r>
            <a:r>
              <a:rPr lang="en-US" sz="4000" dirty="0">
                <a:latin typeface="Cambria" panose="02040503050406030204" pitchFamily="18" charset="0"/>
              </a:rPr>
              <a:t>:</a:t>
            </a:r>
          </a:p>
        </p:txBody>
      </p:sp>
      <p:graphicFrame>
        <p:nvGraphicFramePr>
          <p:cNvPr id="11" name="Table 10">
            <a:extLst>
              <a:ext uri="{FF2B5EF4-FFF2-40B4-BE49-F238E27FC236}">
                <a16:creationId xmlns:a16="http://schemas.microsoft.com/office/drawing/2014/main" id="{8713AA32-24F0-4D34-A87C-E3E509A50F56}"/>
              </a:ext>
            </a:extLst>
          </p:cNvPr>
          <p:cNvGraphicFramePr>
            <a:graphicFrameLocks noGrp="1"/>
          </p:cNvGraphicFramePr>
          <p:nvPr>
            <p:extLst>
              <p:ext uri="{D42A27DB-BD31-4B8C-83A1-F6EECF244321}">
                <p14:modId xmlns:p14="http://schemas.microsoft.com/office/powerpoint/2010/main" val="2662811791"/>
              </p:ext>
            </p:extLst>
          </p:nvPr>
        </p:nvGraphicFramePr>
        <p:xfrm>
          <a:off x="502810" y="1752600"/>
          <a:ext cx="11231990" cy="4480560"/>
        </p:xfrm>
        <a:graphic>
          <a:graphicData uri="http://schemas.openxmlformats.org/drawingml/2006/table">
            <a:tbl>
              <a:tblPr firstRow="1" bandRow="1">
                <a:tableStyleId>{5C22544A-7EE6-4342-B048-85BDC9FD1C3A}</a:tableStyleId>
              </a:tblPr>
              <a:tblGrid>
                <a:gridCol w="3002390">
                  <a:extLst>
                    <a:ext uri="{9D8B030D-6E8A-4147-A177-3AD203B41FA5}">
                      <a16:colId xmlns:a16="http://schemas.microsoft.com/office/drawing/2014/main" val="1943663053"/>
                    </a:ext>
                  </a:extLst>
                </a:gridCol>
                <a:gridCol w="8229600">
                  <a:extLst>
                    <a:ext uri="{9D8B030D-6E8A-4147-A177-3AD203B41FA5}">
                      <a16:colId xmlns:a16="http://schemas.microsoft.com/office/drawing/2014/main" val="3795417902"/>
                    </a:ext>
                  </a:extLst>
                </a:gridCol>
              </a:tblGrid>
              <a:tr h="372400">
                <a:tc>
                  <a:txBody>
                    <a:bodyPr/>
                    <a:lstStyle/>
                    <a:p>
                      <a:pPr algn="ctr"/>
                      <a:r>
                        <a:rPr lang="en-US" sz="3600" dirty="0" err="1">
                          <a:latin typeface="Cambria" panose="02040503050406030204" pitchFamily="18" charset="0"/>
                        </a:rPr>
                        <a:t>Biểu</a:t>
                      </a:r>
                      <a:r>
                        <a:rPr lang="en-US" sz="3600" dirty="0">
                          <a:latin typeface="Cambria" panose="02040503050406030204" pitchFamily="18" charset="0"/>
                        </a:rPr>
                        <a:t> </a:t>
                      </a:r>
                      <a:r>
                        <a:rPr lang="en-US" sz="3600" dirty="0" err="1">
                          <a:latin typeface="Cambria" panose="02040503050406030204" pitchFamily="18" charset="0"/>
                        </a:rPr>
                        <a:t>thức</a:t>
                      </a:r>
                      <a:endParaRPr lang="en-US" sz="3600" dirty="0">
                        <a:latin typeface="Cambria" panose="02040503050406030204" pitchFamily="18" charset="0"/>
                      </a:endParaRPr>
                    </a:p>
                  </a:txBody>
                  <a:tcPr/>
                </a:tc>
                <a:tc>
                  <a:txBody>
                    <a:bodyPr/>
                    <a:lstStyle/>
                    <a:p>
                      <a:pPr algn="ctr"/>
                      <a:r>
                        <a:rPr lang="en-US" sz="3600">
                          <a:latin typeface="Cambria" panose="02040503050406030204" pitchFamily="18" charset="0"/>
                        </a:rPr>
                        <a:t>Ý nghĩa</a:t>
                      </a:r>
                    </a:p>
                  </a:txBody>
                  <a:tcPr/>
                </a:tc>
                <a:extLst>
                  <a:ext uri="{0D108BD9-81ED-4DB2-BD59-A6C34878D82A}">
                    <a16:rowId xmlns:a16="http://schemas.microsoft.com/office/drawing/2014/main" val="2260917862"/>
                  </a:ext>
                </a:extLst>
              </a:tr>
              <a:tr h="372400">
                <a:tc>
                  <a:txBody>
                    <a:bodyPr/>
                    <a:lstStyle/>
                    <a:p>
                      <a:pPr algn="ctr"/>
                      <a:r>
                        <a:rPr lang="en-US" sz="3600" dirty="0">
                          <a:latin typeface="Cambria" panose="02040503050406030204" pitchFamily="18" charset="0"/>
                        </a:rPr>
                        <a:t>x == y</a:t>
                      </a:r>
                    </a:p>
                  </a:txBody>
                  <a:tcPr/>
                </a:tc>
                <a:tc>
                  <a:txBody>
                    <a:bodyPr/>
                    <a:lstStyle/>
                    <a:p>
                      <a:r>
                        <a:rPr lang="en-US" sz="3600" dirty="0">
                          <a:latin typeface="Cambria" panose="02040503050406030204" pitchFamily="18" charset="0"/>
                        </a:rPr>
                        <a:t>True </a:t>
                      </a:r>
                      <a:r>
                        <a:rPr lang="en-US" sz="3600" dirty="0" err="1">
                          <a:latin typeface="Cambria" panose="02040503050406030204" pitchFamily="18" charset="0"/>
                        </a:rPr>
                        <a:t>nếu</a:t>
                      </a:r>
                      <a:r>
                        <a:rPr lang="en-US" sz="3600" dirty="0">
                          <a:latin typeface="Cambria" panose="02040503050406030204" pitchFamily="18" charset="0"/>
                        </a:rPr>
                        <a:t> x=y, False </a:t>
                      </a:r>
                      <a:r>
                        <a:rPr lang="en-US" sz="3600" dirty="0" err="1">
                          <a:latin typeface="Cambria" panose="02040503050406030204" pitchFamily="18" charset="0"/>
                        </a:rPr>
                        <a:t>nếu</a:t>
                      </a:r>
                      <a:r>
                        <a:rPr lang="en-US" sz="3600" dirty="0">
                          <a:latin typeface="Cambria" panose="02040503050406030204" pitchFamily="18" charset="0"/>
                        </a:rPr>
                        <a:t> x </a:t>
                      </a:r>
                      <a:r>
                        <a:rPr lang="en-US" sz="3600" dirty="0" err="1">
                          <a:latin typeface="Cambria" panose="02040503050406030204" pitchFamily="18" charset="0"/>
                        </a:rPr>
                        <a:t>khác</a:t>
                      </a:r>
                      <a:r>
                        <a:rPr lang="en-US" sz="3600" dirty="0">
                          <a:latin typeface="Cambria" panose="02040503050406030204" pitchFamily="18" charset="0"/>
                        </a:rPr>
                        <a:t> y</a:t>
                      </a:r>
                    </a:p>
                  </a:txBody>
                  <a:tcPr/>
                </a:tc>
                <a:extLst>
                  <a:ext uri="{0D108BD9-81ED-4DB2-BD59-A6C34878D82A}">
                    <a16:rowId xmlns:a16="http://schemas.microsoft.com/office/drawing/2014/main" val="921822354"/>
                  </a:ext>
                </a:extLst>
              </a:tr>
              <a:tr h="372400">
                <a:tc>
                  <a:txBody>
                    <a:bodyPr/>
                    <a:lstStyle/>
                    <a:p>
                      <a:pPr algn="ctr"/>
                      <a:r>
                        <a:rPr lang="en-US" sz="3600" dirty="0">
                          <a:latin typeface="Cambria" panose="02040503050406030204" pitchFamily="18" charset="0"/>
                        </a:rPr>
                        <a:t>x &lt; y</a:t>
                      </a:r>
                    </a:p>
                  </a:txBody>
                  <a:tcPr/>
                </a:tc>
                <a:tc>
                  <a:txBody>
                    <a:bodyPr/>
                    <a:lstStyle/>
                    <a:p>
                      <a:r>
                        <a:rPr lang="en-US" sz="3600" dirty="0">
                          <a:latin typeface="Cambria" panose="02040503050406030204" pitchFamily="18" charset="0"/>
                        </a:rPr>
                        <a:t>True </a:t>
                      </a:r>
                      <a:r>
                        <a:rPr lang="en-US" sz="3600" dirty="0" err="1">
                          <a:latin typeface="Cambria" panose="02040503050406030204" pitchFamily="18" charset="0"/>
                        </a:rPr>
                        <a:t>nếu</a:t>
                      </a:r>
                      <a:r>
                        <a:rPr lang="en-US" sz="3600" dirty="0">
                          <a:latin typeface="Cambria" panose="02040503050406030204" pitchFamily="18" charset="0"/>
                        </a:rPr>
                        <a:t> x &lt;y, False </a:t>
                      </a:r>
                      <a:r>
                        <a:rPr lang="en-US" sz="3600" dirty="0" err="1">
                          <a:latin typeface="Cambria" panose="02040503050406030204" pitchFamily="18" charset="0"/>
                        </a:rPr>
                        <a:t>nếu</a:t>
                      </a:r>
                      <a:r>
                        <a:rPr lang="en-US" sz="3600" dirty="0">
                          <a:latin typeface="Cambria" panose="02040503050406030204" pitchFamily="18" charset="0"/>
                        </a:rPr>
                        <a:t> x&gt;=y</a:t>
                      </a:r>
                    </a:p>
                  </a:txBody>
                  <a:tcPr/>
                </a:tc>
                <a:extLst>
                  <a:ext uri="{0D108BD9-81ED-4DB2-BD59-A6C34878D82A}">
                    <a16:rowId xmlns:a16="http://schemas.microsoft.com/office/drawing/2014/main" val="3957931718"/>
                  </a:ext>
                </a:extLst>
              </a:tr>
              <a:tr h="372400">
                <a:tc>
                  <a:txBody>
                    <a:bodyPr/>
                    <a:lstStyle/>
                    <a:p>
                      <a:pPr algn="ctr"/>
                      <a:r>
                        <a:rPr lang="en-US" sz="3600" dirty="0">
                          <a:latin typeface="Cambria" panose="02040503050406030204" pitchFamily="18" charset="0"/>
                        </a:rPr>
                        <a:t>x &lt;= y</a:t>
                      </a:r>
                    </a:p>
                  </a:txBody>
                  <a:tcPr/>
                </a:tc>
                <a:tc>
                  <a:txBody>
                    <a:bodyPr/>
                    <a:lstStyle/>
                    <a:p>
                      <a:r>
                        <a:rPr lang="en-US" sz="3600">
                          <a:latin typeface="Cambria" panose="02040503050406030204" pitchFamily="18" charset="0"/>
                        </a:rPr>
                        <a:t>True nếu x&lt;=y, False nếu x&gt;y</a:t>
                      </a:r>
                    </a:p>
                  </a:txBody>
                  <a:tcPr/>
                </a:tc>
                <a:extLst>
                  <a:ext uri="{0D108BD9-81ED-4DB2-BD59-A6C34878D82A}">
                    <a16:rowId xmlns:a16="http://schemas.microsoft.com/office/drawing/2014/main" val="4196488831"/>
                  </a:ext>
                </a:extLst>
              </a:tr>
              <a:tr h="372400">
                <a:tc>
                  <a:txBody>
                    <a:bodyPr/>
                    <a:lstStyle/>
                    <a:p>
                      <a:pPr algn="ctr"/>
                      <a:r>
                        <a:rPr lang="en-US" sz="3600" dirty="0">
                          <a:latin typeface="Cambria" panose="02040503050406030204" pitchFamily="18" charset="0"/>
                        </a:rPr>
                        <a:t>x &gt; y</a:t>
                      </a:r>
                    </a:p>
                  </a:txBody>
                  <a:tcPr/>
                </a:tc>
                <a:tc>
                  <a:txBody>
                    <a:bodyPr/>
                    <a:lstStyle/>
                    <a:p>
                      <a:r>
                        <a:rPr lang="en-US" sz="3600">
                          <a:latin typeface="Cambria" panose="02040503050406030204" pitchFamily="18" charset="0"/>
                        </a:rPr>
                        <a:t>True nếu x&gt;y, False nếu x&lt;=y</a:t>
                      </a:r>
                    </a:p>
                  </a:txBody>
                  <a:tcPr/>
                </a:tc>
                <a:extLst>
                  <a:ext uri="{0D108BD9-81ED-4DB2-BD59-A6C34878D82A}">
                    <a16:rowId xmlns:a16="http://schemas.microsoft.com/office/drawing/2014/main" val="2469160254"/>
                  </a:ext>
                </a:extLst>
              </a:tr>
              <a:tr h="372400">
                <a:tc>
                  <a:txBody>
                    <a:bodyPr/>
                    <a:lstStyle/>
                    <a:p>
                      <a:pPr algn="ctr"/>
                      <a:r>
                        <a:rPr lang="en-US" sz="3600" dirty="0">
                          <a:latin typeface="Cambria" panose="02040503050406030204" pitchFamily="18" charset="0"/>
                        </a:rPr>
                        <a:t>x &gt;= y</a:t>
                      </a:r>
                    </a:p>
                  </a:txBody>
                  <a:tcPr/>
                </a:tc>
                <a:tc>
                  <a:txBody>
                    <a:bodyPr/>
                    <a:lstStyle/>
                    <a:p>
                      <a:r>
                        <a:rPr lang="en-US" sz="3600">
                          <a:latin typeface="Cambria" panose="02040503050406030204" pitchFamily="18" charset="0"/>
                        </a:rPr>
                        <a:t>True nếu x&gt;=y, False nếu x&lt;y</a:t>
                      </a:r>
                    </a:p>
                  </a:txBody>
                  <a:tcPr/>
                </a:tc>
                <a:extLst>
                  <a:ext uri="{0D108BD9-81ED-4DB2-BD59-A6C34878D82A}">
                    <a16:rowId xmlns:a16="http://schemas.microsoft.com/office/drawing/2014/main" val="2905329923"/>
                  </a:ext>
                </a:extLst>
              </a:tr>
              <a:tr h="372400">
                <a:tc>
                  <a:txBody>
                    <a:bodyPr/>
                    <a:lstStyle/>
                    <a:p>
                      <a:pPr algn="ctr"/>
                      <a:r>
                        <a:rPr lang="en-US" sz="3600" dirty="0">
                          <a:latin typeface="Cambria" panose="02040503050406030204" pitchFamily="18" charset="0"/>
                        </a:rPr>
                        <a:t>x != y</a:t>
                      </a:r>
                    </a:p>
                  </a:txBody>
                  <a:tcPr/>
                </a:tc>
                <a:tc>
                  <a:txBody>
                    <a:bodyPr/>
                    <a:lstStyle/>
                    <a:p>
                      <a:r>
                        <a:rPr lang="en-US" sz="3600" dirty="0">
                          <a:latin typeface="Cambria" panose="02040503050406030204" pitchFamily="18" charset="0"/>
                        </a:rPr>
                        <a:t>True </a:t>
                      </a:r>
                      <a:r>
                        <a:rPr lang="en-US" sz="3600" dirty="0" err="1">
                          <a:latin typeface="Cambria" panose="02040503050406030204" pitchFamily="18" charset="0"/>
                        </a:rPr>
                        <a:t>nếu</a:t>
                      </a:r>
                      <a:r>
                        <a:rPr lang="en-US" sz="3600" dirty="0">
                          <a:latin typeface="Cambria" panose="02040503050406030204" pitchFamily="18" charset="0"/>
                        </a:rPr>
                        <a:t> x </a:t>
                      </a:r>
                      <a:r>
                        <a:rPr lang="en-US" sz="3600" dirty="0" err="1">
                          <a:latin typeface="Cambria" panose="02040503050406030204" pitchFamily="18" charset="0"/>
                        </a:rPr>
                        <a:t>khác</a:t>
                      </a:r>
                      <a:r>
                        <a:rPr lang="en-US" sz="3600" dirty="0">
                          <a:latin typeface="Cambria" panose="02040503050406030204" pitchFamily="18" charset="0"/>
                        </a:rPr>
                        <a:t> y, False </a:t>
                      </a:r>
                      <a:r>
                        <a:rPr lang="en-US" sz="3600" dirty="0" err="1">
                          <a:latin typeface="Cambria" panose="02040503050406030204" pitchFamily="18" charset="0"/>
                        </a:rPr>
                        <a:t>nếu</a:t>
                      </a:r>
                      <a:r>
                        <a:rPr lang="en-US" sz="3600" dirty="0">
                          <a:latin typeface="Cambria" panose="02040503050406030204" pitchFamily="18" charset="0"/>
                        </a:rPr>
                        <a:t> x=y</a:t>
                      </a:r>
                    </a:p>
                  </a:txBody>
                  <a:tcPr/>
                </a:tc>
                <a:extLst>
                  <a:ext uri="{0D108BD9-81ED-4DB2-BD59-A6C34878D82A}">
                    <a16:rowId xmlns:a16="http://schemas.microsoft.com/office/drawing/2014/main" val="943215047"/>
                  </a:ext>
                </a:extLst>
              </a:tr>
            </a:tbl>
          </a:graphicData>
        </a:graphic>
      </p:graphicFrame>
    </p:spTree>
    <p:extLst>
      <p:ext uri="{BB962C8B-B14F-4D97-AF65-F5344CB8AC3E}">
        <p14:creationId xmlns:p14="http://schemas.microsoft.com/office/powerpoint/2010/main" val="246113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dirty="0" err="1">
                <a:latin typeface="Cambria" panose="02040503050406030204" pitchFamily="18" charset="0"/>
              </a:rPr>
              <a:t>Ví</a:t>
            </a:r>
            <a:r>
              <a:rPr lang="en-US" sz="4000" dirty="0">
                <a:latin typeface="Cambria" panose="02040503050406030204" pitchFamily="18" charset="0"/>
              </a:rPr>
              <a:t> </a:t>
            </a:r>
            <a:r>
              <a:rPr lang="en-US" sz="4000" dirty="0" err="1">
                <a:latin typeface="Cambria" panose="02040503050406030204" pitchFamily="18" charset="0"/>
              </a:rPr>
              <a:t>dụ</a:t>
            </a:r>
            <a:r>
              <a:rPr lang="en-US" sz="4000" dirty="0">
                <a:latin typeface="Cambria" panose="02040503050406030204" pitchFamily="18" charset="0"/>
              </a:rPr>
              <a:t>:</a:t>
            </a:r>
          </a:p>
        </p:txBody>
      </p:sp>
      <p:graphicFrame>
        <p:nvGraphicFramePr>
          <p:cNvPr id="11" name="Table 10">
            <a:extLst>
              <a:ext uri="{FF2B5EF4-FFF2-40B4-BE49-F238E27FC236}">
                <a16:creationId xmlns:a16="http://schemas.microsoft.com/office/drawing/2014/main" id="{8713AA32-24F0-4D34-A87C-E3E509A50F56}"/>
              </a:ext>
            </a:extLst>
          </p:cNvPr>
          <p:cNvGraphicFramePr>
            <a:graphicFrameLocks noGrp="1"/>
          </p:cNvGraphicFramePr>
          <p:nvPr>
            <p:extLst>
              <p:ext uri="{D42A27DB-BD31-4B8C-83A1-F6EECF244321}">
                <p14:modId xmlns:p14="http://schemas.microsoft.com/office/powerpoint/2010/main" val="417889482"/>
              </p:ext>
            </p:extLst>
          </p:nvPr>
        </p:nvGraphicFramePr>
        <p:xfrm>
          <a:off x="457200" y="2514600"/>
          <a:ext cx="11231990" cy="28041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943663053"/>
                    </a:ext>
                  </a:extLst>
                </a:gridCol>
                <a:gridCol w="8412590">
                  <a:extLst>
                    <a:ext uri="{9D8B030D-6E8A-4147-A177-3AD203B41FA5}">
                      <a16:colId xmlns:a16="http://schemas.microsoft.com/office/drawing/2014/main" val="3795417902"/>
                    </a:ext>
                  </a:extLst>
                </a:gridCol>
              </a:tblGrid>
              <a:tr h="372400">
                <a:tc>
                  <a:txBody>
                    <a:bodyPr/>
                    <a:lstStyle/>
                    <a:p>
                      <a:pPr algn="ctr"/>
                      <a:r>
                        <a:rPr lang="en-US" sz="4000" dirty="0" err="1">
                          <a:latin typeface="Cambria" panose="02040503050406030204" pitchFamily="18" charset="0"/>
                        </a:rPr>
                        <a:t>Biểu</a:t>
                      </a:r>
                      <a:r>
                        <a:rPr lang="en-US" sz="4000" dirty="0">
                          <a:latin typeface="Cambria" panose="02040503050406030204" pitchFamily="18" charset="0"/>
                        </a:rPr>
                        <a:t> </a:t>
                      </a:r>
                      <a:r>
                        <a:rPr lang="en-US" sz="4000" dirty="0" err="1">
                          <a:latin typeface="Cambria" panose="02040503050406030204" pitchFamily="18" charset="0"/>
                        </a:rPr>
                        <a:t>thức</a:t>
                      </a:r>
                      <a:endParaRPr lang="en-US" sz="4000" dirty="0">
                        <a:latin typeface="Cambria" panose="02040503050406030204" pitchFamily="18" charset="0"/>
                      </a:endParaRPr>
                    </a:p>
                  </a:txBody>
                  <a:tcPr/>
                </a:tc>
                <a:tc>
                  <a:txBody>
                    <a:bodyPr/>
                    <a:lstStyle/>
                    <a:p>
                      <a:pPr algn="ctr"/>
                      <a:r>
                        <a:rPr lang="en-US" sz="4000">
                          <a:latin typeface="Cambria" panose="02040503050406030204" pitchFamily="18" charset="0"/>
                        </a:rPr>
                        <a:t>Ý nghĩa</a:t>
                      </a:r>
                    </a:p>
                  </a:txBody>
                  <a:tcPr/>
                </a:tc>
                <a:extLst>
                  <a:ext uri="{0D108BD9-81ED-4DB2-BD59-A6C34878D82A}">
                    <a16:rowId xmlns:a16="http://schemas.microsoft.com/office/drawing/2014/main" val="2260917862"/>
                  </a:ext>
                </a:extLst>
              </a:tr>
              <a:tr h="372400">
                <a:tc>
                  <a:txBody>
                    <a:bodyPr/>
                    <a:lstStyle/>
                    <a:p>
                      <a:r>
                        <a:rPr lang="en-US" sz="4000">
                          <a:latin typeface="Cambria" panose="02040503050406030204" pitchFamily="18" charset="0"/>
                        </a:rPr>
                        <a:t>10 &lt; 20</a:t>
                      </a:r>
                    </a:p>
                  </a:txBody>
                  <a:tcPr/>
                </a:tc>
                <a:tc>
                  <a:txBody>
                    <a:bodyPr/>
                    <a:lstStyle/>
                    <a:p>
                      <a:r>
                        <a:rPr lang="en-US" sz="4000" dirty="0">
                          <a:latin typeface="Cambria" panose="02040503050406030204" pitchFamily="18" charset="0"/>
                        </a:rPr>
                        <a:t>True</a:t>
                      </a:r>
                    </a:p>
                  </a:txBody>
                  <a:tcPr/>
                </a:tc>
                <a:extLst>
                  <a:ext uri="{0D108BD9-81ED-4DB2-BD59-A6C34878D82A}">
                    <a16:rowId xmlns:a16="http://schemas.microsoft.com/office/drawing/2014/main" val="921822354"/>
                  </a:ext>
                </a:extLst>
              </a:tr>
              <a:tr h="372400">
                <a:tc>
                  <a:txBody>
                    <a:bodyPr/>
                    <a:lstStyle/>
                    <a:p>
                      <a:r>
                        <a:rPr lang="en-US" sz="4000">
                          <a:latin typeface="Cambria" panose="02040503050406030204" pitchFamily="18" charset="0"/>
                        </a:rPr>
                        <a:t>10 &gt;= 20</a:t>
                      </a:r>
                    </a:p>
                  </a:txBody>
                  <a:tcPr/>
                </a:tc>
                <a:tc>
                  <a:txBody>
                    <a:bodyPr/>
                    <a:lstStyle/>
                    <a:p>
                      <a:r>
                        <a:rPr lang="en-US" sz="4000">
                          <a:latin typeface="Cambria" panose="02040503050406030204" pitchFamily="18" charset="0"/>
                        </a:rPr>
                        <a:t>False</a:t>
                      </a:r>
                    </a:p>
                  </a:txBody>
                  <a:tcPr/>
                </a:tc>
                <a:extLst>
                  <a:ext uri="{0D108BD9-81ED-4DB2-BD59-A6C34878D82A}">
                    <a16:rowId xmlns:a16="http://schemas.microsoft.com/office/drawing/2014/main" val="3957931718"/>
                  </a:ext>
                </a:extLst>
              </a:tr>
              <a:tr h="372400">
                <a:tc>
                  <a:txBody>
                    <a:bodyPr/>
                    <a:lstStyle/>
                    <a:p>
                      <a:r>
                        <a:rPr lang="en-US" sz="4000">
                          <a:latin typeface="Cambria" panose="02040503050406030204" pitchFamily="18" charset="0"/>
                        </a:rPr>
                        <a:t>x &lt; 100</a:t>
                      </a:r>
                    </a:p>
                  </a:txBody>
                  <a:tcPr/>
                </a:tc>
                <a:tc>
                  <a:txBody>
                    <a:bodyPr/>
                    <a:lstStyle/>
                    <a:p>
                      <a:r>
                        <a:rPr lang="en-US" sz="4000" dirty="0">
                          <a:latin typeface="Cambria" panose="02040503050406030204" pitchFamily="18" charset="0"/>
                        </a:rPr>
                        <a:t>True if x </a:t>
                      </a:r>
                      <a:r>
                        <a:rPr lang="en-US" sz="4000" dirty="0" err="1">
                          <a:latin typeface="Cambria" panose="02040503050406030204" pitchFamily="18" charset="0"/>
                        </a:rPr>
                        <a:t>nhỏ</a:t>
                      </a:r>
                      <a:r>
                        <a:rPr lang="en-US" sz="4000" dirty="0">
                          <a:latin typeface="Cambria" panose="02040503050406030204" pitchFamily="18" charset="0"/>
                        </a:rPr>
                        <a:t> h</a:t>
                      </a:r>
                      <a:r>
                        <a:rPr lang="vi-VN" sz="4000" dirty="0">
                          <a:latin typeface="Cambria" panose="02040503050406030204" pitchFamily="18" charset="0"/>
                        </a:rPr>
                        <a:t>ơ</a:t>
                      </a:r>
                      <a:r>
                        <a:rPr lang="en-US" sz="4000" dirty="0">
                          <a:latin typeface="Cambria" panose="02040503050406030204" pitchFamily="18" charset="0"/>
                        </a:rPr>
                        <a:t>n 100; </a:t>
                      </a:r>
                      <a:r>
                        <a:rPr lang="en-US" sz="4000" dirty="0" err="1">
                          <a:latin typeface="Cambria" panose="02040503050406030204" pitchFamily="18" charset="0"/>
                        </a:rPr>
                        <a:t>ng</a:t>
                      </a:r>
                      <a:r>
                        <a:rPr lang="vi-VN" sz="4000" dirty="0">
                          <a:latin typeface="Cambria" panose="02040503050406030204" pitchFamily="18" charset="0"/>
                        </a:rPr>
                        <a:t>ư</a:t>
                      </a:r>
                      <a:r>
                        <a:rPr lang="en-US" sz="4000" dirty="0" err="1">
                          <a:latin typeface="Cambria" panose="02040503050406030204" pitchFamily="18" charset="0"/>
                        </a:rPr>
                        <a:t>ợc</a:t>
                      </a:r>
                      <a:r>
                        <a:rPr lang="en-US" sz="4000" dirty="0">
                          <a:latin typeface="Cambria" panose="02040503050406030204" pitchFamily="18" charset="0"/>
                        </a:rPr>
                        <a:t> </a:t>
                      </a:r>
                      <a:r>
                        <a:rPr lang="en-US" sz="4000" dirty="0" err="1">
                          <a:latin typeface="Cambria" panose="02040503050406030204" pitchFamily="18" charset="0"/>
                        </a:rPr>
                        <a:t>lại</a:t>
                      </a:r>
                      <a:r>
                        <a:rPr lang="en-US" sz="4000" dirty="0">
                          <a:latin typeface="Cambria" panose="02040503050406030204" pitchFamily="18" charset="0"/>
                        </a:rPr>
                        <a:t> False</a:t>
                      </a:r>
                    </a:p>
                  </a:txBody>
                  <a:tcPr/>
                </a:tc>
                <a:extLst>
                  <a:ext uri="{0D108BD9-81ED-4DB2-BD59-A6C34878D82A}">
                    <a16:rowId xmlns:a16="http://schemas.microsoft.com/office/drawing/2014/main" val="4196488831"/>
                  </a:ext>
                </a:extLst>
              </a:tr>
            </a:tbl>
          </a:graphicData>
        </a:graphic>
      </p:graphicFrame>
    </p:spTree>
    <p:extLst>
      <p:ext uri="{BB962C8B-B14F-4D97-AF65-F5344CB8AC3E}">
        <p14:creationId xmlns:p14="http://schemas.microsoft.com/office/powerpoint/2010/main" val="3441790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Biểu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thức</a:t>
            </a:r>
            <a:r>
              <a:rPr lang="en-US" sz="4400" kern="0" dirty="0">
                <a:solidFill>
                  <a:srgbClr val="002060"/>
                </a:solidFill>
                <a:latin typeface="Cambria" panose="02040503050406030204" pitchFamily="18" charset="0"/>
              </a:rPr>
              <a:t> If</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10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34</a:t>
            </a:fld>
            <a:endParaRPr lang="en-US"/>
          </a:p>
        </p:txBody>
      </p:sp>
      <p:sp>
        <p:nvSpPr>
          <p:cNvPr id="14" name="Content Placeholder 2"/>
          <p:cNvSpPr txBox="1">
            <a:spLocks/>
          </p:cNvSpPr>
          <p:nvPr/>
        </p:nvSpPr>
        <p:spPr>
          <a:xfrm>
            <a:off x="457200" y="1076325"/>
            <a:ext cx="70866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b="1" dirty="0">
                <a:latin typeface="Cambria" panose="02040503050406030204" pitchFamily="18" charset="0"/>
              </a:rPr>
              <a:t>if</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dirty="0" err="1">
                <a:latin typeface="Cambria" panose="02040503050406030204" pitchFamily="18" charset="0"/>
              </a:rPr>
              <a:t>điều</a:t>
            </a:r>
            <a:r>
              <a:rPr lang="en-US" dirty="0">
                <a:latin typeface="Cambria" panose="02040503050406030204" pitchFamily="18" charset="0"/>
              </a:rPr>
              <a:t> </a:t>
            </a:r>
            <a:r>
              <a:rPr lang="en-US" dirty="0" err="1">
                <a:latin typeface="Cambria" panose="02040503050406030204" pitchFamily="18" charset="0"/>
              </a:rPr>
              <a:t>kiện</a:t>
            </a:r>
            <a:r>
              <a:rPr lang="en-US" dirty="0">
                <a:latin typeface="Cambria" panose="02040503050406030204" pitchFamily="18" charset="0"/>
              </a:rPr>
              <a:t> </a:t>
            </a:r>
            <a:r>
              <a:rPr lang="en-US" dirty="0" err="1">
                <a:latin typeface="Cambria" panose="02040503050406030204" pitchFamily="18" charset="0"/>
              </a:rPr>
              <a:t>rất</a:t>
            </a:r>
            <a:r>
              <a:rPr lang="en-US" dirty="0">
                <a:latin typeface="Cambria" panose="02040503050406030204" pitchFamily="18" charset="0"/>
              </a:rPr>
              <a:t> </a:t>
            </a:r>
            <a:r>
              <a:rPr lang="en-US" dirty="0" err="1">
                <a:latin typeface="Cambria" panose="02040503050406030204" pitchFamily="18" charset="0"/>
              </a:rPr>
              <a:t>quan</a:t>
            </a:r>
            <a:r>
              <a:rPr lang="en-US" dirty="0">
                <a:latin typeface="Cambria" panose="02040503050406030204" pitchFamily="18" charset="0"/>
              </a:rPr>
              <a:t> </a:t>
            </a:r>
            <a:r>
              <a:rPr lang="en-US" dirty="0" err="1">
                <a:latin typeface="Cambria" panose="02040503050406030204" pitchFamily="18" charset="0"/>
              </a:rPr>
              <a:t>trọng</a:t>
            </a:r>
            <a:r>
              <a:rPr lang="en-US" dirty="0">
                <a:latin typeface="Cambria" panose="02040503050406030204" pitchFamily="18" charset="0"/>
              </a:rPr>
              <a:t> </a:t>
            </a:r>
            <a:r>
              <a:rPr lang="en-US" dirty="0" err="1">
                <a:latin typeface="Cambria" panose="02040503050406030204" pitchFamily="18" charset="0"/>
              </a:rPr>
              <a:t>và</a:t>
            </a:r>
            <a:r>
              <a:rPr lang="en-US" dirty="0">
                <a:latin typeface="Cambria" panose="02040503050406030204" pitchFamily="18" charset="0"/>
              </a:rPr>
              <a:t> </a:t>
            </a:r>
            <a:r>
              <a:rPr lang="en-US" dirty="0" err="1">
                <a:latin typeface="Cambria" panose="02040503050406030204" pitchFamily="18" charset="0"/>
              </a:rPr>
              <a:t>phổ</a:t>
            </a:r>
            <a:r>
              <a:rPr lang="en-US" dirty="0">
                <a:latin typeface="Cambria" panose="02040503050406030204" pitchFamily="18" charset="0"/>
              </a:rPr>
              <a:t> </a:t>
            </a:r>
            <a:r>
              <a:rPr lang="en-US" dirty="0" err="1">
                <a:latin typeface="Cambria" panose="02040503050406030204" pitchFamily="18" charset="0"/>
              </a:rPr>
              <a:t>biến</a:t>
            </a:r>
            <a:r>
              <a:rPr lang="en-US" dirty="0">
                <a:latin typeface="Cambria" panose="02040503050406030204" pitchFamily="18" charset="0"/>
              </a:rPr>
              <a:t> </a:t>
            </a:r>
            <a:r>
              <a:rPr lang="en-US" dirty="0" err="1">
                <a:latin typeface="Cambria" panose="02040503050406030204" pitchFamily="18" charset="0"/>
              </a:rPr>
              <a:t>trong</a:t>
            </a:r>
            <a:r>
              <a:rPr lang="en-US" dirty="0">
                <a:latin typeface="Cambria" panose="02040503050406030204" pitchFamily="18" charset="0"/>
              </a:rPr>
              <a:t> Python. </a:t>
            </a: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b="1" dirty="0">
                <a:latin typeface="Cambria" panose="02040503050406030204" pitchFamily="18" charset="0"/>
              </a:rPr>
              <a:t>if</a:t>
            </a:r>
            <a:r>
              <a:rPr lang="en-US" dirty="0">
                <a:latin typeface="Cambria" panose="02040503050406030204" pitchFamily="18" charset="0"/>
              </a:rPr>
              <a:t> </a:t>
            </a:r>
            <a:r>
              <a:rPr lang="en-US" dirty="0" err="1">
                <a:latin typeface="Cambria" panose="02040503050406030204" pitchFamily="18" charset="0"/>
              </a:rPr>
              <a:t>đứng</a:t>
            </a:r>
            <a:r>
              <a:rPr lang="en-US" dirty="0">
                <a:latin typeface="Cambria" panose="02040503050406030204" pitchFamily="18" charset="0"/>
              </a:rPr>
              <a: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mình</a:t>
            </a:r>
            <a:r>
              <a:rPr lang="en-US" dirty="0">
                <a:latin typeface="Cambria" panose="02040503050406030204" pitchFamily="18" charset="0"/>
              </a:rPr>
              <a:t> </a:t>
            </a:r>
            <a:r>
              <a:rPr lang="en-US" dirty="0" err="1">
                <a:latin typeface="Cambria" panose="02040503050406030204" pitchFamily="18" charset="0"/>
              </a:rPr>
              <a:t>chỉ</a:t>
            </a:r>
            <a:r>
              <a:rPr lang="en-US" dirty="0">
                <a:latin typeface="Cambria" panose="02040503050406030204" pitchFamily="18" charset="0"/>
              </a:rPr>
              <a:t> </a:t>
            </a:r>
            <a:r>
              <a:rPr lang="en-US" dirty="0" err="1">
                <a:latin typeface="Cambria" panose="02040503050406030204" pitchFamily="18" charset="0"/>
              </a:rPr>
              <a:t>quan</a:t>
            </a:r>
            <a:r>
              <a:rPr lang="en-US" dirty="0">
                <a:latin typeface="Cambria" panose="02040503050406030204" pitchFamily="18" charset="0"/>
              </a:rPr>
              <a:t> </a:t>
            </a:r>
            <a:r>
              <a:rPr lang="en-US" dirty="0" err="1">
                <a:latin typeface="Cambria" panose="02040503050406030204" pitchFamily="18" charset="0"/>
              </a:rPr>
              <a:t>tâm</a:t>
            </a:r>
            <a:r>
              <a:rPr lang="en-US" dirty="0">
                <a:latin typeface="Cambria" panose="02040503050406030204" pitchFamily="18" charset="0"/>
              </a:rPr>
              <a:t> </a:t>
            </a:r>
            <a:r>
              <a:rPr lang="en-US" dirty="0" err="1">
                <a:latin typeface="Cambria" panose="02040503050406030204" pitchFamily="18" charset="0"/>
              </a:rPr>
              <a:t>tới</a:t>
            </a:r>
            <a:r>
              <a:rPr lang="en-US" dirty="0">
                <a:latin typeface="Cambria" panose="02040503050406030204" pitchFamily="18" charset="0"/>
              </a:rPr>
              <a:t> </a:t>
            </a:r>
            <a:r>
              <a:rPr lang="en-US" dirty="0" err="1">
                <a:latin typeface="Cambria" panose="02040503050406030204" pitchFamily="18" charset="0"/>
              </a:rPr>
              <a:t>điều</a:t>
            </a:r>
            <a:r>
              <a:rPr lang="en-US" dirty="0">
                <a:latin typeface="Cambria" panose="02040503050406030204" pitchFamily="18" charset="0"/>
              </a:rPr>
              <a:t> </a:t>
            </a:r>
            <a:r>
              <a:rPr lang="en-US" dirty="0" err="1">
                <a:latin typeface="Cambria" panose="02040503050406030204" pitchFamily="18" charset="0"/>
              </a:rPr>
              <a:t>kiện</a:t>
            </a:r>
            <a:r>
              <a:rPr lang="en-US" dirty="0">
                <a:latin typeface="Cambria" panose="02040503050406030204" pitchFamily="18" charset="0"/>
              </a:rPr>
              <a:t> </a:t>
            </a:r>
            <a:r>
              <a:rPr lang="en-US" dirty="0" err="1">
                <a:latin typeface="Cambria" panose="02040503050406030204" pitchFamily="18" charset="0"/>
              </a:rPr>
              <a:t>đúng</a:t>
            </a:r>
            <a:r>
              <a:rPr lang="en-US" dirty="0">
                <a:latin typeface="Cambria" panose="02040503050406030204" pitchFamily="18" charset="0"/>
              </a:rPr>
              <a:t> (</a:t>
            </a:r>
            <a:r>
              <a:rPr lang="en-US" b="1" dirty="0">
                <a:latin typeface="Cambria" panose="02040503050406030204" pitchFamily="18" charset="0"/>
              </a:rPr>
              <a:t>True</a:t>
            </a:r>
            <a:r>
              <a:rPr lang="en-US" dirty="0">
                <a:latin typeface="Cambria" panose="02040503050406030204" pitchFamily="18" charset="0"/>
              </a:rPr>
              <a:t>). </a:t>
            </a:r>
            <a:r>
              <a:rPr lang="en-US" dirty="0" err="1">
                <a:latin typeface="Cambria" panose="02040503050406030204" pitchFamily="18" charset="0"/>
              </a:rPr>
              <a:t>Khi</a:t>
            </a:r>
            <a:r>
              <a:rPr lang="en-US" dirty="0">
                <a:latin typeface="Cambria" panose="02040503050406030204" pitchFamily="18" charset="0"/>
              </a:rPr>
              <a:t> </a:t>
            </a:r>
            <a:r>
              <a:rPr lang="en-US" dirty="0" err="1">
                <a:latin typeface="Cambria" panose="02040503050406030204" pitchFamily="18" charset="0"/>
              </a:rPr>
              <a:t>điều</a:t>
            </a:r>
            <a:r>
              <a:rPr lang="en-US" dirty="0">
                <a:latin typeface="Cambria" panose="02040503050406030204" pitchFamily="18" charset="0"/>
              </a:rPr>
              <a:t> </a:t>
            </a:r>
            <a:r>
              <a:rPr lang="en-US" dirty="0" err="1">
                <a:latin typeface="Cambria" panose="02040503050406030204" pitchFamily="18" charset="0"/>
              </a:rPr>
              <a:t>kiện</a:t>
            </a:r>
            <a:r>
              <a:rPr lang="en-US" dirty="0">
                <a:latin typeface="Cambria" panose="02040503050406030204" pitchFamily="18" charset="0"/>
              </a:rPr>
              <a:t> </a:t>
            </a:r>
            <a:r>
              <a:rPr lang="en-US" dirty="0" err="1">
                <a:latin typeface="Cambria" panose="02040503050406030204" pitchFamily="18" charset="0"/>
              </a:rPr>
              <a:t>đúng</a:t>
            </a:r>
            <a:r>
              <a:rPr lang="en-US" dirty="0">
                <a:latin typeface="Cambria" panose="02040503050406030204" pitchFamily="18" charset="0"/>
              </a:rPr>
              <a:t> </a:t>
            </a:r>
            <a:r>
              <a:rPr lang="en-US" dirty="0" err="1">
                <a:latin typeface="Cambria" panose="02040503050406030204" pitchFamily="18" charset="0"/>
              </a:rPr>
              <a:t>thì</a:t>
            </a:r>
            <a:r>
              <a:rPr lang="en-US" dirty="0">
                <a:latin typeface="Cambria" panose="02040503050406030204" pitchFamily="18" charset="0"/>
              </a:rPr>
              <a:t> </a:t>
            </a:r>
            <a:r>
              <a:rPr lang="en-US" dirty="0" err="1">
                <a:latin typeface="Cambria" panose="02040503050406030204" pitchFamily="18" charset="0"/>
              </a:rPr>
              <a:t>khối</a:t>
            </a:r>
            <a:r>
              <a:rPr lang="en-US" dirty="0">
                <a:latin typeface="Cambria" panose="02040503050406030204" pitchFamily="18" charset="0"/>
              </a:rPr>
              <a:t> </a:t>
            </a:r>
            <a:r>
              <a:rPr lang="en-US" dirty="0" err="1">
                <a:latin typeface="Cambria" panose="02040503050406030204" pitchFamily="18" charset="0"/>
              </a:rPr>
              <a:t>lệnh</a:t>
            </a:r>
            <a:r>
              <a:rPr lang="en-US" dirty="0">
                <a:latin typeface="Cambria" panose="02040503050406030204" pitchFamily="18" charset="0"/>
              </a:rPr>
              <a:t> </a:t>
            </a:r>
            <a:r>
              <a:rPr lang="en-US" dirty="0" err="1">
                <a:latin typeface="Cambria" panose="02040503050406030204" pitchFamily="18" charset="0"/>
              </a:rPr>
              <a:t>bên</a:t>
            </a:r>
            <a:r>
              <a:rPr lang="en-US" dirty="0">
                <a:latin typeface="Cambria" panose="02040503050406030204" pitchFamily="18" charset="0"/>
              </a:rPr>
              <a:t> </a:t>
            </a:r>
            <a:r>
              <a:rPr lang="en-US" dirty="0" err="1">
                <a:latin typeface="Cambria" panose="02040503050406030204" pitchFamily="18" charset="0"/>
              </a:rPr>
              <a:t>trong</a:t>
            </a:r>
            <a:r>
              <a:rPr lang="en-US" dirty="0">
                <a:latin typeface="Cambria" panose="02040503050406030204" pitchFamily="18" charset="0"/>
              </a:rPr>
              <a:t> </a:t>
            </a:r>
            <a:r>
              <a:rPr lang="en-US" b="1" dirty="0">
                <a:latin typeface="Cambria" panose="02040503050406030204" pitchFamily="18" charset="0"/>
              </a:rPr>
              <a:t>if</a:t>
            </a:r>
            <a:r>
              <a:rPr lang="en-US" dirty="0">
                <a:latin typeface="Cambria" panose="02040503050406030204" pitchFamily="18" charset="0"/>
              </a:rPr>
              <a:t> </a:t>
            </a:r>
            <a:r>
              <a:rPr lang="en-US" dirty="0" err="1">
                <a:latin typeface="Cambria" panose="02040503050406030204" pitchFamily="18" charset="0"/>
              </a:rPr>
              <a:t>sẽ</a:t>
            </a:r>
            <a:r>
              <a:rPr lang="en-US" dirty="0">
                <a:latin typeface="Cambria" panose="02040503050406030204" pitchFamily="18" charset="0"/>
              </a:rPr>
              <a:t> đ</a:t>
            </a:r>
            <a:r>
              <a:rPr lang="vi-VN" dirty="0">
                <a:latin typeface="Cambria" panose="02040503050406030204" pitchFamily="18" charset="0"/>
              </a:rPr>
              <a:t>ư</a:t>
            </a:r>
            <a:r>
              <a:rPr lang="en-US" dirty="0" err="1">
                <a:latin typeface="Cambria" panose="02040503050406030204" pitchFamily="18" charset="0"/>
              </a:rPr>
              <a:t>ợc</a:t>
            </a:r>
            <a:r>
              <a:rPr lang="en-US" dirty="0">
                <a:latin typeface="Cambria" panose="02040503050406030204" pitchFamily="18" charset="0"/>
              </a:rPr>
              <a:t> </a:t>
            </a:r>
            <a:r>
              <a:rPr lang="en-US" dirty="0" err="1">
                <a:latin typeface="Cambria" panose="02040503050406030204" pitchFamily="18" charset="0"/>
              </a:rPr>
              <a:t>thực</a:t>
            </a:r>
            <a:r>
              <a:rPr lang="en-US" dirty="0">
                <a:latin typeface="Cambria" panose="02040503050406030204" pitchFamily="18" charset="0"/>
              </a:rPr>
              <a:t> </a:t>
            </a:r>
            <a:r>
              <a:rPr lang="en-US" dirty="0" err="1">
                <a:latin typeface="Cambria" panose="02040503050406030204" pitchFamily="18" charset="0"/>
              </a:rPr>
              <a:t>thi</a:t>
            </a:r>
            <a:r>
              <a:rPr lang="en-US" dirty="0">
                <a:latin typeface="Cambria" panose="02040503050406030204" pitchFamily="18" charset="0"/>
              </a:rPr>
              <a:t>.</a:t>
            </a:r>
          </a:p>
          <a:p>
            <a:pPr marL="0" indent="0" algn="just">
              <a:buNone/>
            </a:pPr>
            <a:r>
              <a:rPr lang="en-US" b="1" u="sng" dirty="0" err="1">
                <a:latin typeface="Cambria" panose="02040503050406030204" pitchFamily="18" charset="0"/>
              </a:rPr>
              <a:t>Cú</a:t>
            </a:r>
            <a:r>
              <a:rPr lang="en-US" b="1" u="sng" dirty="0">
                <a:latin typeface="Cambria" panose="02040503050406030204" pitchFamily="18" charset="0"/>
              </a:rPr>
              <a:t> </a:t>
            </a:r>
            <a:r>
              <a:rPr lang="en-US" b="1" u="sng" dirty="0" err="1">
                <a:latin typeface="Cambria" panose="02040503050406030204" pitchFamily="18" charset="0"/>
              </a:rPr>
              <a:t>pháp</a:t>
            </a:r>
            <a:r>
              <a:rPr lang="en-US" b="1" u="sng" dirty="0">
                <a:latin typeface="Cambria" panose="02040503050406030204" pitchFamily="18" charset="0"/>
              </a:rPr>
              <a:t>:</a:t>
            </a:r>
          </a:p>
        </p:txBody>
      </p:sp>
      <p:pic>
        <p:nvPicPr>
          <p:cNvPr id="8" name="Picture 7">
            <a:extLst>
              <a:ext uri="{FF2B5EF4-FFF2-40B4-BE49-F238E27FC236}">
                <a16:creationId xmlns:a16="http://schemas.microsoft.com/office/drawing/2014/main" id="{E93DCDD3-CC1D-4445-8B51-ED3F0CE43374}"/>
              </a:ext>
            </a:extLst>
          </p:cNvPr>
          <p:cNvPicPr>
            <a:picLocks noChangeAspect="1"/>
          </p:cNvPicPr>
          <p:nvPr/>
        </p:nvPicPr>
        <p:blipFill>
          <a:blip r:embed="rId3"/>
          <a:stretch>
            <a:fillRect/>
          </a:stretch>
        </p:blipFill>
        <p:spPr>
          <a:xfrm>
            <a:off x="2667000" y="4130487"/>
            <a:ext cx="3810000" cy="2336989"/>
          </a:xfrm>
          <a:prstGeom prst="rect">
            <a:avLst/>
          </a:prstGeom>
        </p:spPr>
      </p:pic>
      <p:pic>
        <p:nvPicPr>
          <p:cNvPr id="9" name="Picture 8">
            <a:extLst>
              <a:ext uri="{FF2B5EF4-FFF2-40B4-BE49-F238E27FC236}">
                <a16:creationId xmlns:a16="http://schemas.microsoft.com/office/drawing/2014/main" id="{112588A9-11A7-4ABB-9515-76D9FE6C0981}"/>
              </a:ext>
            </a:extLst>
          </p:cNvPr>
          <p:cNvPicPr>
            <a:picLocks noChangeAspect="1"/>
          </p:cNvPicPr>
          <p:nvPr/>
        </p:nvPicPr>
        <p:blipFill>
          <a:blip r:embed="rId4"/>
          <a:stretch>
            <a:fillRect/>
          </a:stretch>
        </p:blipFill>
        <p:spPr>
          <a:xfrm>
            <a:off x="8001000" y="602672"/>
            <a:ext cx="3769892" cy="5294793"/>
          </a:xfrm>
          <a:prstGeom prst="rect">
            <a:avLst/>
          </a:prstGeom>
        </p:spPr>
      </p:pic>
    </p:spTree>
    <p:extLst>
      <p:ext uri="{BB962C8B-B14F-4D97-AF65-F5344CB8AC3E}">
        <p14:creationId xmlns:p14="http://schemas.microsoft.com/office/powerpoint/2010/main" val="3282199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a:t>
            </a: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r>
              <a:rPr lang="en-US" sz="4000" dirty="0" err="1">
                <a:latin typeface="Cambria" panose="02040503050406030204" pitchFamily="18" charset="0"/>
              </a:rPr>
              <a:t>Lưu</a:t>
            </a:r>
            <a:r>
              <a:rPr lang="en-US" sz="4000" dirty="0">
                <a:latin typeface="Cambria" panose="02040503050406030204" pitchFamily="18" charset="0"/>
              </a:rPr>
              <a:t> ý </a:t>
            </a:r>
            <a:r>
              <a:rPr lang="en-US" sz="4000" dirty="0" err="1">
                <a:latin typeface="Cambria" panose="02040503050406030204" pitchFamily="18" charset="0"/>
              </a:rPr>
              <a:t>rằng</a:t>
            </a:r>
            <a:r>
              <a:rPr lang="en-US" sz="4000" dirty="0">
                <a:latin typeface="Cambria" panose="02040503050406030204" pitchFamily="18" charset="0"/>
              </a:rPr>
              <a:t> Python </a:t>
            </a:r>
            <a:r>
              <a:rPr lang="en-US" sz="4000" dirty="0" err="1">
                <a:latin typeface="Cambria" panose="02040503050406030204" pitchFamily="18" charset="0"/>
              </a:rPr>
              <a:t>không</a:t>
            </a:r>
            <a:r>
              <a:rPr lang="en-US" sz="4000" dirty="0">
                <a:latin typeface="Cambria" panose="02040503050406030204" pitchFamily="18" charset="0"/>
              </a:rPr>
              <a:t> </a:t>
            </a:r>
            <a:r>
              <a:rPr lang="en-US" sz="4000" dirty="0" err="1">
                <a:latin typeface="Cambria" panose="02040503050406030204" pitchFamily="18" charset="0"/>
              </a:rPr>
              <a:t>dùng</a:t>
            </a:r>
            <a:r>
              <a:rPr lang="en-US" sz="4000" dirty="0">
                <a:latin typeface="Cambria" panose="02040503050406030204" pitchFamily="18" charset="0"/>
              </a:rPr>
              <a:t> </a:t>
            </a:r>
            <a:r>
              <a:rPr lang="en-US" sz="4000" dirty="0" err="1">
                <a:latin typeface="Cambria" panose="02040503050406030204" pitchFamily="18" charset="0"/>
              </a:rPr>
              <a:t>ngoặc</a:t>
            </a:r>
            <a:r>
              <a:rPr lang="en-US" sz="4000" dirty="0">
                <a:latin typeface="Cambria" panose="02040503050406030204" pitchFamily="18" charset="0"/>
              </a:rPr>
              <a:t> </a:t>
            </a:r>
            <a:r>
              <a:rPr lang="en-US" sz="4000" dirty="0" err="1">
                <a:latin typeface="Cambria" panose="02040503050406030204" pitchFamily="18" charset="0"/>
              </a:rPr>
              <a:t>nhọn</a:t>
            </a:r>
            <a:r>
              <a:rPr lang="en-US" sz="4000" dirty="0">
                <a:latin typeface="Cambria" panose="02040503050406030204" pitchFamily="18" charset="0"/>
              </a:rPr>
              <a:t> </a:t>
            </a:r>
            <a:r>
              <a:rPr lang="en-US" sz="4000" dirty="0" err="1">
                <a:latin typeface="Cambria" panose="02040503050406030204" pitchFamily="18" charset="0"/>
              </a:rPr>
              <a:t>để</a:t>
            </a:r>
            <a:r>
              <a:rPr lang="en-US" sz="4000" dirty="0">
                <a:latin typeface="Cambria" panose="02040503050406030204" pitchFamily="18" charset="0"/>
              </a:rPr>
              <a:t> </a:t>
            </a:r>
            <a:r>
              <a:rPr lang="en-US" sz="4000" dirty="0" err="1">
                <a:latin typeface="Cambria" panose="02040503050406030204" pitchFamily="18" charset="0"/>
              </a:rPr>
              <a:t>bao</a:t>
            </a:r>
            <a:r>
              <a:rPr lang="en-US" sz="4000" dirty="0">
                <a:latin typeface="Cambria" panose="02040503050406030204" pitchFamily="18" charset="0"/>
              </a:rPr>
              <a:t> </a:t>
            </a:r>
            <a:r>
              <a:rPr lang="en-US" sz="4000" dirty="0" err="1">
                <a:latin typeface="Cambria" panose="02040503050406030204" pitchFamily="18" charset="0"/>
              </a:rPr>
              <a:t>bọc</a:t>
            </a:r>
            <a:r>
              <a:rPr lang="en-US" sz="4000" dirty="0">
                <a:latin typeface="Cambria" panose="02040503050406030204" pitchFamily="18" charset="0"/>
              </a:rPr>
              <a:t> </a:t>
            </a:r>
            <a:r>
              <a:rPr lang="en-US" sz="4000" dirty="0" err="1">
                <a:latin typeface="Cambria" panose="02040503050406030204" pitchFamily="18" charset="0"/>
              </a:rPr>
              <a:t>các</a:t>
            </a:r>
            <a:r>
              <a:rPr lang="en-US" sz="4000" dirty="0">
                <a:latin typeface="Cambria" panose="02040503050406030204" pitchFamily="18" charset="0"/>
              </a:rPr>
              <a:t> </a:t>
            </a:r>
            <a:r>
              <a:rPr lang="en-US" sz="4000" dirty="0" err="1">
                <a:latin typeface="Cambria" panose="02040503050406030204" pitchFamily="18" charset="0"/>
              </a:rPr>
              <a:t>dòng</a:t>
            </a:r>
            <a:r>
              <a:rPr lang="en-US" sz="4000" dirty="0">
                <a:latin typeface="Cambria" panose="02040503050406030204" pitchFamily="18" charset="0"/>
              </a:rPr>
              <a:t> </a:t>
            </a:r>
            <a:r>
              <a:rPr lang="en-US" sz="4000" dirty="0" err="1">
                <a:latin typeface="Cambria" panose="02040503050406030204" pitchFamily="18" charset="0"/>
              </a:rPr>
              <a:t>lệnh</a:t>
            </a:r>
            <a:r>
              <a:rPr lang="en-US" sz="4000" dirty="0">
                <a:latin typeface="Cambria" panose="02040503050406030204" pitchFamily="18" charset="0"/>
              </a:rPr>
              <a:t>, </a:t>
            </a:r>
            <a:r>
              <a:rPr lang="en-US" sz="4000" dirty="0" err="1">
                <a:latin typeface="Cambria" panose="02040503050406030204" pitchFamily="18" charset="0"/>
              </a:rPr>
              <a:t>mà</a:t>
            </a:r>
            <a:r>
              <a:rPr lang="en-US" sz="4000" dirty="0">
                <a:latin typeface="Cambria" panose="02040503050406030204" pitchFamily="18" charset="0"/>
              </a:rPr>
              <a:t> ta </a:t>
            </a:r>
            <a:r>
              <a:rPr lang="en-US" sz="4000" dirty="0" err="1">
                <a:latin typeface="Cambria" panose="02040503050406030204" pitchFamily="18" charset="0"/>
              </a:rPr>
              <a:t>dùng</a:t>
            </a:r>
            <a:r>
              <a:rPr lang="en-US" sz="4000" dirty="0">
                <a:latin typeface="Cambria" panose="02040503050406030204" pitchFamily="18" charset="0"/>
              </a:rPr>
              <a:t> </a:t>
            </a:r>
            <a:r>
              <a:rPr lang="en-US" sz="4000" dirty="0" err="1">
                <a:latin typeface="Cambria" panose="02040503050406030204" pitchFamily="18" charset="0"/>
              </a:rPr>
              <a:t>phím</a:t>
            </a:r>
            <a:r>
              <a:rPr lang="en-US" sz="4000" dirty="0">
                <a:latin typeface="Cambria" panose="02040503050406030204" pitchFamily="18" charset="0"/>
              </a:rPr>
              <a:t> Tab </a:t>
            </a:r>
            <a:r>
              <a:rPr lang="en-US" sz="4000" dirty="0" err="1">
                <a:latin typeface="Cambria" panose="02040503050406030204" pitchFamily="18" charset="0"/>
              </a:rPr>
              <a:t>hoặc</a:t>
            </a:r>
            <a:r>
              <a:rPr lang="en-US" sz="4000" dirty="0">
                <a:latin typeface="Cambria" panose="02040503050406030204" pitchFamily="18" charset="0"/>
              </a:rPr>
              <a:t> </a:t>
            </a:r>
            <a:r>
              <a:rPr lang="en-US" sz="4000" dirty="0" err="1">
                <a:latin typeface="Cambria" panose="02040503050406030204" pitchFamily="18" charset="0"/>
              </a:rPr>
              <a:t>khoảng</a:t>
            </a:r>
            <a:r>
              <a:rPr lang="en-US" sz="4000" dirty="0">
                <a:latin typeface="Cambria" panose="02040503050406030204" pitchFamily="18" charset="0"/>
              </a:rPr>
              <a:t> </a:t>
            </a:r>
            <a:r>
              <a:rPr lang="en-US" sz="4000" dirty="0" err="1">
                <a:latin typeface="Cambria" panose="02040503050406030204" pitchFamily="18" charset="0"/>
              </a:rPr>
              <a:t>trắng</a:t>
            </a:r>
            <a:r>
              <a:rPr lang="en-US" sz="4000" dirty="0">
                <a:latin typeface="Cambria" panose="02040503050406030204" pitchFamily="18" charset="0"/>
              </a:rPr>
              <a:t> </a:t>
            </a:r>
            <a:r>
              <a:rPr lang="en-US" sz="4000" dirty="0" err="1">
                <a:latin typeface="Cambria" panose="02040503050406030204" pitchFamily="18" charset="0"/>
              </a:rPr>
              <a:t>thụt</a:t>
            </a:r>
            <a:r>
              <a:rPr lang="en-US" sz="4000" dirty="0">
                <a:latin typeface="Cambria" panose="02040503050406030204" pitchFamily="18" charset="0"/>
              </a:rPr>
              <a:t> </a:t>
            </a:r>
            <a:r>
              <a:rPr lang="en-US" sz="4000" dirty="0" err="1">
                <a:latin typeface="Cambria" panose="02040503050406030204" pitchFamily="18" charset="0"/>
              </a:rPr>
              <a:t>đầu</a:t>
            </a:r>
            <a:r>
              <a:rPr lang="en-US" sz="4000" dirty="0">
                <a:latin typeface="Cambria" panose="02040503050406030204" pitchFamily="18" charset="0"/>
              </a:rPr>
              <a:t> </a:t>
            </a:r>
            <a:r>
              <a:rPr lang="en-US" sz="4000" dirty="0" err="1">
                <a:latin typeface="Cambria" panose="02040503050406030204" pitchFamily="18" charset="0"/>
              </a:rPr>
              <a:t>dòng</a:t>
            </a:r>
            <a:r>
              <a:rPr lang="en-US" sz="4000" dirty="0">
                <a:latin typeface="Cambria" panose="02040503050406030204" pitchFamily="18" charset="0"/>
              </a:rPr>
              <a:t>. </a:t>
            </a:r>
          </a:p>
        </p:txBody>
      </p:sp>
      <p:pic>
        <p:nvPicPr>
          <p:cNvPr id="16" name="Picture 15">
            <a:extLst>
              <a:ext uri="{FF2B5EF4-FFF2-40B4-BE49-F238E27FC236}">
                <a16:creationId xmlns:a16="http://schemas.microsoft.com/office/drawing/2014/main" id="{10E4245D-833E-4A18-8540-6F64690EAEA9}"/>
              </a:ext>
            </a:extLst>
          </p:cNvPr>
          <p:cNvPicPr>
            <a:picLocks noChangeAspect="1"/>
          </p:cNvPicPr>
          <p:nvPr/>
        </p:nvPicPr>
        <p:blipFill>
          <a:blip r:embed="rId3"/>
          <a:stretch>
            <a:fillRect/>
          </a:stretch>
        </p:blipFill>
        <p:spPr>
          <a:xfrm>
            <a:off x="1447800" y="1905000"/>
            <a:ext cx="9266274" cy="2057400"/>
          </a:xfrm>
          <a:prstGeom prst="rect">
            <a:avLst/>
          </a:prstGeom>
          <a:ln>
            <a:solidFill>
              <a:schemeClr val="tx1">
                <a:lumMod val="95000"/>
                <a:lumOff val="5000"/>
              </a:schemeClr>
            </a:solidFill>
          </a:ln>
        </p:spPr>
      </p:pic>
    </p:spTree>
    <p:extLst>
      <p:ext uri="{BB962C8B-B14F-4D97-AF65-F5344CB8AC3E}">
        <p14:creationId xmlns:p14="http://schemas.microsoft.com/office/powerpoint/2010/main" val="278404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Biểu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thức</a:t>
            </a:r>
            <a:r>
              <a:rPr lang="en-US" sz="4400" kern="0" dirty="0">
                <a:solidFill>
                  <a:srgbClr val="002060"/>
                </a:solidFill>
                <a:latin typeface="Cambria" panose="02040503050406030204" pitchFamily="18" charset="0"/>
              </a:rPr>
              <a:t> if ... else</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36</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3885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0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0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2000"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b="1" dirty="0">
                <a:latin typeface="Cambria" panose="02040503050406030204" pitchFamily="18" charset="0"/>
              </a:rPr>
              <a:t>if…else</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dirty="0" err="1">
                <a:latin typeface="Cambria" panose="02040503050406030204" pitchFamily="18" charset="0"/>
              </a:rPr>
              <a:t>điều</a:t>
            </a:r>
            <a:r>
              <a:rPr lang="en-US" dirty="0">
                <a:latin typeface="Cambria" panose="02040503050406030204" pitchFamily="18" charset="0"/>
              </a:rPr>
              <a:t> </a:t>
            </a:r>
            <a:r>
              <a:rPr lang="en-US" dirty="0" err="1">
                <a:latin typeface="Cambria" panose="02040503050406030204" pitchFamily="18" charset="0"/>
              </a:rPr>
              <a:t>kiện</a:t>
            </a:r>
            <a:r>
              <a:rPr lang="en-US" dirty="0">
                <a:latin typeface="Cambria" panose="02040503050406030204" pitchFamily="18" charset="0"/>
              </a:rPr>
              <a:t> </a:t>
            </a:r>
            <a:r>
              <a:rPr lang="en-US" dirty="0" err="1">
                <a:latin typeface="Cambria" panose="02040503050406030204" pitchFamily="18" charset="0"/>
              </a:rPr>
              <a:t>rất</a:t>
            </a:r>
            <a:r>
              <a:rPr lang="en-US" dirty="0">
                <a:latin typeface="Cambria" panose="02040503050406030204" pitchFamily="18" charset="0"/>
              </a:rPr>
              <a:t> </a:t>
            </a:r>
            <a:r>
              <a:rPr lang="en-US" dirty="0" err="1">
                <a:latin typeface="Cambria" panose="02040503050406030204" pitchFamily="18" charset="0"/>
              </a:rPr>
              <a:t>quan</a:t>
            </a:r>
            <a:r>
              <a:rPr lang="en-US" dirty="0">
                <a:latin typeface="Cambria" panose="02040503050406030204" pitchFamily="18" charset="0"/>
              </a:rPr>
              <a:t> </a:t>
            </a:r>
            <a:r>
              <a:rPr lang="en-US" dirty="0" err="1">
                <a:latin typeface="Cambria" panose="02040503050406030204" pitchFamily="18" charset="0"/>
              </a:rPr>
              <a:t>trọng</a:t>
            </a:r>
            <a:r>
              <a:rPr lang="en-US" dirty="0">
                <a:latin typeface="Cambria" panose="02040503050406030204" pitchFamily="18" charset="0"/>
              </a:rPr>
              <a:t> </a:t>
            </a:r>
            <a:r>
              <a:rPr lang="en-US" dirty="0" err="1">
                <a:latin typeface="Cambria" panose="02040503050406030204" pitchFamily="18" charset="0"/>
              </a:rPr>
              <a:t>và</a:t>
            </a:r>
            <a:r>
              <a:rPr lang="en-US" dirty="0">
                <a:latin typeface="Cambria" panose="02040503050406030204" pitchFamily="18" charset="0"/>
              </a:rPr>
              <a:t> </a:t>
            </a:r>
            <a:r>
              <a:rPr lang="en-US" dirty="0" err="1">
                <a:latin typeface="Cambria" panose="02040503050406030204" pitchFamily="18" charset="0"/>
              </a:rPr>
              <a:t>phổ</a:t>
            </a:r>
            <a:r>
              <a:rPr lang="en-US" dirty="0">
                <a:latin typeface="Cambria" panose="02040503050406030204" pitchFamily="18" charset="0"/>
              </a:rPr>
              <a:t> </a:t>
            </a:r>
            <a:r>
              <a:rPr lang="en-US" dirty="0" err="1">
                <a:latin typeface="Cambria" panose="02040503050406030204" pitchFamily="18" charset="0"/>
              </a:rPr>
              <a:t>biến</a:t>
            </a:r>
            <a:r>
              <a:rPr lang="en-US" dirty="0">
                <a:latin typeface="Cambria" panose="02040503050406030204" pitchFamily="18" charset="0"/>
              </a:rPr>
              <a:t> </a:t>
            </a:r>
            <a:r>
              <a:rPr lang="en-US" dirty="0" err="1">
                <a:latin typeface="Cambria" panose="02040503050406030204" pitchFamily="18" charset="0"/>
              </a:rPr>
              <a:t>trong</a:t>
            </a:r>
            <a:r>
              <a:rPr lang="en-US" dirty="0">
                <a:latin typeface="Cambria" panose="02040503050406030204" pitchFamily="18" charset="0"/>
              </a:rPr>
              <a:t> </a:t>
            </a:r>
            <a:r>
              <a:rPr lang="en-US" b="1" dirty="0">
                <a:latin typeface="Cambria" panose="02040503050406030204" pitchFamily="18" charset="0"/>
              </a:rPr>
              <a:t>Python</a:t>
            </a:r>
            <a:r>
              <a:rPr lang="en-US" dirty="0">
                <a:latin typeface="Cambria" panose="02040503050406030204" pitchFamily="18" charset="0"/>
              </a:rPr>
              <a:t>. </a:t>
            </a: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dirty="0" err="1">
                <a:latin typeface="Cambria" panose="02040503050406030204" pitchFamily="18" charset="0"/>
              </a:rPr>
              <a:t>này</a:t>
            </a:r>
            <a:r>
              <a:rPr lang="en-US" dirty="0">
                <a:latin typeface="Cambria" panose="02040503050406030204" pitchFamily="18" charset="0"/>
              </a:rPr>
              <a:t> </a:t>
            </a:r>
            <a:r>
              <a:rPr lang="en-US" dirty="0" err="1">
                <a:latin typeface="Cambria" panose="02040503050406030204" pitchFamily="18" charset="0"/>
              </a:rPr>
              <a:t>quan</a:t>
            </a:r>
            <a:r>
              <a:rPr lang="en-US" dirty="0">
                <a:latin typeface="Cambria" panose="02040503050406030204" pitchFamily="18" charset="0"/>
              </a:rPr>
              <a:t> </a:t>
            </a:r>
            <a:r>
              <a:rPr lang="en-US" dirty="0" err="1">
                <a:latin typeface="Cambria" panose="02040503050406030204" pitchFamily="18" charset="0"/>
              </a:rPr>
              <a:t>tâm</a:t>
            </a:r>
            <a:r>
              <a:rPr lang="en-US" dirty="0">
                <a:latin typeface="Cambria" panose="02040503050406030204" pitchFamily="18" charset="0"/>
              </a:rPr>
              <a:t> </a:t>
            </a:r>
            <a:r>
              <a:rPr lang="en-US" dirty="0" err="1">
                <a:latin typeface="Cambria" panose="02040503050406030204" pitchFamily="18" charset="0"/>
              </a:rPr>
              <a:t>điều</a:t>
            </a:r>
            <a:r>
              <a:rPr lang="en-US" dirty="0">
                <a:latin typeface="Cambria" panose="02040503050406030204" pitchFamily="18" charset="0"/>
              </a:rPr>
              <a:t> </a:t>
            </a:r>
            <a:r>
              <a:rPr lang="en-US" dirty="0" err="1">
                <a:latin typeface="Cambria" panose="02040503050406030204" pitchFamily="18" charset="0"/>
              </a:rPr>
              <a:t>kiện</a:t>
            </a:r>
            <a:r>
              <a:rPr lang="en-US" dirty="0">
                <a:latin typeface="Cambria" panose="02040503050406030204" pitchFamily="18" charset="0"/>
              </a:rPr>
              <a:t> </a:t>
            </a:r>
            <a:r>
              <a:rPr lang="en-US" dirty="0" err="1">
                <a:latin typeface="Cambria" panose="02040503050406030204" pitchFamily="18" charset="0"/>
              </a:rPr>
              <a:t>đúng</a:t>
            </a:r>
            <a:r>
              <a:rPr lang="en-US" dirty="0">
                <a:latin typeface="Cambria" panose="02040503050406030204" pitchFamily="18" charset="0"/>
              </a:rPr>
              <a:t> (</a:t>
            </a:r>
            <a:r>
              <a:rPr lang="en-US" b="1" dirty="0">
                <a:latin typeface="Cambria" panose="02040503050406030204" pitchFamily="18" charset="0"/>
              </a:rPr>
              <a:t>True</a:t>
            </a:r>
            <a:r>
              <a:rPr lang="en-US" dirty="0">
                <a:latin typeface="Cambria" panose="02040503050406030204" pitchFamily="18" charset="0"/>
              </a:rPr>
              <a:t>) </a:t>
            </a:r>
            <a:r>
              <a:rPr lang="en-US" dirty="0" err="1">
                <a:latin typeface="Cambria" panose="02040503050406030204" pitchFamily="18" charset="0"/>
              </a:rPr>
              <a:t>và</a:t>
            </a:r>
            <a:r>
              <a:rPr lang="en-US" dirty="0">
                <a:latin typeface="Cambria" panose="02040503050406030204" pitchFamily="18" charset="0"/>
              </a:rPr>
              <a:t> </a:t>
            </a:r>
            <a:r>
              <a:rPr lang="en-US" dirty="0" err="1">
                <a:latin typeface="Cambria" panose="02040503050406030204" pitchFamily="18" charset="0"/>
              </a:rPr>
              <a:t>sai</a:t>
            </a:r>
            <a:r>
              <a:rPr lang="en-US" dirty="0">
                <a:latin typeface="Cambria" panose="02040503050406030204" pitchFamily="18" charset="0"/>
              </a:rPr>
              <a:t> (</a:t>
            </a:r>
            <a:r>
              <a:rPr lang="en-US" b="1" dirty="0">
                <a:latin typeface="Cambria" panose="02040503050406030204" pitchFamily="18" charset="0"/>
              </a:rPr>
              <a:t>False</a:t>
            </a:r>
            <a:r>
              <a:rPr lang="en-US" dirty="0">
                <a:latin typeface="Cambria" panose="02040503050406030204" pitchFamily="18" charset="0"/>
              </a:rPr>
              <a:t>). </a:t>
            </a:r>
            <a:r>
              <a:rPr lang="en-US" dirty="0" err="1">
                <a:latin typeface="Cambria" panose="02040503050406030204" pitchFamily="18" charset="0"/>
              </a:rPr>
              <a:t>Nó</a:t>
            </a:r>
            <a:r>
              <a:rPr lang="en-US" dirty="0">
                <a:latin typeface="Cambria" panose="02040503050406030204" pitchFamily="18" charset="0"/>
              </a:rPr>
              <a:t> </a:t>
            </a:r>
            <a:r>
              <a:rPr lang="en-US" dirty="0" err="1">
                <a:latin typeface="Cambria" panose="02040503050406030204" pitchFamily="18" charset="0"/>
              </a:rPr>
              <a:t>phổ</a:t>
            </a:r>
            <a:r>
              <a:rPr lang="en-US" dirty="0">
                <a:latin typeface="Cambria" panose="02040503050406030204" pitchFamily="18" charset="0"/>
              </a:rPr>
              <a:t> </a:t>
            </a:r>
            <a:r>
              <a:rPr lang="en-US" dirty="0" err="1">
                <a:latin typeface="Cambria" panose="02040503050406030204" pitchFamily="18" charset="0"/>
              </a:rPr>
              <a:t>biển</a:t>
            </a:r>
            <a:r>
              <a:rPr lang="en-US" dirty="0">
                <a:latin typeface="Cambria" panose="02040503050406030204" pitchFamily="18" charset="0"/>
              </a:rPr>
              <a:t> h</a:t>
            </a:r>
            <a:r>
              <a:rPr lang="vi-VN" dirty="0">
                <a:latin typeface="Cambria" panose="02040503050406030204" pitchFamily="18" charset="0"/>
              </a:rPr>
              <a:t>ơ</a:t>
            </a:r>
            <a:r>
              <a:rPr lang="en-US" dirty="0">
                <a:latin typeface="Cambria" panose="02040503050406030204" pitchFamily="18" charset="0"/>
              </a:rPr>
              <a:t>n </a:t>
            </a:r>
            <a:r>
              <a:rPr lang="en-US" dirty="0" err="1">
                <a:latin typeface="Cambria" panose="02040503050406030204" pitchFamily="18" charset="0"/>
              </a:rPr>
              <a:t>biểu</a:t>
            </a:r>
            <a:r>
              <a:rPr lang="en-US" dirty="0">
                <a:latin typeface="Cambria" panose="02040503050406030204" pitchFamily="18" charset="0"/>
              </a:rPr>
              <a:t> </a:t>
            </a:r>
            <a:r>
              <a:rPr lang="en-US" dirty="0" err="1">
                <a:latin typeface="Cambria" panose="02040503050406030204" pitchFamily="18" charset="0"/>
              </a:rPr>
              <a:t>thức</a:t>
            </a:r>
            <a:r>
              <a:rPr lang="en-US" dirty="0">
                <a:latin typeface="Cambria" panose="02040503050406030204" pitchFamily="18" charset="0"/>
              </a:rPr>
              <a:t> </a:t>
            </a:r>
            <a:r>
              <a:rPr lang="en-US" b="1" dirty="0">
                <a:latin typeface="Cambria" panose="02040503050406030204" pitchFamily="18" charset="0"/>
              </a:rPr>
              <a:t>if</a:t>
            </a:r>
            <a:r>
              <a:rPr lang="en-US" dirty="0">
                <a:latin typeface="Cambria" panose="02040503050406030204" pitchFamily="18" charset="0"/>
              </a:rPr>
              <a:t>.</a:t>
            </a:r>
          </a:p>
          <a:p>
            <a:pPr marL="0" indent="0" algn="just">
              <a:buNone/>
            </a:pPr>
            <a:r>
              <a:rPr lang="en-US" b="1" u="sng" dirty="0" err="1">
                <a:latin typeface="Cambria" panose="02040503050406030204" pitchFamily="18" charset="0"/>
              </a:rPr>
              <a:t>Cú</a:t>
            </a:r>
            <a:r>
              <a:rPr lang="en-US" b="1" u="sng" dirty="0">
                <a:latin typeface="Cambria" panose="02040503050406030204" pitchFamily="18" charset="0"/>
              </a:rPr>
              <a:t> </a:t>
            </a:r>
            <a:r>
              <a:rPr lang="en-US" b="1" u="sng" dirty="0" err="1">
                <a:latin typeface="Cambria" panose="02040503050406030204" pitchFamily="18" charset="0"/>
              </a:rPr>
              <a:t>pháp</a:t>
            </a:r>
            <a:r>
              <a:rPr lang="en-US" b="1" u="sng" dirty="0">
                <a:latin typeface="Cambria" panose="02040503050406030204" pitchFamily="18" charset="0"/>
              </a:rPr>
              <a:t>:</a:t>
            </a:r>
          </a:p>
          <a:p>
            <a:pPr marL="0" indent="0">
              <a:buNone/>
            </a:pPr>
            <a:endParaRPr lang="en-US" dirty="0">
              <a:latin typeface="Cambria" panose="02040503050406030204" pitchFamily="18" charset="0"/>
            </a:endParaRPr>
          </a:p>
          <a:p>
            <a:pPr marL="0" indent="0">
              <a:buNone/>
            </a:pPr>
            <a:endParaRPr lang="en-US" dirty="0">
              <a:latin typeface="Cambria" panose="02040503050406030204" pitchFamily="18" charset="0"/>
            </a:endParaRPr>
          </a:p>
          <a:p>
            <a:pPr marL="0" indent="0">
              <a:buNone/>
            </a:pPr>
            <a:endParaRPr lang="en-US" dirty="0">
              <a:latin typeface="Cambria" panose="02040503050406030204" pitchFamily="18" charset="0"/>
            </a:endParaRPr>
          </a:p>
          <a:p>
            <a:pPr marL="0" indent="0">
              <a:buNone/>
            </a:pPr>
            <a:endParaRPr lang="en-US" dirty="0">
              <a:latin typeface="Cambria" panose="02040503050406030204" pitchFamily="18" charset="0"/>
            </a:endParaRPr>
          </a:p>
          <a:p>
            <a:pPr marL="0" indent="0">
              <a:buNone/>
            </a:pPr>
            <a:endParaRPr lang="en-US" dirty="0">
              <a:latin typeface="Cambria" panose="02040503050406030204" pitchFamily="18" charset="0"/>
            </a:endParaRPr>
          </a:p>
          <a:p>
            <a:pPr marL="0" indent="0">
              <a:buNone/>
            </a:pPr>
            <a:endParaRPr lang="en-US" dirty="0">
              <a:latin typeface="Cambria" panose="02040503050406030204" pitchFamily="18" charset="0"/>
            </a:endParaRPr>
          </a:p>
        </p:txBody>
      </p:sp>
      <p:cxnSp>
        <p:nvCxnSpPr>
          <p:cNvPr id="15" name="Straight Arrow Connector 14">
            <a:extLst>
              <a:ext uri="{FF2B5EF4-FFF2-40B4-BE49-F238E27FC236}">
                <a16:creationId xmlns:a16="http://schemas.microsoft.com/office/drawing/2014/main" id="{C49D38D8-3EF3-4D1A-B8AE-97C23AA6F1D9}"/>
              </a:ext>
            </a:extLst>
          </p:cNvPr>
          <p:cNvCxnSpPr>
            <a:cxnSpLocks/>
          </p:cNvCxnSpPr>
          <p:nvPr/>
        </p:nvCxnSpPr>
        <p:spPr>
          <a:xfrm flipV="1">
            <a:off x="4455042" y="4724400"/>
            <a:ext cx="1344133" cy="1"/>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044588F-0794-4A98-A4F0-D71F855EA01B}"/>
              </a:ext>
            </a:extLst>
          </p:cNvPr>
          <p:cNvPicPr>
            <a:picLocks noChangeAspect="1"/>
          </p:cNvPicPr>
          <p:nvPr/>
        </p:nvPicPr>
        <p:blipFill>
          <a:blip r:embed="rId3"/>
          <a:stretch>
            <a:fillRect/>
          </a:stretch>
        </p:blipFill>
        <p:spPr>
          <a:xfrm>
            <a:off x="1295400" y="3126685"/>
            <a:ext cx="2819400" cy="3027030"/>
          </a:xfrm>
          <a:prstGeom prst="rect">
            <a:avLst/>
          </a:prstGeom>
        </p:spPr>
      </p:pic>
      <p:pic>
        <p:nvPicPr>
          <p:cNvPr id="8" name="Picture 7">
            <a:extLst>
              <a:ext uri="{FF2B5EF4-FFF2-40B4-BE49-F238E27FC236}">
                <a16:creationId xmlns:a16="http://schemas.microsoft.com/office/drawing/2014/main" id="{A42B7A22-8BD8-4942-AD07-6848C85D0968}"/>
              </a:ext>
            </a:extLst>
          </p:cNvPr>
          <p:cNvPicPr>
            <a:picLocks noChangeAspect="1"/>
          </p:cNvPicPr>
          <p:nvPr/>
        </p:nvPicPr>
        <p:blipFill>
          <a:blip r:embed="rId4"/>
          <a:stretch>
            <a:fillRect/>
          </a:stretch>
        </p:blipFill>
        <p:spPr>
          <a:xfrm>
            <a:off x="6400800" y="2602809"/>
            <a:ext cx="3540642" cy="4229100"/>
          </a:xfrm>
          <a:prstGeom prst="rect">
            <a:avLst/>
          </a:prstGeom>
        </p:spPr>
      </p:pic>
    </p:spTree>
    <p:extLst>
      <p:ext uri="{BB962C8B-B14F-4D97-AF65-F5344CB8AC3E}">
        <p14:creationId xmlns:p14="http://schemas.microsoft.com/office/powerpoint/2010/main" val="3656054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a:t>
            </a: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a:p>
            <a:pPr marL="0" indent="0">
              <a:buNone/>
            </a:pPr>
            <a:endParaRPr lang="en-US" sz="4000" dirty="0">
              <a:latin typeface="Cambria" panose="02040503050406030204" pitchFamily="18" charset="0"/>
            </a:endParaRPr>
          </a:p>
        </p:txBody>
      </p:sp>
      <p:pic>
        <p:nvPicPr>
          <p:cNvPr id="10" name="Picture 9">
            <a:extLst>
              <a:ext uri="{FF2B5EF4-FFF2-40B4-BE49-F238E27FC236}">
                <a16:creationId xmlns:a16="http://schemas.microsoft.com/office/drawing/2014/main" id="{07AE7E36-22F3-40C1-9730-34DAE218DED3}"/>
              </a:ext>
            </a:extLst>
          </p:cNvPr>
          <p:cNvPicPr>
            <a:picLocks noChangeAspect="1"/>
          </p:cNvPicPr>
          <p:nvPr/>
        </p:nvPicPr>
        <p:blipFill>
          <a:blip r:embed="rId3"/>
          <a:stretch>
            <a:fillRect/>
          </a:stretch>
        </p:blipFill>
        <p:spPr>
          <a:xfrm>
            <a:off x="1134789" y="1833562"/>
            <a:ext cx="10074822" cy="3733800"/>
          </a:xfrm>
          <a:prstGeom prst="rect">
            <a:avLst/>
          </a:prstGeom>
          <a:ln>
            <a:solidFill>
              <a:schemeClr val="tx1">
                <a:lumMod val="95000"/>
                <a:lumOff val="5000"/>
              </a:schemeClr>
            </a:solidFill>
          </a:ln>
        </p:spPr>
      </p:pic>
    </p:spTree>
    <p:extLst>
      <p:ext uri="{BB962C8B-B14F-4D97-AF65-F5344CB8AC3E}">
        <p14:creationId xmlns:p14="http://schemas.microsoft.com/office/powerpoint/2010/main" val="11745747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Biểu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thức</a:t>
            </a:r>
            <a:r>
              <a:rPr lang="en-US" sz="4400" kern="0" dirty="0">
                <a:solidFill>
                  <a:srgbClr val="002060"/>
                </a:solidFill>
                <a:latin typeface="Cambria" panose="02040503050406030204" pitchFamily="18" charset="0"/>
              </a:rPr>
              <a:t> If ... </a:t>
            </a:r>
            <a:r>
              <a:rPr lang="en-US" sz="4400" kern="0" dirty="0" err="1">
                <a:solidFill>
                  <a:srgbClr val="002060"/>
                </a:solidFill>
                <a:latin typeface="Cambria" panose="02040503050406030204" pitchFamily="18" charset="0"/>
              </a:rPr>
              <a:t>elif</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lồng</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nhau</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39</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253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vi-VN" sz="4000" dirty="0">
                <a:latin typeface="Cambria" panose="02040503050406030204" pitchFamily="18" charset="0"/>
              </a:rPr>
              <a:t>Với các điều kiện thức tạp, Python cũng hỗ trợ kiểm tra điều kiện if elif lồng nhau: </a:t>
            </a:r>
            <a:endParaRPr lang="en-US" sz="4000" dirty="0">
              <a:latin typeface="Cambria" panose="02040503050406030204" pitchFamily="18" charset="0"/>
            </a:endParaRPr>
          </a:p>
        </p:txBody>
      </p:sp>
      <p:pic>
        <p:nvPicPr>
          <p:cNvPr id="8" name="Picture 7">
            <a:extLst>
              <a:ext uri="{FF2B5EF4-FFF2-40B4-BE49-F238E27FC236}">
                <a16:creationId xmlns:a16="http://schemas.microsoft.com/office/drawing/2014/main" id="{FBB7F528-38FA-4A2F-BC85-EF4557940D3A}"/>
              </a:ext>
            </a:extLst>
          </p:cNvPr>
          <p:cNvPicPr>
            <a:picLocks noChangeAspect="1"/>
          </p:cNvPicPr>
          <p:nvPr/>
        </p:nvPicPr>
        <p:blipFill>
          <a:blip r:embed="rId3"/>
          <a:stretch>
            <a:fillRect/>
          </a:stretch>
        </p:blipFill>
        <p:spPr>
          <a:xfrm>
            <a:off x="1635806" y="2426180"/>
            <a:ext cx="9072788" cy="4395788"/>
          </a:xfrm>
          <a:prstGeom prst="rect">
            <a:avLst/>
          </a:prstGeom>
        </p:spPr>
      </p:pic>
    </p:spTree>
    <p:extLst>
      <p:ext uri="{BB962C8B-B14F-4D97-AF65-F5344CB8AC3E}">
        <p14:creationId xmlns:p14="http://schemas.microsoft.com/office/powerpoint/2010/main" val="75339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Biểu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thức</a:t>
            </a:r>
            <a:r>
              <a:rPr lang="en-US" sz="4400" kern="0" dirty="0">
                <a:solidFill>
                  <a:srgbClr val="002060"/>
                </a:solidFill>
                <a:latin typeface="Cambria" panose="02040503050406030204" pitchFamily="18" charset="0"/>
              </a:rPr>
              <a:t> pass</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0850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vi-VN" dirty="0">
                <a:latin typeface="Cambria" panose="02040503050406030204" pitchFamily="18" charset="0"/>
              </a:rPr>
              <a:t>Biểu thức </a:t>
            </a:r>
            <a:r>
              <a:rPr lang="vi-VN" dirty="0">
                <a:solidFill>
                  <a:srgbClr val="FF0000"/>
                </a:solidFill>
                <a:latin typeface="Cambria" panose="02040503050406030204" pitchFamily="18" charset="0"/>
              </a:rPr>
              <a:t>pass</a:t>
            </a:r>
            <a:r>
              <a:rPr lang="vi-VN" dirty="0">
                <a:latin typeface="Cambria" panose="02040503050406030204" pitchFamily="18" charset="0"/>
              </a:rPr>
              <a:t> khá lợi hại, nó dùng để dành chỗ lập trình. Ví dụ bạn biết chỗ đó phải viết rất nhiều coding, nhưng tại thời điểm này chưa kịp làm. Ta sẽ dùng </a:t>
            </a:r>
            <a:r>
              <a:rPr lang="vi-VN" dirty="0">
                <a:solidFill>
                  <a:srgbClr val="FF0000"/>
                </a:solidFill>
                <a:latin typeface="Cambria" panose="02040503050406030204" pitchFamily="18" charset="0"/>
              </a:rPr>
              <a:t>pass</a:t>
            </a:r>
            <a:r>
              <a:rPr lang="vi-VN" dirty="0">
                <a:latin typeface="Cambria" panose="02040503050406030204" pitchFamily="18" charset="0"/>
              </a:rPr>
              <a:t> để đánh dấu vị trí đó.</a:t>
            </a:r>
            <a:endParaRPr lang="en-US" dirty="0">
              <a:latin typeface="Cambria" panose="02040503050406030204" pitchFamily="18" charset="0"/>
            </a:endParaRPr>
          </a:p>
        </p:txBody>
      </p:sp>
      <p:pic>
        <p:nvPicPr>
          <p:cNvPr id="9" name="Picture 8">
            <a:extLst>
              <a:ext uri="{FF2B5EF4-FFF2-40B4-BE49-F238E27FC236}">
                <a16:creationId xmlns:a16="http://schemas.microsoft.com/office/drawing/2014/main" id="{2A0DF445-312E-4323-9515-71746454C6BB}"/>
              </a:ext>
            </a:extLst>
          </p:cNvPr>
          <p:cNvPicPr>
            <a:picLocks noChangeAspect="1"/>
          </p:cNvPicPr>
          <p:nvPr/>
        </p:nvPicPr>
        <p:blipFill>
          <a:blip r:embed="rId3"/>
          <a:stretch>
            <a:fillRect/>
          </a:stretch>
        </p:blipFill>
        <p:spPr>
          <a:xfrm>
            <a:off x="6985812" y="3124200"/>
            <a:ext cx="4924425" cy="2524125"/>
          </a:xfrm>
          <a:prstGeom prst="rect">
            <a:avLst/>
          </a:prstGeom>
        </p:spPr>
      </p:pic>
      <p:pic>
        <p:nvPicPr>
          <p:cNvPr id="10" name="Picture 9">
            <a:extLst>
              <a:ext uri="{FF2B5EF4-FFF2-40B4-BE49-F238E27FC236}">
                <a16:creationId xmlns:a16="http://schemas.microsoft.com/office/drawing/2014/main" id="{136A143A-9FE7-4314-BDD2-C03E3A3FDFC2}"/>
              </a:ext>
            </a:extLst>
          </p:cNvPr>
          <p:cNvPicPr>
            <a:picLocks noChangeAspect="1"/>
          </p:cNvPicPr>
          <p:nvPr/>
        </p:nvPicPr>
        <p:blipFill>
          <a:blip r:embed="rId4"/>
          <a:stretch>
            <a:fillRect/>
          </a:stretch>
        </p:blipFill>
        <p:spPr>
          <a:xfrm>
            <a:off x="531143" y="3124201"/>
            <a:ext cx="4895850" cy="2543175"/>
          </a:xfrm>
          <a:prstGeom prst="rect">
            <a:avLst/>
          </a:prstGeom>
        </p:spPr>
      </p:pic>
      <p:cxnSp>
        <p:nvCxnSpPr>
          <p:cNvPr id="12" name="Straight Arrow Connector 11">
            <a:extLst>
              <a:ext uri="{FF2B5EF4-FFF2-40B4-BE49-F238E27FC236}">
                <a16:creationId xmlns:a16="http://schemas.microsoft.com/office/drawing/2014/main" id="{DC775DAD-4F0B-4F3E-BB90-D77830E92FA9}"/>
              </a:ext>
            </a:extLst>
          </p:cNvPr>
          <p:cNvCxnSpPr/>
          <p:nvPr/>
        </p:nvCxnSpPr>
        <p:spPr>
          <a:xfrm flipH="1">
            <a:off x="1271469" y="4114801"/>
            <a:ext cx="838200" cy="2714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3B8810E-DF7A-44DC-9F81-3600CF31D277}"/>
              </a:ext>
            </a:extLst>
          </p:cNvPr>
          <p:cNvSpPr txBox="1"/>
          <p:nvPr/>
        </p:nvSpPr>
        <p:spPr>
          <a:xfrm>
            <a:off x="1856195" y="3745469"/>
            <a:ext cx="4673074" cy="369332"/>
          </a:xfrm>
          <a:prstGeom prst="rect">
            <a:avLst/>
          </a:prstGeom>
          <a:noFill/>
          <a:ln>
            <a:solidFill>
              <a:srgbClr val="FF0000"/>
            </a:solidFill>
          </a:ln>
        </p:spPr>
        <p:txBody>
          <a:bodyPr wrap="none" rtlCol="0">
            <a:spAutoFit/>
          </a:bodyPr>
          <a:lstStyle/>
          <a:p>
            <a:r>
              <a:rPr lang="vi-VN" dirty="0"/>
              <a:t>Lỗi, Python không cho để trống như thế này</a:t>
            </a:r>
            <a:endParaRPr lang="en-US" dirty="0"/>
          </a:p>
        </p:txBody>
      </p:sp>
      <p:sp>
        <p:nvSpPr>
          <p:cNvPr id="16" name="Arrow: Right 15">
            <a:extLst>
              <a:ext uri="{FF2B5EF4-FFF2-40B4-BE49-F238E27FC236}">
                <a16:creationId xmlns:a16="http://schemas.microsoft.com/office/drawing/2014/main" id="{416D42AD-306B-4AD4-B267-F7E648740ABA}"/>
              </a:ext>
            </a:extLst>
          </p:cNvPr>
          <p:cNvSpPr/>
          <p:nvPr/>
        </p:nvSpPr>
        <p:spPr>
          <a:xfrm>
            <a:off x="5823314" y="4395788"/>
            <a:ext cx="1102278" cy="3693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856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a:solidFill>
                  <a:srgbClr val="002060"/>
                </a:solidFill>
                <a:latin typeface="Cambria" panose="02040503050406030204" pitchFamily="18" charset="0"/>
              </a:rPr>
              <a:t>So </a:t>
            </a:r>
            <a:r>
              <a:rPr lang="en-US" sz="4400" kern="0" dirty="0" err="1">
                <a:solidFill>
                  <a:srgbClr val="002060"/>
                </a:solidFill>
                <a:latin typeface="Cambria" panose="02040503050406030204" pitchFamily="18" charset="0"/>
              </a:rPr>
              <a:t>sánh</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số</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thực</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trong</a:t>
            </a:r>
            <a:r>
              <a:rPr lang="en-US" sz="4400" kern="0" dirty="0">
                <a:solidFill>
                  <a:srgbClr val="002060"/>
                </a:solidFill>
                <a:latin typeface="Cambria" panose="02040503050406030204" pitchFamily="18" charset="0"/>
              </a:rPr>
              <a:t> Python</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48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err="1">
                <a:latin typeface="Cambria" panose="02040503050406030204" pitchFamily="18" charset="0"/>
              </a:rPr>
              <a:t>Khi</a:t>
            </a:r>
            <a:r>
              <a:rPr lang="en-US" sz="2800" dirty="0">
                <a:latin typeface="Cambria" panose="02040503050406030204" pitchFamily="18" charset="0"/>
              </a:rPr>
              <a:t> ta </a:t>
            </a:r>
            <a:r>
              <a:rPr lang="en-US" sz="2800" dirty="0" err="1">
                <a:latin typeface="Cambria" panose="02040503050406030204" pitchFamily="18" charset="0"/>
              </a:rPr>
              <a:t>thao</a:t>
            </a:r>
            <a:r>
              <a:rPr lang="en-US" sz="2800" dirty="0">
                <a:latin typeface="Cambria" panose="02040503050406030204" pitchFamily="18" charset="0"/>
              </a:rPr>
              <a:t> </a:t>
            </a:r>
            <a:r>
              <a:rPr lang="en-US" sz="2800" dirty="0" err="1">
                <a:latin typeface="Cambria" panose="02040503050406030204" pitchFamily="18" charset="0"/>
              </a:rPr>
              <a:t>tác</a:t>
            </a:r>
            <a:r>
              <a:rPr lang="en-US" sz="2800" dirty="0">
                <a:latin typeface="Cambria" panose="02040503050406030204" pitchFamily="18" charset="0"/>
              </a:rPr>
              <a:t> </a:t>
            </a:r>
            <a:r>
              <a:rPr lang="en-US" sz="2800" dirty="0" err="1">
                <a:latin typeface="Cambria" panose="02040503050406030204" pitchFamily="18" charset="0"/>
              </a:rPr>
              <a:t>với</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chút</a:t>
            </a:r>
            <a:r>
              <a:rPr lang="en-US" sz="2800" dirty="0">
                <a:latin typeface="Cambria" panose="02040503050406030204" pitchFamily="18" charset="0"/>
              </a:rPr>
              <a:t> </a:t>
            </a:r>
            <a:r>
              <a:rPr lang="en-US" sz="2800" dirty="0" err="1">
                <a:latin typeface="Cambria" panose="02040503050406030204" pitchFamily="18" charset="0"/>
              </a:rPr>
              <a:t>rắc</a:t>
            </a:r>
            <a:r>
              <a:rPr lang="en-US" sz="2800" dirty="0">
                <a:latin typeface="Cambria" panose="02040503050406030204" pitchFamily="18" charset="0"/>
              </a:rPr>
              <a:t> </a:t>
            </a:r>
            <a:r>
              <a:rPr lang="en-US" sz="2800" dirty="0" err="1">
                <a:latin typeface="Cambria" panose="02040503050406030204" pitchFamily="18" charset="0"/>
              </a:rPr>
              <a:t>rối</a:t>
            </a:r>
            <a:r>
              <a:rPr lang="en-US" sz="2800" dirty="0">
                <a:latin typeface="Cambria" panose="02040503050406030204" pitchFamily="18" charset="0"/>
              </a:rPr>
              <a:t> ở </a:t>
            </a:r>
            <a:r>
              <a:rPr lang="en-US" sz="2800" dirty="0" err="1">
                <a:latin typeface="Cambria" panose="02040503050406030204" pitchFamily="18" charset="0"/>
              </a:rPr>
              <a:t>chỗ</a:t>
            </a:r>
            <a:r>
              <a:rPr lang="en-US" sz="2800" dirty="0">
                <a:latin typeface="Cambria" panose="02040503050406030204" pitchFamily="18" charset="0"/>
              </a:rPr>
              <a:t> </a:t>
            </a:r>
            <a:r>
              <a:rPr lang="en-US" sz="2800" dirty="0" err="1">
                <a:latin typeface="Cambria" panose="02040503050406030204" pitchFamily="18" charset="0"/>
              </a:rPr>
              <a:t>Sai</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nên</a:t>
            </a:r>
            <a:r>
              <a:rPr lang="en-US" sz="2800" dirty="0">
                <a:latin typeface="Cambria" panose="02040503050406030204" pitchFamily="18" charset="0"/>
              </a:rPr>
              <a:t> ta </a:t>
            </a:r>
            <a:r>
              <a:rPr lang="en-US" sz="2800" dirty="0" err="1">
                <a:latin typeface="Cambria" panose="02040503050406030204" pitchFamily="18" charset="0"/>
              </a:rPr>
              <a:t>cần</a:t>
            </a:r>
            <a:r>
              <a:rPr lang="en-US" sz="2800" dirty="0">
                <a:latin typeface="Cambria" panose="02040503050406030204" pitchFamily="18" charset="0"/>
              </a:rPr>
              <a:t>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ng</a:t>
            </a:r>
            <a:r>
              <a:rPr lang="vi-VN" sz="2800" dirty="0">
                <a:latin typeface="Cambria" panose="02040503050406030204" pitchFamily="18" charset="0"/>
              </a:rPr>
              <a:t>ư</a:t>
            </a:r>
            <a:r>
              <a:rPr lang="en-US" sz="2800" dirty="0" err="1">
                <a:latin typeface="Cambria" panose="02040503050406030204" pitchFamily="18" charset="0"/>
              </a:rPr>
              <a:t>ỡng</a:t>
            </a:r>
            <a:r>
              <a:rPr lang="en-US" sz="2800" dirty="0">
                <a:latin typeface="Cambria" panose="02040503050406030204" pitchFamily="18" charset="0"/>
              </a:rPr>
              <a:t> </a:t>
            </a:r>
            <a:r>
              <a:rPr lang="en-US" sz="2800" dirty="0" err="1">
                <a:latin typeface="Cambria" panose="02040503050406030204" pitchFamily="18" charset="0"/>
              </a:rPr>
              <a:t>Sai</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cho</a:t>
            </a:r>
            <a:r>
              <a:rPr lang="en-US" sz="2800" dirty="0">
                <a:latin typeface="Cambria" panose="02040503050406030204" pitchFamily="18" charset="0"/>
              </a:rPr>
              <a:t> </a:t>
            </a:r>
            <a:r>
              <a:rPr lang="en-US" sz="2800" dirty="0" err="1">
                <a:latin typeface="Cambria" panose="02040503050406030204" pitchFamily="18" charset="0"/>
              </a:rPr>
              <a:t>phép</a:t>
            </a:r>
            <a:r>
              <a:rPr lang="en-US" sz="2800" dirty="0">
                <a:latin typeface="Cambria" panose="02040503050406030204" pitchFamily="18" charset="0"/>
              </a:rPr>
              <a:t> (</a:t>
            </a:r>
            <a:r>
              <a:rPr lang="en-US" sz="2800" dirty="0" err="1">
                <a:latin typeface="Cambria" panose="02040503050406030204" pitchFamily="18" charset="0"/>
              </a:rPr>
              <a:t>tùy</a:t>
            </a:r>
            <a:r>
              <a:rPr lang="en-US" sz="2800" dirty="0">
                <a:latin typeface="Cambria" panose="02040503050406030204" pitchFamily="18" charset="0"/>
              </a:rPr>
              <a:t> </a:t>
            </a:r>
            <a:r>
              <a:rPr lang="en-US" sz="2800" dirty="0" err="1">
                <a:latin typeface="Cambria" panose="02040503050406030204" pitchFamily="18" charset="0"/>
              </a:rPr>
              <a:t>thuộc</a:t>
            </a:r>
            <a:r>
              <a:rPr lang="en-US" sz="2800" dirty="0">
                <a:latin typeface="Cambria" panose="02040503050406030204" pitchFamily="18" charset="0"/>
              </a:rPr>
              <a:t> </a:t>
            </a:r>
            <a:r>
              <a:rPr lang="en-US" sz="2800" dirty="0" err="1">
                <a:latin typeface="Cambria" panose="02040503050406030204" pitchFamily="18" charset="0"/>
              </a:rPr>
              <a:t>vào</a:t>
            </a:r>
            <a:r>
              <a:rPr lang="en-US" sz="2800" dirty="0">
                <a:latin typeface="Cambria" panose="02040503050406030204" pitchFamily="18" charset="0"/>
              </a:rPr>
              <a:t> </a:t>
            </a:r>
            <a:r>
              <a:rPr lang="en-US" sz="2800" dirty="0" err="1">
                <a:latin typeface="Cambria" panose="02040503050406030204" pitchFamily="18" charset="0"/>
              </a:rPr>
              <a:t>quyết</a:t>
            </a:r>
            <a:r>
              <a:rPr lang="en-US" sz="2800" dirty="0">
                <a:latin typeface="Cambria" panose="02040503050406030204" pitchFamily="18" charset="0"/>
              </a:rPr>
              <a:t> </a:t>
            </a:r>
            <a:r>
              <a:rPr lang="en-US" sz="2800" dirty="0" err="1">
                <a:latin typeface="Cambria" panose="02040503050406030204" pitchFamily="18" charset="0"/>
              </a:rPr>
              <a:t>định</a:t>
            </a:r>
            <a:r>
              <a:rPr lang="en-US" sz="2800" dirty="0">
                <a:latin typeface="Cambria" panose="02040503050406030204" pitchFamily="18" charset="0"/>
              </a:rPr>
              <a:t> </a:t>
            </a:r>
            <a:r>
              <a:rPr lang="en-US" sz="2800" dirty="0" err="1">
                <a:latin typeface="Cambria" panose="02040503050406030204" pitchFamily="18" charset="0"/>
              </a:rPr>
              <a:t>của</a:t>
            </a:r>
            <a:r>
              <a:rPr lang="en-US" sz="2800" dirty="0">
                <a:latin typeface="Cambria" panose="02040503050406030204" pitchFamily="18" charset="0"/>
              </a:rPr>
              <a:t> </a:t>
            </a:r>
            <a:r>
              <a:rPr lang="en-US" sz="2800" dirty="0" err="1">
                <a:latin typeface="Cambria" panose="02040503050406030204" pitchFamily="18" charset="0"/>
              </a:rPr>
              <a:t>ng</a:t>
            </a:r>
            <a:r>
              <a:rPr lang="vi-VN" sz="2800" dirty="0">
                <a:latin typeface="Cambria" panose="02040503050406030204" pitchFamily="18" charset="0"/>
              </a:rPr>
              <a:t>ư</a:t>
            </a:r>
            <a:r>
              <a:rPr lang="en-US" sz="2800" dirty="0" err="1">
                <a:latin typeface="Cambria" panose="02040503050406030204" pitchFamily="18" charset="0"/>
              </a:rPr>
              <a:t>ời</a:t>
            </a:r>
            <a:r>
              <a:rPr lang="en-US" sz="2800" dirty="0">
                <a:latin typeface="Cambria" panose="02040503050406030204" pitchFamily="18" charset="0"/>
              </a:rPr>
              <a:t> </a:t>
            </a:r>
            <a:r>
              <a:rPr lang="en-US" sz="2800" dirty="0" err="1">
                <a:latin typeface="Cambria" panose="02040503050406030204" pitchFamily="18" charset="0"/>
              </a:rPr>
              <a:t>dùng</a:t>
            </a:r>
            <a:r>
              <a:rPr lang="en-US" sz="2800" dirty="0">
                <a:latin typeface="Cambria" panose="02040503050406030204" pitchFamily="18" charset="0"/>
              </a:rPr>
              <a:t>)</a:t>
            </a:r>
          </a:p>
          <a:p>
            <a:pPr marL="0" indent="0" algn="just">
              <a:buNone/>
            </a:pPr>
            <a:endParaRPr lang="en-US" sz="2800" dirty="0">
              <a:latin typeface="Cambria" panose="02040503050406030204" pitchFamily="18" charset="0"/>
            </a:endParaRPr>
          </a:p>
        </p:txBody>
      </p:sp>
      <p:pic>
        <p:nvPicPr>
          <p:cNvPr id="8" name="Picture 7">
            <a:extLst>
              <a:ext uri="{FF2B5EF4-FFF2-40B4-BE49-F238E27FC236}">
                <a16:creationId xmlns:a16="http://schemas.microsoft.com/office/drawing/2014/main" id="{F84957A9-6AB6-458D-8D83-4A306FF87588}"/>
              </a:ext>
            </a:extLst>
          </p:cNvPr>
          <p:cNvPicPr>
            <a:picLocks noChangeAspect="1"/>
          </p:cNvPicPr>
          <p:nvPr/>
        </p:nvPicPr>
        <p:blipFill>
          <a:blip r:embed="rId3"/>
          <a:stretch>
            <a:fillRect/>
          </a:stretch>
        </p:blipFill>
        <p:spPr>
          <a:xfrm>
            <a:off x="508065" y="2600324"/>
            <a:ext cx="5048250" cy="2200275"/>
          </a:xfrm>
          <a:prstGeom prst="rect">
            <a:avLst/>
          </a:prstGeom>
          <a:ln>
            <a:solidFill>
              <a:schemeClr val="tx1"/>
            </a:solidFill>
          </a:ln>
        </p:spPr>
      </p:pic>
      <p:sp>
        <p:nvSpPr>
          <p:cNvPr id="11" name="TextBox 10">
            <a:extLst>
              <a:ext uri="{FF2B5EF4-FFF2-40B4-BE49-F238E27FC236}">
                <a16:creationId xmlns:a16="http://schemas.microsoft.com/office/drawing/2014/main" id="{D8FC17ED-F262-425F-95AD-C316AE71A8DD}"/>
              </a:ext>
            </a:extLst>
          </p:cNvPr>
          <p:cNvSpPr txBox="1"/>
          <p:nvPr/>
        </p:nvSpPr>
        <p:spPr>
          <a:xfrm>
            <a:off x="5853460" y="2492275"/>
            <a:ext cx="5691584" cy="2308324"/>
          </a:xfrm>
          <a:prstGeom prst="rect">
            <a:avLst/>
          </a:prstGeom>
          <a:noFill/>
        </p:spPr>
        <p:txBody>
          <a:bodyPr wrap="square" rtlCol="0">
            <a:spAutoFit/>
          </a:bodyPr>
          <a:lstStyle/>
          <a:p>
            <a:r>
              <a:rPr lang="en-US" sz="2400">
                <a:latin typeface="Cambria" panose="02040503050406030204" pitchFamily="18" charset="0"/>
              </a:rPr>
              <a:t>Nếu mắt th</a:t>
            </a:r>
            <a:r>
              <a:rPr lang="vi-VN" sz="2400">
                <a:latin typeface="Cambria" panose="02040503050406030204" pitchFamily="18" charset="0"/>
              </a:rPr>
              <a:t>ư</a:t>
            </a:r>
            <a:r>
              <a:rPr lang="en-US" sz="2400">
                <a:latin typeface="Cambria" panose="02040503050406030204" pitchFamily="18" charset="0"/>
              </a:rPr>
              <a:t>ờng quan sát ta t</a:t>
            </a:r>
            <a:r>
              <a:rPr lang="vi-VN" sz="2400">
                <a:latin typeface="Cambria" panose="02040503050406030204" pitchFamily="18" charset="0"/>
              </a:rPr>
              <a:t>ư</a:t>
            </a:r>
            <a:r>
              <a:rPr lang="en-US" sz="2400">
                <a:latin typeface="Cambria" panose="02040503050406030204" pitchFamily="18" charset="0"/>
              </a:rPr>
              <a:t>ởng rằng d1 bằng d2 vì lý do sau:</a:t>
            </a:r>
          </a:p>
          <a:p>
            <a:r>
              <a:rPr lang="en-US" sz="2400">
                <a:latin typeface="Cambria" panose="02040503050406030204" pitchFamily="18" charset="0"/>
              </a:rPr>
              <a:t>1.11-1.10</a:t>
            </a:r>
            <a:r>
              <a:rPr lang="en-US" sz="2400">
                <a:latin typeface="Cambria" panose="02040503050406030204" pitchFamily="18" charset="0"/>
                <a:sym typeface="Wingdings" panose="05000000000000000000" pitchFamily="2" charset="2"/>
              </a:rPr>
              <a:t>0.01</a:t>
            </a:r>
          </a:p>
          <a:p>
            <a:r>
              <a:rPr lang="en-US" sz="2400">
                <a:latin typeface="Cambria" panose="02040503050406030204" pitchFamily="18" charset="0"/>
                <a:sym typeface="Wingdings" panose="05000000000000000000" pitchFamily="2" charset="2"/>
              </a:rPr>
              <a:t>2.11-2.100.01</a:t>
            </a:r>
          </a:p>
          <a:p>
            <a:r>
              <a:rPr lang="en-US" sz="2400">
                <a:latin typeface="Cambria" panose="02040503050406030204" pitchFamily="18" charset="0"/>
                <a:sym typeface="Wingdings" panose="05000000000000000000" pitchFamily="2" charset="2"/>
              </a:rPr>
              <a:t>Nh</a:t>
            </a:r>
            <a:r>
              <a:rPr lang="vi-VN" sz="2400">
                <a:latin typeface="Cambria" panose="02040503050406030204" pitchFamily="18" charset="0"/>
                <a:sym typeface="Wingdings" panose="05000000000000000000" pitchFamily="2" charset="2"/>
              </a:rPr>
              <a:t>ư</a:t>
            </a:r>
            <a:r>
              <a:rPr lang="en-US" sz="2400">
                <a:latin typeface="Cambria" panose="02040503050406030204" pitchFamily="18" charset="0"/>
                <a:sym typeface="Wingdings" panose="05000000000000000000" pitchFamily="2" charset="2"/>
              </a:rPr>
              <a:t>ng thực ra số thực nó có sai số, nó không phải 100% là 0.01</a:t>
            </a:r>
            <a:endParaRPr lang="en-US" sz="2400">
              <a:latin typeface="Cambria" panose="02040503050406030204" pitchFamily="18" charset="0"/>
            </a:endParaRPr>
          </a:p>
        </p:txBody>
      </p:sp>
      <p:sp>
        <p:nvSpPr>
          <p:cNvPr id="17" name="Rectangle 16">
            <a:extLst>
              <a:ext uri="{FF2B5EF4-FFF2-40B4-BE49-F238E27FC236}">
                <a16:creationId xmlns:a16="http://schemas.microsoft.com/office/drawing/2014/main" id="{7C339A7F-2213-4928-BD34-2C250D854854}"/>
              </a:ext>
            </a:extLst>
          </p:cNvPr>
          <p:cNvSpPr/>
          <p:nvPr/>
        </p:nvSpPr>
        <p:spPr>
          <a:xfrm>
            <a:off x="1071538" y="4970556"/>
            <a:ext cx="9563844" cy="830997"/>
          </a:xfrm>
          <a:prstGeom prst="rect">
            <a:avLst/>
          </a:prstGeom>
        </p:spPr>
        <p:txBody>
          <a:bodyPr wrap="square">
            <a:spAutoFit/>
          </a:bodyPr>
          <a:lstStyle/>
          <a:p>
            <a:r>
              <a:rPr lang="en-US" sz="2400">
                <a:latin typeface="Cambria" panose="02040503050406030204" pitchFamily="18" charset="0"/>
              </a:rPr>
              <a:t>d1 = 0.010000000000000009  d2 = 0.009999999999999787</a:t>
            </a:r>
          </a:p>
          <a:p>
            <a:r>
              <a:rPr lang="en-US" sz="2400">
                <a:latin typeface="Cambria" panose="02040503050406030204" pitchFamily="18" charset="0"/>
              </a:rPr>
              <a:t>d1 và d2 khác nhau</a:t>
            </a:r>
          </a:p>
        </p:txBody>
      </p:sp>
    </p:spTree>
    <p:extLst>
      <p:ext uri="{BB962C8B-B14F-4D97-AF65-F5344CB8AC3E}">
        <p14:creationId xmlns:p14="http://schemas.microsoft.com/office/powerpoint/2010/main" val="745872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a:latin typeface="Cambria" panose="02040503050406030204" pitchFamily="18" charset="0"/>
              </a:rPr>
              <a:t>Do </a:t>
            </a:r>
            <a:r>
              <a:rPr lang="en-US" sz="4000" dirty="0" err="1">
                <a:latin typeface="Cambria" panose="02040503050406030204" pitchFamily="18" charset="0"/>
              </a:rPr>
              <a:t>đó</a:t>
            </a:r>
            <a:r>
              <a:rPr lang="en-US" sz="4000" dirty="0">
                <a:latin typeface="Cambria" panose="02040503050406030204" pitchFamily="18" charset="0"/>
              </a:rPr>
              <a:t> ta </a:t>
            </a:r>
            <a:r>
              <a:rPr lang="en-US" sz="4000" dirty="0" err="1">
                <a:latin typeface="Cambria" panose="02040503050406030204" pitchFamily="18" charset="0"/>
              </a:rPr>
              <a:t>cho</a:t>
            </a:r>
            <a:r>
              <a:rPr lang="en-US" sz="4000" dirty="0">
                <a:latin typeface="Cambria" panose="02040503050406030204" pitchFamily="18" charset="0"/>
              </a:rPr>
              <a:t> 1 </a:t>
            </a:r>
            <a:r>
              <a:rPr lang="en-US" sz="4000" dirty="0" err="1">
                <a:latin typeface="Cambria" panose="02040503050406030204" pitchFamily="18" charset="0"/>
              </a:rPr>
              <a:t>cái</a:t>
            </a:r>
            <a:r>
              <a:rPr lang="en-US" sz="4000" dirty="0">
                <a:latin typeface="Cambria" panose="02040503050406030204" pitchFamily="18" charset="0"/>
              </a:rPr>
              <a:t> </a:t>
            </a:r>
            <a:r>
              <a:rPr lang="en-US" sz="4000" dirty="0" err="1">
                <a:latin typeface="Cambria" panose="02040503050406030204" pitchFamily="18" charset="0"/>
              </a:rPr>
              <a:t>ng</a:t>
            </a:r>
            <a:r>
              <a:rPr lang="vi-VN" sz="4000" dirty="0">
                <a:latin typeface="Cambria" panose="02040503050406030204" pitchFamily="18" charset="0"/>
              </a:rPr>
              <a:t>ư</a:t>
            </a:r>
            <a:r>
              <a:rPr lang="en-US" sz="4000" dirty="0" err="1">
                <a:latin typeface="Cambria" panose="02040503050406030204" pitchFamily="18" charset="0"/>
              </a:rPr>
              <a:t>ỡng</a:t>
            </a:r>
            <a:r>
              <a:rPr lang="en-US" sz="4000" dirty="0">
                <a:latin typeface="Cambria" panose="02040503050406030204" pitchFamily="18" charset="0"/>
              </a:rPr>
              <a:t> so </a:t>
            </a:r>
            <a:r>
              <a:rPr lang="en-US" sz="4000" dirty="0" err="1">
                <a:latin typeface="Cambria" panose="02040503050406030204" pitchFamily="18" charset="0"/>
              </a:rPr>
              <a:t>sánh</a:t>
            </a:r>
            <a:r>
              <a:rPr lang="en-US" sz="4000" dirty="0">
                <a:latin typeface="Cambria" panose="02040503050406030204" pitchFamily="18" charset="0"/>
              </a:rPr>
              <a:t> </a:t>
            </a:r>
            <a:r>
              <a:rPr lang="en-US" sz="4000" dirty="0" err="1">
                <a:latin typeface="Cambria" panose="02040503050406030204" pitchFamily="18" charset="0"/>
              </a:rPr>
              <a:t>theo</a:t>
            </a:r>
            <a:r>
              <a:rPr lang="en-US" sz="4000" dirty="0">
                <a:latin typeface="Cambria" panose="02040503050406030204" pitchFamily="18" charset="0"/>
              </a:rPr>
              <a:t> </a:t>
            </a:r>
            <a:r>
              <a:rPr lang="en-US" sz="4000" dirty="0" err="1">
                <a:latin typeface="Cambria" panose="02040503050406030204" pitchFamily="18" charset="0"/>
              </a:rPr>
              <a:t>sai</a:t>
            </a:r>
            <a:r>
              <a:rPr lang="en-US" sz="4000" dirty="0">
                <a:latin typeface="Cambria" panose="02040503050406030204" pitchFamily="18" charset="0"/>
              </a:rPr>
              <a:t> </a:t>
            </a:r>
            <a:r>
              <a:rPr lang="en-US" sz="4000" dirty="0" err="1">
                <a:latin typeface="Cambria" panose="02040503050406030204" pitchFamily="18" charset="0"/>
              </a:rPr>
              <a:t>số</a:t>
            </a:r>
            <a:r>
              <a:rPr lang="en-US" sz="4000" dirty="0">
                <a:latin typeface="Cambria" panose="02040503050406030204" pitchFamily="18" charset="0"/>
              </a:rPr>
              <a:t> </a:t>
            </a:r>
            <a:r>
              <a:rPr lang="en-US" sz="4000" dirty="0" err="1">
                <a:latin typeface="Cambria" panose="02040503050406030204" pitchFamily="18" charset="0"/>
              </a:rPr>
              <a:t>cho</a:t>
            </a:r>
            <a:r>
              <a:rPr lang="en-US" sz="4000" dirty="0">
                <a:latin typeface="Cambria" panose="02040503050406030204" pitchFamily="18" charset="0"/>
              </a:rPr>
              <a:t> </a:t>
            </a:r>
            <a:r>
              <a:rPr lang="en-US" sz="4000" dirty="0" err="1">
                <a:latin typeface="Cambria" panose="02040503050406030204" pitchFamily="18" charset="0"/>
              </a:rPr>
              <a:t>phép</a:t>
            </a:r>
            <a:r>
              <a:rPr lang="en-US" sz="4000" dirty="0">
                <a:latin typeface="Cambria" panose="02040503050406030204" pitchFamily="18" charset="0"/>
              </a:rPr>
              <a:t>, </a:t>
            </a:r>
            <a:r>
              <a:rPr lang="en-US" sz="4000" dirty="0" err="1">
                <a:latin typeface="Cambria" panose="02040503050406030204" pitchFamily="18" charset="0"/>
              </a:rPr>
              <a:t>ví</a:t>
            </a:r>
            <a:r>
              <a:rPr lang="en-US" sz="4000" dirty="0">
                <a:latin typeface="Cambria" panose="02040503050406030204" pitchFamily="18" charset="0"/>
              </a:rPr>
              <a:t> </a:t>
            </a:r>
            <a:r>
              <a:rPr lang="en-US" sz="4000" dirty="0" err="1">
                <a:latin typeface="Cambria" panose="02040503050406030204" pitchFamily="18" charset="0"/>
              </a:rPr>
              <a:t>dụ</a:t>
            </a:r>
            <a:r>
              <a:rPr lang="en-US" sz="4000" dirty="0">
                <a:latin typeface="Cambria" panose="02040503050406030204" pitchFamily="18" charset="0"/>
              </a:rPr>
              <a:t>:</a:t>
            </a:r>
          </a:p>
        </p:txBody>
      </p:sp>
      <p:pic>
        <p:nvPicPr>
          <p:cNvPr id="9" name="Picture 8">
            <a:extLst>
              <a:ext uri="{FF2B5EF4-FFF2-40B4-BE49-F238E27FC236}">
                <a16:creationId xmlns:a16="http://schemas.microsoft.com/office/drawing/2014/main" id="{FDC56F99-48E6-4EDF-9803-AB41C4D2C031}"/>
              </a:ext>
            </a:extLst>
          </p:cNvPr>
          <p:cNvPicPr>
            <a:picLocks noChangeAspect="1"/>
          </p:cNvPicPr>
          <p:nvPr/>
        </p:nvPicPr>
        <p:blipFill>
          <a:blip r:embed="rId3"/>
          <a:stretch>
            <a:fillRect/>
          </a:stretch>
        </p:blipFill>
        <p:spPr>
          <a:xfrm>
            <a:off x="1275799" y="2506515"/>
            <a:ext cx="9792801" cy="3929063"/>
          </a:xfrm>
          <a:prstGeom prst="rect">
            <a:avLst/>
          </a:prstGeom>
          <a:ln>
            <a:solidFill>
              <a:schemeClr val="tx1"/>
            </a:solidFill>
          </a:ln>
        </p:spPr>
      </p:pic>
    </p:spTree>
    <p:extLst>
      <p:ext uri="{BB962C8B-B14F-4D97-AF65-F5344CB8AC3E}">
        <p14:creationId xmlns:p14="http://schemas.microsoft.com/office/powerpoint/2010/main" val="1703006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dirty="0">
                <a:solidFill>
                  <a:srgbClr val="002060"/>
                </a:solidFill>
                <a:latin typeface="Cambria" panose="02040503050406030204" pitchFamily="18" charset="0"/>
              </a:rPr>
              <a:t>Sử dụng if else như phép gán</a:t>
            </a:r>
            <a:endParaRPr lang="en-US" sz="96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46</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38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600" dirty="0" err="1">
                <a:latin typeface="Cambria" panose="02040503050406030204" pitchFamily="18" charset="0"/>
              </a:rPr>
              <a:t>Đôi</a:t>
            </a:r>
            <a:r>
              <a:rPr lang="en-US" sz="3600" dirty="0">
                <a:latin typeface="Cambria" panose="02040503050406030204" pitchFamily="18" charset="0"/>
              </a:rPr>
              <a:t> </a:t>
            </a:r>
            <a:r>
              <a:rPr lang="en-US" sz="3600" dirty="0" err="1">
                <a:latin typeface="Cambria" panose="02040503050406030204" pitchFamily="18" charset="0"/>
              </a:rPr>
              <a:t>khi</a:t>
            </a:r>
            <a:r>
              <a:rPr lang="en-US" sz="3600" dirty="0">
                <a:latin typeface="Cambria" panose="02040503050406030204" pitchFamily="18" charset="0"/>
              </a:rPr>
              <a:t> </a:t>
            </a:r>
            <a:r>
              <a:rPr lang="en-US" sz="3600" dirty="0" err="1">
                <a:latin typeface="Cambria" panose="02040503050406030204" pitchFamily="18" charset="0"/>
              </a:rPr>
              <a:t>việc</a:t>
            </a:r>
            <a:r>
              <a:rPr lang="en-US" sz="3600" dirty="0">
                <a:latin typeface="Cambria" panose="02040503050406030204" pitchFamily="18" charset="0"/>
              </a:rPr>
              <a:t> </a:t>
            </a:r>
            <a:r>
              <a:rPr lang="en-US" sz="3600" dirty="0" err="1">
                <a:latin typeface="Cambria" panose="02040503050406030204" pitchFamily="18" charset="0"/>
              </a:rPr>
              <a:t>thực</a:t>
            </a:r>
            <a:r>
              <a:rPr lang="en-US" sz="3600" dirty="0">
                <a:latin typeface="Cambria" panose="02040503050406030204" pitchFamily="18" charset="0"/>
              </a:rPr>
              <a:t> </a:t>
            </a:r>
            <a:r>
              <a:rPr lang="en-US" sz="3600" dirty="0" err="1">
                <a:latin typeface="Cambria" panose="02040503050406030204" pitchFamily="18" charset="0"/>
              </a:rPr>
              <a:t>hiện</a:t>
            </a:r>
            <a:r>
              <a:rPr lang="en-US" sz="3600" dirty="0">
                <a:latin typeface="Cambria" panose="02040503050406030204" pitchFamily="18" charset="0"/>
              </a:rPr>
              <a:t> if else </a:t>
            </a:r>
            <a:r>
              <a:rPr lang="en-US" sz="3600" dirty="0" err="1">
                <a:latin typeface="Cambria" panose="02040503050406030204" pitchFamily="18" charset="0"/>
              </a:rPr>
              <a:t>trong</a:t>
            </a:r>
            <a:r>
              <a:rPr lang="en-US" sz="3600" dirty="0">
                <a:latin typeface="Cambria" panose="02040503050406030204" pitchFamily="18" charset="0"/>
              </a:rPr>
              <a:t> </a:t>
            </a:r>
            <a:r>
              <a:rPr lang="en-US" sz="3600" dirty="0" err="1">
                <a:latin typeface="Cambria" panose="02040503050406030204" pitchFamily="18" charset="0"/>
              </a:rPr>
              <a:t>một</a:t>
            </a:r>
            <a:r>
              <a:rPr lang="en-US" sz="3600" dirty="0">
                <a:latin typeface="Cambria" panose="02040503050406030204" pitchFamily="18" charset="0"/>
              </a:rPr>
              <a:t> </a:t>
            </a:r>
            <a:r>
              <a:rPr lang="en-US" sz="3600" dirty="0" err="1">
                <a:latin typeface="Cambria" panose="02040503050406030204" pitchFamily="18" charset="0"/>
              </a:rPr>
              <a:t>biểu</a:t>
            </a:r>
            <a:r>
              <a:rPr lang="en-US" sz="3600" dirty="0">
                <a:latin typeface="Cambria" panose="02040503050406030204" pitchFamily="18" charset="0"/>
              </a:rPr>
              <a:t> </a:t>
            </a:r>
            <a:r>
              <a:rPr lang="en-US" sz="3600" dirty="0" err="1">
                <a:latin typeface="Cambria" panose="02040503050406030204" pitchFamily="18" charset="0"/>
              </a:rPr>
              <a:t>thức</a:t>
            </a:r>
            <a:r>
              <a:rPr lang="en-US" sz="3600" dirty="0">
                <a:latin typeface="Cambria" panose="02040503050406030204" pitchFamily="18" charset="0"/>
              </a:rPr>
              <a:t> </a:t>
            </a:r>
            <a:r>
              <a:rPr lang="en-US" sz="3600" dirty="0" err="1">
                <a:latin typeface="Cambria" panose="02040503050406030204" pitchFamily="18" charset="0"/>
              </a:rPr>
              <a:t>quá</a:t>
            </a:r>
            <a:r>
              <a:rPr lang="en-US" sz="3600" dirty="0">
                <a:latin typeface="Cambria" panose="02040503050406030204" pitchFamily="18" charset="0"/>
              </a:rPr>
              <a:t> đ</a:t>
            </a:r>
            <a:r>
              <a:rPr lang="vi-VN" sz="3600" dirty="0">
                <a:latin typeface="Cambria" panose="02040503050406030204" pitchFamily="18" charset="0"/>
              </a:rPr>
              <a:t>ơ</a:t>
            </a:r>
            <a:r>
              <a:rPr lang="en-US" sz="3600" dirty="0">
                <a:latin typeface="Cambria" panose="02040503050406030204" pitchFamily="18" charset="0"/>
              </a:rPr>
              <a:t>n </a:t>
            </a:r>
            <a:r>
              <a:rPr lang="en-US" sz="3600" dirty="0" err="1">
                <a:latin typeface="Cambria" panose="02040503050406030204" pitchFamily="18" charset="0"/>
              </a:rPr>
              <a:t>giản</a:t>
            </a:r>
            <a:r>
              <a:rPr lang="en-US" sz="3600" dirty="0">
                <a:latin typeface="Cambria" panose="02040503050406030204" pitchFamily="18" charset="0"/>
              </a:rPr>
              <a:t> </a:t>
            </a:r>
            <a:r>
              <a:rPr lang="en-US" sz="3600" dirty="0" err="1">
                <a:latin typeface="Cambria" panose="02040503050406030204" pitchFamily="18" charset="0"/>
              </a:rPr>
              <a:t>sẽ</a:t>
            </a:r>
            <a:r>
              <a:rPr lang="en-US" sz="3600" dirty="0">
                <a:latin typeface="Cambria" panose="02040503050406030204" pitchFamily="18" charset="0"/>
              </a:rPr>
              <a:t> </a:t>
            </a:r>
            <a:r>
              <a:rPr lang="en-US" sz="3600" dirty="0" err="1">
                <a:latin typeface="Cambria" panose="02040503050406030204" pitchFamily="18" charset="0"/>
              </a:rPr>
              <a:t>làm</a:t>
            </a:r>
            <a:r>
              <a:rPr lang="en-US" sz="3600" dirty="0">
                <a:latin typeface="Cambria" panose="02040503050406030204" pitchFamily="18" charset="0"/>
              </a:rPr>
              <a:t> </a:t>
            </a:r>
            <a:r>
              <a:rPr lang="en-US" sz="3600" dirty="0" err="1">
                <a:latin typeface="Cambria" panose="02040503050406030204" pitchFamily="18" charset="0"/>
              </a:rPr>
              <a:t>cho</a:t>
            </a:r>
            <a:r>
              <a:rPr lang="en-US" sz="3600" dirty="0">
                <a:latin typeface="Cambria" panose="02040503050406030204" pitchFamily="18" charset="0"/>
              </a:rPr>
              <a:t> if else </a:t>
            </a:r>
            <a:r>
              <a:rPr lang="en-US" sz="3600" dirty="0" err="1">
                <a:latin typeface="Cambria" panose="02040503050406030204" pitchFamily="18" charset="0"/>
              </a:rPr>
              <a:t>phức</a:t>
            </a:r>
            <a:r>
              <a:rPr lang="en-US" sz="3600" dirty="0">
                <a:latin typeface="Cambria" panose="02040503050406030204" pitchFamily="18" charset="0"/>
              </a:rPr>
              <a:t> </a:t>
            </a:r>
            <a:r>
              <a:rPr lang="en-US" sz="3600" dirty="0" err="1">
                <a:latin typeface="Cambria" panose="02040503050406030204" pitchFamily="18" charset="0"/>
              </a:rPr>
              <a:t>tạp</a:t>
            </a:r>
            <a:r>
              <a:rPr lang="en-US" sz="3600" dirty="0">
                <a:latin typeface="Cambria" panose="02040503050406030204" pitchFamily="18" charset="0"/>
              </a:rPr>
              <a:t> </a:t>
            </a:r>
            <a:r>
              <a:rPr lang="en-US" sz="3600" dirty="0" err="1">
                <a:latin typeface="Cambria" panose="02040503050406030204" pitchFamily="18" charset="0"/>
              </a:rPr>
              <a:t>không</a:t>
            </a:r>
            <a:r>
              <a:rPr lang="en-US" sz="3600" dirty="0">
                <a:latin typeface="Cambria" panose="02040503050406030204" pitchFamily="18" charset="0"/>
              </a:rPr>
              <a:t> </a:t>
            </a:r>
            <a:r>
              <a:rPr lang="en-US" sz="3600" dirty="0" err="1">
                <a:latin typeface="Cambria" panose="02040503050406030204" pitchFamily="18" charset="0"/>
              </a:rPr>
              <a:t>cần</a:t>
            </a:r>
            <a:r>
              <a:rPr lang="en-US" sz="3600" dirty="0">
                <a:latin typeface="Cambria" panose="02040503050406030204" pitchFamily="18" charset="0"/>
              </a:rPr>
              <a:t> </a:t>
            </a:r>
            <a:r>
              <a:rPr lang="en-US" sz="3600" dirty="0" err="1">
                <a:latin typeface="Cambria" panose="02040503050406030204" pitchFamily="18" charset="0"/>
              </a:rPr>
              <a:t>thiết</a:t>
            </a:r>
            <a:r>
              <a:rPr lang="en-US" sz="3600" dirty="0">
                <a:latin typeface="Cambria" panose="02040503050406030204" pitchFamily="18" charset="0"/>
              </a:rPr>
              <a:t>:</a:t>
            </a:r>
          </a:p>
        </p:txBody>
      </p:sp>
      <p:pic>
        <p:nvPicPr>
          <p:cNvPr id="9" name="Picture 8">
            <a:extLst>
              <a:ext uri="{FF2B5EF4-FFF2-40B4-BE49-F238E27FC236}">
                <a16:creationId xmlns:a16="http://schemas.microsoft.com/office/drawing/2014/main" id="{04CE01A9-3140-42EB-897D-3CCF04E69D16}"/>
              </a:ext>
            </a:extLst>
          </p:cNvPr>
          <p:cNvPicPr>
            <a:picLocks noChangeAspect="1"/>
          </p:cNvPicPr>
          <p:nvPr/>
        </p:nvPicPr>
        <p:blipFill>
          <a:blip r:embed="rId3"/>
          <a:stretch>
            <a:fillRect/>
          </a:stretch>
        </p:blipFill>
        <p:spPr>
          <a:xfrm>
            <a:off x="1143000" y="2586037"/>
            <a:ext cx="2219325" cy="2228850"/>
          </a:xfrm>
          <a:prstGeom prst="rect">
            <a:avLst/>
          </a:prstGeom>
        </p:spPr>
      </p:pic>
      <p:sp>
        <p:nvSpPr>
          <p:cNvPr id="10" name="Rectangle 1">
            <a:extLst>
              <a:ext uri="{FF2B5EF4-FFF2-40B4-BE49-F238E27FC236}">
                <a16:creationId xmlns:a16="http://schemas.microsoft.com/office/drawing/2014/main" id="{4D11DBB4-096E-48A0-89F7-D44171134356}"/>
              </a:ext>
            </a:extLst>
          </p:cNvPr>
          <p:cNvSpPr>
            <a:spLocks noChangeArrowheads="1"/>
          </p:cNvSpPr>
          <p:nvPr/>
        </p:nvSpPr>
        <p:spPr bwMode="auto">
          <a:xfrm>
            <a:off x="5452373" y="3438852"/>
            <a:ext cx="5769528"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 = </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113 </a:t>
            </a:r>
            <a:r>
              <a:rPr kumimoji="0" lang="en-US" altLang="en-US" sz="28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if </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 != b </a:t>
            </a:r>
            <a:r>
              <a:rPr kumimoji="0" lang="en-US" altLang="en-US" sz="28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else </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115</a:t>
            </a:r>
            <a:endParaRPr kumimoji="0" lang="en-US" altLang="en-US" sz="2800" b="0" i="0" u="none" strike="noStrike" cap="none" normalizeH="0" baseline="0">
              <a:ln>
                <a:noFill/>
              </a:ln>
              <a:solidFill>
                <a:schemeClr val="tx1"/>
              </a:solidFill>
              <a:effectLst/>
              <a:latin typeface="Arial" panose="020B0604020202020204" pitchFamily="34" charset="0"/>
            </a:endParaRPr>
          </a:p>
        </p:txBody>
      </p:sp>
      <p:cxnSp>
        <p:nvCxnSpPr>
          <p:cNvPr id="15" name="Straight Connector 14">
            <a:extLst>
              <a:ext uri="{FF2B5EF4-FFF2-40B4-BE49-F238E27FC236}">
                <a16:creationId xmlns:a16="http://schemas.microsoft.com/office/drawing/2014/main" id="{FECCF8CC-E497-4209-9BCD-D021D6D914C9}"/>
              </a:ext>
            </a:extLst>
          </p:cNvPr>
          <p:cNvCxnSpPr/>
          <p:nvPr/>
        </p:nvCxnSpPr>
        <p:spPr>
          <a:xfrm>
            <a:off x="2895600" y="3276600"/>
            <a:ext cx="0" cy="10668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B6CC79E-54A7-484A-B4CA-DCF51E91EAA5}"/>
              </a:ext>
            </a:extLst>
          </p:cNvPr>
          <p:cNvCxnSpPr/>
          <p:nvPr/>
        </p:nvCxnSpPr>
        <p:spPr>
          <a:xfrm>
            <a:off x="3048000" y="3700462"/>
            <a:ext cx="2362200"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19118E9-39BE-4C66-896C-67103881363F}"/>
              </a:ext>
            </a:extLst>
          </p:cNvPr>
          <p:cNvPicPr>
            <a:picLocks noChangeAspect="1"/>
          </p:cNvPicPr>
          <p:nvPr/>
        </p:nvPicPr>
        <p:blipFill>
          <a:blip r:embed="rId4"/>
          <a:stretch>
            <a:fillRect/>
          </a:stretch>
        </p:blipFill>
        <p:spPr>
          <a:xfrm>
            <a:off x="3810000" y="4521994"/>
            <a:ext cx="6848475" cy="981075"/>
          </a:xfrm>
          <a:prstGeom prst="rect">
            <a:avLst/>
          </a:prstGeom>
        </p:spPr>
      </p:pic>
    </p:spTree>
    <p:extLst>
      <p:ext uri="{BB962C8B-B14F-4D97-AF65-F5344CB8AC3E}">
        <p14:creationId xmlns:p14="http://schemas.microsoft.com/office/powerpoint/2010/main" val="3875552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endParaRPr lang="en-US" sz="4400" kern="0" dirty="0">
              <a:solidFill>
                <a:srgbClr val="002060"/>
              </a:solidFill>
              <a:latin typeface="Cambria" panose="02040503050406030204" pitchFamily="18" charset="0"/>
            </a:endParaRPr>
          </a:p>
          <a:p>
            <a:pPr>
              <a:defRPr/>
            </a:pPr>
            <a:r>
              <a:rPr lang="en-US" sz="4400" kern="0" dirty="0" err="1">
                <a:solidFill>
                  <a:srgbClr val="002060"/>
                </a:solidFill>
                <a:latin typeface="Cambria" panose="02040503050406030204" pitchFamily="18" charset="0"/>
              </a:rPr>
              <a:t>Kiểm</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tra</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năm</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nhuần</a:t>
            </a:r>
            <a:endParaRPr lang="en-US" sz="44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358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vào</a:t>
            </a:r>
            <a:r>
              <a:rPr lang="en-US" sz="4000" dirty="0">
                <a:latin typeface="Cambria" panose="02040503050406030204" pitchFamily="18" charset="0"/>
              </a:rPr>
              <a:t> </a:t>
            </a:r>
            <a:r>
              <a:rPr lang="en-US" sz="4000" dirty="0" err="1">
                <a:latin typeface="Cambria" panose="02040503050406030204" pitchFamily="18" charset="0"/>
              </a:rPr>
              <a:t>một</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bất</a:t>
            </a:r>
            <a:r>
              <a:rPr lang="en-US" sz="4000" dirty="0">
                <a:latin typeface="Cambria" panose="02040503050406030204" pitchFamily="18" charset="0"/>
              </a:rPr>
              <a:t> </a:t>
            </a:r>
            <a:r>
              <a:rPr lang="en-US" sz="4000" dirty="0" err="1">
                <a:latin typeface="Cambria" panose="02040503050406030204" pitchFamily="18" charset="0"/>
              </a:rPr>
              <a:t>kỳ</a:t>
            </a:r>
            <a:r>
              <a:rPr lang="en-US" sz="4000" dirty="0">
                <a:latin typeface="Cambria" panose="02040503050406030204" pitchFamily="18" charset="0"/>
              </a:rPr>
              <a:t>, </a:t>
            </a:r>
            <a:r>
              <a:rPr lang="en-US" sz="4000" dirty="0" err="1">
                <a:latin typeface="Cambria" panose="02040503050406030204" pitchFamily="18" charset="0"/>
              </a:rPr>
              <a:t>kiểm</a:t>
            </a:r>
            <a:r>
              <a:rPr lang="en-US" sz="4000" dirty="0">
                <a:latin typeface="Cambria" panose="02040503050406030204" pitchFamily="18" charset="0"/>
              </a:rPr>
              <a:t> </a:t>
            </a:r>
            <a:r>
              <a:rPr lang="en-US" sz="4000" dirty="0" err="1">
                <a:latin typeface="Cambria" panose="02040503050406030204" pitchFamily="18" charset="0"/>
              </a:rPr>
              <a:t>tra</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đó</a:t>
            </a:r>
            <a:r>
              <a:rPr lang="en-US" sz="4000" dirty="0">
                <a:latin typeface="Cambria" panose="02040503050406030204" pitchFamily="18" charset="0"/>
              </a:rPr>
              <a:t> </a:t>
            </a:r>
            <a:r>
              <a:rPr lang="en-US" sz="4000" dirty="0" err="1">
                <a:latin typeface="Cambria" panose="02040503050406030204" pitchFamily="18" charset="0"/>
              </a:rPr>
              <a:t>có</a:t>
            </a:r>
            <a:r>
              <a:rPr lang="en-US" sz="4000" dirty="0">
                <a:latin typeface="Cambria" panose="02040503050406030204" pitchFamily="18" charset="0"/>
              </a:rPr>
              <a:t> </a:t>
            </a:r>
            <a:r>
              <a:rPr lang="en-US" sz="4000" dirty="0" err="1">
                <a:latin typeface="Cambria" panose="02040503050406030204" pitchFamily="18" charset="0"/>
              </a:rPr>
              <a:t>phải</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nhuần</a:t>
            </a:r>
            <a:r>
              <a:rPr lang="en-US" sz="4000" dirty="0">
                <a:latin typeface="Cambria" panose="02040503050406030204" pitchFamily="18" charset="0"/>
              </a:rPr>
              <a:t> hay </a:t>
            </a:r>
            <a:r>
              <a:rPr lang="en-US" sz="4000" dirty="0" err="1">
                <a:latin typeface="Cambria" panose="02040503050406030204" pitchFamily="18" charset="0"/>
              </a:rPr>
              <a:t>không</a:t>
            </a:r>
            <a:r>
              <a:rPr lang="en-US" sz="4000" dirty="0">
                <a:latin typeface="Cambria" panose="02040503050406030204" pitchFamily="18" charset="0"/>
              </a:rPr>
              <a:t>. </a:t>
            </a:r>
          </a:p>
          <a:p>
            <a:pPr marL="0" indent="0" algn="just">
              <a:buNone/>
            </a:pPr>
            <a:r>
              <a:rPr lang="en-US" sz="4000" dirty="0" err="1">
                <a:latin typeface="Cambria" panose="02040503050406030204" pitchFamily="18" charset="0"/>
              </a:rPr>
              <a:t>Biết</a:t>
            </a:r>
            <a:r>
              <a:rPr lang="en-US" sz="4000" dirty="0">
                <a:latin typeface="Cambria" panose="02040503050406030204" pitchFamily="18" charset="0"/>
              </a:rPr>
              <a:t> </a:t>
            </a:r>
            <a:r>
              <a:rPr lang="en-US" sz="4000" dirty="0" err="1">
                <a:latin typeface="Cambria" panose="02040503050406030204" pitchFamily="18" charset="0"/>
              </a:rPr>
              <a:t>rằng</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nhuần</a:t>
            </a:r>
            <a:r>
              <a:rPr lang="en-US" sz="4000" dirty="0">
                <a:latin typeface="Cambria" panose="02040503050406030204" pitchFamily="18" charset="0"/>
              </a:rPr>
              <a:t> </a:t>
            </a:r>
            <a:r>
              <a:rPr lang="en-US" sz="4000" dirty="0" err="1">
                <a:latin typeface="Cambria" panose="02040503050406030204" pitchFamily="18" charset="0"/>
              </a:rPr>
              <a:t>là</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chia </a:t>
            </a:r>
            <a:r>
              <a:rPr lang="en-US" sz="4000" dirty="0" err="1">
                <a:latin typeface="Cambria" panose="02040503050406030204" pitchFamily="18" charset="0"/>
              </a:rPr>
              <a:t>hết</a:t>
            </a:r>
            <a:r>
              <a:rPr lang="en-US" sz="4000" dirty="0">
                <a:latin typeface="Cambria" panose="02040503050406030204" pitchFamily="18" charset="0"/>
              </a:rPr>
              <a:t> </a:t>
            </a:r>
            <a:r>
              <a:rPr lang="en-US" sz="4000" dirty="0" err="1">
                <a:latin typeface="Cambria" panose="02040503050406030204" pitchFamily="18" charset="0"/>
              </a:rPr>
              <a:t>cho</a:t>
            </a:r>
            <a:r>
              <a:rPr lang="en-US" sz="4000" dirty="0">
                <a:latin typeface="Cambria" panose="02040503050406030204" pitchFamily="18" charset="0"/>
              </a:rPr>
              <a:t> 4 </a:t>
            </a:r>
            <a:r>
              <a:rPr lang="en-US" sz="4000" dirty="0" err="1">
                <a:latin typeface="Cambria" panose="02040503050406030204" pitchFamily="18" charset="0"/>
              </a:rPr>
              <a:t>nh</a:t>
            </a:r>
            <a:r>
              <a:rPr lang="vi-VN" sz="4000" dirty="0">
                <a:latin typeface="Cambria" panose="02040503050406030204" pitchFamily="18" charset="0"/>
              </a:rPr>
              <a:t>ư</a:t>
            </a:r>
            <a:r>
              <a:rPr lang="en-US" sz="4000" dirty="0" err="1">
                <a:latin typeface="Cambria" panose="02040503050406030204" pitchFamily="18" charset="0"/>
              </a:rPr>
              <a:t>ng</a:t>
            </a:r>
            <a:r>
              <a:rPr lang="en-US" sz="4000" dirty="0">
                <a:latin typeface="Cambria" panose="02040503050406030204" pitchFamily="18" charset="0"/>
              </a:rPr>
              <a:t> </a:t>
            </a:r>
            <a:r>
              <a:rPr lang="en-US" sz="4000" dirty="0" err="1">
                <a:latin typeface="Cambria" panose="02040503050406030204" pitchFamily="18" charset="0"/>
              </a:rPr>
              <a:t>không</a:t>
            </a:r>
            <a:r>
              <a:rPr lang="en-US" sz="4000" dirty="0">
                <a:latin typeface="Cambria" panose="02040503050406030204" pitchFamily="18" charset="0"/>
              </a:rPr>
              <a:t> chia </a:t>
            </a:r>
            <a:r>
              <a:rPr lang="en-US" sz="4000" dirty="0" err="1">
                <a:latin typeface="Cambria" panose="02040503050406030204" pitchFamily="18" charset="0"/>
              </a:rPr>
              <a:t>hết</a:t>
            </a:r>
            <a:r>
              <a:rPr lang="en-US" sz="4000" dirty="0">
                <a:latin typeface="Cambria" panose="02040503050406030204" pitchFamily="18" charset="0"/>
              </a:rPr>
              <a:t> </a:t>
            </a:r>
            <a:r>
              <a:rPr lang="en-US" sz="4000" dirty="0" err="1">
                <a:latin typeface="Cambria" panose="02040503050406030204" pitchFamily="18" charset="0"/>
              </a:rPr>
              <a:t>cho</a:t>
            </a:r>
            <a:r>
              <a:rPr lang="en-US" sz="4000" dirty="0">
                <a:latin typeface="Cambria" panose="02040503050406030204" pitchFamily="18" charset="0"/>
              </a:rPr>
              <a:t> 100 </a:t>
            </a:r>
            <a:r>
              <a:rPr lang="en-US" sz="4000" dirty="0" err="1">
                <a:latin typeface="Cambria" panose="02040503050406030204" pitchFamily="18" charset="0"/>
              </a:rPr>
              <a:t>hoặc</a:t>
            </a:r>
            <a:r>
              <a:rPr lang="en-US" sz="4000" dirty="0">
                <a:latin typeface="Cambria" panose="02040503050406030204" pitchFamily="18" charset="0"/>
              </a:rPr>
              <a:t> chia </a:t>
            </a:r>
            <a:r>
              <a:rPr lang="en-US" sz="4000" dirty="0" err="1">
                <a:latin typeface="Cambria" panose="02040503050406030204" pitchFamily="18" charset="0"/>
              </a:rPr>
              <a:t>hết</a:t>
            </a:r>
            <a:r>
              <a:rPr lang="en-US" sz="4000" dirty="0">
                <a:latin typeface="Cambria" panose="02040503050406030204" pitchFamily="18" charset="0"/>
              </a:rPr>
              <a:t> </a:t>
            </a:r>
            <a:r>
              <a:rPr lang="en-US" sz="4000" dirty="0" err="1">
                <a:latin typeface="Cambria" panose="02040503050406030204" pitchFamily="18" charset="0"/>
              </a:rPr>
              <a:t>cho</a:t>
            </a:r>
            <a:r>
              <a:rPr lang="en-US" sz="4000" dirty="0">
                <a:latin typeface="Cambria" panose="02040503050406030204" pitchFamily="18" charset="0"/>
              </a:rPr>
              <a:t> 400</a:t>
            </a:r>
          </a:p>
        </p:txBody>
      </p:sp>
    </p:spTree>
    <p:extLst>
      <p:ext uri="{BB962C8B-B14F-4D97-AF65-F5344CB8AC3E}">
        <p14:creationId xmlns:p14="http://schemas.microsoft.com/office/powerpoint/2010/main" val="835260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endParaRPr lang="en-US" sz="4400" kern="0" dirty="0">
              <a:solidFill>
                <a:srgbClr val="002060"/>
              </a:solidFill>
              <a:latin typeface="Cambria" panose="02040503050406030204" pitchFamily="18" charset="0"/>
            </a:endParaRPr>
          </a:p>
          <a:p>
            <a:pPr>
              <a:defRPr/>
            </a:pPr>
            <a:r>
              <a:rPr lang="en-US" sz="4400" kern="0" dirty="0" err="1">
                <a:solidFill>
                  <a:srgbClr val="002060"/>
                </a:solidFill>
                <a:latin typeface="Cambria" panose="02040503050406030204" pitchFamily="18" charset="0"/>
              </a:rPr>
              <a:t>Đếm</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số</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ngày</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trong</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tháng</a:t>
            </a:r>
            <a:endParaRPr lang="en-US" sz="44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745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3600" b="1" dirty="0" err="1">
                  <a:latin typeface="Cambria" panose="02040503050406030204" pitchFamily="18" charset="0"/>
                </a:rPr>
                <a:t>Nội</a:t>
              </a:r>
              <a:r>
                <a:rPr lang="en-US" sz="3600" b="1" dirty="0">
                  <a:latin typeface="Cambria" panose="02040503050406030204" pitchFamily="18" charset="0"/>
                </a:rPr>
                <a:t> dung </a:t>
              </a:r>
              <a:r>
                <a:rPr lang="en-US" sz="3600" b="1" dirty="0" err="1">
                  <a:latin typeface="Cambria" panose="02040503050406030204" pitchFamily="18" charset="0"/>
                </a:rPr>
                <a:t>bài</a:t>
              </a:r>
              <a:r>
                <a:rPr lang="en-US" sz="3600" b="1" dirty="0">
                  <a:latin typeface="Cambria" panose="02040503050406030204" pitchFamily="18" charset="0"/>
                </a:rPr>
                <a:t> </a:t>
              </a:r>
              <a:r>
                <a:rPr lang="en-US" sz="3600" b="1" dirty="0" err="1">
                  <a:latin typeface="Cambria" panose="02040503050406030204" pitchFamily="18" charset="0"/>
                </a:rPr>
                <a:t>học</a:t>
              </a:r>
              <a:endParaRPr lang="en-US" sz="36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vào</a:t>
            </a:r>
            <a:r>
              <a:rPr lang="en-US" sz="4000" dirty="0">
                <a:latin typeface="Cambria" panose="02040503050406030204" pitchFamily="18" charset="0"/>
              </a:rPr>
              <a:t> 1 </a:t>
            </a:r>
            <a:r>
              <a:rPr lang="en-US" sz="4000" dirty="0" err="1">
                <a:latin typeface="Cambria" panose="02040503050406030204" pitchFamily="18" charset="0"/>
              </a:rPr>
              <a:t>tháng</a:t>
            </a:r>
            <a:r>
              <a:rPr lang="en-US" sz="4000" dirty="0">
                <a:latin typeface="Cambria" panose="02040503050406030204" pitchFamily="18" charset="0"/>
              </a:rPr>
              <a:t>, </a:t>
            </a:r>
            <a:r>
              <a:rPr lang="en-US" sz="4000" dirty="0" err="1">
                <a:latin typeface="Cambria" panose="02040503050406030204" pitchFamily="18" charset="0"/>
              </a:rPr>
              <a:t>xuất</a:t>
            </a:r>
            <a:r>
              <a:rPr lang="en-US" sz="4000" dirty="0">
                <a:latin typeface="Cambria" panose="02040503050406030204" pitchFamily="18" charset="0"/>
              </a:rPr>
              <a:t> </a:t>
            </a:r>
            <a:r>
              <a:rPr lang="en-US" sz="4000" dirty="0" err="1">
                <a:latin typeface="Cambria" panose="02040503050406030204" pitchFamily="18" charset="0"/>
              </a:rPr>
              <a:t>tháng</a:t>
            </a:r>
            <a:r>
              <a:rPr lang="en-US" sz="4000" dirty="0">
                <a:latin typeface="Cambria" panose="02040503050406030204" pitchFamily="18" charset="0"/>
              </a:rPr>
              <a:t> </a:t>
            </a:r>
            <a:r>
              <a:rPr lang="en-US" sz="4000" dirty="0" err="1">
                <a:latin typeface="Cambria" panose="02040503050406030204" pitchFamily="18" charset="0"/>
              </a:rPr>
              <a:t>đó</a:t>
            </a:r>
            <a:r>
              <a:rPr lang="en-US" sz="4000" dirty="0">
                <a:latin typeface="Cambria" panose="02040503050406030204" pitchFamily="18" charset="0"/>
              </a:rPr>
              <a:t> </a:t>
            </a:r>
            <a:r>
              <a:rPr lang="en-US" sz="4000" dirty="0" err="1">
                <a:latin typeface="Cambria" panose="02040503050406030204" pitchFamily="18" charset="0"/>
              </a:rPr>
              <a:t>có</a:t>
            </a:r>
            <a:r>
              <a:rPr lang="en-US" sz="4000" dirty="0">
                <a:latin typeface="Cambria" panose="02040503050406030204" pitchFamily="18" charset="0"/>
              </a:rPr>
              <a:t> </a:t>
            </a:r>
            <a:r>
              <a:rPr lang="en-US" sz="4000" dirty="0" err="1">
                <a:latin typeface="Cambria" panose="02040503050406030204" pitchFamily="18" charset="0"/>
              </a:rPr>
              <a:t>bao</a:t>
            </a:r>
            <a:r>
              <a:rPr lang="en-US" sz="4000" dirty="0">
                <a:latin typeface="Cambria" panose="02040503050406030204" pitchFamily="18" charset="0"/>
              </a:rPr>
              <a:t> </a:t>
            </a:r>
            <a:r>
              <a:rPr lang="en-US" sz="4000" dirty="0" err="1">
                <a:latin typeface="Cambria" panose="02040503050406030204" pitchFamily="18" charset="0"/>
              </a:rPr>
              <a:t>nhiêu</a:t>
            </a:r>
            <a:r>
              <a:rPr lang="en-US" sz="4000" dirty="0">
                <a:latin typeface="Cambria" panose="02040503050406030204" pitchFamily="18" charset="0"/>
              </a:rPr>
              <a:t> </a:t>
            </a:r>
            <a:r>
              <a:rPr lang="en-US" sz="4000" dirty="0" err="1">
                <a:latin typeface="Cambria" panose="02040503050406030204" pitchFamily="18" charset="0"/>
              </a:rPr>
              <a:t>ngày</a:t>
            </a:r>
            <a:r>
              <a:rPr lang="en-US" sz="4000" dirty="0">
                <a:latin typeface="Cambria" panose="02040503050406030204" pitchFamily="18" charset="0"/>
              </a:rPr>
              <a:t>. </a:t>
            </a:r>
          </a:p>
          <a:p>
            <a:pPr marL="0" indent="0" algn="just">
              <a:buNone/>
            </a:pPr>
            <a:r>
              <a:rPr lang="en-US" sz="4000" dirty="0">
                <a:latin typeface="Cambria" panose="02040503050406030204" pitchFamily="18" charset="0"/>
              </a:rPr>
              <a:t>1,3,5,7,8,10,12</a:t>
            </a:r>
            <a:r>
              <a:rPr lang="en-US" sz="4000" dirty="0">
                <a:latin typeface="Cambria" panose="02040503050406030204" pitchFamily="18" charset="0"/>
                <a:sym typeface="Wingdings" panose="05000000000000000000" pitchFamily="2" charset="2"/>
              </a:rPr>
              <a:t>31 </a:t>
            </a:r>
            <a:r>
              <a:rPr lang="en-US" sz="4000" dirty="0" err="1">
                <a:latin typeface="Cambria" panose="02040503050406030204" pitchFamily="18" charset="0"/>
                <a:sym typeface="Wingdings" panose="05000000000000000000" pitchFamily="2" charset="2"/>
              </a:rPr>
              <a:t>ngày</a:t>
            </a:r>
            <a:endParaRPr lang="en-US" sz="4000" dirty="0">
              <a:latin typeface="Cambria" panose="02040503050406030204" pitchFamily="18" charset="0"/>
              <a:sym typeface="Wingdings" panose="05000000000000000000" pitchFamily="2" charset="2"/>
            </a:endParaRPr>
          </a:p>
          <a:p>
            <a:pPr marL="0" indent="0" algn="just">
              <a:buNone/>
            </a:pPr>
            <a:r>
              <a:rPr lang="en-US" sz="4000" dirty="0">
                <a:latin typeface="Cambria" panose="02040503050406030204" pitchFamily="18" charset="0"/>
                <a:sym typeface="Wingdings" panose="05000000000000000000" pitchFamily="2" charset="2"/>
              </a:rPr>
              <a:t>4,6,9,11có 30 </a:t>
            </a:r>
            <a:r>
              <a:rPr lang="en-US" sz="4000" dirty="0" err="1">
                <a:latin typeface="Cambria" panose="02040503050406030204" pitchFamily="18" charset="0"/>
                <a:sym typeface="Wingdings" panose="05000000000000000000" pitchFamily="2" charset="2"/>
              </a:rPr>
              <a:t>ngày</a:t>
            </a:r>
            <a:endParaRPr lang="en-US" sz="4000" dirty="0">
              <a:latin typeface="Cambria" panose="02040503050406030204" pitchFamily="18" charset="0"/>
              <a:sym typeface="Wingdings" panose="05000000000000000000" pitchFamily="2" charset="2"/>
            </a:endParaRPr>
          </a:p>
          <a:p>
            <a:pPr marL="0" indent="0" algn="just">
              <a:buNone/>
            </a:pPr>
            <a:r>
              <a:rPr lang="en-US" sz="4000" dirty="0" err="1">
                <a:latin typeface="Cambria" panose="02040503050406030204" pitchFamily="18" charset="0"/>
              </a:rPr>
              <a:t>Nếu</a:t>
            </a:r>
            <a:r>
              <a:rPr lang="en-US" sz="4000" dirty="0">
                <a:latin typeface="Cambria" panose="02040503050406030204" pitchFamily="18" charset="0"/>
              </a:rPr>
              <a:t> </a:t>
            </a:r>
            <a:r>
              <a:rPr lang="en-US" sz="4000" dirty="0" err="1">
                <a:latin typeface="Cambria" panose="02040503050406030204" pitchFamily="18" charset="0"/>
              </a:rPr>
              <a:t>là</a:t>
            </a:r>
            <a:r>
              <a:rPr lang="en-US" sz="4000" dirty="0">
                <a:latin typeface="Cambria" panose="02040503050406030204" pitchFamily="18" charset="0"/>
              </a:rPr>
              <a:t> </a:t>
            </a:r>
            <a:r>
              <a:rPr lang="en-US" sz="4000" dirty="0" err="1">
                <a:latin typeface="Cambria" panose="02040503050406030204" pitchFamily="18" charset="0"/>
              </a:rPr>
              <a:t>tháng</a:t>
            </a:r>
            <a:r>
              <a:rPr lang="en-US" sz="4000" dirty="0">
                <a:latin typeface="Cambria" panose="02040503050406030204" pitchFamily="18" charset="0"/>
              </a:rPr>
              <a:t> 2 </a:t>
            </a:r>
            <a:r>
              <a:rPr lang="en-US" sz="4000" dirty="0" err="1">
                <a:latin typeface="Cambria" panose="02040503050406030204" pitchFamily="18" charset="0"/>
              </a:rPr>
              <a:t>thì</a:t>
            </a:r>
            <a:r>
              <a:rPr lang="en-US" sz="4000" dirty="0">
                <a:latin typeface="Cambria" panose="02040503050406030204" pitchFamily="18" charset="0"/>
              </a:rPr>
              <a:t> </a:t>
            </a:r>
            <a:r>
              <a:rPr lang="en-US" sz="4000" dirty="0" err="1">
                <a:latin typeface="Cambria" panose="02040503050406030204" pitchFamily="18" charset="0"/>
              </a:rPr>
              <a:t>yêu</a:t>
            </a:r>
            <a:r>
              <a:rPr lang="en-US" sz="4000" dirty="0">
                <a:latin typeface="Cambria" panose="02040503050406030204" pitchFamily="18" charset="0"/>
              </a:rPr>
              <a:t> </a:t>
            </a:r>
            <a:r>
              <a:rPr lang="en-US" sz="4000" dirty="0" err="1">
                <a:latin typeface="Cambria" panose="02040503050406030204" pitchFamily="18" charset="0"/>
              </a:rPr>
              <a:t>cầu</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thêm</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Năm</a:t>
            </a:r>
            <a:r>
              <a:rPr lang="en-US" sz="4000" dirty="0">
                <a:latin typeface="Cambria" panose="02040503050406030204" pitchFamily="18" charset="0"/>
              </a:rPr>
              <a:t> </a:t>
            </a:r>
            <a:r>
              <a:rPr lang="en-US" sz="4000" dirty="0" err="1">
                <a:latin typeface="Cambria" panose="02040503050406030204" pitchFamily="18" charset="0"/>
              </a:rPr>
              <a:t>nhuần</a:t>
            </a:r>
            <a:r>
              <a:rPr lang="en-US" sz="4000" dirty="0">
                <a:latin typeface="Cambria" panose="02040503050406030204" pitchFamily="18" charset="0"/>
              </a:rPr>
              <a:t> </a:t>
            </a:r>
            <a:r>
              <a:rPr lang="en-US" sz="4000" dirty="0" err="1">
                <a:latin typeface="Cambria" panose="02040503050406030204" pitchFamily="18" charset="0"/>
              </a:rPr>
              <a:t>thì</a:t>
            </a:r>
            <a:r>
              <a:rPr lang="en-US" sz="4000" dirty="0">
                <a:latin typeface="Cambria" panose="02040503050406030204" pitchFamily="18" charset="0"/>
              </a:rPr>
              <a:t> </a:t>
            </a:r>
            <a:r>
              <a:rPr lang="en-US" sz="4000" dirty="0" err="1">
                <a:latin typeface="Cambria" panose="02040503050406030204" pitchFamily="18" charset="0"/>
              </a:rPr>
              <a:t>tháng</a:t>
            </a:r>
            <a:r>
              <a:rPr lang="en-US" sz="4000" dirty="0">
                <a:latin typeface="Cambria" panose="02040503050406030204" pitchFamily="18" charset="0"/>
              </a:rPr>
              <a:t> 2 </a:t>
            </a:r>
            <a:r>
              <a:rPr lang="en-US" sz="4000" dirty="0" err="1">
                <a:latin typeface="Cambria" panose="02040503050406030204" pitchFamily="18" charset="0"/>
              </a:rPr>
              <a:t>có</a:t>
            </a:r>
            <a:r>
              <a:rPr lang="en-US" sz="4000" dirty="0">
                <a:latin typeface="Cambria" panose="02040503050406030204" pitchFamily="18" charset="0"/>
              </a:rPr>
              <a:t> 29 </a:t>
            </a:r>
            <a:r>
              <a:rPr lang="en-US" sz="4000" dirty="0" err="1">
                <a:latin typeface="Cambria" panose="02040503050406030204" pitchFamily="18" charset="0"/>
              </a:rPr>
              <a:t>ngày</a:t>
            </a:r>
            <a:r>
              <a:rPr lang="en-US" sz="4000" dirty="0">
                <a:latin typeface="Cambria" panose="02040503050406030204" pitchFamily="18" charset="0"/>
              </a:rPr>
              <a:t>, </a:t>
            </a:r>
            <a:r>
              <a:rPr lang="en-US" sz="4000" dirty="0" err="1">
                <a:latin typeface="Cambria" panose="02040503050406030204" pitchFamily="18" charset="0"/>
              </a:rPr>
              <a:t>không</a:t>
            </a:r>
            <a:r>
              <a:rPr lang="en-US" sz="4000" dirty="0">
                <a:latin typeface="Cambria" panose="02040503050406030204" pitchFamily="18" charset="0"/>
              </a:rPr>
              <a:t> </a:t>
            </a:r>
            <a:r>
              <a:rPr lang="en-US" sz="4000" dirty="0" err="1">
                <a:latin typeface="Cambria" panose="02040503050406030204" pitchFamily="18" charset="0"/>
              </a:rPr>
              <a:t>nhuần</a:t>
            </a:r>
            <a:r>
              <a:rPr lang="en-US" sz="4000" dirty="0">
                <a:latin typeface="Cambria" panose="02040503050406030204" pitchFamily="18" charset="0"/>
              </a:rPr>
              <a:t> </a:t>
            </a:r>
            <a:r>
              <a:rPr lang="en-US" sz="4000" dirty="0" err="1">
                <a:latin typeface="Cambria" panose="02040503050406030204" pitchFamily="18" charset="0"/>
              </a:rPr>
              <a:t>có</a:t>
            </a:r>
            <a:r>
              <a:rPr lang="en-US" sz="4000" dirty="0">
                <a:latin typeface="Cambria" panose="02040503050406030204" pitchFamily="18" charset="0"/>
              </a:rPr>
              <a:t> 28 </a:t>
            </a:r>
            <a:r>
              <a:rPr lang="en-US" sz="4000" dirty="0" err="1">
                <a:latin typeface="Cambria" panose="02040503050406030204" pitchFamily="18" charset="0"/>
              </a:rPr>
              <a:t>ngày</a:t>
            </a:r>
            <a:endParaRPr lang="en-US" sz="4000" dirty="0">
              <a:latin typeface="Cambria" panose="02040503050406030204" pitchFamily="18" charset="0"/>
            </a:endParaRPr>
          </a:p>
        </p:txBody>
      </p:sp>
    </p:spTree>
    <p:extLst>
      <p:ext uri="{BB962C8B-B14F-4D97-AF65-F5344CB8AC3E}">
        <p14:creationId xmlns:p14="http://schemas.microsoft.com/office/powerpoint/2010/main" val="2533760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endParaRPr lang="en-US" sz="4400" kern="0" dirty="0">
              <a:solidFill>
                <a:srgbClr val="002060"/>
              </a:solidFill>
              <a:latin typeface="Cambria" panose="02040503050406030204" pitchFamily="18" charset="0"/>
            </a:endParaRPr>
          </a:p>
          <a:p>
            <a:pPr>
              <a:defRPr/>
            </a:pPr>
            <a:r>
              <a:rPr lang="vi-VN" sz="4400" kern="0" dirty="0">
                <a:solidFill>
                  <a:srgbClr val="002060"/>
                </a:solidFill>
                <a:latin typeface="Cambria" panose="02040503050406030204" pitchFamily="18" charset="0"/>
              </a:rPr>
              <a:t>Phương trình bậc 2</a:t>
            </a:r>
            <a:endParaRPr lang="en-US" sz="44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6770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err="1">
                <a:latin typeface="Cambria" panose="02040503050406030204" pitchFamily="18" charset="0"/>
              </a:rPr>
              <a:t>Viết</a:t>
            </a:r>
            <a:r>
              <a:rPr lang="en-US" sz="4000" dirty="0">
                <a:latin typeface="Cambria" panose="02040503050406030204" pitchFamily="18" charset="0"/>
              </a:rPr>
              <a:t> </a:t>
            </a:r>
            <a:r>
              <a:rPr lang="en-US" sz="4000" dirty="0" err="1">
                <a:latin typeface="Cambria" panose="02040503050406030204" pitchFamily="18" charset="0"/>
              </a:rPr>
              <a:t>ch</a:t>
            </a:r>
            <a:r>
              <a:rPr lang="vi-VN" sz="4000" dirty="0">
                <a:latin typeface="Cambria" panose="02040503050406030204" pitchFamily="18" charset="0"/>
              </a:rPr>
              <a:t>ư</a:t>
            </a:r>
            <a:r>
              <a:rPr lang="en-US" sz="4000" dirty="0" err="1">
                <a:latin typeface="Cambria" panose="02040503050406030204" pitchFamily="18" charset="0"/>
              </a:rPr>
              <a:t>ơng</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a:t>
            </a:r>
            <a:r>
              <a:rPr lang="en-US" sz="4000" dirty="0" err="1">
                <a:latin typeface="Cambria" panose="02040503050406030204" pitchFamily="18" charset="0"/>
              </a:rPr>
              <a:t>giải</a:t>
            </a:r>
            <a:r>
              <a:rPr lang="en-US" sz="4000" dirty="0">
                <a:latin typeface="Cambria" panose="02040503050406030204" pitchFamily="18" charset="0"/>
              </a:rPr>
              <a:t> </a:t>
            </a:r>
            <a:r>
              <a:rPr lang="en-US" sz="4000" dirty="0" err="1">
                <a:latin typeface="Cambria" panose="02040503050406030204" pitchFamily="18" charset="0"/>
              </a:rPr>
              <a:t>ph</a:t>
            </a:r>
            <a:r>
              <a:rPr lang="vi-VN" sz="4000" dirty="0">
                <a:latin typeface="Cambria" panose="02040503050406030204" pitchFamily="18" charset="0"/>
              </a:rPr>
              <a:t>ư</a:t>
            </a:r>
            <a:r>
              <a:rPr lang="en-US" sz="4000" dirty="0" err="1">
                <a:latin typeface="Cambria" panose="02040503050406030204" pitchFamily="18" charset="0"/>
              </a:rPr>
              <a:t>ơng</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a:t>
            </a:r>
            <a:r>
              <a:rPr lang="en-US" sz="4000" dirty="0" err="1">
                <a:latin typeface="Cambria" panose="02040503050406030204" pitchFamily="18" charset="0"/>
              </a:rPr>
              <a:t>bậc</a:t>
            </a:r>
            <a:r>
              <a:rPr lang="en-US" sz="4000" dirty="0">
                <a:latin typeface="Cambria" panose="02040503050406030204" pitchFamily="18" charset="0"/>
              </a:rPr>
              <a:t> 2: ax</a:t>
            </a:r>
            <a:r>
              <a:rPr lang="en-US" sz="4000" baseline="30000" dirty="0">
                <a:latin typeface="Cambria" panose="02040503050406030204" pitchFamily="18" charset="0"/>
              </a:rPr>
              <a:t>2</a:t>
            </a:r>
            <a:r>
              <a:rPr lang="en-US" sz="4000" dirty="0">
                <a:latin typeface="Cambria" panose="02040503050406030204" pitchFamily="18" charset="0"/>
              </a:rPr>
              <a:t>+bx+c=0</a:t>
            </a:r>
          </a:p>
        </p:txBody>
      </p:sp>
    </p:spTree>
    <p:extLst>
      <p:ext uri="{BB962C8B-B14F-4D97-AF65-F5344CB8AC3E}">
        <p14:creationId xmlns:p14="http://schemas.microsoft.com/office/powerpoint/2010/main" val="1600054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Các</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bài</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tập</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tự</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rèn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luyện</a:t>
            </a:r>
            <a:endParaRPr lang="en-US" sz="44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54</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2128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1:</a:t>
            </a:r>
          </a:p>
          <a:p>
            <a:pPr marL="0" indent="0" algn="just">
              <a:buNone/>
            </a:pPr>
            <a:r>
              <a:rPr lang="en-US" sz="2800">
                <a:latin typeface="Cambria" panose="02040503050406030204" pitchFamily="18" charset="0"/>
              </a:rPr>
              <a:t>Cho </a:t>
            </a:r>
            <a:r>
              <a:rPr lang="pl-PL" sz="2800">
                <a:latin typeface="Cambria" panose="02040503050406030204" pitchFamily="18" charset="0"/>
              </a:rPr>
              <a:t>x, y, z = 3, 5, 7</a:t>
            </a:r>
            <a:r>
              <a:rPr lang="en-US" sz="2800">
                <a:latin typeface="Cambria" panose="02040503050406030204" pitchFamily="18" charset="0"/>
              </a:rPr>
              <a:t>. Hãy cho biết kết quả của Boolean Expression</a:t>
            </a:r>
          </a:p>
          <a:p>
            <a:pPr marL="0" indent="0" algn="just">
              <a:buNone/>
            </a:pPr>
            <a:r>
              <a:rPr lang="en-US" sz="2800">
                <a:latin typeface="Cambria" panose="02040503050406030204" pitchFamily="18" charset="0"/>
              </a:rPr>
              <a:t>(a) x == 3</a:t>
            </a:r>
          </a:p>
          <a:p>
            <a:pPr marL="0" indent="0" algn="just">
              <a:buNone/>
            </a:pPr>
            <a:r>
              <a:rPr lang="en-US" sz="2800">
                <a:latin typeface="Cambria" panose="02040503050406030204" pitchFamily="18" charset="0"/>
              </a:rPr>
              <a:t>(b) x &lt; y</a:t>
            </a:r>
          </a:p>
          <a:p>
            <a:pPr marL="0" indent="0" algn="just">
              <a:buNone/>
            </a:pPr>
            <a:r>
              <a:rPr lang="en-US" sz="2800">
                <a:latin typeface="Cambria" panose="02040503050406030204" pitchFamily="18" charset="0"/>
              </a:rPr>
              <a:t>(c) x &gt;= y</a:t>
            </a:r>
          </a:p>
          <a:p>
            <a:pPr marL="0" indent="0" algn="just">
              <a:buNone/>
            </a:pPr>
            <a:r>
              <a:rPr lang="en-US" sz="2800">
                <a:latin typeface="Cambria" panose="02040503050406030204" pitchFamily="18" charset="0"/>
              </a:rPr>
              <a:t>(d) x &lt;= y</a:t>
            </a:r>
          </a:p>
          <a:p>
            <a:pPr marL="0" indent="0" algn="just">
              <a:buNone/>
            </a:pPr>
            <a:r>
              <a:rPr lang="en-US" sz="2800">
                <a:latin typeface="Cambria" panose="02040503050406030204" pitchFamily="18" charset="0"/>
              </a:rPr>
              <a:t>(e) x != y - 2</a:t>
            </a:r>
          </a:p>
          <a:p>
            <a:pPr marL="0" indent="0" algn="just">
              <a:buNone/>
            </a:pPr>
            <a:r>
              <a:rPr lang="en-US" sz="2800">
                <a:latin typeface="Cambria" panose="02040503050406030204" pitchFamily="18" charset="0"/>
              </a:rPr>
              <a:t>(f) x &lt; 10</a:t>
            </a:r>
          </a:p>
          <a:p>
            <a:pPr marL="0" indent="0" algn="just">
              <a:buNone/>
            </a:pPr>
            <a:r>
              <a:rPr lang="en-US" sz="2800">
                <a:latin typeface="Cambria" panose="02040503050406030204" pitchFamily="18" charset="0"/>
              </a:rPr>
              <a:t>(g) x &gt;= 0 and x &lt; 10</a:t>
            </a:r>
          </a:p>
        </p:txBody>
      </p:sp>
      <p:sp>
        <p:nvSpPr>
          <p:cNvPr id="9" name="Rectangle 8">
            <a:extLst>
              <a:ext uri="{FF2B5EF4-FFF2-40B4-BE49-F238E27FC236}">
                <a16:creationId xmlns:a16="http://schemas.microsoft.com/office/drawing/2014/main" id="{E3BB2E06-3596-4E1E-B91F-ED1A67E9296B}"/>
              </a:ext>
            </a:extLst>
          </p:cNvPr>
          <p:cNvSpPr/>
          <p:nvPr/>
        </p:nvSpPr>
        <p:spPr>
          <a:xfrm>
            <a:off x="4191000" y="2133600"/>
            <a:ext cx="6096000" cy="2246769"/>
          </a:xfrm>
          <a:prstGeom prst="rect">
            <a:avLst/>
          </a:prstGeom>
        </p:spPr>
        <p:txBody>
          <a:bodyPr>
            <a:spAutoFit/>
          </a:bodyPr>
          <a:lstStyle/>
          <a:p>
            <a:pPr algn="just"/>
            <a:r>
              <a:rPr lang="en-US" sz="2800">
                <a:latin typeface="Cambria" panose="02040503050406030204" pitchFamily="18" charset="0"/>
              </a:rPr>
              <a:t>(h) x &lt; 0 and x &lt; 10</a:t>
            </a:r>
          </a:p>
          <a:p>
            <a:pPr algn="just"/>
            <a:r>
              <a:rPr lang="en-US" sz="2800">
                <a:latin typeface="Cambria" panose="02040503050406030204" pitchFamily="18" charset="0"/>
              </a:rPr>
              <a:t>(i) x &gt;= 0 and x &lt; 2</a:t>
            </a:r>
          </a:p>
          <a:p>
            <a:pPr algn="just"/>
            <a:r>
              <a:rPr lang="en-US" sz="2800">
                <a:latin typeface="Cambria" panose="02040503050406030204" pitchFamily="18" charset="0"/>
              </a:rPr>
              <a:t>(j) x &lt; 0 or x &lt; 10</a:t>
            </a:r>
          </a:p>
          <a:p>
            <a:pPr algn="just"/>
            <a:r>
              <a:rPr lang="en-US" sz="2800">
                <a:latin typeface="Cambria" panose="02040503050406030204" pitchFamily="18" charset="0"/>
              </a:rPr>
              <a:t>(k) x &gt; 0 or x &lt; 10</a:t>
            </a:r>
          </a:p>
          <a:p>
            <a:pPr algn="just"/>
            <a:r>
              <a:rPr lang="en-US" sz="2800">
                <a:latin typeface="Cambria" panose="02040503050406030204" pitchFamily="18" charset="0"/>
              </a:rPr>
              <a:t>(l) x &lt; 0 or x &gt; 10</a:t>
            </a:r>
          </a:p>
        </p:txBody>
      </p:sp>
    </p:spTree>
    <p:extLst>
      <p:ext uri="{BB962C8B-B14F-4D97-AF65-F5344CB8AC3E}">
        <p14:creationId xmlns:p14="http://schemas.microsoft.com/office/powerpoint/2010/main" val="7191351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3600" b="1" dirty="0" err="1">
                  <a:latin typeface="Cambria" panose="02040503050406030204" pitchFamily="18" charset="0"/>
                </a:rPr>
                <a:t>Nội</a:t>
              </a:r>
              <a:r>
                <a:rPr lang="en-US" sz="3600" b="1" dirty="0">
                  <a:latin typeface="Cambria" panose="02040503050406030204" pitchFamily="18" charset="0"/>
                </a:rPr>
                <a:t> dung </a:t>
              </a:r>
              <a:r>
                <a:rPr lang="en-US" sz="3600" b="1" dirty="0" err="1">
                  <a:latin typeface="Cambria" panose="02040503050406030204" pitchFamily="18" charset="0"/>
                </a:rPr>
                <a:t>bài</a:t>
              </a:r>
              <a:r>
                <a:rPr lang="en-US" sz="3600" b="1" dirty="0">
                  <a:latin typeface="Cambria" panose="02040503050406030204" pitchFamily="18" charset="0"/>
                </a:rPr>
                <a:t> </a:t>
              </a:r>
              <a:r>
                <a:rPr lang="en-US" sz="3600" b="1" dirty="0" err="1">
                  <a:latin typeface="Cambria" panose="02040503050406030204" pitchFamily="18" charset="0"/>
                </a:rPr>
                <a:t>học</a:t>
              </a:r>
              <a:endParaRPr lang="en-US" sz="36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2:</a:t>
            </a:r>
          </a:p>
          <a:p>
            <a:pPr marL="0" indent="0" algn="just">
              <a:buNone/>
            </a:pPr>
            <a:r>
              <a:rPr lang="en-US" sz="2800">
                <a:latin typeface="Cambria" panose="02040503050406030204" pitchFamily="18" charset="0"/>
              </a:rPr>
              <a:t>Cho i, j, k là các con số và lệnh d</a:t>
            </a:r>
            <a:r>
              <a:rPr lang="vi-VN" sz="2800">
                <a:latin typeface="Cambria" panose="02040503050406030204" pitchFamily="18" charset="0"/>
              </a:rPr>
              <a:t>ư</a:t>
            </a:r>
            <a:r>
              <a:rPr lang="en-US" sz="2800">
                <a:latin typeface="Cambria" panose="02040503050406030204" pitchFamily="18" charset="0"/>
              </a:rPr>
              <a:t>ới đây:</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p:txBody>
      </p:sp>
      <p:pic>
        <p:nvPicPr>
          <p:cNvPr id="8" name="Picture 7">
            <a:extLst>
              <a:ext uri="{FF2B5EF4-FFF2-40B4-BE49-F238E27FC236}">
                <a16:creationId xmlns:a16="http://schemas.microsoft.com/office/drawing/2014/main" id="{4AD22C43-C535-4799-8D1B-637A33B9D6C6}"/>
              </a:ext>
            </a:extLst>
          </p:cNvPr>
          <p:cNvPicPr>
            <a:picLocks noChangeAspect="1"/>
          </p:cNvPicPr>
          <p:nvPr/>
        </p:nvPicPr>
        <p:blipFill>
          <a:blip r:embed="rId3"/>
          <a:stretch>
            <a:fillRect/>
          </a:stretch>
        </p:blipFill>
        <p:spPr>
          <a:xfrm>
            <a:off x="445369" y="2372528"/>
            <a:ext cx="4324530" cy="2938463"/>
          </a:xfrm>
          <a:prstGeom prst="rect">
            <a:avLst/>
          </a:prstGeom>
        </p:spPr>
      </p:pic>
      <p:sp>
        <p:nvSpPr>
          <p:cNvPr id="10" name="Rectangle 9">
            <a:extLst>
              <a:ext uri="{FF2B5EF4-FFF2-40B4-BE49-F238E27FC236}">
                <a16:creationId xmlns:a16="http://schemas.microsoft.com/office/drawing/2014/main" id="{584BEDEC-9A6F-402E-B029-9D79456FAB4F}"/>
              </a:ext>
            </a:extLst>
          </p:cNvPr>
          <p:cNvSpPr/>
          <p:nvPr/>
        </p:nvSpPr>
        <p:spPr>
          <a:xfrm>
            <a:off x="5280549" y="2209800"/>
            <a:ext cx="6096000" cy="3416320"/>
          </a:xfrm>
          <a:prstGeom prst="rect">
            <a:avLst/>
          </a:prstGeom>
        </p:spPr>
        <p:txBody>
          <a:bodyPr>
            <a:spAutoFit/>
          </a:bodyPr>
          <a:lstStyle/>
          <a:p>
            <a:r>
              <a:rPr lang="en-US" sz="2400">
                <a:latin typeface="Cambria" panose="02040503050406030204" pitchFamily="18" charset="0"/>
              </a:rPr>
              <a:t>Hãy cho biết kết quả xuất ra màn hình nếu tuần tự 3 biến trên có các giá trị sau:</a:t>
            </a:r>
          </a:p>
          <a:p>
            <a:endParaRPr lang="en-US" sz="2400">
              <a:latin typeface="Cambria" panose="02040503050406030204" pitchFamily="18" charset="0"/>
            </a:endParaRPr>
          </a:p>
          <a:p>
            <a:r>
              <a:rPr lang="en-US" sz="2400">
                <a:latin typeface="Cambria" panose="02040503050406030204" pitchFamily="18" charset="0"/>
              </a:rPr>
              <a:t>(a) i = 3, j = 5, and k = 7</a:t>
            </a:r>
          </a:p>
          <a:p>
            <a:r>
              <a:rPr lang="en-US" sz="2400">
                <a:latin typeface="Cambria" panose="02040503050406030204" pitchFamily="18" charset="0"/>
              </a:rPr>
              <a:t>(b) i = 3, j = 7, and k = 5</a:t>
            </a:r>
          </a:p>
          <a:p>
            <a:r>
              <a:rPr lang="en-US" sz="2400">
                <a:latin typeface="Cambria" panose="02040503050406030204" pitchFamily="18" charset="0"/>
              </a:rPr>
              <a:t>(c) i = 5, j = 3, and k = 7</a:t>
            </a:r>
          </a:p>
          <a:p>
            <a:r>
              <a:rPr lang="en-US" sz="2400">
                <a:latin typeface="Cambria" panose="02040503050406030204" pitchFamily="18" charset="0"/>
              </a:rPr>
              <a:t>(d) i = 5, j = 7, and k =3</a:t>
            </a:r>
          </a:p>
          <a:p>
            <a:r>
              <a:rPr lang="en-US" sz="2400">
                <a:latin typeface="Cambria" panose="02040503050406030204" pitchFamily="18" charset="0"/>
              </a:rPr>
              <a:t>(e) i = 7, j = 3, and k = 5</a:t>
            </a:r>
          </a:p>
          <a:p>
            <a:r>
              <a:rPr lang="en-US" sz="2400">
                <a:latin typeface="Cambria" panose="02040503050406030204" pitchFamily="18" charset="0"/>
              </a:rPr>
              <a:t>(f) i =7, j = 5, and k = 3</a:t>
            </a:r>
          </a:p>
        </p:txBody>
      </p:sp>
    </p:spTree>
    <p:extLst>
      <p:ext uri="{BB962C8B-B14F-4D97-AF65-F5344CB8AC3E}">
        <p14:creationId xmlns:p14="http://schemas.microsoft.com/office/powerpoint/2010/main" val="2312647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None/>
            </a:pPr>
            <a:r>
              <a:rPr lang="en-US" sz="2800" b="1" u="sng" dirty="0" err="1">
                <a:solidFill>
                  <a:srgbClr val="002060"/>
                </a:solidFill>
                <a:latin typeface="Cambria" panose="02040503050406030204" pitchFamily="18" charset="0"/>
              </a:rPr>
              <a:t>Câu</a:t>
            </a:r>
            <a:r>
              <a:rPr lang="en-US" sz="2800" b="1" u="sng" dirty="0">
                <a:solidFill>
                  <a:srgbClr val="002060"/>
                </a:solidFill>
                <a:latin typeface="Cambria" panose="02040503050406030204" pitchFamily="18" charset="0"/>
              </a:rPr>
              <a:t> 3:</a:t>
            </a:r>
            <a:r>
              <a:rPr lang="vi-VN" sz="2800" dirty="0">
                <a:solidFill>
                  <a:srgbClr val="002060"/>
                </a:solidFill>
                <a:latin typeface="Cambria" panose="02040503050406030204" pitchFamily="18" charset="0"/>
              </a:rPr>
              <a:t> Nhập một số n có tối </a:t>
            </a:r>
            <a:r>
              <a:rPr lang="en-US" sz="2800" dirty="0">
                <a:solidFill>
                  <a:srgbClr val="002060"/>
                </a:solidFill>
                <a:latin typeface="Cambria" panose="02040503050406030204" pitchFamily="18" charset="0"/>
              </a:rPr>
              <a:t>đ</a:t>
            </a:r>
            <a:r>
              <a:rPr lang="vi-VN" sz="2800" dirty="0">
                <a:solidFill>
                  <a:srgbClr val="002060"/>
                </a:solidFill>
                <a:latin typeface="Cambria" panose="02040503050406030204" pitchFamily="18" charset="0"/>
              </a:rPr>
              <a:t>a 2 chữ số. Hãy cho biết cách</a:t>
            </a:r>
            <a:r>
              <a:rPr lang="en-US" sz="2800" dirty="0">
                <a:solidFill>
                  <a:srgbClr val="002060"/>
                </a:solidFill>
                <a:latin typeface="Cambria" panose="02040503050406030204" pitchFamily="18" charset="0"/>
              </a:rPr>
              <a:t> đ</a:t>
            </a:r>
            <a:r>
              <a:rPr lang="vi-VN" sz="2800" dirty="0">
                <a:solidFill>
                  <a:srgbClr val="002060"/>
                </a:solidFill>
                <a:latin typeface="Cambria" panose="02040503050406030204" pitchFamily="18" charset="0"/>
              </a:rPr>
              <a:t>ọc ra dạng chữ. </a:t>
            </a:r>
          </a:p>
          <a:p>
            <a:pPr marL="0" lvl="0" indent="0">
              <a:lnSpc>
                <a:spcPct val="90000"/>
              </a:lnSpc>
              <a:spcBef>
                <a:spcPts val="1000"/>
              </a:spcBef>
              <a:buNone/>
            </a:pPr>
            <a:r>
              <a:rPr lang="vi-VN" sz="2800" dirty="0">
                <a:solidFill>
                  <a:srgbClr val="002060"/>
                </a:solidFill>
                <a:latin typeface="Cambria" panose="02040503050406030204" pitchFamily="18" charset="0"/>
              </a:rPr>
              <a:t>(vd: n=35 =&gt; Ba mươi lăm, n=5 =&gt; năm). </a:t>
            </a:r>
            <a:endParaRPr lang="en-US" sz="2800" dirty="0">
              <a:solidFill>
                <a:srgbClr val="002060"/>
              </a:solidFill>
              <a:latin typeface="Cambria" panose="02040503050406030204" pitchFamily="18" charset="0"/>
            </a:endParaRPr>
          </a:p>
          <a:p>
            <a:pPr marL="0" lvl="0" indent="0">
              <a:lnSpc>
                <a:spcPct val="90000"/>
              </a:lnSpc>
              <a:spcBef>
                <a:spcPts val="1000"/>
              </a:spcBef>
              <a:buNone/>
            </a:pPr>
            <a:r>
              <a:rPr lang="en-US" sz="2800" b="1" u="sng" dirty="0" err="1">
                <a:solidFill>
                  <a:srgbClr val="002060"/>
                </a:solidFill>
                <a:latin typeface="Cambria" panose="02040503050406030204" pitchFamily="18" charset="0"/>
              </a:rPr>
              <a:t>Câu</a:t>
            </a:r>
            <a:r>
              <a:rPr lang="en-US" sz="2800" b="1" u="sng" dirty="0">
                <a:solidFill>
                  <a:srgbClr val="002060"/>
                </a:solidFill>
                <a:latin typeface="Cambria" panose="02040503050406030204" pitchFamily="18" charset="0"/>
              </a:rPr>
              <a:t> 4:</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Nhập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vào</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một</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ngày</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ngày</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tháng</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năm</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Tìm</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ngày</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kế</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sau</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ngày</a:t>
            </a:r>
            <a:r>
              <a:rPr lang="en-US" sz="2800" dirty="0">
                <a:solidFill>
                  <a:srgbClr val="002060"/>
                </a:solidFill>
                <a:latin typeface="Cambria" panose="02040503050406030204" pitchFamily="18" charset="0"/>
              </a:rPr>
              <a:t> </a:t>
            </a:r>
          </a:p>
          <a:p>
            <a:pPr marL="0" lvl="0" indent="0">
              <a:lnSpc>
                <a:spcPct val="90000"/>
              </a:lnSpc>
              <a:spcBef>
                <a:spcPts val="1000"/>
              </a:spcBef>
              <a:buNone/>
            </a:pPr>
            <a:r>
              <a:rPr lang="en-US" sz="2800" dirty="0" err="1">
                <a:solidFill>
                  <a:srgbClr val="002060"/>
                </a:solidFill>
                <a:latin typeface="Cambria" panose="02040503050406030204" pitchFamily="18" charset="0"/>
              </a:rPr>
              <a:t>vừa</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nhập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ngày</a:t>
            </a:r>
            <a:r>
              <a:rPr lang="en-US" sz="2800" dirty="0">
                <a:solidFill>
                  <a:srgbClr val="002060"/>
                </a:solidFill>
                <a:latin typeface="Cambria" panose="02040503050406030204" pitchFamily="18" charset="0"/>
              </a:rPr>
              <a:t>/</a:t>
            </a:r>
            <a:r>
              <a:rPr lang="en-US" sz="2800" dirty="0" err="1">
                <a:solidFill>
                  <a:srgbClr val="002060"/>
                </a:solidFill>
                <a:latin typeface="Cambria" panose="02040503050406030204" pitchFamily="18" charset="0"/>
              </a:rPr>
              <a:t>tháng</a:t>
            </a:r>
            <a:r>
              <a:rPr lang="en-US" sz="2800" dirty="0">
                <a:solidFill>
                  <a:srgbClr val="002060"/>
                </a:solidFill>
                <a:latin typeface="Cambria" panose="02040503050406030204" pitchFamily="18" charset="0"/>
              </a:rPr>
              <a:t>/</a:t>
            </a:r>
            <a:r>
              <a:rPr lang="en-US" sz="2800" dirty="0" err="1">
                <a:solidFill>
                  <a:srgbClr val="002060"/>
                </a:solidFill>
                <a:latin typeface="Cambria" panose="02040503050406030204" pitchFamily="18" charset="0"/>
              </a:rPr>
              <a:t>năm</a:t>
            </a:r>
            <a:r>
              <a:rPr lang="en-US" sz="2800" dirty="0">
                <a:solidFill>
                  <a:srgbClr val="002060"/>
                </a:solidFill>
                <a:latin typeface="Cambria" panose="02040503050406030204" pitchFamily="18" charset="0"/>
              </a:rPr>
              <a:t>).</a:t>
            </a:r>
          </a:p>
          <a:p>
            <a:pPr marL="0" lvl="0" indent="0">
              <a:lnSpc>
                <a:spcPct val="90000"/>
              </a:lnSpc>
              <a:spcBef>
                <a:spcPts val="1000"/>
              </a:spcBef>
              <a:buNone/>
            </a:pPr>
            <a:r>
              <a:rPr lang="en-US" sz="2800" b="1" u="sng" dirty="0" err="1">
                <a:solidFill>
                  <a:srgbClr val="002060"/>
                </a:solidFill>
                <a:latin typeface="Cambria" panose="02040503050406030204" pitchFamily="18" charset="0"/>
              </a:rPr>
              <a:t>Câu</a:t>
            </a:r>
            <a:r>
              <a:rPr lang="en-US" sz="2800" b="1" u="sng" dirty="0">
                <a:solidFill>
                  <a:srgbClr val="002060"/>
                </a:solidFill>
                <a:latin typeface="Cambria" panose="02040503050406030204" pitchFamily="18" charset="0"/>
              </a:rPr>
              <a:t> 5: </a:t>
            </a:r>
            <a:r>
              <a:rPr lang="en-US" sz="2800" dirty="0" err="1">
                <a:solidFill>
                  <a:srgbClr val="002060"/>
                </a:solidFill>
                <a:latin typeface="Cambria" panose="02040503050406030204" pitchFamily="18" charset="0"/>
              </a:rPr>
              <a:t>Nhập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vào</a:t>
            </a:r>
            <a:r>
              <a:rPr lang="en-US" sz="2800" dirty="0">
                <a:solidFill>
                  <a:srgbClr val="002060"/>
                </a:solidFill>
                <a:latin typeface="Cambria" panose="02040503050406030204" pitchFamily="18" charset="0"/>
              </a:rPr>
              <a:t> 2 </a:t>
            </a:r>
            <a:r>
              <a:rPr lang="en-US" sz="2800" dirty="0" err="1">
                <a:solidFill>
                  <a:srgbClr val="002060"/>
                </a:solidFill>
                <a:latin typeface="Cambria" panose="02040503050406030204" pitchFamily="18" charset="0"/>
              </a:rPr>
              <a:t>giá</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trị</a:t>
            </a:r>
            <a:r>
              <a:rPr lang="en-US" sz="2800" dirty="0">
                <a:solidFill>
                  <a:srgbClr val="002060"/>
                </a:solidFill>
                <a:latin typeface="Cambria" panose="02040503050406030204" pitchFamily="18" charset="0"/>
              </a:rPr>
              <a:t> a, b </a:t>
            </a:r>
            <a:r>
              <a:rPr lang="en-US" sz="2800" dirty="0" err="1">
                <a:solidFill>
                  <a:srgbClr val="002060"/>
                </a:solidFill>
                <a:latin typeface="Cambria" panose="02040503050406030204" pitchFamily="18" charset="0"/>
              </a:rPr>
              <a:t>và</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phép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toán</a:t>
            </a:r>
            <a:r>
              <a:rPr lang="en-US" sz="2800" dirty="0">
                <a:solidFill>
                  <a:srgbClr val="002060"/>
                </a:solidFill>
                <a:latin typeface="Cambria" panose="02040503050406030204" pitchFamily="18" charset="0"/>
              </a:rPr>
              <a:t> ‘+’, ‘-’, ‘*’, ‘/’ . </a:t>
            </a:r>
            <a:r>
              <a:rPr lang="en-US" sz="2800" dirty="0" err="1">
                <a:solidFill>
                  <a:srgbClr val="002060"/>
                </a:solidFill>
                <a:latin typeface="Cambria" panose="02040503050406030204" pitchFamily="18" charset="0"/>
              </a:rPr>
              <a:t>Hãy</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xuất</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kết</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quả</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theo</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đúng</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phép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toán</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đã</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nhập</a:t>
            </a:r>
            <a:r>
              <a:rPr lang="en-US" sz="2800" dirty="0">
                <a:solidFill>
                  <a:srgbClr val="002060"/>
                </a:solidFill>
                <a:latin typeface="Cambria" panose="02040503050406030204" pitchFamily="18" charset="0"/>
              </a:rPr>
              <a:t>.</a:t>
            </a:r>
          </a:p>
          <a:p>
            <a:pPr marL="0" lvl="0" indent="0">
              <a:lnSpc>
                <a:spcPct val="90000"/>
              </a:lnSpc>
              <a:spcBef>
                <a:spcPts val="1000"/>
              </a:spcBef>
              <a:buNone/>
            </a:pPr>
            <a:r>
              <a:rPr lang="en-US" sz="2800" b="1" u="sng" dirty="0" err="1">
                <a:solidFill>
                  <a:srgbClr val="002060"/>
                </a:solidFill>
                <a:latin typeface="Cambria" panose="02040503050406030204" pitchFamily="18" charset="0"/>
              </a:rPr>
              <a:t>Câu</a:t>
            </a:r>
            <a:r>
              <a:rPr lang="en-US" sz="2800" b="1" u="sng" dirty="0">
                <a:solidFill>
                  <a:srgbClr val="002060"/>
                </a:solidFill>
                <a:latin typeface="Cambria" panose="02040503050406030204" pitchFamily="18" charset="0"/>
              </a:rPr>
              <a:t> 6:</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Nhập</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vào</a:t>
            </a:r>
            <a:r>
              <a:rPr lang="en-US" sz="2800" dirty="0">
                <a:solidFill>
                  <a:srgbClr val="002060"/>
                </a:solidFill>
                <a:latin typeface="Cambria" panose="02040503050406030204" pitchFamily="18" charset="0"/>
              </a:rPr>
              <a:t> 1 </a:t>
            </a:r>
            <a:r>
              <a:rPr lang="en-US" sz="2800" dirty="0" err="1">
                <a:solidFill>
                  <a:srgbClr val="002060"/>
                </a:solidFill>
                <a:latin typeface="Cambria" panose="02040503050406030204" pitchFamily="18" charset="0"/>
              </a:rPr>
              <a:t>tháng</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xuất</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ra</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tháng</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đó</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thuộc</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quý</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mấy</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trong</a:t>
            </a:r>
            <a:r>
              <a:rPr lang="en-US" sz="2800" dirty="0">
                <a:solidFill>
                  <a:srgbClr val="002060"/>
                </a:solidFill>
                <a:latin typeface="Cambria" panose="02040503050406030204" pitchFamily="18" charset="0"/>
              </a:rPr>
              <a:t> </a:t>
            </a:r>
            <a:r>
              <a:rPr lang="en-US" sz="2800" dirty="0" err="1">
                <a:solidFill>
                  <a:srgbClr val="002060"/>
                </a:solidFill>
                <a:latin typeface="Cambria" panose="02040503050406030204" pitchFamily="18" charset="0"/>
              </a:rPr>
              <a:t>năm</a:t>
            </a:r>
            <a:r>
              <a:rPr lang="en-US" sz="2800" dirty="0">
                <a:solidFill>
                  <a:srgbClr val="002060"/>
                </a:solidFill>
                <a:latin typeface="Cambria" panose="02040503050406030204" pitchFamily="18" charset="0"/>
              </a:rPr>
              <a:t>.</a:t>
            </a:r>
          </a:p>
          <a:p>
            <a:pPr marL="0" lvl="0" indent="0">
              <a:lnSpc>
                <a:spcPct val="90000"/>
              </a:lnSpc>
              <a:spcBef>
                <a:spcPts val="1000"/>
              </a:spcBef>
              <a:buNone/>
            </a:pPr>
            <a:r>
              <a:rPr lang="en-US" sz="2800" dirty="0">
                <a:solidFill>
                  <a:srgbClr val="002060"/>
                </a:solidFill>
                <a:latin typeface="Cambria" panose="02040503050406030204" pitchFamily="18" charset="0"/>
              </a:rPr>
              <a:t> </a:t>
            </a:r>
          </a:p>
        </p:txBody>
      </p:sp>
    </p:spTree>
    <p:extLst>
      <p:ext uri="{BB962C8B-B14F-4D97-AF65-F5344CB8AC3E}">
        <p14:creationId xmlns:p14="http://schemas.microsoft.com/office/powerpoint/2010/main" val="384629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Vòng</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lặp</a:t>
            </a:r>
            <a:r>
              <a:rPr lang="en-US" sz="4400" kern="0" dirty="0">
                <a:solidFill>
                  <a:srgbClr val="002060"/>
                </a:solidFill>
                <a:latin typeface="Cambria" panose="02040503050406030204" pitchFamily="18" charset="0"/>
              </a:rPr>
              <a:t> while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831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a:latin typeface="Cambria" panose="02040503050406030204" pitchFamily="18" charset="0"/>
              </a:rPr>
              <a:t>While </a:t>
            </a:r>
            <a:r>
              <a:rPr lang="en-US" sz="2800" dirty="0" err="1">
                <a:latin typeface="Cambria" panose="02040503050406030204" pitchFamily="18" charset="0"/>
              </a:rPr>
              <a:t>dùng</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yêu</a:t>
            </a:r>
            <a:r>
              <a:rPr lang="en-US" sz="2800" dirty="0">
                <a:latin typeface="Cambria" panose="02040503050406030204" pitchFamily="18" charset="0"/>
              </a:rPr>
              <a:t> </a:t>
            </a:r>
            <a:r>
              <a:rPr lang="en-US" sz="2800" dirty="0" err="1">
                <a:latin typeface="Cambria" panose="02040503050406030204" pitchFamily="18" charset="0"/>
              </a:rPr>
              <a:t>cầu</a:t>
            </a:r>
            <a:r>
              <a:rPr lang="en-US" sz="2800" dirty="0">
                <a:latin typeface="Cambria" panose="02040503050406030204" pitchFamily="18" charset="0"/>
              </a:rPr>
              <a:t> 1 </a:t>
            </a:r>
            <a:r>
              <a:rPr lang="en-US" sz="2800" dirty="0" err="1">
                <a:latin typeface="Cambria" panose="02040503050406030204" pitchFamily="18" charset="0"/>
              </a:rPr>
              <a:t>công</a:t>
            </a:r>
            <a:r>
              <a:rPr lang="en-US" sz="2800" dirty="0">
                <a:latin typeface="Cambria" panose="02040503050406030204" pitchFamily="18" charset="0"/>
              </a:rPr>
              <a:t> </a:t>
            </a:r>
            <a:r>
              <a:rPr lang="en-US" sz="2800" dirty="0" err="1">
                <a:latin typeface="Cambria" panose="02040503050406030204" pitchFamily="18" charset="0"/>
              </a:rPr>
              <a:t>việc</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lặp</a:t>
            </a:r>
            <a:r>
              <a:rPr lang="en-US" sz="2800" dirty="0">
                <a:latin typeface="Cambria" panose="02040503050406030204" pitchFamily="18" charset="0"/>
              </a:rPr>
              <a:t> </a:t>
            </a:r>
            <a:r>
              <a:rPr lang="en-US" sz="2800" dirty="0" err="1">
                <a:latin typeface="Cambria" panose="02040503050406030204" pitchFamily="18" charset="0"/>
              </a:rPr>
              <a:t>đi</a:t>
            </a:r>
            <a:r>
              <a:rPr lang="en-US" sz="2800" dirty="0">
                <a:latin typeface="Cambria" panose="02040503050406030204" pitchFamily="18" charset="0"/>
              </a:rPr>
              <a:t> </a:t>
            </a:r>
            <a:r>
              <a:rPr lang="en-US" sz="2800" dirty="0" err="1">
                <a:latin typeface="Cambria" panose="02040503050406030204" pitchFamily="18" charset="0"/>
              </a:rPr>
              <a:t>lặp</a:t>
            </a:r>
            <a:r>
              <a:rPr lang="en-US" sz="2800" dirty="0">
                <a:latin typeface="Cambria" panose="02040503050406030204" pitchFamily="18" charset="0"/>
              </a:rPr>
              <a:t> </a:t>
            </a:r>
            <a:r>
              <a:rPr lang="en-US" sz="2800" dirty="0" err="1">
                <a:latin typeface="Cambria" panose="02040503050406030204" pitchFamily="18" charset="0"/>
              </a:rPr>
              <a:t>lại</a:t>
            </a: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b="1" dirty="0">
                <a:solidFill>
                  <a:srgbClr val="FF0000"/>
                </a:solidFill>
                <a:latin typeface="Cambria" panose="02040503050406030204" pitchFamily="18" charset="0"/>
              </a:rPr>
              <a:t>condition</a:t>
            </a:r>
            <a:r>
              <a:rPr lang="en-US" sz="2800" dirty="0">
                <a:latin typeface="Cambria" panose="02040503050406030204" pitchFamily="18" charset="0"/>
              </a:rPr>
              <a:t> </a:t>
            </a:r>
            <a:r>
              <a:rPr lang="en-US" sz="2800" dirty="0" err="1">
                <a:latin typeface="Cambria" panose="02040503050406030204" pitchFamily="18" charset="0"/>
              </a:rPr>
              <a:t>là</a:t>
            </a:r>
            <a:r>
              <a:rPr lang="en-US" sz="2800" dirty="0">
                <a:latin typeface="Cambria" panose="02040503050406030204" pitchFamily="18" charset="0"/>
              </a:rPr>
              <a:t> </a:t>
            </a:r>
            <a:r>
              <a:rPr lang="en-US" sz="2800" dirty="0">
                <a:solidFill>
                  <a:srgbClr val="002060"/>
                </a:solidFill>
                <a:latin typeface="Cambria" panose="02040503050406030204" pitchFamily="18" charset="0"/>
              </a:rPr>
              <a:t>True</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b="1" dirty="0">
                <a:solidFill>
                  <a:srgbClr val="FF0000"/>
                </a:solidFill>
                <a:latin typeface="Cambria" panose="02040503050406030204" pitchFamily="18" charset="0"/>
              </a:rPr>
              <a:t>block</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lặp</a:t>
            </a:r>
            <a:r>
              <a:rPr lang="en-US" sz="2800" dirty="0">
                <a:latin typeface="Cambria" panose="02040503050406030204" pitchFamily="18" charset="0"/>
              </a:rPr>
              <a:t> </a:t>
            </a:r>
            <a:r>
              <a:rPr lang="en-US" sz="2800" dirty="0" err="1">
                <a:latin typeface="Cambria" panose="02040503050406030204" pitchFamily="18" charset="0"/>
              </a:rPr>
              <a:t>lại</a:t>
            </a:r>
            <a:endParaRPr lang="en-US" sz="2800" dirty="0">
              <a:latin typeface="Cambria" panose="02040503050406030204" pitchFamily="18" charset="0"/>
            </a:endParaRPr>
          </a:p>
          <a:p>
            <a:pPr marL="0" indent="0" algn="just">
              <a:buNone/>
            </a:pPr>
            <a:r>
              <a:rPr lang="en-US" sz="2800" b="1" u="sng" dirty="0" err="1">
                <a:latin typeface="Cambria" panose="02040503050406030204" pitchFamily="18" charset="0"/>
              </a:rPr>
              <a:t>Cú</a:t>
            </a:r>
            <a:r>
              <a:rPr lang="en-US" sz="2800" b="1" u="sng" dirty="0">
                <a:latin typeface="Cambria" panose="02040503050406030204" pitchFamily="18" charset="0"/>
              </a:rPr>
              <a:t> </a:t>
            </a:r>
            <a:r>
              <a:rPr lang="en-US" sz="2800" b="1" u="sng" dirty="0" err="1">
                <a:latin typeface="Cambria" panose="02040503050406030204" pitchFamily="18" charset="0"/>
              </a:rPr>
              <a:t>pháp</a:t>
            </a:r>
            <a:r>
              <a:rPr lang="en-US" sz="2800" b="1" u="sng" dirty="0">
                <a:latin typeface="Cambria" panose="02040503050406030204" pitchFamily="18" charset="0"/>
              </a:rPr>
              <a:t>:</a:t>
            </a: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r>
              <a:rPr lang="en-US" sz="2800" dirty="0">
                <a:latin typeface="Cambria" panose="02040503050406030204" pitchFamily="18" charset="0"/>
              </a:rPr>
              <a:t>-</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thể</a:t>
            </a:r>
            <a:r>
              <a:rPr lang="en-US" sz="2800" dirty="0">
                <a:latin typeface="Cambria" panose="02040503050406030204" pitchFamily="18" charset="0"/>
              </a:rPr>
              <a:t> </a:t>
            </a:r>
            <a:r>
              <a:rPr lang="en-US" sz="2800" b="1" dirty="0">
                <a:latin typeface="Cambria" panose="02040503050406030204" pitchFamily="18" charset="0"/>
              </a:rPr>
              <a:t>block</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không</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hiện</a:t>
            </a:r>
            <a:r>
              <a:rPr lang="en-US" sz="2800" dirty="0">
                <a:latin typeface="Cambria" panose="02040503050406030204" pitchFamily="18" charset="0"/>
              </a:rPr>
              <a:t> </a:t>
            </a:r>
            <a:r>
              <a:rPr lang="en-US" sz="2800" dirty="0" err="1">
                <a:latin typeface="Cambria" panose="02040503050406030204" pitchFamily="18" charset="0"/>
              </a:rPr>
              <a:t>lần</a:t>
            </a:r>
            <a:r>
              <a:rPr lang="en-US" sz="2800" dirty="0">
                <a:latin typeface="Cambria" panose="02040503050406030204" pitchFamily="18" charset="0"/>
              </a:rPr>
              <a:t> </a:t>
            </a:r>
            <a:r>
              <a:rPr lang="en-US" sz="2800" dirty="0" err="1">
                <a:latin typeface="Cambria" panose="02040503050406030204" pitchFamily="18" charset="0"/>
              </a:rPr>
              <a:t>nào</a:t>
            </a: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b="1" dirty="0">
                <a:latin typeface="Cambria" panose="02040503050406030204" pitchFamily="18" charset="0"/>
              </a:rPr>
              <a:t>condition</a:t>
            </a:r>
            <a:r>
              <a:rPr lang="en-US" sz="2800" dirty="0">
                <a:latin typeface="Cambria" panose="02040503050406030204" pitchFamily="18" charset="0"/>
              </a:rPr>
              <a:t> </a:t>
            </a:r>
            <a:r>
              <a:rPr lang="en-US" sz="2800" dirty="0" err="1">
                <a:latin typeface="Cambria" panose="02040503050406030204" pitchFamily="18" charset="0"/>
              </a:rPr>
              <a:t>là</a:t>
            </a:r>
            <a:r>
              <a:rPr lang="en-US" sz="2800" dirty="0">
                <a:latin typeface="Cambria" panose="02040503050406030204" pitchFamily="18" charset="0"/>
              </a:rPr>
              <a:t> </a:t>
            </a:r>
            <a:r>
              <a:rPr lang="en-US" sz="2800" b="1" dirty="0">
                <a:latin typeface="Cambria" panose="02040503050406030204" pitchFamily="18" charset="0"/>
              </a:rPr>
              <a:t>False</a:t>
            </a:r>
            <a:r>
              <a:rPr lang="en-US" sz="2800" dirty="0">
                <a:latin typeface="Cambria" panose="02040503050406030204" pitchFamily="18" charset="0"/>
              </a:rPr>
              <a:t> </a:t>
            </a:r>
            <a:r>
              <a:rPr lang="en-US" sz="2800" dirty="0" err="1">
                <a:latin typeface="Cambria" panose="02040503050406030204" pitchFamily="18" charset="0"/>
              </a:rPr>
              <a:t>ngày</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a:t>
            </a:r>
            <a:r>
              <a:rPr lang="en-US" sz="2800" dirty="0" err="1">
                <a:latin typeface="Cambria" panose="02040503050406030204" pitchFamily="18" charset="0"/>
              </a:rPr>
              <a:t>đầu</a:t>
            </a:r>
            <a:endParaRPr lang="en-US" sz="2800" dirty="0">
              <a:latin typeface="Cambria" panose="02040503050406030204" pitchFamily="18" charset="0"/>
            </a:endParaRPr>
          </a:p>
          <a:p>
            <a:pPr marL="0" indent="0" algn="just">
              <a:buNone/>
            </a:pPr>
            <a:r>
              <a:rPr lang="en-US" sz="2800" dirty="0">
                <a:latin typeface="Cambria" panose="02040503050406030204" pitchFamily="18" charset="0"/>
              </a:rPr>
              <a:t>-Ta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thể</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vòng</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bằng</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đ</a:t>
            </a:r>
            <a:r>
              <a:rPr lang="vi-VN" sz="2800" dirty="0">
                <a:latin typeface="Cambria" panose="02040503050406030204" pitchFamily="18" charset="0"/>
              </a:rPr>
              <a:t>ư</a:t>
            </a:r>
            <a:r>
              <a:rPr lang="en-US" sz="2800" dirty="0">
                <a:latin typeface="Cambria" panose="02040503050406030204" pitchFamily="18" charset="0"/>
              </a:rPr>
              <a:t>a </a:t>
            </a:r>
            <a:r>
              <a:rPr lang="en-US" sz="2800" b="1" dirty="0">
                <a:latin typeface="Cambria" panose="02040503050406030204" pitchFamily="18" charset="0"/>
              </a:rPr>
              <a:t>condition</a:t>
            </a:r>
          </a:p>
          <a:p>
            <a:pPr marL="0" indent="0" algn="just">
              <a:buNone/>
            </a:pPr>
            <a:r>
              <a:rPr lang="en-US" sz="2800" dirty="0" err="1">
                <a:latin typeface="Cambria" panose="02040503050406030204" pitchFamily="18" charset="0"/>
              </a:rPr>
              <a:t>về</a:t>
            </a:r>
            <a:r>
              <a:rPr lang="en-US" sz="2800" dirty="0">
                <a:latin typeface="Cambria" panose="02040503050406030204" pitchFamily="18" charset="0"/>
              </a:rPr>
              <a:t> </a:t>
            </a:r>
            <a:r>
              <a:rPr lang="en-US" sz="2800" b="1" dirty="0">
                <a:latin typeface="Cambria" panose="02040503050406030204" pitchFamily="18" charset="0"/>
              </a:rPr>
              <a:t>False</a:t>
            </a:r>
            <a:r>
              <a:rPr lang="en-US" sz="2800" dirty="0">
                <a:latin typeface="Cambria" panose="02040503050406030204" pitchFamily="18" charset="0"/>
              </a:rPr>
              <a:t> </a:t>
            </a:r>
            <a:r>
              <a:rPr lang="en-US" sz="2800" dirty="0" err="1">
                <a:latin typeface="Cambria" panose="02040503050406030204" pitchFamily="18" charset="0"/>
              </a:rPr>
              <a:t>hoặc</a:t>
            </a:r>
            <a:r>
              <a:rPr lang="en-US" sz="2800" dirty="0">
                <a:latin typeface="Cambria" panose="02040503050406030204" pitchFamily="18" charset="0"/>
              </a:rPr>
              <a:t> </a:t>
            </a:r>
            <a:r>
              <a:rPr lang="en-US" sz="2800" dirty="0" err="1">
                <a:latin typeface="Cambria" panose="02040503050406030204" pitchFamily="18" charset="0"/>
              </a:rPr>
              <a:t>dùng</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a:t>
            </a:r>
            <a:r>
              <a:rPr lang="en-US" sz="2800" dirty="0" err="1">
                <a:latin typeface="Cambria" panose="02040503050406030204" pitchFamily="18" charset="0"/>
              </a:rPr>
              <a:t>khóa</a:t>
            </a:r>
            <a:r>
              <a:rPr lang="en-US" sz="2800" dirty="0">
                <a:latin typeface="Cambria" panose="02040503050406030204" pitchFamily="18" charset="0"/>
              </a:rPr>
              <a:t> </a:t>
            </a:r>
            <a:r>
              <a:rPr lang="en-US" sz="2800" b="1" dirty="0">
                <a:solidFill>
                  <a:srgbClr val="FF0000"/>
                </a:solidFill>
                <a:latin typeface="Cambria" panose="02040503050406030204" pitchFamily="18" charset="0"/>
              </a:rPr>
              <a:t>break</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thoát</a:t>
            </a:r>
            <a:r>
              <a:rPr lang="en-US" sz="2800" dirty="0">
                <a:latin typeface="Cambria" panose="02040503050406030204" pitchFamily="18" charset="0"/>
              </a:rPr>
              <a:t>.</a:t>
            </a:r>
          </a:p>
          <a:p>
            <a:pPr marL="0" indent="0" algn="just">
              <a:buNone/>
            </a:pPr>
            <a:endParaRPr lang="en-US" sz="2800" dirty="0">
              <a:latin typeface="Cambria" panose="02040503050406030204" pitchFamily="18" charset="0"/>
            </a:endParaRPr>
          </a:p>
        </p:txBody>
      </p:sp>
      <p:pic>
        <p:nvPicPr>
          <p:cNvPr id="8" name="Picture 7">
            <a:extLst>
              <a:ext uri="{FF2B5EF4-FFF2-40B4-BE49-F238E27FC236}">
                <a16:creationId xmlns:a16="http://schemas.microsoft.com/office/drawing/2014/main" id="{346A1E84-61F3-4294-AD2E-48F7DBA3E458}"/>
              </a:ext>
            </a:extLst>
          </p:cNvPr>
          <p:cNvPicPr>
            <a:picLocks noChangeAspect="1"/>
          </p:cNvPicPr>
          <p:nvPr/>
        </p:nvPicPr>
        <p:blipFill>
          <a:blip r:embed="rId3"/>
          <a:stretch>
            <a:fillRect/>
          </a:stretch>
        </p:blipFill>
        <p:spPr>
          <a:xfrm>
            <a:off x="2819400" y="2376487"/>
            <a:ext cx="3022814" cy="1585913"/>
          </a:xfrm>
          <a:prstGeom prst="rect">
            <a:avLst/>
          </a:prstGeom>
        </p:spPr>
      </p:pic>
      <p:pic>
        <p:nvPicPr>
          <p:cNvPr id="10" name="Picture 9">
            <a:extLst>
              <a:ext uri="{FF2B5EF4-FFF2-40B4-BE49-F238E27FC236}">
                <a16:creationId xmlns:a16="http://schemas.microsoft.com/office/drawing/2014/main" id="{F8C3A000-6DD6-4A35-85EF-E2FC645157CB}"/>
              </a:ext>
            </a:extLst>
          </p:cNvPr>
          <p:cNvPicPr>
            <a:picLocks noChangeAspect="1"/>
          </p:cNvPicPr>
          <p:nvPr/>
        </p:nvPicPr>
        <p:blipFill>
          <a:blip r:embed="rId4"/>
          <a:stretch>
            <a:fillRect/>
          </a:stretch>
        </p:blipFill>
        <p:spPr>
          <a:xfrm>
            <a:off x="8839200" y="1418940"/>
            <a:ext cx="3048000" cy="4020120"/>
          </a:xfrm>
          <a:prstGeom prst="rect">
            <a:avLst/>
          </a:prstGeom>
        </p:spPr>
      </p:pic>
    </p:spTree>
    <p:extLst>
      <p:ext uri="{BB962C8B-B14F-4D97-AF65-F5344CB8AC3E}">
        <p14:creationId xmlns:p14="http://schemas.microsoft.com/office/powerpoint/2010/main" val="3231031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a:t>
            </a:r>
          </a:p>
          <a:p>
            <a:pPr marL="0" indent="0" algn="just">
              <a:buNone/>
            </a:pPr>
            <a:r>
              <a:rPr lang="en-US" sz="4000" dirty="0" err="1">
                <a:latin typeface="Cambria" panose="02040503050406030204" pitchFamily="18" charset="0"/>
              </a:rPr>
              <a:t>Viết</a:t>
            </a:r>
            <a:r>
              <a:rPr lang="en-US" sz="4000" dirty="0">
                <a:latin typeface="Cambria" panose="02040503050406030204" pitchFamily="18" charset="0"/>
              </a:rPr>
              <a:t> </a:t>
            </a:r>
            <a:r>
              <a:rPr lang="en-US" sz="4000" dirty="0" err="1">
                <a:latin typeface="Cambria" panose="02040503050406030204" pitchFamily="18" charset="0"/>
              </a:rPr>
              <a:t>ch</a:t>
            </a:r>
            <a:r>
              <a:rPr lang="vi-VN" sz="4000" dirty="0">
                <a:latin typeface="Cambria" panose="02040503050406030204" pitchFamily="18" charset="0"/>
              </a:rPr>
              <a:t>ư</a:t>
            </a:r>
            <a:r>
              <a:rPr lang="en-US" sz="4000" dirty="0" err="1">
                <a:latin typeface="Cambria" panose="02040503050406030204" pitchFamily="18" charset="0"/>
              </a:rPr>
              <a:t>ơng</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a:t>
            </a:r>
            <a:r>
              <a:rPr lang="en-US" sz="4000" dirty="0" err="1">
                <a:latin typeface="Cambria" panose="02040503050406030204" pitchFamily="18" charset="0"/>
              </a:rPr>
              <a:t>yêu</a:t>
            </a:r>
            <a:r>
              <a:rPr lang="en-US" sz="4000" dirty="0">
                <a:latin typeface="Cambria" panose="02040503050406030204" pitchFamily="18" charset="0"/>
              </a:rPr>
              <a:t> </a:t>
            </a:r>
            <a:r>
              <a:rPr lang="en-US" sz="4000" dirty="0" err="1">
                <a:latin typeface="Cambria" panose="02040503050406030204" pitchFamily="18" charset="0"/>
              </a:rPr>
              <a:t>cầu</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vào</a:t>
            </a:r>
            <a:r>
              <a:rPr lang="en-US" sz="4000" dirty="0">
                <a:latin typeface="Cambria" panose="02040503050406030204" pitchFamily="18" charset="0"/>
              </a:rPr>
              <a:t> </a:t>
            </a:r>
            <a:r>
              <a:rPr lang="en-US" sz="4000" dirty="0" err="1">
                <a:latin typeface="Cambria" panose="02040503050406030204" pitchFamily="18" charset="0"/>
              </a:rPr>
              <a:t>một</a:t>
            </a:r>
            <a:r>
              <a:rPr lang="en-US" sz="4000" dirty="0">
                <a:latin typeface="Cambria" panose="02040503050406030204" pitchFamily="18" charset="0"/>
              </a:rPr>
              <a:t> </a:t>
            </a:r>
            <a:r>
              <a:rPr lang="en-US" sz="4000" dirty="0" err="1">
                <a:latin typeface="Cambria" panose="02040503050406030204" pitchFamily="18" charset="0"/>
              </a:rPr>
              <a:t>số</a:t>
            </a:r>
            <a:r>
              <a:rPr lang="en-US" sz="4000" dirty="0">
                <a:latin typeface="Cambria" panose="02040503050406030204" pitchFamily="18" charset="0"/>
              </a:rPr>
              <a:t> </a:t>
            </a:r>
            <a:r>
              <a:rPr lang="en-US" sz="4000" dirty="0" err="1">
                <a:latin typeface="Cambria" panose="02040503050406030204" pitchFamily="18" charset="0"/>
              </a:rPr>
              <a:t>nguyên</a:t>
            </a:r>
            <a:r>
              <a:rPr lang="en-US" sz="4000" dirty="0">
                <a:latin typeface="Cambria" panose="02040503050406030204" pitchFamily="18" charset="0"/>
              </a:rPr>
              <a:t> d</a:t>
            </a:r>
            <a:r>
              <a:rPr lang="vi-VN" sz="4000" dirty="0">
                <a:latin typeface="Cambria" panose="02040503050406030204" pitchFamily="18" charset="0"/>
              </a:rPr>
              <a:t>ư</a:t>
            </a:r>
            <a:r>
              <a:rPr lang="en-US" sz="4000" dirty="0" err="1">
                <a:latin typeface="Cambria" panose="02040503050406030204" pitchFamily="18" charset="0"/>
              </a:rPr>
              <a:t>ơng</a:t>
            </a:r>
            <a:r>
              <a:rPr lang="en-US" sz="4000" dirty="0">
                <a:latin typeface="Cambria" panose="02040503050406030204" pitchFamily="18" charset="0"/>
              </a:rPr>
              <a:t> [1..10], </a:t>
            </a:r>
            <a:r>
              <a:rPr lang="en-US" sz="4000" dirty="0" err="1">
                <a:latin typeface="Cambria" panose="02040503050406030204" pitchFamily="18" charset="0"/>
              </a:rPr>
              <a:t>nếu</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sai</a:t>
            </a:r>
            <a:r>
              <a:rPr lang="en-US" sz="4000" dirty="0">
                <a:latin typeface="Cambria" panose="02040503050406030204" pitchFamily="18" charset="0"/>
              </a:rPr>
              <a:t> </a:t>
            </a:r>
            <a:r>
              <a:rPr lang="en-US" sz="4000" dirty="0" err="1">
                <a:latin typeface="Cambria" panose="02040503050406030204" pitchFamily="18" charset="0"/>
              </a:rPr>
              <a:t>yêu</a:t>
            </a:r>
            <a:r>
              <a:rPr lang="en-US" sz="4000" dirty="0">
                <a:latin typeface="Cambria" panose="02040503050406030204" pitchFamily="18" charset="0"/>
              </a:rPr>
              <a:t> </a:t>
            </a:r>
            <a:r>
              <a:rPr lang="en-US" sz="4000" dirty="0" err="1">
                <a:latin typeface="Cambria" panose="02040503050406030204" pitchFamily="18" charset="0"/>
              </a:rPr>
              <a:t>cầu</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lại</a:t>
            </a:r>
            <a:r>
              <a:rPr lang="en-US" sz="4000" dirty="0">
                <a:latin typeface="Cambria" panose="02040503050406030204" pitchFamily="18" charset="0"/>
              </a:rPr>
              <a:t>. </a:t>
            </a:r>
            <a:r>
              <a:rPr lang="en-US" sz="4000" dirty="0" err="1">
                <a:latin typeface="Cambria" panose="02040503050406030204" pitchFamily="18" charset="0"/>
              </a:rPr>
              <a:t>Khi</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đúng</a:t>
            </a:r>
            <a:r>
              <a:rPr lang="en-US" sz="4000" dirty="0">
                <a:latin typeface="Cambria" panose="02040503050406030204" pitchFamily="18" charset="0"/>
              </a:rPr>
              <a:t> </a:t>
            </a:r>
            <a:r>
              <a:rPr lang="en-US" sz="4000" dirty="0" err="1">
                <a:latin typeface="Cambria" panose="02040503050406030204" pitchFamily="18" charset="0"/>
              </a:rPr>
              <a:t>thì</a:t>
            </a:r>
            <a:r>
              <a:rPr lang="en-US" sz="4000" dirty="0">
                <a:latin typeface="Cambria" panose="02040503050406030204" pitchFamily="18" charset="0"/>
              </a:rPr>
              <a:t> </a:t>
            </a:r>
            <a:r>
              <a:rPr lang="en-US" sz="4000" dirty="0" err="1">
                <a:latin typeface="Cambria" panose="02040503050406030204" pitchFamily="18" charset="0"/>
              </a:rPr>
              <a:t>xuất</a:t>
            </a:r>
            <a:r>
              <a:rPr lang="en-US" sz="4000" dirty="0">
                <a:latin typeface="Cambria" panose="02040503050406030204" pitchFamily="18" charset="0"/>
              </a:rPr>
              <a:t> </a:t>
            </a:r>
            <a:r>
              <a:rPr lang="en-US" sz="4000" dirty="0" err="1">
                <a:latin typeface="Cambria" panose="02040503050406030204" pitchFamily="18" charset="0"/>
              </a:rPr>
              <a:t>ra</a:t>
            </a:r>
            <a:r>
              <a:rPr lang="en-US" sz="4000" dirty="0">
                <a:latin typeface="Cambria" panose="02040503050406030204" pitchFamily="18" charset="0"/>
              </a:rPr>
              <a:t> </a:t>
            </a:r>
            <a:r>
              <a:rPr lang="en-US" sz="4000" dirty="0" err="1">
                <a:latin typeface="Cambria" panose="02040503050406030204" pitchFamily="18" charset="0"/>
              </a:rPr>
              <a:t>bình</a:t>
            </a:r>
            <a:r>
              <a:rPr lang="en-US" sz="4000" dirty="0">
                <a:latin typeface="Cambria" panose="02040503050406030204" pitchFamily="18" charset="0"/>
              </a:rPr>
              <a:t> </a:t>
            </a:r>
            <a:r>
              <a:rPr lang="en-US" sz="4000" dirty="0" err="1">
                <a:latin typeface="Cambria" panose="02040503050406030204" pitchFamily="18" charset="0"/>
              </a:rPr>
              <a:t>ph</a:t>
            </a:r>
            <a:r>
              <a:rPr lang="vi-VN" sz="4000" dirty="0">
                <a:latin typeface="Cambria" panose="02040503050406030204" pitchFamily="18" charset="0"/>
              </a:rPr>
              <a:t>ư</a:t>
            </a:r>
            <a:r>
              <a:rPr lang="en-US" sz="4000" dirty="0" err="1">
                <a:latin typeface="Cambria" panose="02040503050406030204" pitchFamily="18" charset="0"/>
              </a:rPr>
              <a:t>ơng</a:t>
            </a:r>
            <a:r>
              <a:rPr lang="en-US" sz="4000" dirty="0">
                <a:latin typeface="Cambria" panose="02040503050406030204" pitchFamily="18" charset="0"/>
              </a:rPr>
              <a:t> </a:t>
            </a:r>
            <a:r>
              <a:rPr lang="en-US" sz="4000" dirty="0" err="1">
                <a:latin typeface="Cambria" panose="02040503050406030204" pitchFamily="18" charset="0"/>
              </a:rPr>
              <a:t>của</a:t>
            </a:r>
            <a:r>
              <a:rPr lang="en-US" sz="4000" dirty="0">
                <a:latin typeface="Cambria" panose="02040503050406030204" pitchFamily="18" charset="0"/>
              </a:rPr>
              <a:t> </a:t>
            </a:r>
            <a:r>
              <a:rPr lang="en-US" sz="4000" dirty="0" err="1">
                <a:latin typeface="Cambria" panose="02040503050406030204" pitchFamily="18" charset="0"/>
              </a:rPr>
              <a:t>giá</a:t>
            </a:r>
            <a:r>
              <a:rPr lang="en-US" sz="4000" dirty="0">
                <a:latin typeface="Cambria" panose="02040503050406030204" pitchFamily="18" charset="0"/>
              </a:rPr>
              <a:t> </a:t>
            </a:r>
            <a:r>
              <a:rPr lang="en-US" sz="4000" dirty="0" err="1">
                <a:latin typeface="Cambria" panose="02040503050406030204" pitchFamily="18" charset="0"/>
              </a:rPr>
              <a:t>trị</a:t>
            </a:r>
            <a:r>
              <a:rPr lang="en-US" sz="4000" dirty="0">
                <a:latin typeface="Cambria" panose="02040503050406030204" pitchFamily="18" charset="0"/>
              </a:rPr>
              <a:t> </a:t>
            </a:r>
            <a:r>
              <a:rPr lang="en-US" sz="4000" dirty="0" err="1">
                <a:latin typeface="Cambria" panose="02040503050406030204" pitchFamily="18" charset="0"/>
              </a:rPr>
              <a:t>mới</a:t>
            </a:r>
            <a:r>
              <a:rPr lang="en-US" sz="4000" dirty="0">
                <a:latin typeface="Cambria" panose="02040503050406030204" pitchFamily="18" charset="0"/>
              </a:rPr>
              <a:t> </a:t>
            </a:r>
            <a:r>
              <a:rPr lang="en-US" sz="4000" dirty="0" err="1">
                <a:latin typeface="Cambria" panose="02040503050406030204" pitchFamily="18" charset="0"/>
              </a:rPr>
              <a:t>nhập</a:t>
            </a:r>
            <a:r>
              <a:rPr lang="en-US" sz="4000" dirty="0">
                <a:latin typeface="Cambria" panose="02040503050406030204" pitchFamily="18" charset="0"/>
              </a:rPr>
              <a:t> </a:t>
            </a:r>
            <a:r>
              <a:rPr lang="en-US" sz="4000" dirty="0" err="1">
                <a:latin typeface="Cambria" panose="02040503050406030204" pitchFamily="18" charset="0"/>
              </a:rPr>
              <a:t>vào</a:t>
            </a:r>
            <a:r>
              <a:rPr lang="en-US" sz="4000" dirty="0">
                <a:latin typeface="Cambria" panose="02040503050406030204" pitchFamily="18" charset="0"/>
              </a:rPr>
              <a:t>.</a:t>
            </a:r>
          </a:p>
          <a:p>
            <a:pPr marL="0" indent="0" algn="just">
              <a:buNone/>
            </a:pPr>
            <a:endParaRPr lang="en-US" sz="4000" dirty="0">
              <a:latin typeface="Cambria" panose="02040503050406030204" pitchFamily="18" charset="0"/>
            </a:endParaRPr>
          </a:p>
        </p:txBody>
      </p:sp>
      <p:pic>
        <p:nvPicPr>
          <p:cNvPr id="9" name="Picture 8">
            <a:extLst>
              <a:ext uri="{FF2B5EF4-FFF2-40B4-BE49-F238E27FC236}">
                <a16:creationId xmlns:a16="http://schemas.microsoft.com/office/drawing/2014/main" id="{F7A5C568-3A80-4B39-A8E3-1C10328EBDDC}"/>
              </a:ext>
            </a:extLst>
          </p:cNvPr>
          <p:cNvPicPr>
            <a:picLocks noChangeAspect="1"/>
          </p:cNvPicPr>
          <p:nvPr/>
        </p:nvPicPr>
        <p:blipFill>
          <a:blip r:embed="rId3"/>
          <a:stretch>
            <a:fillRect/>
          </a:stretch>
        </p:blipFill>
        <p:spPr>
          <a:xfrm>
            <a:off x="1353497" y="4495800"/>
            <a:ext cx="9637406" cy="1795462"/>
          </a:xfrm>
          <a:prstGeom prst="rect">
            <a:avLst/>
          </a:prstGeom>
        </p:spPr>
      </p:pic>
    </p:spTree>
    <p:extLst>
      <p:ext uri="{BB962C8B-B14F-4D97-AF65-F5344CB8AC3E}">
        <p14:creationId xmlns:p14="http://schemas.microsoft.com/office/powerpoint/2010/main" val="29716152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0E92D1-B786-4900-B1C0-A6410BE2879D}"/>
              </a:ext>
            </a:extLst>
          </p:cNvPr>
          <p:cNvSpPr>
            <a:spLocks noGrp="1"/>
          </p:cNvSpPr>
          <p:nvPr>
            <p:ph type="sldNum" sz="quarter" idx="12"/>
          </p:nvPr>
        </p:nvSpPr>
        <p:spPr/>
        <p:txBody>
          <a:bodyPr/>
          <a:lstStyle/>
          <a:p>
            <a:r>
              <a:rPr lang="en-US"/>
              <a:t>Trang </a:t>
            </a:r>
            <a:fld id="{99166BD8-DA3C-4BE0-9C00-AA0485D1F6DE}" type="slidenum">
              <a:rPr lang="en-US" smtClean="0"/>
              <a:pPr/>
              <a:t>61</a:t>
            </a:fld>
            <a:endParaRPr lang="en-US"/>
          </a:p>
        </p:txBody>
      </p:sp>
      <p:pic>
        <p:nvPicPr>
          <p:cNvPr id="3" name="Picture 2">
            <a:extLst>
              <a:ext uri="{FF2B5EF4-FFF2-40B4-BE49-F238E27FC236}">
                <a16:creationId xmlns:a16="http://schemas.microsoft.com/office/drawing/2014/main" id="{94FC7E36-FF2D-4BA6-83EF-A5258B95CA8D}"/>
              </a:ext>
            </a:extLst>
          </p:cNvPr>
          <p:cNvPicPr>
            <a:picLocks noChangeAspect="1"/>
          </p:cNvPicPr>
          <p:nvPr/>
        </p:nvPicPr>
        <p:blipFill>
          <a:blip r:embed="rId2"/>
          <a:stretch>
            <a:fillRect/>
          </a:stretch>
        </p:blipFill>
        <p:spPr>
          <a:xfrm>
            <a:off x="279905" y="590241"/>
            <a:ext cx="4520695" cy="3256722"/>
          </a:xfrm>
          <a:prstGeom prst="rect">
            <a:avLst/>
          </a:prstGeom>
        </p:spPr>
      </p:pic>
      <p:sp>
        <p:nvSpPr>
          <p:cNvPr id="4" name="TextBox 3">
            <a:extLst>
              <a:ext uri="{FF2B5EF4-FFF2-40B4-BE49-F238E27FC236}">
                <a16:creationId xmlns:a16="http://schemas.microsoft.com/office/drawing/2014/main" id="{9B2151DF-53F6-489B-911A-2E7D844FDFAC}"/>
              </a:ext>
            </a:extLst>
          </p:cNvPr>
          <p:cNvSpPr txBox="1"/>
          <p:nvPr/>
        </p:nvSpPr>
        <p:spPr>
          <a:xfrm>
            <a:off x="4953000" y="544378"/>
            <a:ext cx="5614037" cy="5693866"/>
          </a:xfrm>
          <a:prstGeom prst="rect">
            <a:avLst/>
          </a:prstGeom>
          <a:noFill/>
        </p:spPr>
        <p:txBody>
          <a:bodyPr wrap="none" rtlCol="0">
            <a:spAutoFit/>
          </a:bodyPr>
          <a:lstStyle/>
          <a:p>
            <a:r>
              <a:rPr lang="en-US" sz="2800" dirty="0" err="1"/>
              <a:t>Khởi</a:t>
            </a:r>
            <a:r>
              <a:rPr lang="en-US" sz="2800" dirty="0"/>
              <a:t> </a:t>
            </a:r>
            <a:r>
              <a:rPr lang="en-US" sz="2800" dirty="0" err="1"/>
              <a:t>tạo</a:t>
            </a:r>
            <a:r>
              <a:rPr lang="en-US" sz="2800" dirty="0"/>
              <a:t>: s=0, </a:t>
            </a:r>
            <a:r>
              <a:rPr lang="en-US" sz="2800" dirty="0" err="1"/>
              <a:t>i</a:t>
            </a:r>
            <a:r>
              <a:rPr lang="en-US" sz="2800" dirty="0"/>
              <a:t>=1, n=5</a:t>
            </a:r>
          </a:p>
          <a:p>
            <a:pPr marL="514350" indent="-514350">
              <a:buAutoNum type="arabicParenR"/>
            </a:pPr>
            <a:r>
              <a:rPr lang="en-US" sz="2800" dirty="0" err="1"/>
              <a:t>i</a:t>
            </a:r>
            <a:r>
              <a:rPr lang="en-US" sz="2800" dirty="0"/>
              <a:t>&lt;=n </a:t>
            </a:r>
            <a:r>
              <a:rPr lang="en-US" sz="2800" dirty="0">
                <a:sym typeface="Wingdings" panose="05000000000000000000" pitchFamily="2" charset="2"/>
              </a:rPr>
              <a:t>1 &lt;=5True</a:t>
            </a:r>
          </a:p>
          <a:p>
            <a:r>
              <a:rPr lang="en-US" sz="2800" dirty="0">
                <a:sym typeface="Wingdings" panose="05000000000000000000" pitchFamily="2" charset="2"/>
              </a:rPr>
              <a:t>        s=</a:t>
            </a:r>
            <a:r>
              <a:rPr lang="en-US" sz="2800" dirty="0" err="1">
                <a:sym typeface="Wingdings" panose="05000000000000000000" pitchFamily="2" charset="2"/>
              </a:rPr>
              <a:t>s+i</a:t>
            </a:r>
            <a:r>
              <a:rPr lang="en-US" sz="2800" dirty="0">
                <a:sym typeface="Wingdings" panose="05000000000000000000" pitchFamily="2" charset="2"/>
              </a:rPr>
              <a:t>=0+1=1; </a:t>
            </a:r>
            <a:r>
              <a:rPr lang="en-US" sz="2800" dirty="0" err="1">
                <a:sym typeface="Wingdings" panose="05000000000000000000" pitchFamily="2" charset="2"/>
              </a:rPr>
              <a:t>i</a:t>
            </a:r>
            <a:r>
              <a:rPr lang="en-US" sz="2800" dirty="0">
                <a:sym typeface="Wingdings" panose="05000000000000000000" pitchFamily="2" charset="2"/>
              </a:rPr>
              <a:t>=i+1=1+1=2</a:t>
            </a:r>
          </a:p>
          <a:p>
            <a:r>
              <a:rPr lang="en-US" sz="2800" dirty="0">
                <a:sym typeface="Wingdings" panose="05000000000000000000" pitchFamily="2" charset="2"/>
              </a:rPr>
              <a:t>2) </a:t>
            </a:r>
            <a:r>
              <a:rPr lang="en-US" sz="2800" dirty="0" err="1">
                <a:sym typeface="Wingdings" panose="05000000000000000000" pitchFamily="2" charset="2"/>
              </a:rPr>
              <a:t>i</a:t>
            </a:r>
            <a:r>
              <a:rPr lang="en-US" sz="2800" dirty="0">
                <a:sym typeface="Wingdings" panose="05000000000000000000" pitchFamily="2" charset="2"/>
              </a:rPr>
              <a:t>&lt;=n  2 &lt;=5 True</a:t>
            </a:r>
          </a:p>
          <a:p>
            <a:r>
              <a:rPr lang="en-US" sz="2800" dirty="0">
                <a:sym typeface="Wingdings" panose="05000000000000000000" pitchFamily="2" charset="2"/>
              </a:rPr>
              <a:t>        s=</a:t>
            </a:r>
            <a:r>
              <a:rPr lang="en-US" sz="2800" dirty="0" err="1">
                <a:sym typeface="Wingdings" panose="05000000000000000000" pitchFamily="2" charset="2"/>
              </a:rPr>
              <a:t>s+i</a:t>
            </a:r>
            <a:r>
              <a:rPr lang="en-US" sz="2800" dirty="0">
                <a:sym typeface="Wingdings" panose="05000000000000000000" pitchFamily="2" charset="2"/>
              </a:rPr>
              <a:t>=1+2=3; </a:t>
            </a:r>
            <a:r>
              <a:rPr lang="en-US" sz="2800" dirty="0" err="1">
                <a:sym typeface="Wingdings" panose="05000000000000000000" pitchFamily="2" charset="2"/>
              </a:rPr>
              <a:t>i</a:t>
            </a:r>
            <a:r>
              <a:rPr lang="en-US" sz="2800" dirty="0">
                <a:sym typeface="Wingdings" panose="05000000000000000000" pitchFamily="2" charset="2"/>
              </a:rPr>
              <a:t>=i+1=2+1=3</a:t>
            </a:r>
          </a:p>
          <a:p>
            <a:r>
              <a:rPr lang="en-US" sz="2800" dirty="0">
                <a:sym typeface="Wingdings" panose="05000000000000000000" pitchFamily="2" charset="2"/>
              </a:rPr>
              <a:t>3) </a:t>
            </a:r>
            <a:r>
              <a:rPr lang="en-US" sz="2800" dirty="0" err="1">
                <a:sym typeface="Wingdings" panose="05000000000000000000" pitchFamily="2" charset="2"/>
              </a:rPr>
              <a:t>i</a:t>
            </a:r>
            <a:r>
              <a:rPr lang="en-US" sz="2800" dirty="0">
                <a:sym typeface="Wingdings" panose="05000000000000000000" pitchFamily="2" charset="2"/>
              </a:rPr>
              <a:t>&lt;=n 3 &lt;=5True</a:t>
            </a:r>
          </a:p>
          <a:p>
            <a:r>
              <a:rPr lang="en-US" sz="2800" dirty="0">
                <a:sym typeface="Wingdings" panose="05000000000000000000" pitchFamily="2" charset="2"/>
              </a:rPr>
              <a:t>        s=</a:t>
            </a:r>
            <a:r>
              <a:rPr lang="en-US" sz="2800" dirty="0" err="1">
                <a:sym typeface="Wingdings" panose="05000000000000000000" pitchFamily="2" charset="2"/>
              </a:rPr>
              <a:t>s+i</a:t>
            </a:r>
            <a:r>
              <a:rPr lang="en-US" sz="2800" dirty="0">
                <a:sym typeface="Wingdings" panose="05000000000000000000" pitchFamily="2" charset="2"/>
              </a:rPr>
              <a:t>=3+3=6; </a:t>
            </a:r>
            <a:r>
              <a:rPr lang="en-US" sz="2800" dirty="0" err="1">
                <a:sym typeface="Wingdings" panose="05000000000000000000" pitchFamily="2" charset="2"/>
              </a:rPr>
              <a:t>i</a:t>
            </a:r>
            <a:r>
              <a:rPr lang="en-US" sz="2800" dirty="0">
                <a:sym typeface="Wingdings" panose="05000000000000000000" pitchFamily="2" charset="2"/>
              </a:rPr>
              <a:t>=i+1=3+1=4</a:t>
            </a:r>
          </a:p>
          <a:p>
            <a:r>
              <a:rPr lang="en-US" sz="2800" dirty="0">
                <a:sym typeface="Wingdings" panose="05000000000000000000" pitchFamily="2" charset="2"/>
              </a:rPr>
              <a:t>4) </a:t>
            </a:r>
            <a:r>
              <a:rPr lang="en-US" sz="2800" dirty="0" err="1">
                <a:sym typeface="Wingdings" panose="05000000000000000000" pitchFamily="2" charset="2"/>
              </a:rPr>
              <a:t>i</a:t>
            </a:r>
            <a:r>
              <a:rPr lang="en-US" sz="2800" dirty="0">
                <a:sym typeface="Wingdings" panose="05000000000000000000" pitchFamily="2" charset="2"/>
              </a:rPr>
              <a:t> &lt;=n 4 &lt;=5True</a:t>
            </a:r>
          </a:p>
          <a:p>
            <a:r>
              <a:rPr lang="en-US" sz="2800" dirty="0">
                <a:sym typeface="Wingdings" panose="05000000000000000000" pitchFamily="2" charset="2"/>
              </a:rPr>
              <a:t>       s=</a:t>
            </a:r>
            <a:r>
              <a:rPr lang="en-US" sz="2800" dirty="0" err="1">
                <a:sym typeface="Wingdings" panose="05000000000000000000" pitchFamily="2" charset="2"/>
              </a:rPr>
              <a:t>s+i</a:t>
            </a:r>
            <a:r>
              <a:rPr lang="en-US" sz="2800" dirty="0">
                <a:sym typeface="Wingdings" panose="05000000000000000000" pitchFamily="2" charset="2"/>
              </a:rPr>
              <a:t>=6 +4=10; </a:t>
            </a:r>
            <a:r>
              <a:rPr lang="en-US" sz="2800" dirty="0" err="1">
                <a:sym typeface="Wingdings" panose="05000000000000000000" pitchFamily="2" charset="2"/>
              </a:rPr>
              <a:t>i</a:t>
            </a:r>
            <a:r>
              <a:rPr lang="en-US" sz="2800" dirty="0">
                <a:sym typeface="Wingdings" panose="05000000000000000000" pitchFamily="2" charset="2"/>
              </a:rPr>
              <a:t>=i+1=4+1=5</a:t>
            </a:r>
          </a:p>
          <a:p>
            <a:r>
              <a:rPr lang="en-US" sz="2800" dirty="0">
                <a:sym typeface="Wingdings" panose="05000000000000000000" pitchFamily="2" charset="2"/>
              </a:rPr>
              <a:t>5)</a:t>
            </a:r>
            <a:r>
              <a:rPr lang="en-US" sz="2800" dirty="0" err="1">
                <a:sym typeface="Wingdings" panose="05000000000000000000" pitchFamily="2" charset="2"/>
              </a:rPr>
              <a:t>i</a:t>
            </a:r>
            <a:r>
              <a:rPr lang="en-US" sz="2800" dirty="0">
                <a:sym typeface="Wingdings" panose="05000000000000000000" pitchFamily="2" charset="2"/>
              </a:rPr>
              <a:t>&lt;=n 5&lt;=5True</a:t>
            </a:r>
          </a:p>
          <a:p>
            <a:r>
              <a:rPr lang="en-US" sz="2800" dirty="0">
                <a:sym typeface="Wingdings" panose="05000000000000000000" pitchFamily="2" charset="2"/>
              </a:rPr>
              <a:t>       s=</a:t>
            </a:r>
            <a:r>
              <a:rPr lang="en-US" sz="2800" dirty="0" err="1">
                <a:sym typeface="Wingdings" panose="05000000000000000000" pitchFamily="2" charset="2"/>
              </a:rPr>
              <a:t>s+i</a:t>
            </a:r>
            <a:r>
              <a:rPr lang="en-US" sz="2800" dirty="0">
                <a:sym typeface="Wingdings" panose="05000000000000000000" pitchFamily="2" charset="2"/>
              </a:rPr>
              <a:t>=10+5=</a:t>
            </a:r>
            <a:r>
              <a:rPr lang="en-US" sz="2800" dirty="0">
                <a:solidFill>
                  <a:srgbClr val="FF0000"/>
                </a:solidFill>
                <a:sym typeface="Wingdings" panose="05000000000000000000" pitchFamily="2" charset="2"/>
              </a:rPr>
              <a:t>15</a:t>
            </a:r>
            <a:r>
              <a:rPr lang="en-US" sz="2800" dirty="0">
                <a:sym typeface="Wingdings" panose="05000000000000000000" pitchFamily="2" charset="2"/>
              </a:rPr>
              <a:t>; </a:t>
            </a:r>
            <a:r>
              <a:rPr lang="en-US" sz="2800" dirty="0" err="1">
                <a:sym typeface="Wingdings" panose="05000000000000000000" pitchFamily="2" charset="2"/>
              </a:rPr>
              <a:t>i</a:t>
            </a:r>
            <a:r>
              <a:rPr lang="en-US" sz="2800" dirty="0">
                <a:sym typeface="Wingdings" panose="05000000000000000000" pitchFamily="2" charset="2"/>
              </a:rPr>
              <a:t>=i+1=5+1=6</a:t>
            </a:r>
          </a:p>
          <a:p>
            <a:r>
              <a:rPr lang="en-US" sz="2800" dirty="0">
                <a:sym typeface="Wingdings" panose="05000000000000000000" pitchFamily="2" charset="2"/>
              </a:rPr>
              <a:t>6) </a:t>
            </a:r>
            <a:r>
              <a:rPr lang="en-US" sz="2800" dirty="0" err="1">
                <a:sym typeface="Wingdings" panose="05000000000000000000" pitchFamily="2" charset="2"/>
              </a:rPr>
              <a:t>i</a:t>
            </a:r>
            <a:r>
              <a:rPr lang="en-US" sz="2800" dirty="0">
                <a:sym typeface="Wingdings" panose="05000000000000000000" pitchFamily="2" charset="2"/>
              </a:rPr>
              <a:t>&lt;=n 6 &lt;=5FalseDừng while</a:t>
            </a:r>
          </a:p>
          <a:p>
            <a:r>
              <a:rPr lang="en-US" sz="2800" dirty="0">
                <a:sym typeface="Wingdings" panose="05000000000000000000" pitchFamily="2" charset="2"/>
              </a:rPr>
              <a:t></a:t>
            </a:r>
            <a:r>
              <a:rPr lang="en-US" sz="2800" dirty="0" err="1">
                <a:sym typeface="Wingdings" panose="05000000000000000000" pitchFamily="2" charset="2"/>
              </a:rPr>
              <a:t>xuất</a:t>
            </a:r>
            <a:r>
              <a:rPr lang="en-US" sz="2800" dirty="0">
                <a:sym typeface="Wingdings" panose="05000000000000000000" pitchFamily="2" charset="2"/>
              </a:rPr>
              <a:t> </a:t>
            </a:r>
            <a:r>
              <a:rPr lang="en-US" sz="2800" dirty="0" err="1">
                <a:sym typeface="Wingdings" panose="05000000000000000000" pitchFamily="2" charset="2"/>
              </a:rPr>
              <a:t>tổng</a:t>
            </a:r>
            <a:r>
              <a:rPr lang="en-US" sz="2800" dirty="0">
                <a:sym typeface="Wingdings" panose="05000000000000000000" pitchFamily="2" charset="2"/>
              </a:rPr>
              <a:t> = 15</a:t>
            </a:r>
            <a:endParaRPr lang="en-US" sz="2800" dirty="0"/>
          </a:p>
        </p:txBody>
      </p:sp>
    </p:spTree>
    <p:extLst>
      <p:ext uri="{BB962C8B-B14F-4D97-AF65-F5344CB8AC3E}">
        <p14:creationId xmlns:p14="http://schemas.microsoft.com/office/powerpoint/2010/main" val="1902559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Vòng</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lặp</a:t>
            </a:r>
            <a:r>
              <a:rPr lang="en-US" sz="4400" kern="0" dirty="0">
                <a:solidFill>
                  <a:srgbClr val="002060"/>
                </a:solidFill>
                <a:latin typeface="Cambria" panose="02040503050406030204" pitchFamily="18" charset="0"/>
              </a:rPr>
              <a:t> for</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0495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dirty="0">
                <a:latin typeface="Cambria" panose="02040503050406030204" pitchFamily="18" charset="0"/>
              </a:rPr>
              <a:t>for</a:t>
            </a:r>
            <a:r>
              <a:rPr lang="en-US" sz="2800" dirty="0">
                <a:latin typeface="Cambria" panose="02040503050406030204" pitchFamily="18" charset="0"/>
              </a:rPr>
              <a:t> </a:t>
            </a:r>
            <a:r>
              <a:rPr lang="en-US" sz="2800" dirty="0" err="1">
                <a:latin typeface="Cambria" panose="02040503050406030204" pitchFamily="18" charset="0"/>
              </a:rPr>
              <a:t>dùng</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lặp</a:t>
            </a:r>
            <a:r>
              <a:rPr lang="en-US" sz="2800" dirty="0">
                <a:latin typeface="Cambria" panose="02040503050406030204" pitchFamily="18" charset="0"/>
              </a:rPr>
              <a:t> </a:t>
            </a:r>
            <a:r>
              <a:rPr lang="en-US" sz="2800" dirty="0" err="1">
                <a:latin typeface="Cambria" panose="02040503050406030204" pitchFamily="18" charset="0"/>
              </a:rPr>
              <a:t>tuần</a:t>
            </a:r>
            <a:r>
              <a:rPr lang="en-US" sz="2800" dirty="0">
                <a:latin typeface="Cambria" panose="02040503050406030204" pitchFamily="18" charset="0"/>
              </a:rPr>
              <a:t> </a:t>
            </a:r>
            <a:r>
              <a:rPr lang="en-US" sz="2800" dirty="0" err="1">
                <a:latin typeface="Cambria" panose="02040503050406030204" pitchFamily="18" charset="0"/>
              </a:rPr>
              <a:t>tự</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công</a:t>
            </a:r>
            <a:r>
              <a:rPr lang="en-US" sz="2800" dirty="0">
                <a:latin typeface="Cambria" panose="02040503050406030204" pitchFamily="18" charset="0"/>
              </a:rPr>
              <a:t> </a:t>
            </a:r>
            <a:r>
              <a:rPr lang="en-US" sz="2800" dirty="0" err="1">
                <a:latin typeface="Cambria" panose="02040503050406030204" pitchFamily="18" charset="0"/>
              </a:rPr>
              <a:t>việc</a:t>
            </a:r>
            <a:r>
              <a:rPr lang="en-US" sz="2800" dirty="0">
                <a:latin typeface="Cambria" panose="02040503050406030204" pitchFamily="18" charset="0"/>
              </a:rPr>
              <a:t>, </a:t>
            </a:r>
            <a:r>
              <a:rPr lang="en-US" sz="2800" b="1" dirty="0">
                <a:latin typeface="Cambria" panose="02040503050406030204" pitchFamily="18" charset="0"/>
              </a:rPr>
              <a:t>for</a:t>
            </a:r>
            <a:r>
              <a:rPr lang="en-US" sz="2800" dirty="0">
                <a:latin typeface="Cambria" panose="02040503050406030204" pitchFamily="18" charset="0"/>
              </a:rPr>
              <a:t> </a:t>
            </a:r>
            <a:r>
              <a:rPr lang="en-US" sz="2800" dirty="0" err="1">
                <a:latin typeface="Cambria" panose="02040503050406030204" pitchFamily="18" charset="0"/>
              </a:rPr>
              <a:t>sử</a:t>
            </a:r>
            <a:r>
              <a:rPr lang="en-US" sz="2800" dirty="0">
                <a:latin typeface="Cambria" panose="02040503050406030204" pitchFamily="18" charset="0"/>
              </a:rPr>
              <a:t> </a:t>
            </a:r>
            <a:r>
              <a:rPr lang="en-US" sz="2800" dirty="0" err="1">
                <a:latin typeface="Cambria" panose="02040503050406030204" pitchFamily="18" charset="0"/>
              </a:rPr>
              <a:t>dụng</a:t>
            </a:r>
            <a:r>
              <a:rPr lang="en-US" sz="2800" dirty="0">
                <a:latin typeface="Cambria" panose="02040503050406030204" pitchFamily="18" charset="0"/>
              </a:rPr>
              <a:t> </a:t>
            </a:r>
            <a:r>
              <a:rPr lang="en-US" sz="2800" b="1" dirty="0">
                <a:latin typeface="Cambria" panose="02040503050406030204" pitchFamily="18" charset="0"/>
              </a:rPr>
              <a:t>range</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định</a:t>
            </a:r>
            <a:r>
              <a:rPr lang="en-US" sz="2800" dirty="0">
                <a:latin typeface="Cambria" panose="02040503050406030204" pitchFamily="18" charset="0"/>
              </a:rPr>
              <a:t> </a:t>
            </a:r>
            <a:r>
              <a:rPr lang="en-US" sz="2800" dirty="0" err="1">
                <a:latin typeface="Cambria" panose="02040503050406030204" pitchFamily="18" charset="0"/>
              </a:rPr>
              <a:t>nghĩa</a:t>
            </a:r>
            <a:r>
              <a:rPr lang="en-US" sz="2800" dirty="0">
                <a:latin typeface="Cambria" panose="02040503050406030204" pitchFamily="18" charset="0"/>
              </a:rPr>
              <a:t> </a:t>
            </a:r>
            <a:r>
              <a:rPr lang="en-US" sz="2800" dirty="0" err="1">
                <a:latin typeface="Cambria" panose="02040503050406030204" pitchFamily="18" charset="0"/>
              </a:rPr>
              <a:t>vùng</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 </a:t>
            </a:r>
            <a:r>
              <a:rPr lang="en-US" sz="2800" dirty="0" err="1">
                <a:latin typeface="Cambria" panose="02040503050406030204" pitchFamily="18" charset="0"/>
              </a:rPr>
              <a:t>lặp</a:t>
            </a:r>
            <a:r>
              <a:rPr lang="en-US" sz="2800" dirty="0">
                <a:latin typeface="Cambria" panose="02040503050406030204" pitchFamily="18" charset="0"/>
              </a:rPr>
              <a:t> </a:t>
            </a:r>
            <a:r>
              <a:rPr lang="en-US" sz="2800" dirty="0" err="1">
                <a:latin typeface="Cambria" panose="02040503050406030204" pitchFamily="18" charset="0"/>
              </a:rPr>
              <a:t>và</a:t>
            </a:r>
            <a:r>
              <a:rPr lang="en-US" sz="2800" dirty="0">
                <a:latin typeface="Cambria" panose="02040503050406030204" pitchFamily="18" charset="0"/>
              </a:rPr>
              <a:t> b</a:t>
            </a:r>
            <a:r>
              <a:rPr lang="vi-VN" sz="2800" dirty="0">
                <a:latin typeface="Cambria" panose="02040503050406030204" pitchFamily="18" charset="0"/>
              </a:rPr>
              <a:t>ư</a:t>
            </a:r>
            <a:r>
              <a:rPr lang="en-US" sz="2800" dirty="0" err="1">
                <a:latin typeface="Cambria" panose="02040503050406030204" pitchFamily="18" charset="0"/>
              </a:rPr>
              <a:t>ớc</a:t>
            </a:r>
            <a:r>
              <a:rPr lang="en-US" sz="2800" dirty="0">
                <a:latin typeface="Cambria" panose="02040503050406030204" pitchFamily="18" charset="0"/>
              </a:rPr>
              <a:t> </a:t>
            </a:r>
            <a:r>
              <a:rPr lang="en-US" sz="2800" dirty="0" err="1">
                <a:latin typeface="Cambria" panose="02040503050406030204" pitchFamily="18" charset="0"/>
              </a:rPr>
              <a:t>lặp</a:t>
            </a:r>
            <a:endParaRPr lang="en-US" sz="2800" dirty="0">
              <a:latin typeface="Cambria" panose="02040503050406030204" pitchFamily="18" charset="0"/>
            </a:endParaRPr>
          </a:p>
          <a:p>
            <a:pPr marL="0" indent="0" algn="just">
              <a:buNone/>
            </a:pPr>
            <a:r>
              <a:rPr lang="en-US" sz="2800" b="1" u="sng" dirty="0" err="1">
                <a:latin typeface="Cambria" panose="02040503050406030204" pitchFamily="18" charset="0"/>
              </a:rPr>
              <a:t>Cú</a:t>
            </a:r>
            <a:r>
              <a:rPr lang="en-US" sz="2800" b="1" u="sng" dirty="0">
                <a:latin typeface="Cambria" panose="02040503050406030204" pitchFamily="18" charset="0"/>
              </a:rPr>
              <a:t> </a:t>
            </a:r>
            <a:r>
              <a:rPr lang="en-US" sz="2800" b="1" u="sng" dirty="0" err="1">
                <a:latin typeface="Cambria" panose="02040503050406030204" pitchFamily="18" charset="0"/>
              </a:rPr>
              <a:t>pháp</a:t>
            </a:r>
            <a:r>
              <a:rPr lang="en-US" sz="2800" b="1" u="sng" dirty="0">
                <a:latin typeface="Cambria" panose="02040503050406030204" pitchFamily="18" charset="0"/>
              </a:rPr>
              <a:t> </a:t>
            </a:r>
            <a:r>
              <a:rPr lang="en-US" sz="2800" b="1" u="sng" dirty="0" err="1">
                <a:latin typeface="Cambria" panose="02040503050406030204" pitchFamily="18" charset="0"/>
              </a:rPr>
              <a:t>hàm</a:t>
            </a:r>
            <a:r>
              <a:rPr lang="en-US" sz="2800" b="1" u="sng" dirty="0">
                <a:latin typeface="Cambria" panose="02040503050406030204" pitchFamily="18" charset="0"/>
              </a:rPr>
              <a:t> range:</a:t>
            </a:r>
          </a:p>
          <a:p>
            <a:pPr marL="0" indent="0" algn="just">
              <a:buNone/>
            </a:pPr>
            <a:r>
              <a:rPr lang="en-US" sz="2800" b="1" dirty="0">
                <a:latin typeface="Cambria" panose="02040503050406030204" pitchFamily="18" charset="0"/>
              </a:rPr>
              <a:t>begin</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r>
              <a:rPr lang="en-US" sz="2800" dirty="0">
                <a:latin typeface="Cambria" panose="02040503050406030204" pitchFamily="18" charset="0"/>
              </a:rPr>
              <a:t> </a:t>
            </a:r>
            <a:r>
              <a:rPr lang="en-US" sz="2800" dirty="0" err="1">
                <a:latin typeface="Cambria" panose="02040503050406030204" pitchFamily="18" charset="0"/>
              </a:rPr>
              <a:t>bắt</a:t>
            </a:r>
            <a:r>
              <a:rPr lang="en-US" sz="2800" dirty="0">
                <a:latin typeface="Cambria" panose="02040503050406030204" pitchFamily="18" charset="0"/>
              </a:rPr>
              <a:t> </a:t>
            </a:r>
            <a:r>
              <a:rPr lang="en-US" sz="2800" dirty="0" err="1">
                <a:latin typeface="Cambria" panose="02040503050406030204" pitchFamily="18" charset="0"/>
              </a:rPr>
              <a:t>đầu</a:t>
            </a:r>
            <a:endParaRPr lang="en-US" sz="2800" dirty="0">
              <a:latin typeface="Cambria" panose="02040503050406030204" pitchFamily="18" charset="0"/>
            </a:endParaRPr>
          </a:p>
          <a:p>
            <a:pPr marL="0" indent="0" algn="just">
              <a:buNone/>
            </a:pPr>
            <a:r>
              <a:rPr lang="en-US" sz="2800" b="1" dirty="0">
                <a:latin typeface="Cambria" panose="02040503050406030204" pitchFamily="18" charset="0"/>
              </a:rPr>
              <a:t>end</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r>
              <a:rPr lang="en-US" sz="2800" dirty="0">
                <a:latin typeface="Cambria" panose="02040503050406030204" pitchFamily="18" charset="0"/>
              </a:rPr>
              <a:t> </a:t>
            </a:r>
            <a:r>
              <a:rPr lang="en-US" sz="2800" dirty="0" err="1">
                <a:latin typeface="Cambria" panose="02040503050406030204" pitchFamily="18" charset="0"/>
              </a:rPr>
              <a:t>cuối</a:t>
            </a:r>
            <a:endParaRPr lang="en-US" sz="2800" dirty="0">
              <a:latin typeface="Cambria" panose="02040503050406030204" pitchFamily="18" charset="0"/>
            </a:endParaRPr>
          </a:p>
          <a:p>
            <a:pPr marL="0" indent="0" algn="just">
              <a:buNone/>
            </a:pPr>
            <a:r>
              <a:rPr lang="en-US" sz="2800" b="1" dirty="0">
                <a:latin typeface="Cambria" panose="02040503050406030204" pitchFamily="18" charset="0"/>
              </a:rPr>
              <a:t>step</a:t>
            </a:r>
            <a:r>
              <a:rPr lang="en-US" sz="2800" dirty="0">
                <a:latin typeface="Cambria" panose="02040503050406030204" pitchFamily="18" charset="0"/>
              </a:rPr>
              <a:t>: B</a:t>
            </a:r>
            <a:r>
              <a:rPr lang="vi-VN" sz="2800" dirty="0">
                <a:latin typeface="Cambria" panose="02040503050406030204" pitchFamily="18" charset="0"/>
              </a:rPr>
              <a:t>ư</a:t>
            </a:r>
            <a:r>
              <a:rPr lang="en-US" sz="2800" dirty="0" err="1">
                <a:latin typeface="Cambria" panose="02040503050406030204" pitchFamily="18" charset="0"/>
              </a:rPr>
              <a:t>ớc</a:t>
            </a:r>
            <a:r>
              <a:rPr lang="en-US" sz="2800" dirty="0">
                <a:latin typeface="Cambria" panose="02040503050406030204" pitchFamily="18" charset="0"/>
              </a:rPr>
              <a:t> </a:t>
            </a:r>
            <a:r>
              <a:rPr lang="en-US" sz="2800" dirty="0" err="1">
                <a:latin typeface="Cambria" panose="02040503050406030204" pitchFamily="18" charset="0"/>
              </a:rPr>
              <a:t>nhảy</a:t>
            </a: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p:txBody>
      </p:sp>
      <p:pic>
        <p:nvPicPr>
          <p:cNvPr id="9" name="Picture 8">
            <a:extLst>
              <a:ext uri="{FF2B5EF4-FFF2-40B4-BE49-F238E27FC236}">
                <a16:creationId xmlns:a16="http://schemas.microsoft.com/office/drawing/2014/main" id="{21E06BB3-774D-45BA-BA5A-0B8F47A9FCCB}"/>
              </a:ext>
            </a:extLst>
          </p:cNvPr>
          <p:cNvPicPr>
            <a:picLocks noChangeAspect="1"/>
          </p:cNvPicPr>
          <p:nvPr/>
        </p:nvPicPr>
        <p:blipFill>
          <a:blip r:embed="rId3"/>
          <a:stretch>
            <a:fillRect/>
          </a:stretch>
        </p:blipFill>
        <p:spPr>
          <a:xfrm>
            <a:off x="4406232" y="2133600"/>
            <a:ext cx="4940968" cy="609600"/>
          </a:xfrm>
          <a:prstGeom prst="rect">
            <a:avLst/>
          </a:prstGeom>
        </p:spPr>
      </p:pic>
      <p:sp>
        <p:nvSpPr>
          <p:cNvPr id="11" name="Rectangle 10">
            <a:extLst>
              <a:ext uri="{FF2B5EF4-FFF2-40B4-BE49-F238E27FC236}">
                <a16:creationId xmlns:a16="http://schemas.microsoft.com/office/drawing/2014/main" id="{D3311DFF-4D8C-4E6A-B346-E3E30F05BBD8}"/>
              </a:ext>
            </a:extLst>
          </p:cNvPr>
          <p:cNvSpPr/>
          <p:nvPr/>
        </p:nvSpPr>
        <p:spPr>
          <a:xfrm>
            <a:off x="5029200" y="2915893"/>
            <a:ext cx="6096000" cy="2677656"/>
          </a:xfrm>
          <a:prstGeom prst="rect">
            <a:avLst/>
          </a:prstGeom>
        </p:spPr>
        <p:txBody>
          <a:bodyPr>
            <a:spAutoFit/>
          </a:bodyPr>
          <a:lstStyle/>
          <a:p>
            <a:r>
              <a:rPr lang="en-US" sz="2400">
                <a:latin typeface="Cambria" panose="02040503050406030204" pitchFamily="18" charset="0"/>
              </a:rPr>
              <a:t>Ví dụ cách hoạt động của range:</a:t>
            </a:r>
          </a:p>
          <a:p>
            <a:r>
              <a:rPr lang="en-US" sz="2400">
                <a:latin typeface="Cambria" panose="02040503050406030204" pitchFamily="18" charset="0"/>
              </a:rPr>
              <a:t>• range(10)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0; 1; 2; 3; 4; 5; 6; 7; 8; 9</a:t>
            </a:r>
          </a:p>
          <a:p>
            <a:r>
              <a:rPr lang="en-US" sz="2400">
                <a:latin typeface="Cambria" panose="02040503050406030204" pitchFamily="18" charset="0"/>
              </a:rPr>
              <a:t>• range(1, 10)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1; 2; 3; 4; 5; 6; 7; 8; 9</a:t>
            </a:r>
          </a:p>
          <a:p>
            <a:r>
              <a:rPr lang="en-US" sz="2400">
                <a:latin typeface="Cambria" panose="02040503050406030204" pitchFamily="18" charset="0"/>
              </a:rPr>
              <a:t>• range(1, 10, 2)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1; 3; 5; 7; 9</a:t>
            </a:r>
          </a:p>
          <a:p>
            <a:r>
              <a:rPr lang="en-US" sz="2400">
                <a:latin typeface="Cambria" panose="02040503050406030204" pitchFamily="18" charset="0"/>
              </a:rPr>
              <a:t>• range(10, 0, -1)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10; 9; 8; 7; 6; 5; 4; 3; 2; 1</a:t>
            </a:r>
          </a:p>
          <a:p>
            <a:r>
              <a:rPr lang="en-US" sz="2400">
                <a:latin typeface="Cambria" panose="02040503050406030204" pitchFamily="18" charset="0"/>
              </a:rPr>
              <a:t>• range(10, 0, -2)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10; 8; 6; 4; 2</a:t>
            </a:r>
          </a:p>
          <a:p>
            <a:r>
              <a:rPr lang="en-US" sz="2400">
                <a:latin typeface="Cambria" panose="02040503050406030204" pitchFamily="18" charset="0"/>
              </a:rPr>
              <a:t>• range(2, 11, 2) </a:t>
            </a:r>
            <a:r>
              <a:rPr lang="en-US" sz="2400">
                <a:latin typeface="Cambria" panose="02040503050406030204" pitchFamily="18" charset="0"/>
                <a:sym typeface="Wingdings" panose="05000000000000000000" pitchFamily="2" charset="2"/>
              </a:rPr>
              <a:t></a:t>
            </a:r>
            <a:r>
              <a:rPr lang="en-US" sz="2400">
                <a:latin typeface="Cambria" panose="02040503050406030204" pitchFamily="18" charset="0"/>
              </a:rPr>
              <a:t> 2; 4; 6; 8; 10</a:t>
            </a:r>
          </a:p>
        </p:txBody>
      </p:sp>
    </p:spTree>
    <p:extLst>
      <p:ext uri="{BB962C8B-B14F-4D97-AF65-F5344CB8AC3E}">
        <p14:creationId xmlns:p14="http://schemas.microsoft.com/office/powerpoint/2010/main" val="671018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Các</a:t>
            </a:r>
            <a:r>
              <a:rPr lang="en-US" sz="4000" b="1" u="sng" dirty="0">
                <a:latin typeface="Cambria" panose="02040503050406030204" pitchFamily="18" charset="0"/>
              </a:rPr>
              <a:t> </a:t>
            </a: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 </a:t>
            </a:r>
            <a:r>
              <a:rPr lang="en-US" sz="4000" b="1" u="sng" dirty="0" err="1">
                <a:latin typeface="Cambria" panose="02040503050406030204" pitchFamily="18" charset="0"/>
              </a:rPr>
              <a:t>về</a:t>
            </a:r>
            <a:r>
              <a:rPr lang="en-US" sz="4000" b="1" u="sng" dirty="0">
                <a:latin typeface="Cambria" panose="02040503050406030204" pitchFamily="18" charset="0"/>
              </a:rPr>
              <a:t> for:</a:t>
            </a:r>
            <a:endParaRPr lang="en-US" sz="4000" dirty="0">
              <a:latin typeface="Cambria" panose="02040503050406030204" pitchFamily="18" charset="0"/>
            </a:endParaRPr>
          </a:p>
        </p:txBody>
      </p:sp>
      <p:sp>
        <p:nvSpPr>
          <p:cNvPr id="11" name="Rectangle 2">
            <a:extLst>
              <a:ext uri="{FF2B5EF4-FFF2-40B4-BE49-F238E27FC236}">
                <a16:creationId xmlns:a16="http://schemas.microsoft.com/office/drawing/2014/main" id="{6E8C68DF-3625-4905-9564-2A9FE4875ACD}"/>
              </a:ext>
            </a:extLst>
          </p:cNvPr>
          <p:cNvSpPr>
            <a:spLocks noChangeArrowheads="1"/>
          </p:cNvSpPr>
          <p:nvPr/>
        </p:nvSpPr>
        <p:spPr bwMode="auto">
          <a:xfrm>
            <a:off x="752169" y="1790346"/>
            <a:ext cx="4734232"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4458A88B-512A-4EE3-AFB6-9223A1D46919}"/>
              </a:ext>
            </a:extLst>
          </p:cNvPr>
          <p:cNvSpPr/>
          <p:nvPr/>
        </p:nvSpPr>
        <p:spPr>
          <a:xfrm>
            <a:off x="5529415" y="1767871"/>
            <a:ext cx="2829621" cy="523220"/>
          </a:xfrm>
          <a:prstGeom prst="rect">
            <a:avLst/>
          </a:prstGeom>
        </p:spPr>
        <p:txBody>
          <a:bodyPr wrap="none">
            <a:spAutoFit/>
          </a:bodyPr>
          <a:lstStyle/>
          <a:p>
            <a:r>
              <a:rPr lang="en-US" sz="2800"/>
              <a:t>0 1 2 3 4 5 6 7 8 9 </a:t>
            </a:r>
          </a:p>
        </p:txBody>
      </p:sp>
      <p:cxnSp>
        <p:nvCxnSpPr>
          <p:cNvPr id="18" name="Straight Arrow Connector 17">
            <a:extLst>
              <a:ext uri="{FF2B5EF4-FFF2-40B4-BE49-F238E27FC236}">
                <a16:creationId xmlns:a16="http://schemas.microsoft.com/office/drawing/2014/main" id="{FACCE968-D8A7-4BF2-9AC2-39A5CF2B6EEB}"/>
              </a:ext>
            </a:extLst>
          </p:cNvPr>
          <p:cNvCxnSpPr/>
          <p:nvPr/>
        </p:nvCxnSpPr>
        <p:spPr>
          <a:xfrm>
            <a:off x="4353231" y="20574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1C98BD5-D9B9-4828-82D2-63B44D1DCE4A}"/>
              </a:ext>
            </a:extLst>
          </p:cNvPr>
          <p:cNvCxnSpPr/>
          <p:nvPr/>
        </p:nvCxnSpPr>
        <p:spPr>
          <a:xfrm>
            <a:off x="4803805" y="28194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87A3DBC-A3DF-423C-99E5-2605AFA1422C}"/>
              </a:ext>
            </a:extLst>
          </p:cNvPr>
          <p:cNvCxnSpPr/>
          <p:nvPr/>
        </p:nvCxnSpPr>
        <p:spPr>
          <a:xfrm>
            <a:off x="5108605" y="35052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CDB6F9-C354-43E0-A33F-2B2FF6AA14DC}"/>
              </a:ext>
            </a:extLst>
          </p:cNvPr>
          <p:cNvCxnSpPr/>
          <p:nvPr/>
        </p:nvCxnSpPr>
        <p:spPr>
          <a:xfrm>
            <a:off x="5208051" y="42672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3C31CDD-9516-4E15-857A-75FB043BBE9B}"/>
              </a:ext>
            </a:extLst>
          </p:cNvPr>
          <p:cNvCxnSpPr/>
          <p:nvPr/>
        </p:nvCxnSpPr>
        <p:spPr>
          <a:xfrm>
            <a:off x="5287563" y="50292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1B9A2A3-0DAD-4915-8756-E39C8609D2C6}"/>
              </a:ext>
            </a:extLst>
          </p:cNvPr>
          <p:cNvCxnSpPr/>
          <p:nvPr/>
        </p:nvCxnSpPr>
        <p:spPr>
          <a:xfrm>
            <a:off x="5231484" y="5715000"/>
            <a:ext cx="1133170"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81800CE-41A1-41A0-A886-B311457267EF}"/>
              </a:ext>
            </a:extLst>
          </p:cNvPr>
          <p:cNvSpPr/>
          <p:nvPr/>
        </p:nvSpPr>
        <p:spPr>
          <a:xfrm>
            <a:off x="5946914" y="2527325"/>
            <a:ext cx="2483372" cy="523220"/>
          </a:xfrm>
          <a:prstGeom prst="rect">
            <a:avLst/>
          </a:prstGeom>
        </p:spPr>
        <p:txBody>
          <a:bodyPr wrap="none">
            <a:spAutoFit/>
          </a:bodyPr>
          <a:lstStyle/>
          <a:p>
            <a:r>
              <a:rPr lang="en-US" sz="2800"/>
              <a:t>1 2 3 4 5 6 7 8 9</a:t>
            </a:r>
          </a:p>
        </p:txBody>
      </p:sp>
      <p:sp>
        <p:nvSpPr>
          <p:cNvPr id="25" name="Rectangle 24">
            <a:extLst>
              <a:ext uri="{FF2B5EF4-FFF2-40B4-BE49-F238E27FC236}">
                <a16:creationId xmlns:a16="http://schemas.microsoft.com/office/drawing/2014/main" id="{256E8FD0-7759-4EDE-BDD5-2E1CC4CB5326}"/>
              </a:ext>
            </a:extLst>
          </p:cNvPr>
          <p:cNvSpPr/>
          <p:nvPr/>
        </p:nvSpPr>
        <p:spPr>
          <a:xfrm>
            <a:off x="6249618" y="3216748"/>
            <a:ext cx="1507144" cy="523220"/>
          </a:xfrm>
          <a:prstGeom prst="rect">
            <a:avLst/>
          </a:prstGeom>
        </p:spPr>
        <p:txBody>
          <a:bodyPr wrap="none">
            <a:spAutoFit/>
          </a:bodyPr>
          <a:lstStyle/>
          <a:p>
            <a:r>
              <a:rPr lang="en-US" sz="2800"/>
              <a:t>1 3 5 7 9 </a:t>
            </a:r>
          </a:p>
        </p:txBody>
      </p:sp>
      <p:sp>
        <p:nvSpPr>
          <p:cNvPr id="26" name="Rectangle 25">
            <a:extLst>
              <a:ext uri="{FF2B5EF4-FFF2-40B4-BE49-F238E27FC236}">
                <a16:creationId xmlns:a16="http://schemas.microsoft.com/office/drawing/2014/main" id="{78652ABA-D3A6-428C-A77C-D5714E7EA8C4}"/>
              </a:ext>
            </a:extLst>
          </p:cNvPr>
          <p:cNvSpPr/>
          <p:nvPr/>
        </p:nvSpPr>
        <p:spPr>
          <a:xfrm>
            <a:off x="6364654" y="3990371"/>
            <a:ext cx="3012363" cy="523220"/>
          </a:xfrm>
          <a:prstGeom prst="rect">
            <a:avLst/>
          </a:prstGeom>
        </p:spPr>
        <p:txBody>
          <a:bodyPr wrap="none">
            <a:spAutoFit/>
          </a:bodyPr>
          <a:lstStyle/>
          <a:p>
            <a:r>
              <a:rPr lang="en-US" sz="2800"/>
              <a:t>10 9 8 7 6 5 4 3 2 1 </a:t>
            </a:r>
          </a:p>
        </p:txBody>
      </p:sp>
      <p:sp>
        <p:nvSpPr>
          <p:cNvPr id="27" name="Rectangle 26">
            <a:extLst>
              <a:ext uri="{FF2B5EF4-FFF2-40B4-BE49-F238E27FC236}">
                <a16:creationId xmlns:a16="http://schemas.microsoft.com/office/drawing/2014/main" id="{3E3D5003-4859-422E-A023-83EB4634BD31}"/>
              </a:ext>
            </a:extLst>
          </p:cNvPr>
          <p:cNvSpPr/>
          <p:nvPr/>
        </p:nvSpPr>
        <p:spPr>
          <a:xfrm>
            <a:off x="6420733" y="4763994"/>
            <a:ext cx="1689886" cy="523220"/>
          </a:xfrm>
          <a:prstGeom prst="rect">
            <a:avLst/>
          </a:prstGeom>
        </p:spPr>
        <p:txBody>
          <a:bodyPr wrap="none">
            <a:spAutoFit/>
          </a:bodyPr>
          <a:lstStyle/>
          <a:p>
            <a:r>
              <a:rPr lang="en-US" sz="2800"/>
              <a:t>10 8 6 4 2 </a:t>
            </a:r>
          </a:p>
        </p:txBody>
      </p:sp>
      <p:sp>
        <p:nvSpPr>
          <p:cNvPr id="28" name="Rectangle 27">
            <a:extLst>
              <a:ext uri="{FF2B5EF4-FFF2-40B4-BE49-F238E27FC236}">
                <a16:creationId xmlns:a16="http://schemas.microsoft.com/office/drawing/2014/main" id="{52ACDA12-253C-4406-A194-289302735373}"/>
              </a:ext>
            </a:extLst>
          </p:cNvPr>
          <p:cNvSpPr/>
          <p:nvPr/>
        </p:nvSpPr>
        <p:spPr>
          <a:xfrm>
            <a:off x="6427415" y="5466670"/>
            <a:ext cx="1608133" cy="523220"/>
          </a:xfrm>
          <a:prstGeom prst="rect">
            <a:avLst/>
          </a:prstGeom>
        </p:spPr>
        <p:txBody>
          <a:bodyPr wrap="none">
            <a:spAutoFit/>
          </a:bodyPr>
          <a:lstStyle/>
          <a:p>
            <a:r>
              <a:rPr lang="en-US" sz="2800"/>
              <a:t>2 4 6 8 10</a:t>
            </a:r>
          </a:p>
        </p:txBody>
      </p:sp>
    </p:spTree>
    <p:extLst>
      <p:ext uri="{BB962C8B-B14F-4D97-AF65-F5344CB8AC3E}">
        <p14:creationId xmlns:p14="http://schemas.microsoft.com/office/powerpoint/2010/main" val="36196293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C7EB63-6C98-44B1-907F-312C13B353CF}"/>
              </a:ext>
            </a:extLst>
          </p:cNvPr>
          <p:cNvSpPr>
            <a:spLocks noGrp="1"/>
          </p:cNvSpPr>
          <p:nvPr>
            <p:ph type="sldNum" sz="quarter" idx="12"/>
          </p:nvPr>
        </p:nvSpPr>
        <p:spPr/>
        <p:txBody>
          <a:bodyPr/>
          <a:lstStyle/>
          <a:p>
            <a:r>
              <a:rPr lang="en-US"/>
              <a:t>Trang </a:t>
            </a:r>
            <a:fld id="{99166BD8-DA3C-4BE0-9C00-AA0485D1F6DE}" type="slidenum">
              <a:rPr lang="en-US" smtClean="0"/>
              <a:pPr/>
              <a:t>65</a:t>
            </a:fld>
            <a:endParaRPr lang="en-US"/>
          </a:p>
        </p:txBody>
      </p:sp>
      <p:pic>
        <p:nvPicPr>
          <p:cNvPr id="3" name="Picture 2">
            <a:extLst>
              <a:ext uri="{FF2B5EF4-FFF2-40B4-BE49-F238E27FC236}">
                <a16:creationId xmlns:a16="http://schemas.microsoft.com/office/drawing/2014/main" id="{790B6110-A216-4F2D-AE87-FA9770F9CF5F}"/>
              </a:ext>
            </a:extLst>
          </p:cNvPr>
          <p:cNvPicPr>
            <a:picLocks noChangeAspect="1"/>
          </p:cNvPicPr>
          <p:nvPr/>
        </p:nvPicPr>
        <p:blipFill>
          <a:blip r:embed="rId2"/>
          <a:stretch>
            <a:fillRect/>
          </a:stretch>
        </p:blipFill>
        <p:spPr>
          <a:xfrm>
            <a:off x="304800" y="1925181"/>
            <a:ext cx="5685230" cy="3038475"/>
          </a:xfrm>
          <a:prstGeom prst="rect">
            <a:avLst/>
          </a:prstGeom>
        </p:spPr>
      </p:pic>
      <p:sp>
        <p:nvSpPr>
          <p:cNvPr id="4" name="TextBox 3">
            <a:extLst>
              <a:ext uri="{FF2B5EF4-FFF2-40B4-BE49-F238E27FC236}">
                <a16:creationId xmlns:a16="http://schemas.microsoft.com/office/drawing/2014/main" id="{CD116443-6F3F-48A7-9AA0-7722EBDB1D59}"/>
              </a:ext>
            </a:extLst>
          </p:cNvPr>
          <p:cNvSpPr txBox="1"/>
          <p:nvPr/>
        </p:nvSpPr>
        <p:spPr>
          <a:xfrm>
            <a:off x="6629400" y="1855113"/>
            <a:ext cx="5109091" cy="3108543"/>
          </a:xfrm>
          <a:prstGeom prst="rect">
            <a:avLst/>
          </a:prstGeom>
          <a:noFill/>
        </p:spPr>
        <p:txBody>
          <a:bodyPr wrap="none" rtlCol="0">
            <a:spAutoFit/>
          </a:bodyPr>
          <a:lstStyle/>
          <a:p>
            <a:r>
              <a:rPr lang="en-US" sz="2800" dirty="0"/>
              <a:t>N=8, s=0</a:t>
            </a:r>
          </a:p>
          <a:p>
            <a:r>
              <a:rPr lang="en-US" sz="2800" dirty="0"/>
              <a:t>N=8 </a:t>
            </a:r>
            <a:r>
              <a:rPr lang="en-US" sz="2800" dirty="0" err="1"/>
              <a:t>là</a:t>
            </a:r>
            <a:r>
              <a:rPr lang="en-US" sz="2800" dirty="0"/>
              <a:t> </a:t>
            </a:r>
            <a:r>
              <a:rPr lang="en-US" sz="2800" dirty="0" err="1"/>
              <a:t>số</a:t>
            </a:r>
            <a:r>
              <a:rPr lang="en-US" sz="2800" dirty="0"/>
              <a:t> </a:t>
            </a:r>
            <a:r>
              <a:rPr lang="en-US" sz="2800" dirty="0" err="1"/>
              <a:t>chẵn</a:t>
            </a:r>
            <a:r>
              <a:rPr lang="en-US" sz="2800" dirty="0"/>
              <a:t> n%2==0=</a:t>
            </a:r>
            <a:r>
              <a:rPr lang="en-US" sz="2800" dirty="0">
                <a:sym typeface="Wingdings" panose="05000000000000000000" pitchFamily="2" charset="2"/>
              </a:rPr>
              <a:t>8%2=0</a:t>
            </a:r>
          </a:p>
          <a:p>
            <a:pPr marL="457200" indent="-457200">
              <a:buAutoNum type="arabicParenR"/>
            </a:pPr>
            <a:r>
              <a:rPr lang="en-US" sz="2800" dirty="0">
                <a:sym typeface="Wingdings" panose="05000000000000000000" pitchFamily="2" charset="2"/>
              </a:rPr>
              <a:t>x=2s=</a:t>
            </a:r>
            <a:r>
              <a:rPr lang="en-US" sz="2800" dirty="0" err="1">
                <a:sym typeface="Wingdings" panose="05000000000000000000" pitchFamily="2" charset="2"/>
              </a:rPr>
              <a:t>s+x</a:t>
            </a:r>
            <a:r>
              <a:rPr lang="en-US" sz="2800" dirty="0">
                <a:sym typeface="Wingdings" panose="05000000000000000000" pitchFamily="2" charset="2"/>
              </a:rPr>
              <a:t>=0+2=2</a:t>
            </a:r>
          </a:p>
          <a:p>
            <a:pPr marL="457200" indent="-457200">
              <a:buAutoNum type="arabicParenR"/>
            </a:pPr>
            <a:r>
              <a:rPr lang="en-US" sz="2800" dirty="0"/>
              <a:t>x=4</a:t>
            </a:r>
            <a:r>
              <a:rPr lang="en-US" sz="2800" dirty="0">
                <a:sym typeface="Wingdings" panose="05000000000000000000" pitchFamily="2" charset="2"/>
              </a:rPr>
              <a:t>s=</a:t>
            </a:r>
            <a:r>
              <a:rPr lang="en-US" sz="2800" dirty="0" err="1">
                <a:sym typeface="Wingdings" panose="05000000000000000000" pitchFamily="2" charset="2"/>
              </a:rPr>
              <a:t>s+x</a:t>
            </a:r>
            <a:r>
              <a:rPr lang="en-US" sz="2800" dirty="0">
                <a:sym typeface="Wingdings" panose="05000000000000000000" pitchFamily="2" charset="2"/>
              </a:rPr>
              <a:t>=2+4=6</a:t>
            </a:r>
          </a:p>
          <a:p>
            <a:pPr marL="457200" indent="-457200">
              <a:buAutoNum type="arabicParenR"/>
            </a:pPr>
            <a:r>
              <a:rPr lang="en-US" sz="2800" dirty="0"/>
              <a:t>X=6</a:t>
            </a:r>
            <a:r>
              <a:rPr lang="en-US" sz="2800" dirty="0">
                <a:sym typeface="Wingdings" panose="05000000000000000000" pitchFamily="2" charset="2"/>
              </a:rPr>
              <a:t>s=</a:t>
            </a:r>
            <a:r>
              <a:rPr lang="en-US" sz="2800" dirty="0" err="1">
                <a:sym typeface="Wingdings" panose="05000000000000000000" pitchFamily="2" charset="2"/>
              </a:rPr>
              <a:t>s+x</a:t>
            </a:r>
            <a:r>
              <a:rPr lang="en-US" sz="2800" dirty="0">
                <a:sym typeface="Wingdings" panose="05000000000000000000" pitchFamily="2" charset="2"/>
              </a:rPr>
              <a:t>=6+6=12</a:t>
            </a:r>
          </a:p>
          <a:p>
            <a:pPr marL="457200" indent="-457200">
              <a:buAutoNum type="arabicParenR"/>
            </a:pPr>
            <a:r>
              <a:rPr lang="en-US" sz="2800" dirty="0">
                <a:sym typeface="Wingdings" panose="05000000000000000000" pitchFamily="2" charset="2"/>
              </a:rPr>
              <a:t>X=8s=</a:t>
            </a:r>
            <a:r>
              <a:rPr lang="en-US" sz="2800" dirty="0" err="1">
                <a:sym typeface="Wingdings" panose="05000000000000000000" pitchFamily="2" charset="2"/>
              </a:rPr>
              <a:t>s+x</a:t>
            </a:r>
            <a:r>
              <a:rPr lang="en-US" sz="2800" dirty="0">
                <a:sym typeface="Wingdings" panose="05000000000000000000" pitchFamily="2" charset="2"/>
              </a:rPr>
              <a:t>=12+8=20</a:t>
            </a:r>
          </a:p>
          <a:p>
            <a:pPr marL="457200" indent="-457200">
              <a:buAutoNum type="arabicParenR"/>
            </a:pPr>
            <a:r>
              <a:rPr lang="en-US" sz="2800" dirty="0">
                <a:sym typeface="Wingdings" panose="05000000000000000000" pitchFamily="2" charset="2"/>
              </a:rPr>
              <a:t>X=10thấy 10&gt;n+1=9</a:t>
            </a:r>
            <a:endParaRPr lang="en-US" sz="2800" dirty="0"/>
          </a:p>
        </p:txBody>
      </p:sp>
    </p:spTree>
    <p:extLst>
      <p:ext uri="{BB962C8B-B14F-4D97-AF65-F5344CB8AC3E}">
        <p14:creationId xmlns:p14="http://schemas.microsoft.com/office/powerpoint/2010/main" val="4165889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Câu</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lệnh</a:t>
            </a:r>
            <a:r>
              <a:rPr lang="en-US" sz="4400" kern="0" dirty="0">
                <a:solidFill>
                  <a:srgbClr val="002060"/>
                </a:solidFill>
                <a:latin typeface="Cambria" panose="02040503050406030204" pitchFamily="18" charset="0"/>
              </a:rPr>
              <a:t> break</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66</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651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a:solidFill>
                  <a:srgbClr val="FF0000"/>
                </a:solidFill>
                <a:latin typeface="Cambria" panose="02040503050406030204" pitchFamily="18" charset="0"/>
              </a:rPr>
              <a:t>break</a:t>
            </a:r>
            <a:r>
              <a:rPr lang="en-US" sz="4000" dirty="0">
                <a:latin typeface="Cambria" panose="02040503050406030204" pitchFamily="18" charset="0"/>
              </a:rPr>
              <a:t> </a:t>
            </a:r>
            <a:r>
              <a:rPr lang="en-US" sz="4000" dirty="0" err="1">
                <a:latin typeface="Cambria" panose="02040503050406030204" pitchFamily="18" charset="0"/>
              </a:rPr>
              <a:t>là</a:t>
            </a:r>
            <a:r>
              <a:rPr lang="en-US" sz="4000" dirty="0">
                <a:latin typeface="Cambria" panose="02040503050406030204" pitchFamily="18" charset="0"/>
              </a:rPr>
              <a:t> </a:t>
            </a:r>
            <a:r>
              <a:rPr lang="en-US" sz="4000" dirty="0" err="1">
                <a:latin typeface="Cambria" panose="02040503050406030204" pitchFamily="18" charset="0"/>
              </a:rPr>
              <a:t>từ</a:t>
            </a:r>
            <a:r>
              <a:rPr lang="en-US" sz="4000" dirty="0">
                <a:latin typeface="Cambria" panose="02040503050406030204" pitchFamily="18" charset="0"/>
              </a:rPr>
              <a:t> </a:t>
            </a:r>
            <a:r>
              <a:rPr lang="en-US" sz="4000" dirty="0" err="1">
                <a:latin typeface="Cambria" panose="02040503050406030204" pitchFamily="18" charset="0"/>
              </a:rPr>
              <a:t>khóa</a:t>
            </a:r>
            <a:r>
              <a:rPr lang="en-US" sz="4000" dirty="0">
                <a:latin typeface="Cambria" panose="02040503050406030204" pitchFamily="18" charset="0"/>
              </a:rPr>
              <a:t> </a:t>
            </a:r>
            <a:r>
              <a:rPr lang="en-US" sz="4000" dirty="0" err="1">
                <a:latin typeface="Cambria" panose="02040503050406030204" pitchFamily="18" charset="0"/>
              </a:rPr>
              <a:t>đặc</a:t>
            </a:r>
            <a:r>
              <a:rPr lang="en-US" sz="4000" dirty="0">
                <a:latin typeface="Cambria" panose="02040503050406030204" pitchFamily="18" charset="0"/>
              </a:rPr>
              <a:t> </a:t>
            </a:r>
            <a:r>
              <a:rPr lang="en-US" sz="4000" dirty="0" err="1">
                <a:latin typeface="Cambria" panose="02040503050406030204" pitchFamily="18" charset="0"/>
              </a:rPr>
              <a:t>biệt</a:t>
            </a:r>
            <a:r>
              <a:rPr lang="en-US" sz="4000" dirty="0">
                <a:latin typeface="Cambria" panose="02040503050406030204" pitchFamily="18" charset="0"/>
              </a:rPr>
              <a:t> </a:t>
            </a:r>
            <a:r>
              <a:rPr lang="en-US" sz="4000" dirty="0" err="1">
                <a:latin typeface="Cambria" panose="02040503050406030204" pitchFamily="18" charset="0"/>
              </a:rPr>
              <a:t>dùng</a:t>
            </a:r>
            <a:r>
              <a:rPr lang="en-US" sz="4000" dirty="0">
                <a:latin typeface="Cambria" panose="02040503050406030204" pitchFamily="18" charset="0"/>
              </a:rPr>
              <a:t> </a:t>
            </a:r>
            <a:r>
              <a:rPr lang="en-US" sz="4000" dirty="0" err="1">
                <a:latin typeface="Cambria" panose="02040503050406030204" pitchFamily="18" charset="0"/>
              </a:rPr>
              <a:t>để</a:t>
            </a:r>
            <a:r>
              <a:rPr lang="en-US" sz="4000" dirty="0">
                <a:latin typeface="Cambria" panose="02040503050406030204" pitchFamily="18" charset="0"/>
              </a:rPr>
              <a:t> </a:t>
            </a:r>
            <a:r>
              <a:rPr lang="en-US" sz="4000" dirty="0" err="1">
                <a:latin typeface="Cambria" panose="02040503050406030204" pitchFamily="18" charset="0"/>
              </a:rPr>
              <a:t>thoát</a:t>
            </a:r>
            <a:r>
              <a:rPr lang="en-US" sz="4000" dirty="0">
                <a:latin typeface="Cambria" panose="02040503050406030204" pitchFamily="18" charset="0"/>
              </a:rPr>
              <a:t> </a:t>
            </a:r>
            <a:r>
              <a:rPr lang="en-US" sz="4000" dirty="0" err="1">
                <a:latin typeface="Cambria" panose="02040503050406030204" pitchFamily="18" charset="0"/>
              </a:rPr>
              <a:t>khỏi</a:t>
            </a:r>
            <a:r>
              <a:rPr lang="en-US" sz="4000" dirty="0">
                <a:latin typeface="Cambria" panose="02040503050406030204" pitchFamily="18" charset="0"/>
              </a:rPr>
              <a:t> </a:t>
            </a:r>
            <a:r>
              <a:rPr lang="en-US" sz="4000" dirty="0" err="1">
                <a:latin typeface="Cambria" panose="02040503050406030204" pitchFamily="18" charset="0"/>
              </a:rPr>
              <a:t>vòng</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chứa</a:t>
            </a:r>
            <a:r>
              <a:rPr lang="en-US" sz="4000" dirty="0">
                <a:latin typeface="Cambria" panose="02040503050406030204" pitchFamily="18" charset="0"/>
              </a:rPr>
              <a:t> </a:t>
            </a:r>
            <a:r>
              <a:rPr lang="en-US" sz="4000" dirty="0" err="1">
                <a:latin typeface="Cambria" panose="02040503050406030204" pitchFamily="18" charset="0"/>
              </a:rPr>
              <a:t>nó</a:t>
            </a:r>
            <a:r>
              <a:rPr lang="en-US" sz="4000" dirty="0">
                <a:latin typeface="Cambria" panose="02040503050406030204" pitchFamily="18" charset="0"/>
              </a:rPr>
              <a:t> </a:t>
            </a:r>
            <a:r>
              <a:rPr lang="en-US" sz="4000" dirty="0" err="1">
                <a:latin typeface="Cambria" panose="02040503050406030204" pitchFamily="18" charset="0"/>
              </a:rPr>
              <a:t>trực</a:t>
            </a:r>
            <a:r>
              <a:rPr lang="en-US" sz="4000" dirty="0">
                <a:latin typeface="Cambria" panose="02040503050406030204" pitchFamily="18" charset="0"/>
              </a:rPr>
              <a:t> </a:t>
            </a:r>
            <a:r>
              <a:rPr lang="en-US" sz="4000" dirty="0" err="1">
                <a:latin typeface="Cambria" panose="02040503050406030204" pitchFamily="18" charset="0"/>
              </a:rPr>
              <a:t>tiếp</a:t>
            </a:r>
            <a:r>
              <a:rPr lang="en-US" sz="4000" dirty="0">
                <a:latin typeface="Cambria" panose="02040503050406030204" pitchFamily="18" charset="0"/>
              </a:rPr>
              <a:t> </a:t>
            </a:r>
            <a:r>
              <a:rPr lang="en-US" sz="4000" dirty="0" err="1">
                <a:latin typeface="Cambria" panose="02040503050406030204" pitchFamily="18" charset="0"/>
              </a:rPr>
              <a:t>khi</a:t>
            </a:r>
            <a:r>
              <a:rPr lang="en-US" sz="4000" dirty="0">
                <a:latin typeface="Cambria" panose="02040503050406030204" pitchFamily="18" charset="0"/>
              </a:rPr>
              <a:t> </a:t>
            </a:r>
            <a:r>
              <a:rPr lang="en-US" sz="4000" dirty="0" err="1">
                <a:latin typeface="Cambria" panose="02040503050406030204" pitchFamily="18" charset="0"/>
              </a:rPr>
              <a:t>đạt</a:t>
            </a:r>
            <a:r>
              <a:rPr lang="en-US" sz="4000" dirty="0">
                <a:latin typeface="Cambria" panose="02040503050406030204" pitchFamily="18" charset="0"/>
              </a:rPr>
              <a:t> đ</a:t>
            </a:r>
            <a:r>
              <a:rPr lang="vi-VN" sz="4000" dirty="0">
                <a:latin typeface="Cambria" panose="02040503050406030204" pitchFamily="18" charset="0"/>
              </a:rPr>
              <a:t>ư</a:t>
            </a:r>
            <a:r>
              <a:rPr lang="en-US" sz="4000" dirty="0" err="1">
                <a:latin typeface="Cambria" panose="02040503050406030204" pitchFamily="18" charset="0"/>
              </a:rPr>
              <a:t>ợc</a:t>
            </a:r>
            <a:r>
              <a:rPr lang="en-US" sz="4000" dirty="0">
                <a:latin typeface="Cambria" panose="02040503050406030204" pitchFamily="18" charset="0"/>
              </a:rPr>
              <a:t> </a:t>
            </a:r>
            <a:r>
              <a:rPr lang="en-US" sz="4000" dirty="0" err="1">
                <a:latin typeface="Cambria" panose="02040503050406030204" pitchFamily="18" charset="0"/>
              </a:rPr>
              <a:t>mức</a:t>
            </a:r>
            <a:r>
              <a:rPr lang="en-US" sz="4000" dirty="0">
                <a:latin typeface="Cambria" panose="02040503050406030204" pitchFamily="18" charset="0"/>
              </a:rPr>
              <a:t> </a:t>
            </a:r>
            <a:r>
              <a:rPr lang="en-US" sz="4000" dirty="0" err="1">
                <a:latin typeface="Cambria" panose="02040503050406030204" pitchFamily="18" charset="0"/>
              </a:rPr>
              <a:t>yêu</a:t>
            </a:r>
            <a:r>
              <a:rPr lang="en-US" sz="4000" dirty="0">
                <a:latin typeface="Cambria" panose="02040503050406030204" pitchFamily="18" charset="0"/>
              </a:rPr>
              <a:t> </a:t>
            </a:r>
            <a:r>
              <a:rPr lang="en-US" sz="4000" dirty="0" err="1">
                <a:latin typeface="Cambria" panose="02040503050406030204" pitchFamily="18" charset="0"/>
              </a:rPr>
              <a:t>cầu</a:t>
            </a:r>
            <a:r>
              <a:rPr lang="en-US" sz="4000" dirty="0">
                <a:latin typeface="Cambria" panose="02040503050406030204" pitchFamily="18" charset="0"/>
              </a:rPr>
              <a:t> </a:t>
            </a:r>
            <a:r>
              <a:rPr lang="en-US" sz="4000" dirty="0" err="1">
                <a:latin typeface="Cambria" panose="02040503050406030204" pitchFamily="18" charset="0"/>
              </a:rPr>
              <a:t>nào</a:t>
            </a:r>
            <a:r>
              <a:rPr lang="en-US" sz="4000" dirty="0">
                <a:latin typeface="Cambria" panose="02040503050406030204" pitchFamily="18" charset="0"/>
              </a:rPr>
              <a:t> </a:t>
            </a:r>
            <a:r>
              <a:rPr lang="en-US" sz="4000" dirty="0" err="1">
                <a:latin typeface="Cambria" panose="02040503050406030204" pitchFamily="18" charset="0"/>
              </a:rPr>
              <a:t>đó</a:t>
            </a:r>
            <a:r>
              <a:rPr lang="en-US" sz="4000" dirty="0">
                <a:latin typeface="Cambria" panose="02040503050406030204" pitchFamily="18" charset="0"/>
              </a:rPr>
              <a:t>.</a:t>
            </a:r>
          </a:p>
          <a:p>
            <a:pPr marL="0" indent="0" algn="just">
              <a:buNone/>
            </a:pPr>
            <a:endParaRPr lang="en-US" sz="4000" dirty="0">
              <a:latin typeface="Cambria" panose="02040503050406030204" pitchFamily="18" charset="0"/>
            </a:endParaRPr>
          </a:p>
          <a:p>
            <a:pPr marL="0" indent="0" algn="just">
              <a:buNone/>
            </a:pPr>
            <a:r>
              <a:rPr lang="en-US" sz="4000" dirty="0" err="1">
                <a:latin typeface="Cambria" panose="02040503050406030204" pitchFamily="18" charset="0"/>
              </a:rPr>
              <a:t>Gặp</a:t>
            </a:r>
            <a:r>
              <a:rPr lang="en-US" sz="4000" dirty="0">
                <a:latin typeface="Cambria" panose="02040503050406030204" pitchFamily="18" charset="0"/>
              </a:rPr>
              <a:t> </a:t>
            </a:r>
            <a:r>
              <a:rPr lang="en-US" sz="4000" dirty="0" err="1">
                <a:latin typeface="Cambria" panose="02040503050406030204" pitchFamily="18" charset="0"/>
              </a:rPr>
              <a:t>lệnh</a:t>
            </a:r>
            <a:r>
              <a:rPr lang="en-US" sz="4000" dirty="0">
                <a:latin typeface="Cambria" panose="02040503050406030204" pitchFamily="18" charset="0"/>
              </a:rPr>
              <a:t> </a:t>
            </a:r>
            <a:r>
              <a:rPr lang="en-US" sz="4000" b="1" dirty="0">
                <a:latin typeface="Cambria" panose="02040503050406030204" pitchFamily="18" charset="0"/>
              </a:rPr>
              <a:t>break</a:t>
            </a:r>
            <a:r>
              <a:rPr lang="en-US" sz="4000" dirty="0">
                <a:latin typeface="Cambria" panose="02040503050406030204" pitchFamily="18" charset="0"/>
              </a:rPr>
              <a:t>, </a:t>
            </a:r>
            <a:r>
              <a:rPr lang="en-US" sz="4000" dirty="0" err="1">
                <a:latin typeface="Cambria" panose="02040503050406030204" pitchFamily="18" charset="0"/>
              </a:rPr>
              <a:t>chư</a:t>
            </a:r>
            <a:r>
              <a:rPr lang="vi-VN" sz="4000" dirty="0">
                <a:latin typeface="Cambria" panose="02040503050406030204" pitchFamily="18" charset="0"/>
              </a:rPr>
              <a:t>ơ</a:t>
            </a:r>
            <a:r>
              <a:rPr lang="en-US" sz="4000" dirty="0" err="1">
                <a:latin typeface="Cambria" panose="02040503050406030204" pitchFamily="18" charset="0"/>
              </a:rPr>
              <a:t>ng</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a:t>
            </a:r>
            <a:r>
              <a:rPr lang="en-US" sz="4000" dirty="0" err="1">
                <a:latin typeface="Cambria" panose="02040503050406030204" pitchFamily="18" charset="0"/>
              </a:rPr>
              <a:t>sẽ</a:t>
            </a:r>
            <a:r>
              <a:rPr lang="en-US" sz="4000" dirty="0">
                <a:latin typeface="Cambria" panose="02040503050406030204" pitchFamily="18" charset="0"/>
              </a:rPr>
              <a:t> </a:t>
            </a:r>
            <a:r>
              <a:rPr lang="en-US" sz="4000" dirty="0" err="1">
                <a:latin typeface="Cambria" panose="02040503050406030204" pitchFamily="18" charset="0"/>
              </a:rPr>
              <a:t>không</a:t>
            </a:r>
            <a:r>
              <a:rPr lang="en-US" sz="4000" dirty="0">
                <a:latin typeface="Cambria" panose="02040503050406030204" pitchFamily="18" charset="0"/>
              </a:rPr>
              <a:t> </a:t>
            </a:r>
            <a:r>
              <a:rPr lang="en-US" sz="4000" dirty="0" err="1">
                <a:latin typeface="Cambria" panose="02040503050406030204" pitchFamily="18" charset="0"/>
              </a:rPr>
              <a:t>thực</a:t>
            </a:r>
            <a:r>
              <a:rPr lang="en-US" sz="4000" dirty="0">
                <a:latin typeface="Cambria" panose="02040503050406030204" pitchFamily="18" charset="0"/>
              </a:rPr>
              <a:t> </a:t>
            </a:r>
            <a:r>
              <a:rPr lang="en-US" sz="4000" dirty="0" err="1">
                <a:latin typeface="Cambria" panose="02040503050406030204" pitchFamily="18" charset="0"/>
              </a:rPr>
              <a:t>hiện</a:t>
            </a:r>
            <a:r>
              <a:rPr lang="en-US" sz="4000" dirty="0">
                <a:latin typeface="Cambria" panose="02040503050406030204" pitchFamily="18" charset="0"/>
              </a:rPr>
              <a:t> </a:t>
            </a:r>
            <a:r>
              <a:rPr lang="en-US" sz="4000" dirty="0" err="1">
                <a:latin typeface="Cambria" panose="02040503050406030204" pitchFamily="18" charset="0"/>
              </a:rPr>
              <a:t>bất</a:t>
            </a:r>
            <a:r>
              <a:rPr lang="en-US" sz="4000" dirty="0">
                <a:latin typeface="Cambria" panose="02040503050406030204" pitchFamily="18" charset="0"/>
              </a:rPr>
              <a:t> </a:t>
            </a:r>
            <a:r>
              <a:rPr lang="en-US" sz="4000" dirty="0" err="1">
                <a:latin typeface="Cambria" panose="02040503050406030204" pitchFamily="18" charset="0"/>
              </a:rPr>
              <a:t>cứ</a:t>
            </a:r>
            <a:r>
              <a:rPr lang="en-US" sz="4000" dirty="0">
                <a:latin typeface="Cambria" panose="02040503050406030204" pitchFamily="18" charset="0"/>
              </a:rPr>
              <a:t> </a:t>
            </a:r>
            <a:r>
              <a:rPr lang="en-US" sz="4000" dirty="0" err="1">
                <a:latin typeface="Cambria" panose="02040503050406030204" pitchFamily="18" charset="0"/>
              </a:rPr>
              <a:t>lệnh</a:t>
            </a:r>
            <a:r>
              <a:rPr lang="en-US" sz="4000" dirty="0">
                <a:latin typeface="Cambria" panose="02040503050406030204" pitchFamily="18" charset="0"/>
              </a:rPr>
              <a:t> </a:t>
            </a:r>
            <a:r>
              <a:rPr lang="en-US" sz="4000" dirty="0" err="1">
                <a:latin typeface="Cambria" panose="02040503050406030204" pitchFamily="18" charset="0"/>
              </a:rPr>
              <a:t>nào</a:t>
            </a:r>
            <a:r>
              <a:rPr lang="en-US" sz="4000" dirty="0">
                <a:latin typeface="Cambria" panose="02040503050406030204" pitchFamily="18" charset="0"/>
              </a:rPr>
              <a:t> </a:t>
            </a:r>
            <a:r>
              <a:rPr lang="en-US" sz="4000" dirty="0" err="1">
                <a:latin typeface="Cambria" panose="02040503050406030204" pitchFamily="18" charset="0"/>
              </a:rPr>
              <a:t>bên</a:t>
            </a:r>
            <a:r>
              <a:rPr lang="en-US" sz="4000" dirty="0">
                <a:latin typeface="Cambria" panose="02040503050406030204" pitchFamily="18" charset="0"/>
              </a:rPr>
              <a:t> d</a:t>
            </a:r>
            <a:r>
              <a:rPr lang="vi-VN" sz="4000" dirty="0">
                <a:latin typeface="Cambria" panose="02040503050406030204" pitchFamily="18" charset="0"/>
              </a:rPr>
              <a:t>ư</a:t>
            </a:r>
            <a:r>
              <a:rPr lang="en-US" sz="4000" dirty="0" err="1">
                <a:latin typeface="Cambria" panose="02040503050406030204" pitchFamily="18" charset="0"/>
              </a:rPr>
              <a:t>ới</a:t>
            </a:r>
            <a:r>
              <a:rPr lang="en-US" sz="4000" dirty="0">
                <a:latin typeface="Cambria" panose="02040503050406030204" pitchFamily="18" charset="0"/>
              </a:rPr>
              <a:t> </a:t>
            </a:r>
            <a:r>
              <a:rPr lang="en-US" sz="4000" dirty="0" err="1">
                <a:latin typeface="Cambria" panose="02040503050406030204" pitchFamily="18" charset="0"/>
              </a:rPr>
              <a:t>nó</a:t>
            </a:r>
            <a:r>
              <a:rPr lang="en-US" sz="4000" dirty="0">
                <a:latin typeface="Cambria" panose="02040503050406030204" pitchFamily="18" charset="0"/>
              </a:rPr>
              <a:t>, </a:t>
            </a:r>
            <a:r>
              <a:rPr lang="en-US" sz="4000" dirty="0" err="1">
                <a:latin typeface="Cambria" panose="02040503050406030204" pitchFamily="18" charset="0"/>
              </a:rPr>
              <a:t>mà</a:t>
            </a:r>
            <a:r>
              <a:rPr lang="en-US" sz="4000" dirty="0">
                <a:latin typeface="Cambria" panose="02040503050406030204" pitchFamily="18" charset="0"/>
              </a:rPr>
              <a:t> </a:t>
            </a:r>
            <a:r>
              <a:rPr lang="en-US" sz="4000" dirty="0" err="1">
                <a:latin typeface="Cambria" panose="02040503050406030204" pitchFamily="18" charset="0"/>
              </a:rPr>
              <a:t>thoát</a:t>
            </a:r>
            <a:r>
              <a:rPr lang="en-US" sz="4000" dirty="0">
                <a:latin typeface="Cambria" panose="02040503050406030204" pitchFamily="18" charset="0"/>
              </a:rPr>
              <a:t> </a:t>
            </a:r>
            <a:r>
              <a:rPr lang="en-US" sz="4000" dirty="0" err="1">
                <a:latin typeface="Cambria" panose="02040503050406030204" pitchFamily="18" charset="0"/>
              </a:rPr>
              <a:t>luôn</a:t>
            </a:r>
            <a:r>
              <a:rPr lang="en-US" sz="4000" dirty="0">
                <a:latin typeface="Cambria" panose="02040503050406030204" pitchFamily="18" charset="0"/>
              </a:rPr>
              <a:t> </a:t>
            </a:r>
            <a:r>
              <a:rPr lang="en-US" sz="4000" dirty="0" err="1">
                <a:latin typeface="Cambria" panose="02040503050406030204" pitchFamily="18" charset="0"/>
              </a:rPr>
              <a:t>khỏi</a:t>
            </a:r>
            <a:r>
              <a:rPr lang="en-US" sz="4000" dirty="0">
                <a:latin typeface="Cambria" panose="02040503050406030204" pitchFamily="18" charset="0"/>
              </a:rPr>
              <a:t> </a:t>
            </a:r>
            <a:r>
              <a:rPr lang="en-US" sz="4000" dirty="0" err="1">
                <a:latin typeface="Cambria" panose="02040503050406030204" pitchFamily="18" charset="0"/>
              </a:rPr>
              <a:t>vòng</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a:t>
            </a:r>
          </a:p>
          <a:p>
            <a:pPr marL="0" indent="0" algn="just">
              <a:buNone/>
            </a:pPr>
            <a:endParaRPr lang="en-US" sz="4000" dirty="0">
              <a:latin typeface="Cambria" panose="02040503050406030204" pitchFamily="18" charset="0"/>
            </a:endParaRPr>
          </a:p>
        </p:txBody>
      </p:sp>
    </p:spTree>
    <p:extLst>
      <p:ext uri="{BB962C8B-B14F-4D97-AF65-F5344CB8AC3E}">
        <p14:creationId xmlns:p14="http://schemas.microsoft.com/office/powerpoint/2010/main" val="12182281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a:t>
            </a:r>
            <a:r>
              <a:rPr lang="en-US" sz="4000" dirty="0">
                <a:latin typeface="Cambria" panose="02040503050406030204" pitchFamily="18" charset="0"/>
              </a:rPr>
              <a:t> </a:t>
            </a:r>
            <a:r>
              <a:rPr lang="en-US" sz="4000" dirty="0" err="1">
                <a:latin typeface="Cambria" panose="02040503050406030204" pitchFamily="18" charset="0"/>
              </a:rPr>
              <a:t>Viết</a:t>
            </a:r>
            <a:r>
              <a:rPr lang="en-US" sz="4000" dirty="0">
                <a:latin typeface="Cambria" panose="02040503050406030204" pitchFamily="18" charset="0"/>
              </a:rPr>
              <a:t> </a:t>
            </a:r>
            <a:r>
              <a:rPr lang="en-US" sz="4000" dirty="0" err="1">
                <a:latin typeface="Cambria" panose="02040503050406030204" pitchFamily="18" charset="0"/>
              </a:rPr>
              <a:t>chư</a:t>
            </a:r>
            <a:r>
              <a:rPr lang="vi-VN" sz="4000" dirty="0">
                <a:latin typeface="Cambria" panose="02040503050406030204" pitchFamily="18" charset="0"/>
              </a:rPr>
              <a:t>ơ</a:t>
            </a:r>
            <a:r>
              <a:rPr lang="en-US" sz="4000" dirty="0" err="1">
                <a:latin typeface="Cambria" panose="02040503050406030204" pitchFamily="18" charset="0"/>
              </a:rPr>
              <a:t>ng</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a:t>
            </a:r>
            <a:r>
              <a:rPr lang="en-US" sz="4000" dirty="0" err="1">
                <a:latin typeface="Cambria" panose="02040503050406030204" pitchFamily="18" charset="0"/>
              </a:rPr>
              <a:t>vòng</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vĩnh</a:t>
            </a:r>
            <a:r>
              <a:rPr lang="en-US" sz="4000" dirty="0">
                <a:latin typeface="Cambria" panose="02040503050406030204" pitchFamily="18" charset="0"/>
              </a:rPr>
              <a:t> </a:t>
            </a:r>
            <a:r>
              <a:rPr lang="en-US" sz="4000" dirty="0" err="1">
                <a:latin typeface="Cambria" panose="02040503050406030204" pitchFamily="18" charset="0"/>
              </a:rPr>
              <a:t>cửu</a:t>
            </a:r>
            <a:r>
              <a:rPr lang="en-US" sz="4000" dirty="0">
                <a:latin typeface="Cambria" panose="02040503050406030204" pitchFamily="18" charset="0"/>
              </a:rPr>
              <a:t> </a:t>
            </a:r>
            <a:r>
              <a:rPr lang="en-US" sz="4000" dirty="0" err="1">
                <a:latin typeface="Cambria" panose="02040503050406030204" pitchFamily="18" charset="0"/>
              </a:rPr>
              <a:t>cho</a:t>
            </a:r>
            <a:r>
              <a:rPr lang="en-US" sz="4000" dirty="0">
                <a:latin typeface="Cambria" panose="02040503050406030204" pitchFamily="18" charset="0"/>
              </a:rPr>
              <a:t> </a:t>
            </a:r>
            <a:r>
              <a:rPr lang="en-US" sz="4000" dirty="0" err="1">
                <a:latin typeface="Cambria" panose="02040503050406030204" pitchFamily="18" charset="0"/>
              </a:rPr>
              <a:t>phép</a:t>
            </a:r>
            <a:r>
              <a:rPr lang="en-US" sz="4000" dirty="0">
                <a:latin typeface="Cambria" panose="02040503050406030204" pitchFamily="18" charset="0"/>
              </a:rPr>
              <a:t> </a:t>
            </a:r>
            <a:r>
              <a:rPr lang="en-US" sz="4000" dirty="0" err="1">
                <a:latin typeface="Cambria" panose="02040503050406030204" pitchFamily="18" charset="0"/>
              </a:rPr>
              <a:t>phần</a:t>
            </a:r>
            <a:r>
              <a:rPr lang="en-US" sz="4000" dirty="0">
                <a:latin typeface="Cambria" panose="02040503050406030204" pitchFamily="18" charset="0"/>
              </a:rPr>
              <a:t> </a:t>
            </a:r>
            <a:r>
              <a:rPr lang="en-US" sz="4000" dirty="0" err="1">
                <a:latin typeface="Cambria" panose="02040503050406030204" pitchFamily="18" charset="0"/>
              </a:rPr>
              <a:t>mềm</a:t>
            </a:r>
            <a:r>
              <a:rPr lang="en-US" sz="4000" dirty="0">
                <a:latin typeface="Cambria" panose="02040503050406030204" pitchFamily="18" charset="0"/>
              </a:rPr>
              <a:t> </a:t>
            </a:r>
            <a:r>
              <a:rPr lang="en-US" sz="4000" dirty="0" err="1">
                <a:latin typeface="Cambria" panose="02040503050406030204" pitchFamily="18" charset="0"/>
              </a:rPr>
              <a:t>chạy</a:t>
            </a:r>
            <a:r>
              <a:rPr lang="en-US" sz="4000" dirty="0">
                <a:latin typeface="Cambria" panose="02040503050406030204" pitchFamily="18" charset="0"/>
              </a:rPr>
              <a:t> </a:t>
            </a:r>
            <a:r>
              <a:rPr lang="en-US" sz="4000" dirty="0" err="1">
                <a:latin typeface="Cambria" panose="02040503050406030204" pitchFamily="18" charset="0"/>
              </a:rPr>
              <a:t>liên</a:t>
            </a:r>
            <a:r>
              <a:rPr lang="en-US" sz="4000" dirty="0">
                <a:latin typeface="Cambria" panose="02040503050406030204" pitchFamily="18" charset="0"/>
              </a:rPr>
              <a:t> </a:t>
            </a:r>
            <a:r>
              <a:rPr lang="en-US" sz="4000" dirty="0" err="1">
                <a:latin typeface="Cambria" panose="02040503050406030204" pitchFamily="18" charset="0"/>
              </a:rPr>
              <a:t>tục</a:t>
            </a:r>
            <a:r>
              <a:rPr lang="en-US" sz="4000" dirty="0">
                <a:latin typeface="Cambria" panose="02040503050406030204" pitchFamily="18" charset="0"/>
              </a:rPr>
              <a:t>, </a:t>
            </a:r>
            <a:r>
              <a:rPr lang="en-US" sz="4000" dirty="0" err="1">
                <a:latin typeface="Cambria" panose="02040503050406030204" pitchFamily="18" charset="0"/>
              </a:rPr>
              <a:t>khi</a:t>
            </a:r>
            <a:r>
              <a:rPr lang="en-US" sz="4000" dirty="0">
                <a:latin typeface="Cambria" panose="02040503050406030204" pitchFamily="18" charset="0"/>
              </a:rPr>
              <a:t> </a:t>
            </a:r>
            <a:r>
              <a:rPr lang="en-US" sz="4000" dirty="0" err="1">
                <a:latin typeface="Cambria" panose="02040503050406030204" pitchFamily="18" charset="0"/>
              </a:rPr>
              <a:t>nào</a:t>
            </a:r>
            <a:r>
              <a:rPr lang="en-US" sz="4000" dirty="0">
                <a:latin typeface="Cambria" panose="02040503050406030204" pitchFamily="18" charset="0"/>
              </a:rPr>
              <a:t> </a:t>
            </a:r>
            <a:r>
              <a:rPr lang="en-US" sz="4000" dirty="0" err="1">
                <a:latin typeface="Cambria" panose="02040503050406030204" pitchFamily="18" charset="0"/>
              </a:rPr>
              <a:t>hỏi</a:t>
            </a:r>
            <a:r>
              <a:rPr lang="en-US" sz="4000" dirty="0">
                <a:latin typeface="Cambria" panose="02040503050406030204" pitchFamily="18" charset="0"/>
              </a:rPr>
              <a:t> </a:t>
            </a:r>
            <a:r>
              <a:rPr lang="en-US" sz="4000" dirty="0" err="1">
                <a:latin typeface="Cambria" panose="02040503050406030204" pitchFamily="18" charset="0"/>
              </a:rPr>
              <a:t>thoát</a:t>
            </a:r>
            <a:r>
              <a:rPr lang="en-US" sz="4000" dirty="0">
                <a:latin typeface="Cambria" panose="02040503050406030204" pitchFamily="18" charset="0"/>
              </a:rPr>
              <a:t> </a:t>
            </a:r>
            <a:r>
              <a:rPr lang="en-US" sz="4000" dirty="0" err="1">
                <a:latin typeface="Cambria" panose="02040503050406030204" pitchFamily="18" charset="0"/>
              </a:rPr>
              <a:t>mới</a:t>
            </a:r>
            <a:r>
              <a:rPr lang="en-US" sz="4000" dirty="0">
                <a:latin typeface="Cambria" panose="02040503050406030204" pitchFamily="18" charset="0"/>
              </a:rPr>
              <a:t> </a:t>
            </a:r>
            <a:r>
              <a:rPr lang="en-US" sz="4000" dirty="0" err="1">
                <a:latin typeface="Cambria" panose="02040503050406030204" pitchFamily="18" charset="0"/>
              </a:rPr>
              <a:t>thoát</a:t>
            </a:r>
            <a:r>
              <a:rPr lang="en-US" sz="4000" dirty="0">
                <a:latin typeface="Cambria" panose="02040503050406030204" pitchFamily="18" charset="0"/>
              </a:rPr>
              <a:t> </a:t>
            </a:r>
            <a:r>
              <a:rPr lang="en-US" sz="4000" dirty="0" err="1">
                <a:latin typeface="Cambria" panose="02040503050406030204" pitchFamily="18" charset="0"/>
              </a:rPr>
              <a:t>phần</a:t>
            </a:r>
            <a:r>
              <a:rPr lang="en-US" sz="4000" dirty="0">
                <a:latin typeface="Cambria" panose="02040503050406030204" pitchFamily="18" charset="0"/>
              </a:rPr>
              <a:t> </a:t>
            </a:r>
            <a:r>
              <a:rPr lang="en-US" sz="4000" dirty="0" err="1">
                <a:latin typeface="Cambria" panose="02040503050406030204" pitchFamily="18" charset="0"/>
              </a:rPr>
              <a:t>mềm</a:t>
            </a:r>
            <a:r>
              <a:rPr lang="en-US" sz="4000" dirty="0">
                <a:latin typeface="Cambria" panose="02040503050406030204" pitchFamily="18" charset="0"/>
              </a:rPr>
              <a:t>:</a:t>
            </a:r>
          </a:p>
          <a:p>
            <a:pPr marL="0" indent="0" algn="just">
              <a:buNone/>
            </a:pPr>
            <a:endParaRPr lang="en-US" sz="4000" dirty="0">
              <a:latin typeface="Cambria" panose="02040503050406030204" pitchFamily="18" charset="0"/>
            </a:endParaRPr>
          </a:p>
        </p:txBody>
      </p:sp>
      <p:pic>
        <p:nvPicPr>
          <p:cNvPr id="8" name="Picture 7">
            <a:extLst>
              <a:ext uri="{FF2B5EF4-FFF2-40B4-BE49-F238E27FC236}">
                <a16:creationId xmlns:a16="http://schemas.microsoft.com/office/drawing/2014/main" id="{3B94B211-4A86-4073-9665-AF39504999EA}"/>
              </a:ext>
            </a:extLst>
          </p:cNvPr>
          <p:cNvPicPr>
            <a:picLocks noChangeAspect="1"/>
          </p:cNvPicPr>
          <p:nvPr/>
        </p:nvPicPr>
        <p:blipFill>
          <a:blip r:embed="rId3"/>
          <a:stretch>
            <a:fillRect/>
          </a:stretch>
        </p:blipFill>
        <p:spPr>
          <a:xfrm>
            <a:off x="1515392" y="3056529"/>
            <a:ext cx="9313615" cy="3243262"/>
          </a:xfrm>
          <a:prstGeom prst="rect">
            <a:avLst/>
          </a:prstGeom>
        </p:spPr>
      </p:pic>
    </p:spTree>
    <p:extLst>
      <p:ext uri="{BB962C8B-B14F-4D97-AF65-F5344CB8AC3E}">
        <p14:creationId xmlns:p14="http://schemas.microsoft.com/office/powerpoint/2010/main" val="20070552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Câu lệnh continue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69</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9288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dirty="0">
                <a:solidFill>
                  <a:srgbClr val="FF0000"/>
                </a:solidFill>
                <a:latin typeface="Cambria" panose="02040503050406030204" pitchFamily="18" charset="0"/>
              </a:rPr>
              <a:t>continue</a:t>
            </a:r>
            <a:r>
              <a:rPr lang="en-US" sz="4000" dirty="0">
                <a:latin typeface="Cambria" panose="02040503050406030204" pitchFamily="18" charset="0"/>
              </a:rPr>
              <a:t> </a:t>
            </a:r>
            <a:r>
              <a:rPr lang="en-US" sz="4000" dirty="0" err="1">
                <a:latin typeface="Cambria" panose="02040503050406030204" pitchFamily="18" charset="0"/>
              </a:rPr>
              <a:t>là</a:t>
            </a:r>
            <a:r>
              <a:rPr lang="en-US" sz="4000" dirty="0">
                <a:latin typeface="Cambria" panose="02040503050406030204" pitchFamily="18" charset="0"/>
              </a:rPr>
              <a:t> </a:t>
            </a:r>
            <a:r>
              <a:rPr lang="en-US" sz="4000" dirty="0" err="1">
                <a:latin typeface="Cambria" panose="02040503050406030204" pitchFamily="18" charset="0"/>
              </a:rPr>
              <a:t>từ</a:t>
            </a:r>
            <a:r>
              <a:rPr lang="en-US" sz="4000" dirty="0">
                <a:latin typeface="Cambria" panose="02040503050406030204" pitchFamily="18" charset="0"/>
              </a:rPr>
              <a:t> </a:t>
            </a:r>
            <a:r>
              <a:rPr lang="en-US" sz="4000" dirty="0" err="1">
                <a:latin typeface="Cambria" panose="02040503050406030204" pitchFamily="18" charset="0"/>
              </a:rPr>
              <a:t>khóa</a:t>
            </a:r>
            <a:r>
              <a:rPr lang="en-US" sz="4000" dirty="0">
                <a:latin typeface="Cambria" panose="02040503050406030204" pitchFamily="18" charset="0"/>
              </a:rPr>
              <a:t> </a:t>
            </a:r>
            <a:r>
              <a:rPr lang="en-US" sz="4000" dirty="0" err="1">
                <a:latin typeface="Cambria" panose="02040503050406030204" pitchFamily="18" charset="0"/>
              </a:rPr>
              <a:t>đặc</a:t>
            </a:r>
            <a:r>
              <a:rPr lang="en-US" sz="4000" dirty="0">
                <a:latin typeface="Cambria" panose="02040503050406030204" pitchFamily="18" charset="0"/>
              </a:rPr>
              <a:t> </a:t>
            </a:r>
            <a:r>
              <a:rPr lang="en-US" sz="4000" dirty="0" err="1">
                <a:latin typeface="Cambria" panose="02040503050406030204" pitchFamily="18" charset="0"/>
              </a:rPr>
              <a:t>biệt</a:t>
            </a:r>
            <a:r>
              <a:rPr lang="en-US" sz="4000" dirty="0">
                <a:latin typeface="Cambria" panose="02040503050406030204" pitchFamily="18" charset="0"/>
              </a:rPr>
              <a:t> </a:t>
            </a:r>
            <a:r>
              <a:rPr lang="en-US" sz="4000" dirty="0" err="1">
                <a:latin typeface="Cambria" panose="02040503050406030204" pitchFamily="18" charset="0"/>
              </a:rPr>
              <a:t>dùng</a:t>
            </a:r>
            <a:r>
              <a:rPr lang="en-US" sz="4000" dirty="0">
                <a:latin typeface="Cambria" panose="02040503050406030204" pitchFamily="18" charset="0"/>
              </a:rPr>
              <a:t> </a:t>
            </a:r>
            <a:r>
              <a:rPr lang="en-US" sz="4000" dirty="0" err="1">
                <a:latin typeface="Cambria" panose="02040503050406030204" pitchFamily="18" charset="0"/>
              </a:rPr>
              <a:t>để</a:t>
            </a:r>
            <a:r>
              <a:rPr lang="en-US" sz="4000" dirty="0">
                <a:latin typeface="Cambria" panose="02040503050406030204" pitchFamily="18" charset="0"/>
              </a:rPr>
              <a:t> </a:t>
            </a:r>
            <a:r>
              <a:rPr lang="en-US" sz="4000" dirty="0" err="1">
                <a:latin typeface="Cambria" panose="02040503050406030204" pitchFamily="18" charset="0"/>
              </a:rPr>
              <a:t>nhảy</a:t>
            </a:r>
            <a:r>
              <a:rPr lang="en-US" sz="4000" dirty="0">
                <a:latin typeface="Cambria" panose="02040503050406030204" pitchFamily="18" charset="0"/>
              </a:rPr>
              <a:t> </a:t>
            </a:r>
            <a:r>
              <a:rPr lang="en-US" sz="4000" dirty="0" err="1">
                <a:latin typeface="Cambria" panose="02040503050406030204" pitchFamily="18" charset="0"/>
              </a:rPr>
              <a:t>sớm</a:t>
            </a:r>
            <a:r>
              <a:rPr lang="en-US" sz="4000" dirty="0">
                <a:latin typeface="Cambria" panose="02040503050406030204" pitchFamily="18" charset="0"/>
              </a:rPr>
              <a:t> </a:t>
            </a:r>
            <a:r>
              <a:rPr lang="en-US" sz="4000" dirty="0" err="1">
                <a:latin typeface="Cambria" panose="02040503050406030204" pitchFamily="18" charset="0"/>
              </a:rPr>
              <a:t>tới</a:t>
            </a:r>
            <a:r>
              <a:rPr lang="en-US" sz="4000" dirty="0">
                <a:latin typeface="Cambria" panose="02040503050406030204" pitchFamily="18" charset="0"/>
              </a:rPr>
              <a:t> </a:t>
            </a:r>
            <a:r>
              <a:rPr lang="en-US" sz="4000" dirty="0" err="1">
                <a:latin typeface="Cambria" panose="02040503050406030204" pitchFamily="18" charset="0"/>
              </a:rPr>
              <a:t>lần</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kế</a:t>
            </a:r>
            <a:r>
              <a:rPr lang="en-US" sz="4000" dirty="0">
                <a:latin typeface="Cambria" panose="02040503050406030204" pitchFamily="18" charset="0"/>
              </a:rPr>
              <a:t> </a:t>
            </a:r>
            <a:r>
              <a:rPr lang="en-US" sz="4000" dirty="0" err="1">
                <a:latin typeface="Cambria" panose="02040503050406030204" pitchFamily="18" charset="0"/>
              </a:rPr>
              <a:t>tiếp</a:t>
            </a:r>
            <a:r>
              <a:rPr lang="en-US" sz="4000" dirty="0">
                <a:latin typeface="Cambria" panose="02040503050406030204" pitchFamily="18" charset="0"/>
              </a:rPr>
              <a:t>, </a:t>
            </a:r>
            <a:r>
              <a:rPr lang="en-US" sz="4000" dirty="0" err="1">
                <a:latin typeface="Cambria" panose="02040503050406030204" pitchFamily="18" charset="0"/>
              </a:rPr>
              <a:t>các</a:t>
            </a:r>
            <a:r>
              <a:rPr lang="en-US" sz="4000" dirty="0">
                <a:latin typeface="Cambria" panose="02040503050406030204" pitchFamily="18" charset="0"/>
              </a:rPr>
              <a:t> </a:t>
            </a:r>
            <a:r>
              <a:rPr lang="en-US" sz="4000" dirty="0" err="1">
                <a:latin typeface="Cambria" panose="02040503050406030204" pitchFamily="18" charset="0"/>
              </a:rPr>
              <a:t>lệnh</a:t>
            </a:r>
            <a:r>
              <a:rPr lang="en-US" sz="4000" dirty="0">
                <a:latin typeface="Cambria" panose="02040503050406030204" pitchFamily="18" charset="0"/>
              </a:rPr>
              <a:t> </a:t>
            </a:r>
            <a:r>
              <a:rPr lang="en-US" sz="4000" dirty="0" err="1">
                <a:latin typeface="Cambria" panose="02040503050406030204" pitchFamily="18" charset="0"/>
              </a:rPr>
              <a:t>bên</a:t>
            </a:r>
            <a:r>
              <a:rPr lang="en-US" sz="4000" dirty="0">
                <a:latin typeface="Cambria" panose="02040503050406030204" pitchFamily="18" charset="0"/>
              </a:rPr>
              <a:t> d</a:t>
            </a:r>
            <a:r>
              <a:rPr lang="vi-VN" sz="4000" dirty="0">
                <a:latin typeface="Cambria" panose="02040503050406030204" pitchFamily="18" charset="0"/>
              </a:rPr>
              <a:t>ư</a:t>
            </a:r>
            <a:r>
              <a:rPr lang="en-US" sz="4000" dirty="0" err="1">
                <a:latin typeface="Cambria" panose="02040503050406030204" pitchFamily="18" charset="0"/>
              </a:rPr>
              <a:t>ới</a:t>
            </a:r>
            <a:r>
              <a:rPr lang="en-US" sz="4000" dirty="0">
                <a:latin typeface="Cambria" panose="02040503050406030204" pitchFamily="18" charset="0"/>
              </a:rPr>
              <a:t> </a:t>
            </a:r>
            <a:r>
              <a:rPr lang="en-US" sz="4000" b="1" dirty="0">
                <a:latin typeface="Cambria" panose="02040503050406030204" pitchFamily="18" charset="0"/>
              </a:rPr>
              <a:t>continue</a:t>
            </a:r>
            <a:r>
              <a:rPr lang="en-US" sz="4000" dirty="0">
                <a:latin typeface="Cambria" panose="02040503050406030204" pitchFamily="18" charset="0"/>
              </a:rPr>
              <a:t> </a:t>
            </a:r>
            <a:r>
              <a:rPr lang="en-US" sz="4000" dirty="0" err="1">
                <a:latin typeface="Cambria" panose="02040503050406030204" pitchFamily="18" charset="0"/>
              </a:rPr>
              <a:t>sẽ</a:t>
            </a:r>
            <a:r>
              <a:rPr lang="en-US" sz="4000" dirty="0">
                <a:latin typeface="Cambria" panose="02040503050406030204" pitchFamily="18" charset="0"/>
              </a:rPr>
              <a:t> </a:t>
            </a:r>
            <a:r>
              <a:rPr lang="en-US" sz="4000" dirty="0" err="1">
                <a:latin typeface="Cambria" panose="02040503050406030204" pitchFamily="18" charset="0"/>
              </a:rPr>
              <a:t>không</a:t>
            </a:r>
            <a:r>
              <a:rPr lang="en-US" sz="4000" dirty="0">
                <a:latin typeface="Cambria" panose="02040503050406030204" pitchFamily="18" charset="0"/>
              </a:rPr>
              <a:t> đ</a:t>
            </a:r>
            <a:r>
              <a:rPr lang="vi-VN" sz="4000" dirty="0">
                <a:latin typeface="Cambria" panose="02040503050406030204" pitchFamily="18" charset="0"/>
              </a:rPr>
              <a:t>ư</a:t>
            </a:r>
            <a:r>
              <a:rPr lang="en-US" sz="4000" dirty="0" err="1">
                <a:latin typeface="Cambria" panose="02040503050406030204" pitchFamily="18" charset="0"/>
              </a:rPr>
              <a:t>ợc</a:t>
            </a:r>
            <a:r>
              <a:rPr lang="en-US" sz="4000" dirty="0">
                <a:latin typeface="Cambria" panose="02040503050406030204" pitchFamily="18" charset="0"/>
              </a:rPr>
              <a:t> </a:t>
            </a:r>
            <a:r>
              <a:rPr lang="en-US" sz="4000" dirty="0" err="1">
                <a:latin typeface="Cambria" panose="02040503050406030204" pitchFamily="18" charset="0"/>
              </a:rPr>
              <a:t>thực</a:t>
            </a:r>
            <a:r>
              <a:rPr lang="en-US" sz="4000" dirty="0">
                <a:latin typeface="Cambria" panose="02040503050406030204" pitchFamily="18" charset="0"/>
              </a:rPr>
              <a:t> </a:t>
            </a:r>
            <a:r>
              <a:rPr lang="en-US" sz="4000" dirty="0" err="1">
                <a:latin typeface="Cambria" panose="02040503050406030204" pitchFamily="18" charset="0"/>
              </a:rPr>
              <a:t>thi</a:t>
            </a:r>
            <a:r>
              <a:rPr lang="en-US" sz="4000" dirty="0">
                <a:latin typeface="Cambria" panose="02040503050406030204" pitchFamily="18" charset="0"/>
              </a:rPr>
              <a:t>. </a:t>
            </a:r>
          </a:p>
          <a:p>
            <a:pPr marL="0" indent="0" algn="just">
              <a:buNone/>
            </a:pPr>
            <a:r>
              <a:rPr lang="en-US" sz="4000" dirty="0" err="1">
                <a:latin typeface="Cambria" panose="02040503050406030204" pitchFamily="18" charset="0"/>
              </a:rPr>
              <a:t>Lưu</a:t>
            </a:r>
            <a:r>
              <a:rPr lang="en-US" sz="4000" dirty="0">
                <a:latin typeface="Cambria" panose="02040503050406030204" pitchFamily="18" charset="0"/>
              </a:rPr>
              <a:t> ý </a:t>
            </a:r>
            <a:r>
              <a:rPr lang="en-US" sz="4000" dirty="0" err="1">
                <a:latin typeface="Cambria" panose="02040503050406030204" pitchFamily="18" charset="0"/>
              </a:rPr>
              <a:t>khác</a:t>
            </a:r>
            <a:r>
              <a:rPr lang="en-US" sz="4000" dirty="0">
                <a:latin typeface="Cambria" panose="02040503050406030204" pitchFamily="18" charset="0"/>
              </a:rPr>
              <a:t> </a:t>
            </a:r>
            <a:r>
              <a:rPr lang="en-US" sz="4000" dirty="0" err="1">
                <a:latin typeface="Cambria" panose="02040503050406030204" pitchFamily="18" charset="0"/>
              </a:rPr>
              <a:t>với</a:t>
            </a:r>
            <a:r>
              <a:rPr lang="en-US" sz="4000" dirty="0">
                <a:latin typeface="Cambria" panose="02040503050406030204" pitchFamily="18" charset="0"/>
              </a:rPr>
              <a:t> </a:t>
            </a:r>
            <a:r>
              <a:rPr lang="en-US" sz="4000" b="1" dirty="0">
                <a:latin typeface="Cambria" panose="02040503050406030204" pitchFamily="18" charset="0"/>
              </a:rPr>
              <a:t>break</a:t>
            </a:r>
            <a:r>
              <a:rPr lang="en-US" sz="4000" dirty="0">
                <a:latin typeface="Cambria" panose="02040503050406030204" pitchFamily="18" charset="0"/>
              </a:rPr>
              <a:t>, </a:t>
            </a:r>
            <a:r>
              <a:rPr lang="en-US" sz="4000" dirty="0" err="1">
                <a:latin typeface="Cambria" panose="02040503050406030204" pitchFamily="18" charset="0"/>
              </a:rPr>
              <a:t>gặp</a:t>
            </a:r>
            <a:r>
              <a:rPr lang="en-US" sz="4000" dirty="0">
                <a:latin typeface="Cambria" panose="02040503050406030204" pitchFamily="18" charset="0"/>
              </a:rPr>
              <a:t> </a:t>
            </a:r>
            <a:r>
              <a:rPr lang="en-US" sz="4000" b="1" dirty="0">
                <a:latin typeface="Cambria" panose="02040503050406030204" pitchFamily="18" charset="0"/>
              </a:rPr>
              <a:t>break</a:t>
            </a:r>
            <a:r>
              <a:rPr lang="en-US" sz="4000" dirty="0">
                <a:latin typeface="Cambria" panose="02040503050406030204" pitchFamily="18" charset="0"/>
              </a:rPr>
              <a:t> </a:t>
            </a:r>
            <a:r>
              <a:rPr lang="en-US" sz="4000" dirty="0" err="1">
                <a:latin typeface="Cambria" panose="02040503050406030204" pitchFamily="18" charset="0"/>
              </a:rPr>
              <a:t>thì</a:t>
            </a:r>
            <a:r>
              <a:rPr lang="en-US" sz="4000" dirty="0">
                <a:latin typeface="Cambria" panose="02040503050406030204" pitchFamily="18" charset="0"/>
              </a:rPr>
              <a:t> </a:t>
            </a:r>
            <a:r>
              <a:rPr lang="en-US" sz="4000" dirty="0" err="1">
                <a:latin typeface="Cambria" panose="02040503050406030204" pitchFamily="18" charset="0"/>
              </a:rPr>
              <a:t>ngừng</a:t>
            </a:r>
            <a:r>
              <a:rPr lang="en-US" sz="4000" dirty="0">
                <a:latin typeface="Cambria" panose="02040503050406030204" pitchFamily="18" charset="0"/>
              </a:rPr>
              <a:t> </a:t>
            </a:r>
            <a:r>
              <a:rPr lang="en-US" sz="4000" dirty="0" err="1">
                <a:latin typeface="Cambria" panose="02040503050406030204" pitchFamily="18" charset="0"/>
              </a:rPr>
              <a:t>luôn</a:t>
            </a:r>
            <a:r>
              <a:rPr lang="en-US" sz="4000" dirty="0">
                <a:latin typeface="Cambria" panose="02040503050406030204" pitchFamily="18" charset="0"/>
              </a:rPr>
              <a:t> </a:t>
            </a:r>
            <a:r>
              <a:rPr lang="en-US" sz="4000" dirty="0" err="1">
                <a:latin typeface="Cambria" panose="02040503050406030204" pitchFamily="18" charset="0"/>
              </a:rPr>
              <a:t>vòng</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gặp</a:t>
            </a:r>
            <a:r>
              <a:rPr lang="en-US" sz="4000" dirty="0">
                <a:latin typeface="Cambria" panose="02040503050406030204" pitchFamily="18" charset="0"/>
              </a:rPr>
              <a:t> </a:t>
            </a:r>
            <a:r>
              <a:rPr lang="en-US" sz="4000" b="1" dirty="0">
                <a:latin typeface="Cambria" panose="02040503050406030204" pitchFamily="18" charset="0"/>
              </a:rPr>
              <a:t>continue</a:t>
            </a:r>
            <a:r>
              <a:rPr lang="en-US" sz="4000" dirty="0">
                <a:latin typeface="Cambria" panose="02040503050406030204" pitchFamily="18" charset="0"/>
              </a:rPr>
              <a:t> </a:t>
            </a:r>
            <a:r>
              <a:rPr lang="en-US" sz="4000" dirty="0" err="1">
                <a:latin typeface="Cambria" panose="02040503050406030204" pitchFamily="18" charset="0"/>
              </a:rPr>
              <a:t>chỉ</a:t>
            </a:r>
            <a:r>
              <a:rPr lang="en-US" sz="4000" dirty="0">
                <a:latin typeface="Cambria" panose="02040503050406030204" pitchFamily="18" charset="0"/>
              </a:rPr>
              <a:t> </a:t>
            </a:r>
            <a:r>
              <a:rPr lang="en-US" sz="4000" dirty="0" err="1">
                <a:latin typeface="Cambria" panose="02040503050406030204" pitchFamily="18" charset="0"/>
              </a:rPr>
              <a:t>dừng</a:t>
            </a:r>
            <a:r>
              <a:rPr lang="en-US" sz="4000" dirty="0">
                <a:latin typeface="Cambria" panose="02040503050406030204" pitchFamily="18" charset="0"/>
              </a:rPr>
              <a:t> </a:t>
            </a:r>
            <a:r>
              <a:rPr lang="en-US" sz="4000" dirty="0" err="1">
                <a:latin typeface="Cambria" panose="02040503050406030204" pitchFamily="18" charset="0"/>
              </a:rPr>
              <a:t>lần</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hiện</a:t>
            </a:r>
            <a:r>
              <a:rPr lang="en-US" sz="4000" dirty="0">
                <a:latin typeface="Cambria" panose="02040503050406030204" pitchFamily="18" charset="0"/>
              </a:rPr>
              <a:t> </a:t>
            </a:r>
            <a:r>
              <a:rPr lang="en-US" sz="4000" dirty="0" err="1">
                <a:latin typeface="Cambria" panose="02040503050406030204" pitchFamily="18" charset="0"/>
              </a:rPr>
              <a:t>tại</a:t>
            </a:r>
            <a:r>
              <a:rPr lang="en-US" sz="4000" dirty="0">
                <a:latin typeface="Cambria" panose="02040503050406030204" pitchFamily="18" charset="0"/>
              </a:rPr>
              <a:t> </a:t>
            </a:r>
            <a:r>
              <a:rPr lang="en-US" sz="4000" dirty="0" err="1">
                <a:latin typeface="Cambria" panose="02040503050406030204" pitchFamily="18" charset="0"/>
              </a:rPr>
              <a:t>đang</a:t>
            </a:r>
            <a:r>
              <a:rPr lang="en-US" sz="4000" dirty="0">
                <a:latin typeface="Cambria" panose="02040503050406030204" pitchFamily="18" charset="0"/>
              </a:rPr>
              <a:t> </a:t>
            </a:r>
            <a:r>
              <a:rPr lang="en-US" sz="4000" dirty="0" err="1">
                <a:latin typeface="Cambria" panose="02040503050406030204" pitchFamily="18" charset="0"/>
              </a:rPr>
              <a:t>dở</a:t>
            </a:r>
            <a:r>
              <a:rPr lang="en-US" sz="4000" dirty="0">
                <a:latin typeface="Cambria" panose="02040503050406030204" pitchFamily="18" charset="0"/>
              </a:rPr>
              <a:t> dang </a:t>
            </a:r>
            <a:r>
              <a:rPr lang="en-US" sz="4000" dirty="0" err="1">
                <a:latin typeface="Cambria" panose="02040503050406030204" pitchFamily="18" charset="0"/>
              </a:rPr>
              <a:t>để</a:t>
            </a:r>
            <a:r>
              <a:rPr lang="en-US" sz="4000" dirty="0">
                <a:latin typeface="Cambria" panose="02040503050406030204" pitchFamily="18" charset="0"/>
              </a:rPr>
              <a:t> </a:t>
            </a:r>
            <a:r>
              <a:rPr lang="en-US" sz="4000" dirty="0" err="1">
                <a:latin typeface="Cambria" panose="02040503050406030204" pitchFamily="18" charset="0"/>
              </a:rPr>
              <a:t>chuyển</a:t>
            </a:r>
            <a:r>
              <a:rPr lang="en-US" sz="4000" dirty="0">
                <a:latin typeface="Cambria" panose="02040503050406030204" pitchFamily="18" charset="0"/>
              </a:rPr>
              <a:t> qua </a:t>
            </a:r>
            <a:r>
              <a:rPr lang="en-US" sz="4000" dirty="0" err="1">
                <a:latin typeface="Cambria" panose="02040503050406030204" pitchFamily="18" charset="0"/>
              </a:rPr>
              <a:t>lần</a:t>
            </a:r>
            <a:r>
              <a:rPr lang="en-US" sz="4000" dirty="0">
                <a:latin typeface="Cambria" panose="02040503050406030204" pitchFamily="18" charset="0"/>
              </a:rPr>
              <a:t> </a:t>
            </a:r>
            <a:r>
              <a:rPr lang="en-US" sz="4000" dirty="0" err="1">
                <a:latin typeface="Cambria" panose="02040503050406030204" pitchFamily="18" charset="0"/>
              </a:rPr>
              <a:t>lặp</a:t>
            </a:r>
            <a:r>
              <a:rPr lang="en-US" sz="4000" dirty="0">
                <a:latin typeface="Cambria" panose="02040503050406030204" pitchFamily="18" charset="0"/>
              </a:rPr>
              <a:t> </a:t>
            </a:r>
            <a:r>
              <a:rPr lang="en-US" sz="4000" dirty="0" err="1">
                <a:latin typeface="Cambria" panose="02040503050406030204" pitchFamily="18" charset="0"/>
              </a:rPr>
              <a:t>tiếp</a:t>
            </a:r>
            <a:r>
              <a:rPr lang="en-US" sz="4000" dirty="0">
                <a:latin typeface="Cambria" panose="02040503050406030204" pitchFamily="18" charset="0"/>
              </a:rPr>
              <a:t> </a:t>
            </a:r>
            <a:r>
              <a:rPr lang="en-US" sz="4000" dirty="0" err="1">
                <a:latin typeface="Cambria" panose="02040503050406030204" pitchFamily="18" charset="0"/>
              </a:rPr>
              <a:t>theo.</a:t>
            </a:r>
            <a:endParaRPr lang="en-US" sz="4000" dirty="0">
              <a:latin typeface="Cambria" panose="02040503050406030204" pitchFamily="18" charset="0"/>
            </a:endParaRPr>
          </a:p>
        </p:txBody>
      </p:sp>
    </p:spTree>
    <p:extLst>
      <p:ext uri="{BB962C8B-B14F-4D97-AF65-F5344CB8AC3E}">
        <p14:creationId xmlns:p14="http://schemas.microsoft.com/office/powerpoint/2010/main" val="13950095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4000" b="1" u="sng" dirty="0" err="1">
                <a:latin typeface="Cambria" panose="02040503050406030204" pitchFamily="18" charset="0"/>
              </a:rPr>
              <a:t>Ví</a:t>
            </a:r>
            <a:r>
              <a:rPr lang="en-US" sz="4000" b="1" u="sng" dirty="0">
                <a:latin typeface="Cambria" panose="02040503050406030204" pitchFamily="18" charset="0"/>
              </a:rPr>
              <a:t> </a:t>
            </a:r>
            <a:r>
              <a:rPr lang="en-US" sz="4000" b="1" u="sng" dirty="0" err="1">
                <a:latin typeface="Cambria" panose="02040503050406030204" pitchFamily="18" charset="0"/>
              </a:rPr>
              <a:t>dụ</a:t>
            </a:r>
            <a:r>
              <a:rPr lang="en-US" sz="4000" b="1" u="sng" dirty="0">
                <a:latin typeface="Cambria" panose="02040503050406030204" pitchFamily="18" charset="0"/>
              </a:rPr>
              <a:t>:</a:t>
            </a:r>
          </a:p>
          <a:p>
            <a:pPr marL="0" indent="0" algn="just">
              <a:buNone/>
            </a:pPr>
            <a:r>
              <a:rPr lang="en-US" sz="4000" dirty="0" err="1">
                <a:latin typeface="Cambria" panose="02040503050406030204" pitchFamily="18" charset="0"/>
              </a:rPr>
              <a:t>Tính</a:t>
            </a:r>
            <a:r>
              <a:rPr lang="en-US" sz="4000" dirty="0">
                <a:latin typeface="Cambria" panose="02040503050406030204" pitchFamily="18" charset="0"/>
              </a:rPr>
              <a:t> </a:t>
            </a:r>
            <a:r>
              <a:rPr lang="en-US" sz="4000" dirty="0" err="1">
                <a:latin typeface="Cambria" panose="02040503050406030204" pitchFamily="18" charset="0"/>
              </a:rPr>
              <a:t>tổng</a:t>
            </a:r>
            <a:r>
              <a:rPr lang="en-US" sz="4000" dirty="0">
                <a:latin typeface="Cambria" panose="02040503050406030204" pitchFamily="18" charset="0"/>
              </a:rPr>
              <a:t> </a:t>
            </a:r>
            <a:r>
              <a:rPr lang="en-US" sz="4000" dirty="0" err="1">
                <a:latin typeface="Cambria" panose="02040503050406030204" pitchFamily="18" charset="0"/>
              </a:rPr>
              <a:t>các</a:t>
            </a:r>
            <a:r>
              <a:rPr lang="en-US" sz="4000" dirty="0">
                <a:latin typeface="Cambria" panose="02040503050406030204" pitchFamily="18" charset="0"/>
              </a:rPr>
              <a:t> </a:t>
            </a:r>
            <a:r>
              <a:rPr lang="en-US" sz="4000" dirty="0" err="1">
                <a:latin typeface="Cambria" panose="02040503050406030204" pitchFamily="18" charset="0"/>
              </a:rPr>
              <a:t>chữ</a:t>
            </a:r>
            <a:r>
              <a:rPr lang="en-US" sz="4000" dirty="0">
                <a:latin typeface="Cambria" panose="02040503050406030204" pitchFamily="18" charset="0"/>
              </a:rPr>
              <a:t> </a:t>
            </a:r>
            <a:r>
              <a:rPr lang="en-US" sz="4000" dirty="0" err="1">
                <a:latin typeface="Cambria" panose="02040503050406030204" pitchFamily="18" charset="0"/>
              </a:rPr>
              <a:t>số</a:t>
            </a:r>
            <a:r>
              <a:rPr lang="en-US" sz="4000" dirty="0">
                <a:latin typeface="Cambria" panose="02040503050406030204" pitchFamily="18" charset="0"/>
              </a:rPr>
              <a:t> </a:t>
            </a:r>
            <a:r>
              <a:rPr lang="en-US" sz="4000" dirty="0" err="1">
                <a:latin typeface="Cambria" panose="02040503050406030204" pitchFamily="18" charset="0"/>
              </a:rPr>
              <a:t>lẻ</a:t>
            </a:r>
            <a:r>
              <a:rPr lang="en-US" sz="4000" dirty="0">
                <a:latin typeface="Cambria" panose="02040503050406030204" pitchFamily="18" charset="0"/>
              </a:rPr>
              <a:t> </a:t>
            </a:r>
            <a:r>
              <a:rPr lang="en-US" sz="4000" dirty="0" err="1">
                <a:latin typeface="Cambria" panose="02040503050406030204" pitchFamily="18" charset="0"/>
              </a:rPr>
              <a:t>từ</a:t>
            </a:r>
            <a:r>
              <a:rPr lang="en-US" sz="4000" dirty="0">
                <a:latin typeface="Cambria" panose="02040503050406030204" pitchFamily="18" charset="0"/>
              </a:rPr>
              <a:t> 1-&gt;15, </a:t>
            </a:r>
            <a:r>
              <a:rPr lang="en-US" sz="4000" dirty="0" err="1">
                <a:latin typeface="Cambria" panose="02040503050406030204" pitchFamily="18" charset="0"/>
              </a:rPr>
              <a:t>ngoại</a:t>
            </a:r>
            <a:r>
              <a:rPr lang="en-US" sz="4000" dirty="0">
                <a:latin typeface="Cambria" panose="02040503050406030204" pitchFamily="18" charset="0"/>
              </a:rPr>
              <a:t> </a:t>
            </a:r>
            <a:r>
              <a:rPr lang="en-US" sz="4000" dirty="0" err="1">
                <a:latin typeface="Cambria" panose="02040503050406030204" pitchFamily="18" charset="0"/>
              </a:rPr>
              <a:t>trừ</a:t>
            </a:r>
            <a:r>
              <a:rPr lang="en-US" sz="4000" dirty="0">
                <a:latin typeface="Cambria" panose="02040503050406030204" pitchFamily="18" charset="0"/>
              </a:rPr>
              <a:t> </a:t>
            </a:r>
            <a:r>
              <a:rPr lang="en-US" sz="4000" dirty="0" err="1">
                <a:latin typeface="Cambria" panose="02040503050406030204" pitchFamily="18" charset="0"/>
              </a:rPr>
              <a:t>số</a:t>
            </a:r>
            <a:r>
              <a:rPr lang="en-US" sz="4000" dirty="0">
                <a:latin typeface="Cambria" panose="02040503050406030204" pitchFamily="18" charset="0"/>
              </a:rPr>
              <a:t> 3 </a:t>
            </a:r>
            <a:r>
              <a:rPr lang="en-US" sz="4000" dirty="0" err="1">
                <a:latin typeface="Cambria" panose="02040503050406030204" pitchFamily="18" charset="0"/>
              </a:rPr>
              <a:t>và</a:t>
            </a:r>
            <a:r>
              <a:rPr lang="en-US" sz="4000" dirty="0">
                <a:latin typeface="Cambria" panose="02040503050406030204" pitchFamily="18" charset="0"/>
              </a:rPr>
              <a:t> </a:t>
            </a:r>
            <a:r>
              <a:rPr lang="en-US" sz="4000" dirty="0" err="1">
                <a:latin typeface="Cambria" panose="02040503050406030204" pitchFamily="18" charset="0"/>
              </a:rPr>
              <a:t>số</a:t>
            </a:r>
            <a:r>
              <a:rPr lang="en-US" sz="4000" dirty="0">
                <a:latin typeface="Cambria" panose="02040503050406030204" pitchFamily="18" charset="0"/>
              </a:rPr>
              <a:t> 11</a:t>
            </a:r>
          </a:p>
        </p:txBody>
      </p:sp>
      <p:pic>
        <p:nvPicPr>
          <p:cNvPr id="8" name="Picture 7">
            <a:extLst>
              <a:ext uri="{FF2B5EF4-FFF2-40B4-BE49-F238E27FC236}">
                <a16:creationId xmlns:a16="http://schemas.microsoft.com/office/drawing/2014/main" id="{3B5E2DD3-433B-40CC-88EA-2060FEE5D6F2}"/>
              </a:ext>
            </a:extLst>
          </p:cNvPr>
          <p:cNvPicPr>
            <a:picLocks noChangeAspect="1"/>
          </p:cNvPicPr>
          <p:nvPr/>
        </p:nvPicPr>
        <p:blipFill>
          <a:blip r:embed="rId3"/>
          <a:stretch>
            <a:fillRect/>
          </a:stretch>
        </p:blipFill>
        <p:spPr>
          <a:xfrm>
            <a:off x="2899116" y="2819400"/>
            <a:ext cx="6546168" cy="3324226"/>
          </a:xfrm>
          <a:prstGeom prst="rect">
            <a:avLst/>
          </a:prstGeom>
        </p:spPr>
      </p:pic>
    </p:spTree>
    <p:extLst>
      <p:ext uri="{BB962C8B-B14F-4D97-AF65-F5344CB8AC3E}">
        <p14:creationId xmlns:p14="http://schemas.microsoft.com/office/powerpoint/2010/main" val="41097878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Lệnh while...else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7616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a:latin typeface="Cambria" panose="02040503050406030204" pitchFamily="18" charset="0"/>
              </a:rPr>
              <a:t>Python </a:t>
            </a:r>
            <a:r>
              <a:rPr lang="en-US" sz="2800" dirty="0" err="1">
                <a:latin typeface="Cambria" panose="02040503050406030204" pitchFamily="18" charset="0"/>
              </a:rPr>
              <a:t>hỗ</a:t>
            </a:r>
            <a:r>
              <a:rPr lang="en-US" sz="2800" dirty="0">
                <a:latin typeface="Cambria" panose="02040503050406030204" pitchFamily="18" charset="0"/>
              </a:rPr>
              <a:t> </a:t>
            </a:r>
            <a:r>
              <a:rPr lang="en-US" sz="2800" dirty="0" err="1">
                <a:latin typeface="Cambria" panose="02040503050406030204" pitchFamily="18" charset="0"/>
              </a:rPr>
              <a:t>trợ</a:t>
            </a:r>
            <a:r>
              <a:rPr lang="en-US" sz="2800" dirty="0">
                <a:latin typeface="Cambria" panose="02040503050406030204" pitchFamily="18" charset="0"/>
              </a:rPr>
              <a:t> </a:t>
            </a:r>
            <a:r>
              <a:rPr lang="en-US" sz="2800" b="1" dirty="0">
                <a:latin typeface="Cambria" panose="02040503050406030204" pitchFamily="18" charset="0"/>
              </a:rPr>
              <a:t>else block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tr</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hợp</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a:t>
            </a:r>
            <a:r>
              <a:rPr lang="en-US" sz="2800" dirty="0" err="1">
                <a:latin typeface="Cambria" panose="02040503050406030204" pitchFamily="18" charset="0"/>
              </a:rPr>
              <a:t>bình</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tức</a:t>
            </a:r>
            <a:r>
              <a:rPr lang="en-US" sz="2800" dirty="0">
                <a:latin typeface="Cambria" panose="02040503050406030204" pitchFamily="18" charset="0"/>
              </a:rPr>
              <a:t> </a:t>
            </a:r>
            <a:r>
              <a:rPr lang="en-US" sz="2800" dirty="0" err="1">
                <a:latin typeface="Cambria" panose="02040503050406030204" pitchFamily="18" charset="0"/>
              </a:rPr>
              <a:t>là</a:t>
            </a:r>
            <a:r>
              <a:rPr lang="en-US" sz="2800" dirty="0">
                <a:latin typeface="Cambria" panose="02040503050406030204" pitchFamily="18" charset="0"/>
              </a:rPr>
              <a:t> </a:t>
            </a:r>
            <a:r>
              <a:rPr lang="en-US" sz="2800" dirty="0" err="1">
                <a:latin typeface="Cambria" panose="02040503050406030204" pitchFamily="18" charset="0"/>
              </a:rPr>
              <a:t>không</a:t>
            </a:r>
            <a:r>
              <a:rPr lang="en-US" sz="2800" dirty="0">
                <a:latin typeface="Cambria" panose="02040503050406030204" pitchFamily="18" charset="0"/>
              </a:rPr>
              <a:t> </a:t>
            </a:r>
            <a:r>
              <a:rPr lang="en-US" sz="2800" dirty="0" err="1">
                <a:latin typeface="Cambria" panose="02040503050406030204" pitchFamily="18" charset="0"/>
              </a:rPr>
              <a:t>phải</a:t>
            </a:r>
            <a:r>
              <a:rPr lang="en-US" sz="2800" dirty="0">
                <a:latin typeface="Cambria" panose="02040503050406030204" pitchFamily="18" charset="0"/>
              </a:rPr>
              <a:t> </a:t>
            </a:r>
            <a:r>
              <a:rPr lang="en-US" sz="2800" dirty="0" err="1">
                <a:latin typeface="Cambria" panose="02040503050406030204" pitchFamily="18" charset="0"/>
              </a:rPr>
              <a:t>dùng</a:t>
            </a:r>
            <a:r>
              <a:rPr lang="en-US" sz="2800" dirty="0">
                <a:latin typeface="Cambria" panose="02040503050406030204" pitchFamily="18" charset="0"/>
              </a:rPr>
              <a:t> </a:t>
            </a:r>
            <a:r>
              <a:rPr lang="en-US" sz="2800" b="1" dirty="0">
                <a:latin typeface="Cambria" panose="02040503050406030204" pitchFamily="18" charset="0"/>
              </a:rPr>
              <a:t>break</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a:t>
            </a:r>
          </a:p>
          <a:p>
            <a:pPr marL="1257300" lvl="3"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a:t>
            </a:r>
            <a:r>
              <a:rPr lang="en-US" sz="2800" dirty="0" err="1">
                <a:latin typeface="Cambria" panose="02040503050406030204" pitchFamily="18" charset="0"/>
              </a:rPr>
              <a:t>bình</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b="1" dirty="0">
                <a:latin typeface="Cambria" panose="02040503050406030204" pitchFamily="18" charset="0"/>
              </a:rPr>
              <a:t>else-block</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tự</a:t>
            </a:r>
            <a:r>
              <a:rPr lang="en-US" sz="2800" dirty="0">
                <a:latin typeface="Cambria" panose="02040503050406030204" pitchFamily="18" charset="0"/>
              </a:rPr>
              <a:t> </a:t>
            </a:r>
            <a:r>
              <a:rPr lang="en-US" sz="2800" dirty="0" err="1">
                <a:latin typeface="Cambria" panose="02040503050406030204" pitchFamily="18" charset="0"/>
              </a:rPr>
              <a:t>động</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hiện</a:t>
            </a:r>
            <a:r>
              <a:rPr lang="en-US" sz="2800" dirty="0">
                <a:latin typeface="Cambria" panose="02040503050406030204" pitchFamily="18" charset="0"/>
              </a:rPr>
              <a:t> </a:t>
            </a:r>
            <a:r>
              <a:rPr lang="en-US" sz="2800" dirty="0" err="1">
                <a:latin typeface="Cambria" panose="02040503050406030204" pitchFamily="18" charset="0"/>
              </a:rPr>
              <a:t>ngay</a:t>
            </a:r>
            <a:r>
              <a:rPr lang="en-US" sz="2800" dirty="0">
                <a:latin typeface="Cambria" panose="02040503050406030204" pitchFamily="18" charset="0"/>
              </a:rPr>
              <a:t> </a:t>
            </a:r>
            <a:r>
              <a:rPr lang="en-US" sz="2800" dirty="0" err="1">
                <a:latin typeface="Cambria" panose="02040503050406030204" pitchFamily="18" charset="0"/>
              </a:rPr>
              <a:t>sau</a:t>
            </a:r>
            <a:r>
              <a:rPr lang="en-US" sz="2800" dirty="0">
                <a:latin typeface="Cambria" panose="02040503050406030204" pitchFamily="18" charset="0"/>
              </a:rPr>
              <a:t> </a:t>
            </a:r>
            <a:r>
              <a:rPr lang="en-US" sz="2800" dirty="0" err="1">
                <a:latin typeface="Cambria" panose="02040503050406030204" pitchFamily="18" charset="0"/>
              </a:rPr>
              <a:t>đó</a:t>
            </a:r>
            <a:r>
              <a:rPr lang="en-US" sz="2800" dirty="0">
                <a:latin typeface="Cambria" panose="02040503050406030204" pitchFamily="18" charset="0"/>
              </a:rPr>
              <a:t>.</a:t>
            </a:r>
          </a:p>
        </p:txBody>
      </p:sp>
      <p:sp>
        <p:nvSpPr>
          <p:cNvPr id="8" name="Rectangle 7">
            <a:extLst>
              <a:ext uri="{FF2B5EF4-FFF2-40B4-BE49-F238E27FC236}">
                <a16:creationId xmlns:a16="http://schemas.microsoft.com/office/drawing/2014/main" id="{8D15F2AD-3C89-4518-8ADA-11228AD1BEC0}"/>
              </a:ext>
            </a:extLst>
          </p:cNvPr>
          <p:cNvSpPr/>
          <p:nvPr/>
        </p:nvSpPr>
        <p:spPr>
          <a:xfrm>
            <a:off x="2514600" y="2209800"/>
            <a:ext cx="5181600" cy="1815882"/>
          </a:xfrm>
          <a:prstGeom prst="rect">
            <a:avLst/>
          </a:prstGeom>
          <a:ln>
            <a:solidFill>
              <a:srgbClr val="002060"/>
            </a:solidFill>
          </a:ln>
        </p:spPr>
        <p:txBody>
          <a:bodyPr wrap="square">
            <a:spAutoFit/>
          </a:bodyPr>
          <a:lstStyle/>
          <a:p>
            <a:pPr marL="1257300" lvl="3" indent="0" algn="just">
              <a:buNone/>
            </a:pPr>
            <a:r>
              <a:rPr lang="en-US" sz="2800" dirty="0">
                <a:latin typeface="Cambria" panose="02040503050406030204" pitchFamily="18" charset="0"/>
              </a:rPr>
              <a:t>while </a:t>
            </a:r>
            <a:r>
              <a:rPr lang="en-US" sz="2800" dirty="0">
                <a:solidFill>
                  <a:srgbClr val="FF0000"/>
                </a:solidFill>
                <a:latin typeface="Cambria" panose="02040503050406030204" pitchFamily="18" charset="0"/>
              </a:rPr>
              <a:t>condition</a:t>
            </a:r>
            <a:r>
              <a:rPr lang="en-US" sz="2800" dirty="0">
                <a:latin typeface="Cambria" panose="02040503050406030204" pitchFamily="18" charset="0"/>
              </a:rPr>
              <a:t>:</a:t>
            </a:r>
          </a:p>
          <a:p>
            <a:pPr marL="1257300" lvl="3" indent="0" algn="just">
              <a:buNone/>
            </a:pPr>
            <a:r>
              <a:rPr lang="en-US" sz="2800" dirty="0">
                <a:latin typeface="Cambria" panose="02040503050406030204" pitchFamily="18" charset="0"/>
              </a:rPr>
              <a:t>     while-block</a:t>
            </a:r>
          </a:p>
          <a:p>
            <a:pPr marL="1257300" lvl="3" indent="0" algn="just">
              <a:buNone/>
            </a:pPr>
            <a:r>
              <a:rPr lang="en-US" sz="2800" dirty="0">
                <a:latin typeface="Cambria" panose="02040503050406030204" pitchFamily="18" charset="0"/>
              </a:rPr>
              <a:t>else:</a:t>
            </a:r>
          </a:p>
          <a:p>
            <a:pPr marL="1257300" lvl="3" indent="0" algn="just">
              <a:buNone/>
            </a:pPr>
            <a:r>
              <a:rPr lang="en-US" sz="2800" dirty="0">
                <a:latin typeface="Cambria" panose="02040503050406030204" pitchFamily="18" charset="0"/>
              </a:rPr>
              <a:t>     else-block</a:t>
            </a:r>
          </a:p>
        </p:txBody>
      </p:sp>
    </p:spTree>
    <p:extLst>
      <p:ext uri="{BB962C8B-B14F-4D97-AF65-F5344CB8AC3E}">
        <p14:creationId xmlns:p14="http://schemas.microsoft.com/office/powerpoint/2010/main" val="2111859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err="1">
                <a:latin typeface="Cambria" panose="02040503050406030204" pitchFamily="18" charset="0"/>
              </a:rPr>
              <a:t>Ví</a:t>
            </a:r>
            <a:r>
              <a:rPr lang="en-US" sz="2800" dirty="0">
                <a:latin typeface="Cambria" panose="02040503050406030204" pitchFamily="18" charset="0"/>
              </a:rPr>
              <a:t> </a:t>
            </a:r>
            <a:r>
              <a:rPr lang="en-US" sz="2800" dirty="0" err="1">
                <a:latin typeface="Cambria" panose="02040503050406030204" pitchFamily="18" charset="0"/>
              </a:rPr>
              <a:t>dụ</a:t>
            </a:r>
            <a:r>
              <a:rPr lang="en-US" sz="2800" dirty="0">
                <a:latin typeface="Cambria" panose="02040503050406030204" pitchFamily="18" charset="0"/>
              </a:rPr>
              <a:t>:</a:t>
            </a: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dirty="0" err="1">
                <a:latin typeface="Cambria" panose="02040503050406030204" pitchFamily="18" charset="0"/>
              </a:rPr>
              <a:t>nhập</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b="1" dirty="0">
                <a:latin typeface="Cambria" panose="02040503050406030204" pitchFamily="18" charset="0"/>
              </a:rPr>
              <a:t>&lt;0 </a:t>
            </a:r>
            <a:r>
              <a:rPr lang="en-US" sz="2800" dirty="0" err="1">
                <a:latin typeface="Cambria" panose="02040503050406030204" pitchFamily="18" charset="0"/>
              </a:rPr>
              <a:t>thì</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thoát</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và</a:t>
            </a:r>
            <a:r>
              <a:rPr lang="en-US" sz="2800" dirty="0">
                <a:latin typeface="Cambria" panose="02040503050406030204" pitchFamily="18" charset="0"/>
              </a:rPr>
              <a:t> </a:t>
            </a:r>
            <a:r>
              <a:rPr lang="en-US" sz="2800" dirty="0" err="1">
                <a:latin typeface="Cambria" panose="02040503050406030204" pitchFamily="18" charset="0"/>
              </a:rPr>
              <a:t>bên</a:t>
            </a:r>
            <a:r>
              <a:rPr lang="en-US" sz="2800" dirty="0">
                <a:latin typeface="Cambria" panose="02040503050406030204" pitchFamily="18" charset="0"/>
              </a:rPr>
              <a:t> </a:t>
            </a:r>
            <a:r>
              <a:rPr lang="en-US" sz="2800" dirty="0" err="1">
                <a:latin typeface="Cambria" panose="02040503050406030204" pitchFamily="18" charset="0"/>
              </a:rPr>
              <a:t>trong</a:t>
            </a:r>
            <a:r>
              <a:rPr lang="en-US" sz="2800" dirty="0">
                <a:latin typeface="Cambria" panose="02040503050406030204" pitchFamily="18" charset="0"/>
              </a:rPr>
              <a:t> </a:t>
            </a:r>
            <a:r>
              <a:rPr lang="en-US" sz="2800" b="1" dirty="0">
                <a:latin typeface="Cambria" panose="02040503050406030204" pitchFamily="18" charset="0"/>
              </a:rPr>
              <a:t>else</a:t>
            </a:r>
            <a:r>
              <a:rPr lang="en-US" sz="2800" dirty="0">
                <a:latin typeface="Cambria" panose="02040503050406030204" pitchFamily="18" charset="0"/>
              </a:rPr>
              <a:t> </a:t>
            </a:r>
            <a:r>
              <a:rPr lang="en-US" sz="2800" dirty="0" err="1">
                <a:latin typeface="Cambria" panose="02040503050406030204" pitchFamily="18" charset="0"/>
              </a:rPr>
              <a:t>cũng</a:t>
            </a:r>
            <a:r>
              <a:rPr lang="en-US" sz="2800" dirty="0">
                <a:latin typeface="Cambria" panose="02040503050406030204" pitchFamily="18" charset="0"/>
              </a:rPr>
              <a:t> </a:t>
            </a:r>
            <a:r>
              <a:rPr lang="en-US" sz="2800" dirty="0" err="1">
                <a:latin typeface="Cambria" panose="02040503050406030204" pitchFamily="18" charset="0"/>
              </a:rPr>
              <a:t>không</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thi</a:t>
            </a:r>
            <a:r>
              <a:rPr lang="en-US" sz="2800" dirty="0">
                <a:latin typeface="Cambria" panose="02040503050406030204" pitchFamily="18" charset="0"/>
              </a:rPr>
              <a:t> (do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bằng</a:t>
            </a:r>
            <a:r>
              <a:rPr lang="en-US" sz="2800" dirty="0">
                <a:latin typeface="Cambria" panose="02040503050406030204" pitchFamily="18" charset="0"/>
              </a:rPr>
              <a:t> </a:t>
            </a:r>
            <a:r>
              <a:rPr lang="en-US" sz="2800" dirty="0" err="1">
                <a:latin typeface="Cambria" panose="02040503050406030204" pitchFamily="18" charset="0"/>
              </a:rPr>
              <a:t>lệnh</a:t>
            </a:r>
            <a:r>
              <a:rPr lang="en-US" sz="2800" dirty="0">
                <a:latin typeface="Cambria" panose="02040503050406030204" pitchFamily="18" charset="0"/>
              </a:rPr>
              <a:t> </a:t>
            </a:r>
            <a:r>
              <a:rPr lang="en-US" sz="2800" b="1" dirty="0">
                <a:latin typeface="Cambria" panose="02040503050406030204" pitchFamily="18" charset="0"/>
              </a:rPr>
              <a:t>break</a:t>
            </a:r>
            <a:r>
              <a:rPr lang="en-US" sz="2800" dirty="0">
                <a:latin typeface="Cambria" panose="02040503050406030204" pitchFamily="18" charset="0"/>
              </a:rPr>
              <a:t>). </a:t>
            </a:r>
            <a:r>
              <a:rPr lang="en-US" sz="2800" dirty="0" err="1">
                <a:latin typeface="Cambria" panose="02040503050406030204" pitchFamily="18" charset="0"/>
              </a:rPr>
              <a:t>Nếu</a:t>
            </a:r>
            <a:r>
              <a:rPr lang="en-US" sz="2800" dirty="0">
                <a:latin typeface="Cambria" panose="02040503050406030204" pitchFamily="18" charset="0"/>
              </a:rPr>
              <a:t> </a:t>
            </a:r>
            <a:r>
              <a:rPr lang="en-US" sz="2800" dirty="0" err="1">
                <a:latin typeface="Cambria" panose="02040503050406030204" pitchFamily="18" charset="0"/>
              </a:rPr>
              <a:t>nhập</a:t>
            </a:r>
            <a:r>
              <a:rPr lang="en-US" sz="2800" dirty="0">
                <a:latin typeface="Cambria" panose="02040503050406030204" pitchFamily="18" charset="0"/>
              </a:rPr>
              <a:t> </a:t>
            </a:r>
            <a:r>
              <a:rPr lang="en-US" sz="2800" dirty="0" err="1">
                <a:latin typeface="Cambria" panose="02040503050406030204" pitchFamily="18" charset="0"/>
              </a:rPr>
              <a:t>đúng</a:t>
            </a:r>
            <a:r>
              <a:rPr lang="en-US" sz="2800" dirty="0">
                <a:latin typeface="Cambria" panose="02040503050406030204" pitchFamily="18" charset="0"/>
              </a:rPr>
              <a:t> </a:t>
            </a:r>
            <a:r>
              <a:rPr lang="en-US" sz="2800" dirty="0" err="1">
                <a:latin typeface="Cambria" panose="02040503050406030204" pitchFamily="18" charset="0"/>
              </a:rPr>
              <a:t>toàn</a:t>
            </a:r>
            <a:r>
              <a:rPr lang="en-US" sz="2800" dirty="0">
                <a:latin typeface="Cambria" panose="02040503050406030204" pitchFamily="18" charset="0"/>
              </a:rPr>
              <a:t> </a:t>
            </a:r>
            <a:r>
              <a:rPr lang="en-US" sz="2800" dirty="0" err="1">
                <a:latin typeface="Cambria" panose="02040503050406030204" pitchFamily="18" charset="0"/>
              </a:rPr>
              <a:t>bộ</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r>
              <a:rPr lang="en-US" sz="2800" dirty="0">
                <a:latin typeface="Cambria" panose="02040503050406030204" pitchFamily="18" charset="0"/>
              </a:rPr>
              <a:t>, </a:t>
            </a:r>
            <a:r>
              <a:rPr lang="en-US" sz="2800" dirty="0" err="1">
                <a:latin typeface="Cambria" panose="02040503050406030204" pitchFamily="18" charset="0"/>
              </a:rPr>
              <a:t>sau</a:t>
            </a:r>
            <a:r>
              <a:rPr lang="en-US" sz="2800" dirty="0">
                <a:latin typeface="Cambria" panose="02040503050406030204" pitchFamily="18" charset="0"/>
              </a:rPr>
              <a:t> </a:t>
            </a:r>
            <a:r>
              <a:rPr lang="en-US" sz="2800" dirty="0" err="1">
                <a:latin typeface="Cambria" panose="02040503050406030204" pitchFamily="18" charset="0"/>
              </a:rPr>
              <a:t>khi</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chạy</a:t>
            </a:r>
            <a:r>
              <a:rPr lang="en-US" sz="2800" dirty="0">
                <a:latin typeface="Cambria" panose="02040503050406030204" pitchFamily="18" charset="0"/>
              </a:rPr>
              <a:t> </a:t>
            </a:r>
            <a:r>
              <a:rPr lang="en-US" sz="2800" dirty="0" err="1">
                <a:latin typeface="Cambria" panose="02040503050406030204" pitchFamily="18" charset="0"/>
              </a:rPr>
              <a:t>xong</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else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tự</a:t>
            </a:r>
            <a:r>
              <a:rPr lang="en-US" sz="2800" dirty="0">
                <a:latin typeface="Cambria" panose="02040503050406030204" pitchFamily="18" charset="0"/>
              </a:rPr>
              <a:t> </a:t>
            </a:r>
            <a:r>
              <a:rPr lang="en-US" sz="2800" dirty="0" err="1">
                <a:latin typeface="Cambria" panose="02040503050406030204" pitchFamily="18" charset="0"/>
              </a:rPr>
              <a:t>động</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gọi</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b="1" dirty="0">
                <a:latin typeface="Cambria" panose="02040503050406030204" pitchFamily="18" charset="0"/>
              </a:rPr>
              <a:t>while</a:t>
            </a:r>
            <a:r>
              <a:rPr lang="en-US" sz="2800" dirty="0">
                <a:latin typeface="Cambria" panose="02040503050406030204" pitchFamily="18" charset="0"/>
              </a:rPr>
              <a:t> </a:t>
            </a:r>
            <a:r>
              <a:rPr lang="en-US" sz="2800" dirty="0" err="1">
                <a:latin typeface="Cambria" panose="02040503050406030204" pitchFamily="18" charset="0"/>
              </a:rPr>
              <a:t>bình</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a:t>
            </a:r>
          </a:p>
        </p:txBody>
      </p:sp>
      <p:pic>
        <p:nvPicPr>
          <p:cNvPr id="8" name="Picture 7">
            <a:extLst>
              <a:ext uri="{FF2B5EF4-FFF2-40B4-BE49-F238E27FC236}">
                <a16:creationId xmlns:a16="http://schemas.microsoft.com/office/drawing/2014/main" id="{8FDD7FFA-8CF3-4B54-A1DB-91C5D943CC01}"/>
              </a:ext>
            </a:extLst>
          </p:cNvPr>
          <p:cNvPicPr>
            <a:picLocks noChangeAspect="1"/>
          </p:cNvPicPr>
          <p:nvPr/>
        </p:nvPicPr>
        <p:blipFill>
          <a:blip r:embed="rId3"/>
          <a:stretch>
            <a:fillRect/>
          </a:stretch>
        </p:blipFill>
        <p:spPr>
          <a:xfrm>
            <a:off x="2643187" y="1252538"/>
            <a:ext cx="6905625" cy="3429000"/>
          </a:xfrm>
          <a:prstGeom prst="rect">
            <a:avLst/>
          </a:prstGeom>
        </p:spPr>
      </p:pic>
    </p:spTree>
    <p:extLst>
      <p:ext uri="{BB962C8B-B14F-4D97-AF65-F5344CB8AC3E}">
        <p14:creationId xmlns:p14="http://schemas.microsoft.com/office/powerpoint/2010/main" val="14373494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Lệnh for...else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5220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dirty="0">
                <a:latin typeface="Cambria" panose="02040503050406030204" pitchFamily="18" charset="0"/>
              </a:rPr>
              <a:t>Python</a:t>
            </a:r>
            <a:r>
              <a:rPr lang="en-US" sz="2800" dirty="0">
                <a:latin typeface="Cambria" panose="02040503050406030204" pitchFamily="18" charset="0"/>
              </a:rPr>
              <a:t> </a:t>
            </a:r>
            <a:r>
              <a:rPr lang="en-US" sz="2800" dirty="0" err="1">
                <a:latin typeface="Cambria" panose="02040503050406030204" pitchFamily="18" charset="0"/>
              </a:rPr>
              <a:t>hỗ</a:t>
            </a:r>
            <a:r>
              <a:rPr lang="en-US" sz="2800" dirty="0">
                <a:latin typeface="Cambria" panose="02040503050406030204" pitchFamily="18" charset="0"/>
              </a:rPr>
              <a:t> </a:t>
            </a:r>
            <a:r>
              <a:rPr lang="en-US" sz="2800" dirty="0" err="1">
                <a:latin typeface="Cambria" panose="02040503050406030204" pitchFamily="18" charset="0"/>
              </a:rPr>
              <a:t>trợ</a:t>
            </a:r>
            <a:r>
              <a:rPr lang="en-US" sz="2800" dirty="0">
                <a:latin typeface="Cambria" panose="02040503050406030204" pitchFamily="18" charset="0"/>
              </a:rPr>
              <a:t> </a:t>
            </a:r>
            <a:r>
              <a:rPr lang="en-US" sz="2800" b="1" dirty="0">
                <a:latin typeface="Cambria" panose="02040503050406030204" pitchFamily="18" charset="0"/>
              </a:rPr>
              <a:t>else block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tr</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hợp</a:t>
            </a:r>
            <a:r>
              <a:rPr lang="en-US" sz="2800" dirty="0">
                <a:latin typeface="Cambria" panose="02040503050406030204" pitchFamily="18" charset="0"/>
              </a:rPr>
              <a:t> </a:t>
            </a:r>
            <a:r>
              <a:rPr lang="en-US" sz="2800" b="1" dirty="0">
                <a:latin typeface="Cambria" panose="02040503050406030204" pitchFamily="18" charset="0"/>
              </a:rPr>
              <a:t>for</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a:t>
            </a:r>
            <a:r>
              <a:rPr lang="en-US" sz="2800" dirty="0" err="1">
                <a:latin typeface="Cambria" panose="02040503050406030204" pitchFamily="18" charset="0"/>
              </a:rPr>
              <a:t>bình</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tức</a:t>
            </a:r>
            <a:r>
              <a:rPr lang="en-US" sz="2800" dirty="0">
                <a:latin typeface="Cambria" panose="02040503050406030204" pitchFamily="18" charset="0"/>
              </a:rPr>
              <a:t> </a:t>
            </a:r>
            <a:r>
              <a:rPr lang="en-US" sz="2800" dirty="0" err="1">
                <a:latin typeface="Cambria" panose="02040503050406030204" pitchFamily="18" charset="0"/>
              </a:rPr>
              <a:t>là</a:t>
            </a:r>
            <a:r>
              <a:rPr lang="en-US" sz="2800" dirty="0">
                <a:latin typeface="Cambria" panose="02040503050406030204" pitchFamily="18" charset="0"/>
              </a:rPr>
              <a:t> </a:t>
            </a:r>
            <a:r>
              <a:rPr lang="en-US" sz="2800" dirty="0" err="1">
                <a:latin typeface="Cambria" panose="02040503050406030204" pitchFamily="18" charset="0"/>
              </a:rPr>
              <a:t>không</a:t>
            </a:r>
            <a:r>
              <a:rPr lang="en-US" sz="2800" dirty="0">
                <a:latin typeface="Cambria" panose="02040503050406030204" pitchFamily="18" charset="0"/>
              </a:rPr>
              <a:t> </a:t>
            </a:r>
            <a:r>
              <a:rPr lang="en-US" sz="2800" dirty="0" err="1">
                <a:latin typeface="Cambria" panose="02040503050406030204" pitchFamily="18" charset="0"/>
              </a:rPr>
              <a:t>phải</a:t>
            </a:r>
            <a:r>
              <a:rPr lang="en-US" sz="2800" dirty="0">
                <a:latin typeface="Cambria" panose="02040503050406030204" pitchFamily="18" charset="0"/>
              </a:rPr>
              <a:t> </a:t>
            </a:r>
            <a:r>
              <a:rPr lang="en-US" sz="2800" dirty="0" err="1">
                <a:latin typeface="Cambria" panose="02040503050406030204" pitchFamily="18" charset="0"/>
              </a:rPr>
              <a:t>dùng</a:t>
            </a:r>
            <a:r>
              <a:rPr lang="en-US" sz="2800" dirty="0">
                <a:latin typeface="Cambria" panose="02040503050406030204" pitchFamily="18" charset="0"/>
              </a:rPr>
              <a:t> </a:t>
            </a:r>
            <a:r>
              <a:rPr lang="en-US" sz="2800" b="1" dirty="0">
                <a:latin typeface="Cambria" panose="02040503050406030204" pitchFamily="18" charset="0"/>
              </a:rPr>
              <a:t>break</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a:t>
            </a:r>
          </a:p>
          <a:p>
            <a:pPr marL="1257300" lvl="3"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b="1" dirty="0">
                <a:latin typeface="Cambria" panose="02040503050406030204" pitchFamily="18" charset="0"/>
              </a:rPr>
              <a:t>for</a:t>
            </a:r>
            <a:r>
              <a:rPr lang="en-US" sz="2800" dirty="0">
                <a:latin typeface="Cambria" panose="02040503050406030204" pitchFamily="18" charset="0"/>
              </a:rPr>
              <a:t> </a:t>
            </a:r>
            <a:r>
              <a:rPr lang="en-US" sz="2800" dirty="0" err="1">
                <a:latin typeface="Cambria" panose="02040503050406030204" pitchFamily="18" charset="0"/>
              </a:rPr>
              <a:t>kết</a:t>
            </a:r>
            <a:r>
              <a:rPr lang="en-US" sz="2800" dirty="0">
                <a:latin typeface="Cambria" panose="02040503050406030204" pitchFamily="18" charset="0"/>
              </a:rPr>
              <a:t> </a:t>
            </a:r>
            <a:r>
              <a:rPr lang="en-US" sz="2800" dirty="0" err="1">
                <a:latin typeface="Cambria" panose="02040503050406030204" pitchFamily="18" charset="0"/>
              </a:rPr>
              <a:t>thúc</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a:t>
            </a:r>
            <a:r>
              <a:rPr lang="en-US" sz="2800" dirty="0" err="1">
                <a:latin typeface="Cambria" panose="02040503050406030204" pitchFamily="18" charset="0"/>
              </a:rPr>
              <a:t>bình</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err="1">
                <a:latin typeface="Cambria" panose="02040503050406030204" pitchFamily="18" charset="0"/>
              </a:rPr>
              <a:t>ờng</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b="1" dirty="0">
                <a:latin typeface="Cambria" panose="02040503050406030204" pitchFamily="18" charset="0"/>
              </a:rPr>
              <a:t>else-block</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tự</a:t>
            </a:r>
            <a:r>
              <a:rPr lang="en-US" sz="2800" dirty="0">
                <a:latin typeface="Cambria" panose="02040503050406030204" pitchFamily="18" charset="0"/>
              </a:rPr>
              <a:t> </a:t>
            </a:r>
            <a:r>
              <a:rPr lang="en-US" sz="2800" dirty="0" err="1">
                <a:latin typeface="Cambria" panose="02040503050406030204" pitchFamily="18" charset="0"/>
              </a:rPr>
              <a:t>động</a:t>
            </a:r>
            <a:r>
              <a:rPr lang="en-US" sz="2800" dirty="0">
                <a:latin typeface="Cambria" panose="02040503050406030204" pitchFamily="18" charset="0"/>
              </a:rPr>
              <a:t> 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hiện</a:t>
            </a:r>
            <a:r>
              <a:rPr lang="en-US" sz="2800" dirty="0">
                <a:latin typeface="Cambria" panose="02040503050406030204" pitchFamily="18" charset="0"/>
              </a:rPr>
              <a:t> </a:t>
            </a:r>
            <a:r>
              <a:rPr lang="en-US" sz="2800" dirty="0" err="1">
                <a:latin typeface="Cambria" panose="02040503050406030204" pitchFamily="18" charset="0"/>
              </a:rPr>
              <a:t>ngay</a:t>
            </a:r>
            <a:r>
              <a:rPr lang="en-US" sz="2800" dirty="0">
                <a:latin typeface="Cambria" panose="02040503050406030204" pitchFamily="18" charset="0"/>
              </a:rPr>
              <a:t> </a:t>
            </a:r>
            <a:r>
              <a:rPr lang="en-US" sz="2800" dirty="0" err="1">
                <a:latin typeface="Cambria" panose="02040503050406030204" pitchFamily="18" charset="0"/>
              </a:rPr>
              <a:t>sau</a:t>
            </a:r>
            <a:r>
              <a:rPr lang="en-US" sz="2800" dirty="0">
                <a:latin typeface="Cambria" panose="02040503050406030204" pitchFamily="18" charset="0"/>
              </a:rPr>
              <a:t> </a:t>
            </a:r>
            <a:r>
              <a:rPr lang="en-US" sz="2800" dirty="0" err="1">
                <a:latin typeface="Cambria" panose="02040503050406030204" pitchFamily="18" charset="0"/>
              </a:rPr>
              <a:t>đó</a:t>
            </a:r>
            <a:r>
              <a:rPr lang="en-US" sz="2800" dirty="0">
                <a:latin typeface="Cambria" panose="02040503050406030204" pitchFamily="18" charset="0"/>
              </a:rPr>
              <a:t>.</a:t>
            </a:r>
          </a:p>
        </p:txBody>
      </p:sp>
      <p:sp>
        <p:nvSpPr>
          <p:cNvPr id="8" name="Rectangle 7">
            <a:extLst>
              <a:ext uri="{FF2B5EF4-FFF2-40B4-BE49-F238E27FC236}">
                <a16:creationId xmlns:a16="http://schemas.microsoft.com/office/drawing/2014/main" id="{8D15F2AD-3C89-4518-8ADA-11228AD1BEC0}"/>
              </a:ext>
            </a:extLst>
          </p:cNvPr>
          <p:cNvSpPr/>
          <p:nvPr/>
        </p:nvSpPr>
        <p:spPr>
          <a:xfrm>
            <a:off x="2514600" y="2209800"/>
            <a:ext cx="4648200" cy="1815882"/>
          </a:xfrm>
          <a:prstGeom prst="rect">
            <a:avLst/>
          </a:prstGeom>
          <a:ln>
            <a:solidFill>
              <a:srgbClr val="002060"/>
            </a:solidFill>
          </a:ln>
        </p:spPr>
        <p:txBody>
          <a:bodyPr wrap="square">
            <a:spAutoFit/>
          </a:bodyPr>
          <a:lstStyle/>
          <a:p>
            <a:pPr marL="1257300" lvl="3" indent="0" algn="just">
              <a:buNone/>
            </a:pPr>
            <a:r>
              <a:rPr lang="en-US" sz="2800">
                <a:latin typeface="Cambria" panose="02040503050406030204" pitchFamily="18" charset="0"/>
              </a:rPr>
              <a:t>for </a:t>
            </a:r>
            <a:r>
              <a:rPr lang="en-US" sz="2800">
                <a:solidFill>
                  <a:srgbClr val="FF0000"/>
                </a:solidFill>
                <a:latin typeface="Cambria" panose="02040503050406030204" pitchFamily="18" charset="0"/>
              </a:rPr>
              <a:t>expression</a:t>
            </a:r>
            <a:r>
              <a:rPr lang="en-US" sz="2800">
                <a:latin typeface="Cambria" panose="02040503050406030204" pitchFamily="18" charset="0"/>
              </a:rPr>
              <a:t>:</a:t>
            </a:r>
          </a:p>
          <a:p>
            <a:pPr marL="1257300" lvl="3" indent="0" algn="just">
              <a:buNone/>
            </a:pPr>
            <a:r>
              <a:rPr lang="en-US" sz="2800">
                <a:latin typeface="Cambria" panose="02040503050406030204" pitchFamily="18" charset="0"/>
              </a:rPr>
              <a:t>     for-block</a:t>
            </a:r>
          </a:p>
          <a:p>
            <a:pPr marL="1257300" lvl="3" indent="0" algn="just">
              <a:buNone/>
            </a:pPr>
            <a:r>
              <a:rPr lang="en-US" sz="2800">
                <a:latin typeface="Cambria" panose="02040503050406030204" pitchFamily="18" charset="0"/>
              </a:rPr>
              <a:t>else:</a:t>
            </a:r>
          </a:p>
          <a:p>
            <a:pPr marL="1257300" lvl="3" indent="0" algn="just">
              <a:buNone/>
            </a:pPr>
            <a:r>
              <a:rPr lang="en-US" sz="2800">
                <a:latin typeface="Cambria" panose="02040503050406030204" pitchFamily="18" charset="0"/>
              </a:rPr>
              <a:t>     else-block</a:t>
            </a:r>
          </a:p>
        </p:txBody>
      </p:sp>
    </p:spTree>
    <p:extLst>
      <p:ext uri="{BB962C8B-B14F-4D97-AF65-F5344CB8AC3E}">
        <p14:creationId xmlns:p14="http://schemas.microsoft.com/office/powerpoint/2010/main" val="37047654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dirty="0" err="1">
                <a:latin typeface="Cambria" panose="02040503050406030204" pitchFamily="18" charset="0"/>
              </a:rPr>
              <a:t>Ví</a:t>
            </a:r>
            <a:r>
              <a:rPr lang="en-US" sz="2800" b="1" u="sng" dirty="0">
                <a:latin typeface="Cambria" panose="02040503050406030204" pitchFamily="18" charset="0"/>
              </a:rPr>
              <a:t> </a:t>
            </a:r>
            <a:r>
              <a:rPr lang="en-US" sz="2800" b="1" u="sng" dirty="0" err="1">
                <a:latin typeface="Cambria" panose="02040503050406030204" pitchFamily="18" charset="0"/>
              </a:rPr>
              <a:t>dụ</a:t>
            </a:r>
            <a:r>
              <a:rPr lang="en-US" sz="2800" b="1" u="sng" dirty="0">
                <a:latin typeface="Cambria" panose="02040503050406030204" pitchFamily="18" charset="0"/>
              </a:rPr>
              <a:t>:</a:t>
            </a: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endParaRPr lang="en-US" sz="2800" dirty="0">
              <a:latin typeface="Cambria" panose="02040503050406030204" pitchFamily="18" charset="0"/>
            </a:endParaRPr>
          </a:p>
          <a:p>
            <a:pPr marL="0" indent="0" algn="just">
              <a:buNone/>
            </a:pPr>
            <a:r>
              <a:rPr lang="en-US" sz="2800" dirty="0" err="1">
                <a:latin typeface="Cambria" panose="02040503050406030204" pitchFamily="18" charset="0"/>
              </a:rPr>
              <a:t>Nếu</a:t>
            </a:r>
            <a:r>
              <a:rPr lang="en-US" sz="2800" dirty="0">
                <a:latin typeface="Cambria" panose="02040503050406030204" pitchFamily="18" charset="0"/>
              </a:rPr>
              <a:t> </a:t>
            </a:r>
            <a:r>
              <a:rPr lang="en-US" sz="2800" dirty="0" err="1">
                <a:latin typeface="Cambria" panose="02040503050406030204" pitchFamily="18" charset="0"/>
              </a:rPr>
              <a:t>nhập</a:t>
            </a:r>
            <a:r>
              <a:rPr lang="en-US" sz="2800" b="1" dirty="0">
                <a:latin typeface="Cambria" panose="02040503050406030204" pitchFamily="18" charset="0"/>
              </a:rPr>
              <a:t> a </a:t>
            </a:r>
            <a:r>
              <a:rPr lang="en-US" sz="2800" dirty="0" err="1">
                <a:latin typeface="Cambria" panose="02040503050406030204" pitchFamily="18" charset="0"/>
              </a:rPr>
              <a:t>là</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chẵn</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ra</a:t>
            </a:r>
            <a:r>
              <a:rPr lang="en-US" sz="2800" dirty="0">
                <a:latin typeface="Cambria" panose="02040503050406030204" pitchFamily="18" charset="0"/>
              </a:rPr>
              <a:t> </a:t>
            </a:r>
            <a:r>
              <a:rPr lang="en-US" sz="2800" b="1" dirty="0">
                <a:latin typeface="Cambria" panose="02040503050406030204" pitchFamily="18" charset="0"/>
              </a:rPr>
              <a:t>sum</a:t>
            </a:r>
            <a:r>
              <a:rPr lang="en-US" sz="2800" dirty="0">
                <a:latin typeface="Cambria" panose="02040503050406030204" pitchFamily="18" charset="0"/>
              </a:rPr>
              <a:t>, </a:t>
            </a:r>
            <a:r>
              <a:rPr lang="en-US" sz="2800" dirty="0" err="1">
                <a:latin typeface="Cambria" panose="02040503050406030204" pitchFamily="18" charset="0"/>
              </a:rPr>
              <a:t>còn</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lẻ</a:t>
            </a:r>
            <a:r>
              <a:rPr lang="en-US" sz="2800" dirty="0">
                <a:latin typeface="Cambria" panose="02040503050406030204" pitchFamily="18" charset="0"/>
              </a:rPr>
              <a:t> </a:t>
            </a:r>
            <a:r>
              <a:rPr lang="en-US" sz="2800" dirty="0" err="1">
                <a:latin typeface="Cambria" panose="02040503050406030204" pitchFamily="18" charset="0"/>
              </a:rPr>
              <a:t>không</a:t>
            </a:r>
            <a:r>
              <a:rPr lang="en-US" sz="2800" dirty="0">
                <a:latin typeface="Cambria" panose="02040503050406030204" pitchFamily="18" charset="0"/>
              </a:rPr>
              <a:t> </a:t>
            </a:r>
            <a:r>
              <a:rPr lang="en-US" sz="2800" dirty="0" err="1">
                <a:latin typeface="Cambria" panose="02040503050406030204" pitchFamily="18" charset="0"/>
              </a:rPr>
              <a:t>ra</a:t>
            </a:r>
            <a:r>
              <a:rPr lang="en-US" sz="2800" dirty="0">
                <a:latin typeface="Cambria" panose="02040503050406030204" pitchFamily="18" charset="0"/>
              </a:rPr>
              <a:t> </a:t>
            </a:r>
            <a:r>
              <a:rPr lang="en-US" sz="2800" b="1" dirty="0">
                <a:latin typeface="Cambria" panose="02040503050406030204" pitchFamily="18" charset="0"/>
              </a:rPr>
              <a:t>sum</a:t>
            </a:r>
            <a:r>
              <a:rPr lang="en-US" sz="2800" dirty="0">
                <a:latin typeface="Cambria" panose="02040503050406030204" pitchFamily="18" charset="0"/>
              </a:rPr>
              <a:t> (do </a:t>
            </a:r>
            <a:r>
              <a:rPr lang="en-US" sz="2800" dirty="0" err="1">
                <a:latin typeface="Cambria" panose="02040503050406030204" pitchFamily="18" charset="0"/>
              </a:rPr>
              <a:t>ngừng</a:t>
            </a:r>
            <a:r>
              <a:rPr lang="en-US" sz="2800" dirty="0">
                <a:latin typeface="Cambria" panose="02040503050406030204" pitchFamily="18" charset="0"/>
              </a:rPr>
              <a:t> for </a:t>
            </a:r>
            <a:r>
              <a:rPr lang="en-US" sz="2800" dirty="0" err="1">
                <a:latin typeface="Cambria" panose="02040503050406030204" pitchFamily="18" charset="0"/>
              </a:rPr>
              <a:t>bằng</a:t>
            </a:r>
            <a:r>
              <a:rPr lang="en-US" sz="2800" dirty="0">
                <a:latin typeface="Cambria" panose="02040503050406030204" pitchFamily="18" charset="0"/>
              </a:rPr>
              <a:t> </a:t>
            </a:r>
            <a:r>
              <a:rPr lang="en-US" sz="2800" b="1" dirty="0">
                <a:latin typeface="Cambria" panose="02040503050406030204" pitchFamily="18" charset="0"/>
              </a:rPr>
              <a:t>break</a:t>
            </a:r>
            <a:r>
              <a:rPr lang="en-US" sz="2800" dirty="0">
                <a:latin typeface="Cambria" panose="02040503050406030204" pitchFamily="18" charset="0"/>
              </a:rPr>
              <a:t>)</a:t>
            </a:r>
          </a:p>
        </p:txBody>
      </p:sp>
      <p:pic>
        <p:nvPicPr>
          <p:cNvPr id="9" name="Picture 8">
            <a:extLst>
              <a:ext uri="{FF2B5EF4-FFF2-40B4-BE49-F238E27FC236}">
                <a16:creationId xmlns:a16="http://schemas.microsoft.com/office/drawing/2014/main" id="{416B8668-EA1F-43E8-8684-E97EF4DF1C3E}"/>
              </a:ext>
            </a:extLst>
          </p:cNvPr>
          <p:cNvPicPr>
            <a:picLocks noChangeAspect="1"/>
          </p:cNvPicPr>
          <p:nvPr/>
        </p:nvPicPr>
        <p:blipFill>
          <a:blip r:embed="rId3"/>
          <a:stretch>
            <a:fillRect/>
          </a:stretch>
        </p:blipFill>
        <p:spPr>
          <a:xfrm>
            <a:off x="4038600" y="1295400"/>
            <a:ext cx="4267200" cy="3276600"/>
          </a:xfrm>
          <a:prstGeom prst="rect">
            <a:avLst/>
          </a:prstGeom>
        </p:spPr>
      </p:pic>
    </p:spTree>
    <p:extLst>
      <p:ext uri="{BB962C8B-B14F-4D97-AF65-F5344CB8AC3E}">
        <p14:creationId xmlns:p14="http://schemas.microsoft.com/office/powerpoint/2010/main" val="30227082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Vòng lặp lồng nhau</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1633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Python cũng nh</a:t>
            </a:r>
            <a:r>
              <a:rPr lang="vi-VN" sz="2800">
                <a:latin typeface="Cambria" panose="02040503050406030204" pitchFamily="18" charset="0"/>
              </a:rPr>
              <a:t>ư</a:t>
            </a:r>
            <a:r>
              <a:rPr lang="en-US" sz="2800">
                <a:latin typeface="Cambria" panose="02040503050406030204" pitchFamily="18" charset="0"/>
              </a:rPr>
              <a:t> các ngôn ngữ khác, ta có thể viết các vòng lặp lồng nhau. </a:t>
            </a:r>
          </a:p>
          <a:p>
            <a:pPr marL="0" indent="0" algn="just">
              <a:buNone/>
            </a:pPr>
            <a:endParaRPr lang="en-US" sz="2800">
              <a:latin typeface="Cambria" panose="02040503050406030204" pitchFamily="18" charset="0"/>
            </a:endParaRPr>
          </a:p>
        </p:txBody>
      </p:sp>
      <p:pic>
        <p:nvPicPr>
          <p:cNvPr id="9" name="Picture 8">
            <a:extLst>
              <a:ext uri="{FF2B5EF4-FFF2-40B4-BE49-F238E27FC236}">
                <a16:creationId xmlns:a16="http://schemas.microsoft.com/office/drawing/2014/main" id="{56B681E6-4240-4121-8A8C-17E077AED9CB}"/>
              </a:ext>
            </a:extLst>
          </p:cNvPr>
          <p:cNvPicPr>
            <a:picLocks noChangeAspect="1"/>
          </p:cNvPicPr>
          <p:nvPr/>
        </p:nvPicPr>
        <p:blipFill>
          <a:blip r:embed="rId3"/>
          <a:stretch>
            <a:fillRect/>
          </a:stretch>
        </p:blipFill>
        <p:spPr>
          <a:xfrm>
            <a:off x="842963" y="2514599"/>
            <a:ext cx="5077721" cy="2584287"/>
          </a:xfrm>
          <a:prstGeom prst="rect">
            <a:avLst/>
          </a:prstGeom>
        </p:spPr>
      </p:pic>
      <p:pic>
        <p:nvPicPr>
          <p:cNvPr id="10" name="Picture 9">
            <a:extLst>
              <a:ext uri="{FF2B5EF4-FFF2-40B4-BE49-F238E27FC236}">
                <a16:creationId xmlns:a16="http://schemas.microsoft.com/office/drawing/2014/main" id="{139405AF-A95A-4AD7-BC45-7DD2F94FA2C7}"/>
              </a:ext>
            </a:extLst>
          </p:cNvPr>
          <p:cNvPicPr>
            <a:picLocks noChangeAspect="1"/>
          </p:cNvPicPr>
          <p:nvPr/>
        </p:nvPicPr>
        <p:blipFill>
          <a:blip r:embed="rId4"/>
          <a:stretch>
            <a:fillRect/>
          </a:stretch>
        </p:blipFill>
        <p:spPr>
          <a:xfrm>
            <a:off x="7924800" y="2514600"/>
            <a:ext cx="2362200" cy="2523718"/>
          </a:xfrm>
          <a:prstGeom prst="rect">
            <a:avLst/>
          </a:prstGeom>
        </p:spPr>
      </p:pic>
      <p:sp>
        <p:nvSpPr>
          <p:cNvPr id="11" name="Arrow: Right 10">
            <a:extLst>
              <a:ext uri="{FF2B5EF4-FFF2-40B4-BE49-F238E27FC236}">
                <a16:creationId xmlns:a16="http://schemas.microsoft.com/office/drawing/2014/main" id="{E8B17C68-34AB-4339-B0EF-A26274406FA5}"/>
              </a:ext>
            </a:extLst>
          </p:cNvPr>
          <p:cNvSpPr/>
          <p:nvPr/>
        </p:nvSpPr>
        <p:spPr>
          <a:xfrm>
            <a:off x="6034393" y="3429000"/>
            <a:ext cx="1776697" cy="54082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40755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57A837-D4F4-43C3-B4A4-A9E6A1E3E3B7}"/>
              </a:ext>
            </a:extLst>
          </p:cNvPr>
          <p:cNvSpPr>
            <a:spLocks noGrp="1"/>
          </p:cNvSpPr>
          <p:nvPr>
            <p:ph type="sldNum" sz="quarter" idx="12"/>
          </p:nvPr>
        </p:nvSpPr>
        <p:spPr/>
        <p:txBody>
          <a:bodyPr/>
          <a:lstStyle/>
          <a:p>
            <a:r>
              <a:rPr lang="en-US"/>
              <a:t>Trang </a:t>
            </a:r>
            <a:fld id="{99166BD8-DA3C-4BE0-9C00-AA0485D1F6DE}" type="slidenum">
              <a:rPr lang="en-US" smtClean="0"/>
              <a:pPr/>
              <a:t>80</a:t>
            </a:fld>
            <a:endParaRPr lang="en-US"/>
          </a:p>
        </p:txBody>
      </p:sp>
      <p:graphicFrame>
        <p:nvGraphicFramePr>
          <p:cNvPr id="3" name="Table 2">
            <a:extLst>
              <a:ext uri="{FF2B5EF4-FFF2-40B4-BE49-F238E27FC236}">
                <a16:creationId xmlns:a16="http://schemas.microsoft.com/office/drawing/2014/main" id="{2B0F18C0-6805-4DD3-9A1F-D43BBBA01D7A}"/>
              </a:ext>
            </a:extLst>
          </p:cNvPr>
          <p:cNvGraphicFramePr>
            <a:graphicFrameLocks noGrp="1"/>
          </p:cNvGraphicFramePr>
          <p:nvPr>
            <p:extLst/>
          </p:nvPr>
        </p:nvGraphicFramePr>
        <p:xfrm>
          <a:off x="3962400" y="1447800"/>
          <a:ext cx="3378200" cy="3699936"/>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537243764"/>
                    </a:ext>
                  </a:extLst>
                </a:gridCol>
                <a:gridCol w="463550">
                  <a:extLst>
                    <a:ext uri="{9D8B030D-6E8A-4147-A177-3AD203B41FA5}">
                      <a16:colId xmlns:a16="http://schemas.microsoft.com/office/drawing/2014/main" val="4053411036"/>
                    </a:ext>
                  </a:extLst>
                </a:gridCol>
                <a:gridCol w="422275">
                  <a:extLst>
                    <a:ext uri="{9D8B030D-6E8A-4147-A177-3AD203B41FA5}">
                      <a16:colId xmlns:a16="http://schemas.microsoft.com/office/drawing/2014/main" val="408819524"/>
                    </a:ext>
                  </a:extLst>
                </a:gridCol>
                <a:gridCol w="422275">
                  <a:extLst>
                    <a:ext uri="{9D8B030D-6E8A-4147-A177-3AD203B41FA5}">
                      <a16:colId xmlns:a16="http://schemas.microsoft.com/office/drawing/2014/main" val="1422806033"/>
                    </a:ext>
                  </a:extLst>
                </a:gridCol>
                <a:gridCol w="422275">
                  <a:extLst>
                    <a:ext uri="{9D8B030D-6E8A-4147-A177-3AD203B41FA5}">
                      <a16:colId xmlns:a16="http://schemas.microsoft.com/office/drawing/2014/main" val="400260457"/>
                    </a:ext>
                  </a:extLst>
                </a:gridCol>
                <a:gridCol w="422275">
                  <a:extLst>
                    <a:ext uri="{9D8B030D-6E8A-4147-A177-3AD203B41FA5}">
                      <a16:colId xmlns:a16="http://schemas.microsoft.com/office/drawing/2014/main" val="1523164971"/>
                    </a:ext>
                  </a:extLst>
                </a:gridCol>
                <a:gridCol w="422275">
                  <a:extLst>
                    <a:ext uri="{9D8B030D-6E8A-4147-A177-3AD203B41FA5}">
                      <a16:colId xmlns:a16="http://schemas.microsoft.com/office/drawing/2014/main" val="513099437"/>
                    </a:ext>
                  </a:extLst>
                </a:gridCol>
                <a:gridCol w="422275">
                  <a:extLst>
                    <a:ext uri="{9D8B030D-6E8A-4147-A177-3AD203B41FA5}">
                      <a16:colId xmlns:a16="http://schemas.microsoft.com/office/drawing/2014/main" val="3241111075"/>
                    </a:ext>
                  </a:extLst>
                </a:gridCol>
              </a:tblGrid>
              <a:tr h="462492">
                <a:tc>
                  <a:txBody>
                    <a:bodyPr/>
                    <a:lstStyle/>
                    <a:p>
                      <a:pPr algn="ctr"/>
                      <a:r>
                        <a:rPr lang="en-US"/>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3933420590"/>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r>
                        <a:rPr lang="en-US"/>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2856473997"/>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endParaRPr lang="en-US"/>
                    </a:p>
                  </a:txBody>
                  <a:tcPr anchor="ctr"/>
                </a:tc>
                <a:tc>
                  <a:txBody>
                    <a:bodyPr/>
                    <a:lstStyle/>
                    <a:p>
                      <a:pPr algn="ctr"/>
                      <a:r>
                        <a:rPr lang="en-US"/>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288237713"/>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3004990262"/>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t>
                      </a:r>
                    </a:p>
                  </a:txBody>
                  <a:tcPr anchor="ctr"/>
                </a:tc>
                <a:tc>
                  <a:txBody>
                    <a:bodyPr/>
                    <a:lstStyle/>
                    <a:p>
                      <a:pPr algn="ctr"/>
                      <a:endParaRPr lang="en-US"/>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581884523"/>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t>
                      </a:r>
                    </a:p>
                  </a:txBody>
                  <a:tcPr anchor="ctr"/>
                </a:tc>
                <a:tc>
                  <a:txBody>
                    <a:bodyPr/>
                    <a:lstStyle/>
                    <a:p>
                      <a:pPr algn="ct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2948162972"/>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txBody>
                  <a:tcPr anchor="ctr"/>
                </a:tc>
                <a:extLst>
                  <a:ext uri="{0D108BD9-81ED-4DB2-BD59-A6C34878D82A}">
                    <a16:rowId xmlns:a16="http://schemas.microsoft.com/office/drawing/2014/main" val="144734537"/>
                  </a:ext>
                </a:extLst>
              </a:tr>
              <a:tr h="4624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tc>
                  <a:txBody>
                    <a:bodyPr/>
                    <a:lstStyle/>
                    <a:p>
                      <a:pPr algn="ctr"/>
                      <a:r>
                        <a:rPr lang="en-US"/>
                        <a:t>*</a:t>
                      </a:r>
                    </a:p>
                  </a:txBody>
                  <a:tcPr anchor="ctr"/>
                </a:tc>
                <a:tc>
                  <a:txBody>
                    <a:bodyPr/>
                    <a:lstStyle/>
                    <a:p>
                      <a:pPr algn="ctr"/>
                      <a:r>
                        <a:rPr lang="en-US"/>
                        <a:t>*</a:t>
                      </a:r>
                    </a:p>
                  </a:txBody>
                  <a:tcPr anchor="ctr"/>
                </a:tc>
                <a:tc>
                  <a:txBody>
                    <a:bodyPr/>
                    <a:lstStyle/>
                    <a:p>
                      <a:pPr algn="ctr"/>
                      <a:r>
                        <a:rPr lang="en-US"/>
                        <a:t>*</a:t>
                      </a:r>
                    </a:p>
                  </a:txBody>
                  <a:tcPr anchor="ctr"/>
                </a:tc>
                <a:tc>
                  <a:txBody>
                    <a:bodyPr/>
                    <a:lstStyle/>
                    <a:p>
                      <a:pPr algn="ctr"/>
                      <a:r>
                        <a:rPr lang="en-US"/>
                        <a:t>*</a:t>
                      </a:r>
                    </a:p>
                  </a:txBody>
                  <a:tcPr anchor="ctr"/>
                </a:tc>
                <a:tc>
                  <a:txBody>
                    <a:bodyPr/>
                    <a:lstStyle/>
                    <a:p>
                      <a:pPr algn="ctr"/>
                      <a:r>
                        <a:rPr lang="en-US"/>
                        <a:t>*</a:t>
                      </a:r>
                    </a:p>
                  </a:txBody>
                  <a:tcPr anchor="ctr"/>
                </a:tc>
                <a:tc>
                  <a:txBody>
                    <a:bodyPr/>
                    <a:lstStyle/>
                    <a:p>
                      <a:pPr algn="ctr"/>
                      <a:r>
                        <a:rPr lang="en-US"/>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p>
                  </a:txBody>
                  <a:tcPr anchor="ctr"/>
                </a:tc>
                <a:extLst>
                  <a:ext uri="{0D108BD9-81ED-4DB2-BD59-A6C34878D82A}">
                    <a16:rowId xmlns:a16="http://schemas.microsoft.com/office/drawing/2014/main" val="3674532264"/>
                  </a:ext>
                </a:extLst>
              </a:tr>
            </a:tbl>
          </a:graphicData>
        </a:graphic>
      </p:graphicFrame>
      <p:sp>
        <p:nvSpPr>
          <p:cNvPr id="4" name="Arrow: Right 3">
            <a:extLst>
              <a:ext uri="{FF2B5EF4-FFF2-40B4-BE49-F238E27FC236}">
                <a16:creationId xmlns:a16="http://schemas.microsoft.com/office/drawing/2014/main" id="{A7FDFAEC-F9F1-47F2-AC40-2069614D35B8}"/>
              </a:ext>
            </a:extLst>
          </p:cNvPr>
          <p:cNvSpPr/>
          <p:nvPr/>
        </p:nvSpPr>
        <p:spPr>
          <a:xfrm>
            <a:off x="2286000" y="1447800"/>
            <a:ext cx="1600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i=0</a:t>
            </a:r>
          </a:p>
        </p:txBody>
      </p:sp>
      <p:sp>
        <p:nvSpPr>
          <p:cNvPr id="5" name="Arrow: Right 4">
            <a:extLst>
              <a:ext uri="{FF2B5EF4-FFF2-40B4-BE49-F238E27FC236}">
                <a16:creationId xmlns:a16="http://schemas.microsoft.com/office/drawing/2014/main" id="{2B6EF329-94B8-4591-80FD-4E6AA60710B6}"/>
              </a:ext>
            </a:extLst>
          </p:cNvPr>
          <p:cNvSpPr/>
          <p:nvPr/>
        </p:nvSpPr>
        <p:spPr>
          <a:xfrm>
            <a:off x="2279374" y="4724401"/>
            <a:ext cx="1600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i=n-1</a:t>
            </a:r>
          </a:p>
        </p:txBody>
      </p:sp>
      <p:sp>
        <p:nvSpPr>
          <p:cNvPr id="6" name="Arrow: Down 5">
            <a:extLst>
              <a:ext uri="{FF2B5EF4-FFF2-40B4-BE49-F238E27FC236}">
                <a16:creationId xmlns:a16="http://schemas.microsoft.com/office/drawing/2014/main" id="{99985D05-A40B-4C8A-9F07-15A2EB56FA19}"/>
              </a:ext>
            </a:extLst>
          </p:cNvPr>
          <p:cNvSpPr/>
          <p:nvPr/>
        </p:nvSpPr>
        <p:spPr>
          <a:xfrm>
            <a:off x="3886200" y="440635"/>
            <a:ext cx="533400" cy="10104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J=0</a:t>
            </a:r>
          </a:p>
        </p:txBody>
      </p:sp>
      <p:sp>
        <p:nvSpPr>
          <p:cNvPr id="7" name="Arrow: Down 6">
            <a:extLst>
              <a:ext uri="{FF2B5EF4-FFF2-40B4-BE49-F238E27FC236}">
                <a16:creationId xmlns:a16="http://schemas.microsoft.com/office/drawing/2014/main" id="{769B125D-6CCB-4E6F-9774-9CB4D7913ACB}"/>
              </a:ext>
            </a:extLst>
          </p:cNvPr>
          <p:cNvSpPr/>
          <p:nvPr/>
        </p:nvSpPr>
        <p:spPr>
          <a:xfrm>
            <a:off x="6658115" y="452231"/>
            <a:ext cx="1117600" cy="10104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J=n-1</a:t>
            </a:r>
          </a:p>
        </p:txBody>
      </p:sp>
    </p:spTree>
    <p:extLst>
      <p:ext uri="{BB962C8B-B14F-4D97-AF65-F5344CB8AC3E}">
        <p14:creationId xmlns:p14="http://schemas.microsoft.com/office/powerpoint/2010/main" val="3926239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a:t>
            </a:r>
          </a:p>
          <a:p>
            <a:pPr>
              <a:defRPr/>
            </a:pPr>
            <a:r>
              <a:rPr lang="en-US" sz="4400" kern="0">
                <a:solidFill>
                  <a:srgbClr val="002060"/>
                </a:solidFill>
                <a:latin typeface="Cambria" panose="02040503050406030204" pitchFamily="18" charset="0"/>
              </a:rPr>
              <a:t>Tính dãy số</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5783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 </a:t>
            </a:r>
          </a:p>
        </p:txBody>
      </p:sp>
      <p:pic>
        <p:nvPicPr>
          <p:cNvPr id="15" name="Picture 14">
            <a:extLst>
              <a:ext uri="{FF2B5EF4-FFF2-40B4-BE49-F238E27FC236}">
                <a16:creationId xmlns:a16="http://schemas.microsoft.com/office/drawing/2014/main" id="{ED2514A2-0492-47D0-BFCE-0EFF0370E3EC}"/>
              </a:ext>
            </a:extLst>
          </p:cNvPr>
          <p:cNvPicPr>
            <a:picLocks noChangeAspect="1"/>
          </p:cNvPicPr>
          <p:nvPr/>
        </p:nvPicPr>
        <p:blipFill>
          <a:blip r:embed="rId3"/>
          <a:stretch>
            <a:fillRect/>
          </a:stretch>
        </p:blipFill>
        <p:spPr>
          <a:xfrm>
            <a:off x="1053935" y="1562079"/>
            <a:ext cx="10236528" cy="1688805"/>
          </a:xfrm>
          <a:prstGeom prst="rect">
            <a:avLst/>
          </a:prstGeom>
        </p:spPr>
      </p:pic>
      <p:sp>
        <p:nvSpPr>
          <p:cNvPr id="8" name="TextBox 7">
            <a:extLst>
              <a:ext uri="{FF2B5EF4-FFF2-40B4-BE49-F238E27FC236}">
                <a16:creationId xmlns:a16="http://schemas.microsoft.com/office/drawing/2014/main" id="{4BA133D2-87FA-4E22-AF04-1975C40405D5}"/>
              </a:ext>
            </a:extLst>
          </p:cNvPr>
          <p:cNvSpPr txBox="1"/>
          <p:nvPr/>
        </p:nvSpPr>
        <p:spPr>
          <a:xfrm>
            <a:off x="839650" y="4166724"/>
            <a:ext cx="10665099" cy="707886"/>
          </a:xfrm>
          <a:prstGeom prst="rect">
            <a:avLst/>
          </a:prstGeom>
          <a:noFill/>
        </p:spPr>
        <p:txBody>
          <a:bodyPr wrap="none" rtlCol="0">
            <a:spAutoFit/>
          </a:bodyPr>
          <a:lstStyle/>
          <a:p>
            <a:r>
              <a:rPr lang="en-US" sz="4000" dirty="0"/>
              <a:t>S(2,3)=2+2</a:t>
            </a:r>
            <a:r>
              <a:rPr lang="en-US" sz="4000" baseline="30000" dirty="0"/>
              <a:t>2</a:t>
            </a:r>
            <a:r>
              <a:rPr lang="en-US" sz="4000" dirty="0"/>
              <a:t>/2!+2</a:t>
            </a:r>
            <a:r>
              <a:rPr lang="en-US" sz="4000" baseline="30000" dirty="0"/>
              <a:t>3</a:t>
            </a:r>
            <a:r>
              <a:rPr lang="en-US" sz="4000" dirty="0"/>
              <a:t>/3!=2+4/2+8/6=2+2+4/3=5.3333</a:t>
            </a:r>
          </a:p>
        </p:txBody>
      </p:sp>
    </p:spTree>
    <p:extLst>
      <p:ext uri="{BB962C8B-B14F-4D97-AF65-F5344CB8AC3E}">
        <p14:creationId xmlns:p14="http://schemas.microsoft.com/office/powerpoint/2010/main" val="3508191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a:t>
            </a:r>
          </a:p>
          <a:p>
            <a:pPr>
              <a:defRPr/>
            </a:pPr>
            <a:r>
              <a:rPr lang="en-US" sz="4400" kern="0">
                <a:solidFill>
                  <a:srgbClr val="002060"/>
                </a:solidFill>
                <a:latin typeface="Cambria" panose="02040503050406030204" pitchFamily="18" charset="0"/>
              </a:rPr>
              <a:t>Kiểm tra số nguyên tố</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4455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err="1">
                <a:latin typeface="Cambria" panose="02040503050406030204" pitchFamily="18" charset="0"/>
              </a:rPr>
              <a:t>Viết</a:t>
            </a:r>
            <a:r>
              <a:rPr lang="en-US" dirty="0">
                <a:latin typeface="Cambria" panose="02040503050406030204" pitchFamily="18" charset="0"/>
              </a:rPr>
              <a:t> </a:t>
            </a:r>
            <a:r>
              <a:rPr lang="en-US" dirty="0" err="1">
                <a:latin typeface="Cambria" panose="02040503050406030204" pitchFamily="18" charset="0"/>
              </a:rPr>
              <a:t>ch</a:t>
            </a:r>
            <a:r>
              <a:rPr lang="vi-VN" dirty="0">
                <a:latin typeface="Cambria" panose="02040503050406030204" pitchFamily="18" charset="0"/>
              </a:rPr>
              <a:t>ư</a:t>
            </a:r>
            <a:r>
              <a:rPr lang="en-US" dirty="0" err="1">
                <a:latin typeface="Cambria" panose="02040503050406030204" pitchFamily="18" charset="0"/>
              </a:rPr>
              <a:t>ơng</a:t>
            </a:r>
            <a:r>
              <a:rPr lang="en-US" dirty="0">
                <a:latin typeface="Cambria" panose="02040503050406030204" pitchFamily="18" charset="0"/>
              </a:rPr>
              <a:t> </a:t>
            </a:r>
            <a:r>
              <a:rPr lang="en-US" dirty="0" err="1">
                <a:latin typeface="Cambria" panose="02040503050406030204" pitchFamily="18" charset="0"/>
              </a:rPr>
              <a:t>trình</a:t>
            </a:r>
            <a:r>
              <a:rPr lang="en-US" dirty="0">
                <a:latin typeface="Cambria" panose="02040503050406030204" pitchFamily="18" charset="0"/>
              </a:rPr>
              <a:t> </a:t>
            </a:r>
            <a:r>
              <a:rPr lang="en-US" dirty="0" err="1">
                <a:latin typeface="Cambria" panose="02040503050406030204" pitchFamily="18" charset="0"/>
              </a:rPr>
              <a:t>nhập</a:t>
            </a:r>
            <a:r>
              <a:rPr lang="en-US" dirty="0">
                <a:latin typeface="Cambria" panose="02040503050406030204" pitchFamily="18" charset="0"/>
              </a:rPr>
              <a:t> </a:t>
            </a:r>
            <a:r>
              <a:rPr lang="en-US" dirty="0" err="1">
                <a:latin typeface="Cambria" panose="02040503050406030204" pitchFamily="18" charset="0"/>
              </a:rPr>
              <a:t>vào</a:t>
            </a:r>
            <a:r>
              <a:rPr lang="en-US" dirty="0">
                <a:latin typeface="Cambria" panose="02040503050406030204" pitchFamily="18" charset="0"/>
              </a:rPr>
              <a: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kiểm</a:t>
            </a:r>
            <a:r>
              <a:rPr lang="en-US" dirty="0">
                <a:latin typeface="Cambria" panose="02040503050406030204" pitchFamily="18" charset="0"/>
              </a:rPr>
              <a:t> </a:t>
            </a:r>
            <a:r>
              <a:rPr lang="en-US" dirty="0" err="1">
                <a:latin typeface="Cambria" panose="02040503050406030204" pitchFamily="18" charset="0"/>
              </a:rPr>
              <a:t>tra</a:t>
            </a:r>
            <a:r>
              <a:rPr lang="en-US" dirty="0">
                <a:latin typeface="Cambria" panose="02040503050406030204" pitchFamily="18" charset="0"/>
              </a:rPr>
              <a:t> </a:t>
            </a:r>
            <a:r>
              <a:rPr lang="en-US" dirty="0" err="1">
                <a:latin typeface="Cambria" panose="02040503050406030204" pitchFamily="18" charset="0"/>
              </a:rPr>
              <a:t>xem</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này</a:t>
            </a:r>
            <a:r>
              <a:rPr lang="en-US" dirty="0">
                <a:latin typeface="Cambria" panose="02040503050406030204" pitchFamily="18" charset="0"/>
              </a:rPr>
              <a:t> </a:t>
            </a:r>
            <a:r>
              <a:rPr lang="en-US" dirty="0" err="1">
                <a:latin typeface="Cambria" panose="02040503050406030204" pitchFamily="18" charset="0"/>
              </a:rPr>
              <a:t>có</a:t>
            </a:r>
            <a:r>
              <a:rPr lang="en-US" dirty="0">
                <a:latin typeface="Cambria" panose="02040503050406030204" pitchFamily="18" charset="0"/>
              </a:rPr>
              <a:t> </a:t>
            </a:r>
            <a:r>
              <a:rPr lang="en-US" dirty="0" err="1">
                <a:latin typeface="Cambria" panose="02040503050406030204" pitchFamily="18" charset="0"/>
              </a:rPr>
              <a:t>phải</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nguyên</a:t>
            </a:r>
            <a:r>
              <a:rPr lang="en-US" dirty="0">
                <a:latin typeface="Cambria" panose="02040503050406030204" pitchFamily="18" charset="0"/>
              </a:rPr>
              <a:t> </a:t>
            </a:r>
            <a:r>
              <a:rPr lang="en-US" dirty="0" err="1">
                <a:latin typeface="Cambria" panose="02040503050406030204" pitchFamily="18" charset="0"/>
              </a:rPr>
              <a:t>tố</a:t>
            </a:r>
            <a:r>
              <a:rPr lang="en-US" dirty="0">
                <a:latin typeface="Cambria" panose="02040503050406030204" pitchFamily="18" charset="0"/>
              </a:rPr>
              <a:t> hay </a:t>
            </a:r>
            <a:r>
              <a:rPr lang="en-US" dirty="0" err="1">
                <a:latin typeface="Cambria" panose="02040503050406030204" pitchFamily="18" charset="0"/>
              </a:rPr>
              <a:t>không</a:t>
            </a:r>
            <a:r>
              <a:rPr lang="en-US" dirty="0">
                <a:latin typeface="Cambria" panose="02040503050406030204" pitchFamily="18" charset="0"/>
              </a:rPr>
              <a:t>. </a:t>
            </a:r>
          </a:p>
          <a:p>
            <a:pPr marL="0" indent="0" algn="just">
              <a:buNone/>
            </a:pPr>
            <a:r>
              <a:rPr lang="en-US" dirty="0" err="1">
                <a:latin typeface="Cambria" panose="02040503050406030204" pitchFamily="18" charset="0"/>
              </a:rPr>
              <a:t>Hỏi</a:t>
            </a:r>
            <a:r>
              <a:rPr lang="en-US" dirty="0">
                <a:latin typeface="Cambria" panose="02040503050406030204" pitchFamily="18" charset="0"/>
              </a:rPr>
              <a:t> </a:t>
            </a:r>
            <a:r>
              <a:rPr lang="en-US" dirty="0" err="1">
                <a:latin typeface="Cambria" panose="02040503050406030204" pitchFamily="18" charset="0"/>
              </a:rPr>
              <a:t>ng</a:t>
            </a:r>
            <a:r>
              <a:rPr lang="vi-VN" dirty="0">
                <a:latin typeface="Cambria" panose="02040503050406030204" pitchFamily="18" charset="0"/>
              </a:rPr>
              <a:t>ư</a:t>
            </a:r>
            <a:r>
              <a:rPr lang="en-US" dirty="0" err="1">
                <a:latin typeface="Cambria" panose="02040503050406030204" pitchFamily="18" charset="0"/>
              </a:rPr>
              <a:t>ời</a:t>
            </a:r>
            <a:r>
              <a:rPr lang="en-US" dirty="0">
                <a:latin typeface="Cambria" panose="02040503050406030204" pitchFamily="18" charset="0"/>
              </a:rPr>
              <a:t> </a:t>
            </a:r>
            <a:r>
              <a:rPr lang="en-US" dirty="0" err="1">
                <a:latin typeface="Cambria" panose="02040503050406030204" pitchFamily="18" charset="0"/>
              </a:rPr>
              <a:t>dùng</a:t>
            </a:r>
            <a:r>
              <a:rPr lang="en-US" dirty="0">
                <a:latin typeface="Cambria" panose="02040503050406030204" pitchFamily="18" charset="0"/>
              </a:rPr>
              <a:t> </a:t>
            </a:r>
            <a:r>
              <a:rPr lang="en-US" dirty="0" err="1">
                <a:latin typeface="Cambria" panose="02040503050406030204" pitchFamily="18" charset="0"/>
              </a:rPr>
              <a:t>có</a:t>
            </a:r>
            <a:r>
              <a:rPr lang="en-US" dirty="0">
                <a:latin typeface="Cambria" panose="02040503050406030204" pitchFamily="18" charset="0"/>
              </a:rPr>
              <a:t> </a:t>
            </a:r>
            <a:r>
              <a:rPr lang="en-US" dirty="0" err="1">
                <a:latin typeface="Cambria" panose="02040503050406030204" pitchFamily="18" charset="0"/>
              </a:rPr>
              <a:t>tiếp</a:t>
            </a:r>
            <a:r>
              <a:rPr lang="en-US" dirty="0">
                <a:latin typeface="Cambria" panose="02040503050406030204" pitchFamily="18" charset="0"/>
              </a:rPr>
              <a:t> </a:t>
            </a:r>
            <a:r>
              <a:rPr lang="en-US" dirty="0" err="1">
                <a:latin typeface="Cambria" panose="02040503050406030204" pitchFamily="18" charset="0"/>
              </a:rPr>
              <a:t>tục</a:t>
            </a:r>
            <a:r>
              <a:rPr lang="en-US" dirty="0">
                <a:latin typeface="Cambria" panose="02040503050406030204" pitchFamily="18" charset="0"/>
              </a:rPr>
              <a:t> </a:t>
            </a:r>
            <a:r>
              <a:rPr lang="en-US" dirty="0" err="1">
                <a:latin typeface="Cambria" panose="02040503050406030204" pitchFamily="18" charset="0"/>
              </a:rPr>
              <a:t>sử</a:t>
            </a:r>
            <a:r>
              <a:rPr lang="en-US" dirty="0">
                <a:latin typeface="Cambria" panose="02040503050406030204" pitchFamily="18" charset="0"/>
              </a:rPr>
              <a:t> </a:t>
            </a:r>
            <a:r>
              <a:rPr lang="en-US" dirty="0" err="1">
                <a:latin typeface="Cambria" panose="02040503050406030204" pitchFamily="18" charset="0"/>
              </a:rPr>
              <a:t>dụng</a:t>
            </a:r>
            <a:r>
              <a:rPr lang="en-US" dirty="0">
                <a:latin typeface="Cambria" panose="02040503050406030204" pitchFamily="18" charset="0"/>
              </a:rPr>
              <a:t> hay </a:t>
            </a:r>
            <a:r>
              <a:rPr lang="en-US" dirty="0" err="1">
                <a:latin typeface="Cambria" panose="02040503050406030204" pitchFamily="18" charset="0"/>
              </a:rPr>
              <a:t>thoát</a:t>
            </a:r>
            <a:r>
              <a:rPr lang="en-US" dirty="0">
                <a:latin typeface="Cambria" panose="02040503050406030204" pitchFamily="18" charset="0"/>
              </a:rPr>
              <a:t> </a:t>
            </a:r>
            <a:r>
              <a:rPr lang="en-US" dirty="0" err="1">
                <a:latin typeface="Cambria" panose="02040503050406030204" pitchFamily="18" charset="0"/>
              </a:rPr>
              <a:t>phần</a:t>
            </a:r>
            <a:r>
              <a:rPr lang="en-US" dirty="0">
                <a:latin typeface="Cambria" panose="02040503050406030204" pitchFamily="18" charset="0"/>
              </a:rPr>
              <a:t> </a:t>
            </a:r>
            <a:r>
              <a:rPr lang="en-US" dirty="0" err="1">
                <a:latin typeface="Cambria" panose="02040503050406030204" pitchFamily="18" charset="0"/>
              </a:rPr>
              <a:t>mềm</a:t>
            </a:r>
            <a:r>
              <a:rPr lang="en-US" dirty="0">
                <a:latin typeface="Cambria" panose="02040503050406030204" pitchFamily="18" charset="0"/>
              </a:rPr>
              <a:t>.</a:t>
            </a:r>
          </a:p>
        </p:txBody>
      </p:sp>
    </p:spTree>
    <p:extLst>
      <p:ext uri="{BB962C8B-B14F-4D97-AF65-F5344CB8AC3E}">
        <p14:creationId xmlns:p14="http://schemas.microsoft.com/office/powerpoint/2010/main" val="27872345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a:t>
            </a:r>
          </a:p>
          <a:p>
            <a:pPr>
              <a:defRPr/>
            </a:pPr>
            <a:r>
              <a:rPr lang="en-US" sz="4400" kern="0">
                <a:solidFill>
                  <a:srgbClr val="002060"/>
                </a:solidFill>
                <a:latin typeface="Cambria" panose="02040503050406030204" pitchFamily="18" charset="0"/>
              </a:rPr>
              <a:t>Xuất bảng cửu chư</a:t>
            </a:r>
            <a:r>
              <a:rPr lang="vi-VN" sz="4400" kern="0">
                <a:solidFill>
                  <a:srgbClr val="002060"/>
                </a:solidFill>
                <a:latin typeface="Cambria" panose="02040503050406030204" pitchFamily="18" charset="0"/>
              </a:rPr>
              <a:t>ơ</a:t>
            </a:r>
            <a:r>
              <a:rPr lang="en-US" sz="4400" kern="0">
                <a:solidFill>
                  <a:srgbClr val="002060"/>
                </a:solidFill>
                <a:latin typeface="Cambria" panose="02040503050406030204" pitchFamily="18" charset="0"/>
              </a:rPr>
              <a:t>ng</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914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Xuất bảng cửu chư</a:t>
            </a:r>
            <a:r>
              <a:rPr lang="vi-VN" sz="2800">
                <a:latin typeface="Cambria" panose="02040503050406030204" pitchFamily="18" charset="0"/>
              </a:rPr>
              <a:t>ơ</a:t>
            </a:r>
            <a:r>
              <a:rPr lang="en-US" sz="2800">
                <a:latin typeface="Cambria" panose="02040503050406030204" pitchFamily="18" charset="0"/>
              </a:rPr>
              <a:t>ng 2</a:t>
            </a:r>
            <a:r>
              <a:rPr lang="en-US" sz="2800">
                <a:latin typeface="Cambria" panose="02040503050406030204" pitchFamily="18" charset="0"/>
                <a:sym typeface="Wingdings" panose="05000000000000000000" pitchFamily="2" charset="2"/>
              </a:rPr>
              <a:t>9 nh</a:t>
            </a:r>
            <a:r>
              <a:rPr lang="vi-VN" sz="2800">
                <a:latin typeface="Cambria" panose="02040503050406030204" pitchFamily="18" charset="0"/>
                <a:sym typeface="Wingdings" panose="05000000000000000000" pitchFamily="2" charset="2"/>
              </a:rPr>
              <a:t>ư</a:t>
            </a:r>
            <a:r>
              <a:rPr lang="en-US" sz="2800">
                <a:latin typeface="Cambria" panose="02040503050406030204" pitchFamily="18" charset="0"/>
                <a:sym typeface="Wingdings" panose="05000000000000000000" pitchFamily="2" charset="2"/>
              </a:rPr>
              <a:t> hình d</a:t>
            </a:r>
            <a:r>
              <a:rPr lang="vi-VN" sz="2800">
                <a:latin typeface="Cambria" panose="02040503050406030204" pitchFamily="18" charset="0"/>
                <a:sym typeface="Wingdings" panose="05000000000000000000" pitchFamily="2" charset="2"/>
              </a:rPr>
              <a:t>ư</a:t>
            </a:r>
            <a:r>
              <a:rPr lang="en-US" sz="2800">
                <a:latin typeface="Cambria" panose="02040503050406030204" pitchFamily="18" charset="0"/>
                <a:sym typeface="Wingdings" panose="05000000000000000000" pitchFamily="2" charset="2"/>
              </a:rPr>
              <a:t>ới đây</a:t>
            </a:r>
            <a:endParaRPr lang="en-US" sz="2800">
              <a:latin typeface="Cambria" panose="02040503050406030204" pitchFamily="18" charset="0"/>
            </a:endParaRPr>
          </a:p>
        </p:txBody>
      </p:sp>
      <p:pic>
        <p:nvPicPr>
          <p:cNvPr id="8" name="Picture 7">
            <a:extLst>
              <a:ext uri="{FF2B5EF4-FFF2-40B4-BE49-F238E27FC236}">
                <a16:creationId xmlns:a16="http://schemas.microsoft.com/office/drawing/2014/main" id="{E6F3DBEA-6856-4597-A2C1-23670CD75606}"/>
              </a:ext>
            </a:extLst>
          </p:cNvPr>
          <p:cNvPicPr>
            <a:picLocks noChangeAspect="1"/>
          </p:cNvPicPr>
          <p:nvPr/>
        </p:nvPicPr>
        <p:blipFill>
          <a:blip r:embed="rId3"/>
          <a:stretch>
            <a:fillRect/>
          </a:stretch>
        </p:blipFill>
        <p:spPr>
          <a:xfrm>
            <a:off x="534076" y="1752600"/>
            <a:ext cx="11329933" cy="2876330"/>
          </a:xfrm>
          <a:prstGeom prst="rect">
            <a:avLst/>
          </a:prstGeom>
          <a:ln>
            <a:solidFill>
              <a:schemeClr val="accent1"/>
            </a:solidFill>
          </a:ln>
        </p:spPr>
      </p:pic>
    </p:spTree>
    <p:extLst>
      <p:ext uri="{BB962C8B-B14F-4D97-AF65-F5344CB8AC3E}">
        <p14:creationId xmlns:p14="http://schemas.microsoft.com/office/powerpoint/2010/main" val="27586701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Coding mẫu:</a:t>
            </a:r>
          </a:p>
        </p:txBody>
      </p:sp>
      <p:sp>
        <p:nvSpPr>
          <p:cNvPr id="9" name="Rectangle 1">
            <a:extLst>
              <a:ext uri="{FF2B5EF4-FFF2-40B4-BE49-F238E27FC236}">
                <a16:creationId xmlns:a16="http://schemas.microsoft.com/office/drawing/2014/main" id="{D8394879-8509-43F5-8A06-5943E58F447B}"/>
              </a:ext>
            </a:extLst>
          </p:cNvPr>
          <p:cNvSpPr>
            <a:spLocks noChangeArrowheads="1"/>
          </p:cNvSpPr>
          <p:nvPr/>
        </p:nvSpPr>
        <p:spPr bwMode="auto">
          <a:xfrm>
            <a:off x="502810" y="1676400"/>
            <a:ext cx="10323660"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i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j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line = </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"{0}*{1:&gt;2} ={2:&gt;2}"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.format(j, i, i * j)</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(line,</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92066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 bài tập tự rèn luyện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5082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1: </a:t>
            </a:r>
            <a:r>
              <a:rPr lang="en-US" sz="2800">
                <a:latin typeface="Cambria" panose="02040503050406030204" pitchFamily="18" charset="0"/>
              </a:rPr>
              <a:t>Cho biết bao nhiêu dấu * đ</a:t>
            </a:r>
            <a:r>
              <a:rPr lang="vi-VN" sz="2800">
                <a:latin typeface="Cambria" panose="02040503050406030204" pitchFamily="18" charset="0"/>
              </a:rPr>
              <a:t>ư</a:t>
            </a:r>
            <a:r>
              <a:rPr lang="en-US" sz="2800">
                <a:latin typeface="Cambria" panose="02040503050406030204" pitchFamily="18" charset="0"/>
              </a:rPr>
              <a:t>ợc in ra trên màn hình</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r>
              <a:rPr lang="en-US" sz="2800" b="1" u="sng">
                <a:latin typeface="Cambria" panose="02040503050406030204" pitchFamily="18" charset="0"/>
              </a:rPr>
              <a:t>Câu 2:</a:t>
            </a:r>
            <a:r>
              <a:rPr lang="en-US" sz="2800">
                <a:latin typeface="Cambria" panose="02040503050406030204" pitchFamily="18" charset="0"/>
              </a:rPr>
              <a:t> Cho biết bao nhiêu dấu * đ</a:t>
            </a:r>
            <a:r>
              <a:rPr lang="vi-VN" sz="2800">
                <a:latin typeface="Cambria" panose="02040503050406030204" pitchFamily="18" charset="0"/>
              </a:rPr>
              <a:t>ư</a:t>
            </a:r>
            <a:r>
              <a:rPr lang="en-US" sz="2800">
                <a:latin typeface="Cambria" panose="02040503050406030204" pitchFamily="18" charset="0"/>
              </a:rPr>
              <a:t>ợc in ra trên màn hình</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p:txBody>
      </p:sp>
      <p:pic>
        <p:nvPicPr>
          <p:cNvPr id="8" name="Picture 7">
            <a:extLst>
              <a:ext uri="{FF2B5EF4-FFF2-40B4-BE49-F238E27FC236}">
                <a16:creationId xmlns:a16="http://schemas.microsoft.com/office/drawing/2014/main" id="{81D9B37B-DDC1-4EF2-9B0D-D0799A713BD5}"/>
              </a:ext>
            </a:extLst>
          </p:cNvPr>
          <p:cNvPicPr>
            <a:picLocks noChangeAspect="1"/>
          </p:cNvPicPr>
          <p:nvPr/>
        </p:nvPicPr>
        <p:blipFill>
          <a:blip r:embed="rId3"/>
          <a:stretch>
            <a:fillRect/>
          </a:stretch>
        </p:blipFill>
        <p:spPr>
          <a:xfrm>
            <a:off x="4267199" y="1676400"/>
            <a:ext cx="2762451" cy="1066800"/>
          </a:xfrm>
          <a:prstGeom prst="rect">
            <a:avLst/>
          </a:prstGeom>
        </p:spPr>
      </p:pic>
      <p:pic>
        <p:nvPicPr>
          <p:cNvPr id="11" name="Picture 10">
            <a:extLst>
              <a:ext uri="{FF2B5EF4-FFF2-40B4-BE49-F238E27FC236}">
                <a16:creationId xmlns:a16="http://schemas.microsoft.com/office/drawing/2014/main" id="{D3CDC344-1940-44B4-B2FD-3C4F23A12B22}"/>
              </a:ext>
            </a:extLst>
          </p:cNvPr>
          <p:cNvPicPr>
            <a:picLocks noChangeAspect="1"/>
          </p:cNvPicPr>
          <p:nvPr/>
        </p:nvPicPr>
        <p:blipFill>
          <a:blip r:embed="rId4"/>
          <a:stretch>
            <a:fillRect/>
          </a:stretch>
        </p:blipFill>
        <p:spPr>
          <a:xfrm>
            <a:off x="4049167" y="3733800"/>
            <a:ext cx="3671888" cy="2506488"/>
          </a:xfrm>
          <a:prstGeom prst="rect">
            <a:avLst/>
          </a:prstGeom>
        </p:spPr>
      </p:pic>
    </p:spTree>
    <p:extLst>
      <p:ext uri="{BB962C8B-B14F-4D97-AF65-F5344CB8AC3E}">
        <p14:creationId xmlns:p14="http://schemas.microsoft.com/office/powerpoint/2010/main" val="19378969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3:</a:t>
            </a:r>
            <a:r>
              <a:rPr lang="en-US" sz="2800" b="1">
                <a:latin typeface="Cambria" panose="02040503050406030204" pitchFamily="18" charset="0"/>
              </a:rPr>
              <a:t> </a:t>
            </a:r>
            <a:r>
              <a:rPr lang="en-US" sz="2800">
                <a:latin typeface="Cambria" panose="02040503050406030204" pitchFamily="18" charset="0"/>
              </a:rPr>
              <a:t>Giải thích cách chạy các dòng lệnh range:</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p:txBody>
      </p:sp>
      <p:sp>
        <p:nvSpPr>
          <p:cNvPr id="9" name="Rectangle 8">
            <a:extLst>
              <a:ext uri="{FF2B5EF4-FFF2-40B4-BE49-F238E27FC236}">
                <a16:creationId xmlns:a16="http://schemas.microsoft.com/office/drawing/2014/main" id="{9F07F3EF-A001-44A8-A3EF-D9731A204D67}"/>
              </a:ext>
            </a:extLst>
          </p:cNvPr>
          <p:cNvSpPr/>
          <p:nvPr/>
        </p:nvSpPr>
        <p:spPr>
          <a:xfrm>
            <a:off x="914400" y="1752600"/>
            <a:ext cx="6096000" cy="4154984"/>
          </a:xfrm>
          <a:prstGeom prst="rect">
            <a:avLst/>
          </a:prstGeom>
        </p:spPr>
        <p:txBody>
          <a:bodyPr>
            <a:spAutoFit/>
          </a:bodyPr>
          <a:lstStyle/>
          <a:p>
            <a:r>
              <a:rPr lang="en-US" sz="2400">
                <a:latin typeface="Cambria" panose="02040503050406030204" pitchFamily="18" charset="0"/>
              </a:rPr>
              <a:t>(a) range(5)</a:t>
            </a:r>
          </a:p>
          <a:p>
            <a:r>
              <a:rPr lang="en-US" sz="2400">
                <a:latin typeface="Cambria" panose="02040503050406030204" pitchFamily="18" charset="0"/>
              </a:rPr>
              <a:t>(b) range(5, 10)</a:t>
            </a:r>
          </a:p>
          <a:p>
            <a:r>
              <a:rPr lang="en-US" sz="2400">
                <a:latin typeface="Cambria" panose="02040503050406030204" pitchFamily="18" charset="0"/>
              </a:rPr>
              <a:t>(c) range(5, 20, 3)</a:t>
            </a:r>
          </a:p>
          <a:p>
            <a:r>
              <a:rPr lang="en-US" sz="2400">
                <a:latin typeface="Cambria" panose="02040503050406030204" pitchFamily="18" charset="0"/>
              </a:rPr>
              <a:t>(d) range(20, 5, -1)</a:t>
            </a:r>
          </a:p>
          <a:p>
            <a:r>
              <a:rPr lang="en-US" sz="2400">
                <a:latin typeface="Cambria" panose="02040503050406030204" pitchFamily="18" charset="0"/>
              </a:rPr>
              <a:t>(e) range(20, 5, -3)</a:t>
            </a:r>
          </a:p>
          <a:p>
            <a:r>
              <a:rPr lang="en-US" sz="2400">
                <a:latin typeface="Cambria" panose="02040503050406030204" pitchFamily="18" charset="0"/>
              </a:rPr>
              <a:t>(f) range(10, 5)</a:t>
            </a:r>
          </a:p>
          <a:p>
            <a:r>
              <a:rPr lang="en-US" sz="2400">
                <a:latin typeface="Cambria" panose="02040503050406030204" pitchFamily="18" charset="0"/>
              </a:rPr>
              <a:t>(g) range(0)</a:t>
            </a:r>
          </a:p>
          <a:p>
            <a:r>
              <a:rPr lang="en-US" sz="2400">
                <a:latin typeface="Cambria" panose="02040503050406030204" pitchFamily="18" charset="0"/>
              </a:rPr>
              <a:t>(h) range(10, 101, 10)</a:t>
            </a:r>
          </a:p>
          <a:p>
            <a:r>
              <a:rPr lang="en-US" sz="2400">
                <a:latin typeface="Cambria" panose="02040503050406030204" pitchFamily="18" charset="0"/>
              </a:rPr>
              <a:t>(i) range(10, -1, -1)</a:t>
            </a:r>
          </a:p>
          <a:p>
            <a:r>
              <a:rPr lang="en-US" sz="2400">
                <a:latin typeface="Cambria" panose="02040503050406030204" pitchFamily="18" charset="0"/>
              </a:rPr>
              <a:t>(j) range(-3, 4)</a:t>
            </a:r>
          </a:p>
          <a:p>
            <a:r>
              <a:rPr lang="en-US" sz="2400">
                <a:latin typeface="Cambria" panose="02040503050406030204" pitchFamily="18" charset="0"/>
              </a:rPr>
              <a:t>(k) range(0, 10, 1)</a:t>
            </a:r>
          </a:p>
        </p:txBody>
      </p:sp>
    </p:spTree>
    <p:extLst>
      <p:ext uri="{BB962C8B-B14F-4D97-AF65-F5344CB8AC3E}">
        <p14:creationId xmlns:p14="http://schemas.microsoft.com/office/powerpoint/2010/main" val="24423060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4:</a:t>
            </a:r>
            <a:r>
              <a:rPr lang="en-US" sz="2800" b="1">
                <a:latin typeface="Cambria" panose="02040503050406030204" pitchFamily="18" charset="0"/>
              </a:rPr>
              <a:t> </a:t>
            </a:r>
            <a:r>
              <a:rPr lang="en-US" sz="2800">
                <a:latin typeface="Cambria" panose="02040503050406030204" pitchFamily="18" charset="0"/>
              </a:rPr>
              <a:t>Bao nhiêu dấu * đ</a:t>
            </a:r>
            <a:r>
              <a:rPr lang="vi-VN" sz="2800">
                <a:latin typeface="Cambria" panose="02040503050406030204" pitchFamily="18" charset="0"/>
              </a:rPr>
              <a:t>ư</a:t>
            </a:r>
            <a:r>
              <a:rPr lang="en-US" sz="2800">
                <a:latin typeface="Cambria" panose="02040503050406030204" pitchFamily="18" charset="0"/>
              </a:rPr>
              <a:t>ợc in ra màn hình</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r>
              <a:rPr lang="en-US" sz="2800" b="1" u="sng">
                <a:latin typeface="Cambria" panose="02040503050406030204" pitchFamily="18" charset="0"/>
              </a:rPr>
              <a:t>Câu 5:</a:t>
            </a:r>
            <a:r>
              <a:rPr lang="en-US" sz="2800" b="1">
                <a:latin typeface="Cambria" panose="02040503050406030204" pitchFamily="18" charset="0"/>
              </a:rPr>
              <a:t> </a:t>
            </a:r>
            <a:r>
              <a:rPr lang="en-US" sz="2800">
                <a:latin typeface="Cambria" panose="02040503050406030204" pitchFamily="18" charset="0"/>
              </a:rPr>
              <a:t>Viết lại coding d</a:t>
            </a:r>
            <a:r>
              <a:rPr lang="vi-VN" sz="2800">
                <a:latin typeface="Cambria" panose="02040503050406030204" pitchFamily="18" charset="0"/>
              </a:rPr>
              <a:t>ư</a:t>
            </a:r>
            <a:r>
              <a:rPr lang="en-US" sz="2800">
                <a:latin typeface="Cambria" panose="02040503050406030204" pitchFamily="18" charset="0"/>
              </a:rPr>
              <a:t>ới đây bằng cách dùng từ khóa break thay thế cho biến done:</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p:txBody>
      </p:sp>
      <p:pic>
        <p:nvPicPr>
          <p:cNvPr id="8" name="Picture 7">
            <a:extLst>
              <a:ext uri="{FF2B5EF4-FFF2-40B4-BE49-F238E27FC236}">
                <a16:creationId xmlns:a16="http://schemas.microsoft.com/office/drawing/2014/main" id="{F928AB24-EF78-470A-AC49-AF546EFC4567}"/>
              </a:ext>
            </a:extLst>
          </p:cNvPr>
          <p:cNvPicPr>
            <a:picLocks noChangeAspect="1"/>
          </p:cNvPicPr>
          <p:nvPr/>
        </p:nvPicPr>
        <p:blipFill>
          <a:blip r:embed="rId3"/>
          <a:stretch>
            <a:fillRect/>
          </a:stretch>
        </p:blipFill>
        <p:spPr>
          <a:xfrm>
            <a:off x="2743200" y="1647617"/>
            <a:ext cx="5162550" cy="1362075"/>
          </a:xfrm>
          <a:prstGeom prst="rect">
            <a:avLst/>
          </a:prstGeom>
        </p:spPr>
      </p:pic>
      <p:pic>
        <p:nvPicPr>
          <p:cNvPr id="10" name="Picture 9">
            <a:extLst>
              <a:ext uri="{FF2B5EF4-FFF2-40B4-BE49-F238E27FC236}">
                <a16:creationId xmlns:a16="http://schemas.microsoft.com/office/drawing/2014/main" id="{2036603B-B625-426D-9A69-76FFFFB01D65}"/>
              </a:ext>
            </a:extLst>
          </p:cNvPr>
          <p:cNvPicPr>
            <a:picLocks noChangeAspect="1"/>
          </p:cNvPicPr>
          <p:nvPr/>
        </p:nvPicPr>
        <p:blipFill>
          <a:blip r:embed="rId4"/>
          <a:stretch>
            <a:fillRect/>
          </a:stretch>
        </p:blipFill>
        <p:spPr>
          <a:xfrm>
            <a:off x="4095750" y="3850588"/>
            <a:ext cx="3810000" cy="2305050"/>
          </a:xfrm>
          <a:prstGeom prst="rect">
            <a:avLst/>
          </a:prstGeom>
        </p:spPr>
      </p:pic>
    </p:spTree>
    <p:extLst>
      <p:ext uri="{BB962C8B-B14F-4D97-AF65-F5344CB8AC3E}">
        <p14:creationId xmlns:p14="http://schemas.microsoft.com/office/powerpoint/2010/main" val="38577664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6:</a:t>
            </a:r>
            <a:r>
              <a:rPr lang="en-US" sz="2800" b="1">
                <a:latin typeface="Cambria" panose="02040503050406030204" pitchFamily="18" charset="0"/>
              </a:rPr>
              <a:t> </a:t>
            </a:r>
            <a:r>
              <a:rPr lang="en-US" sz="2800">
                <a:latin typeface="Cambria" panose="02040503050406030204" pitchFamily="18" charset="0"/>
              </a:rPr>
              <a:t>Vẽ các hình d</a:t>
            </a:r>
            <a:r>
              <a:rPr lang="vi-VN" sz="2800">
                <a:latin typeface="Cambria" panose="02040503050406030204" pitchFamily="18" charset="0"/>
              </a:rPr>
              <a:t>ư</a:t>
            </a:r>
            <a:r>
              <a:rPr lang="en-US" sz="2800">
                <a:latin typeface="Cambria" panose="02040503050406030204" pitchFamily="18" charset="0"/>
              </a:rPr>
              <a:t>ới đây</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b="1" u="sng">
              <a:latin typeface="Cambria" panose="02040503050406030204" pitchFamily="18" charset="0"/>
            </a:endParaRPr>
          </a:p>
          <a:p>
            <a:pPr marL="0" indent="0" algn="just">
              <a:buNone/>
            </a:pPr>
            <a:r>
              <a:rPr lang="en-US" sz="2800" b="1" u="sng">
                <a:latin typeface="Cambria" panose="02040503050406030204" pitchFamily="18" charset="0"/>
              </a:rPr>
              <a:t>Câu 7:</a:t>
            </a:r>
            <a:r>
              <a:rPr lang="en-US" sz="2800" b="1">
                <a:latin typeface="Cambria" panose="02040503050406030204" pitchFamily="18" charset="0"/>
              </a:rPr>
              <a:t> </a:t>
            </a:r>
            <a:r>
              <a:rPr lang="en-US" sz="2800">
                <a:latin typeface="Cambria" panose="02040503050406030204" pitchFamily="18" charset="0"/>
              </a:rPr>
              <a:t>Nhập x, n, tính S(x,n):</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p:txBody>
      </p:sp>
      <p:pic>
        <p:nvPicPr>
          <p:cNvPr id="12" name="Picture 11">
            <a:extLst>
              <a:ext uri="{FF2B5EF4-FFF2-40B4-BE49-F238E27FC236}">
                <a16:creationId xmlns:a16="http://schemas.microsoft.com/office/drawing/2014/main" id="{96929D0E-23E0-43A4-9C19-C1FDE8565C9E}"/>
              </a:ext>
            </a:extLst>
          </p:cNvPr>
          <p:cNvPicPr>
            <a:picLocks noChangeAspect="1"/>
          </p:cNvPicPr>
          <p:nvPr/>
        </p:nvPicPr>
        <p:blipFill>
          <a:blip r:embed="rId3"/>
          <a:stretch>
            <a:fillRect/>
          </a:stretch>
        </p:blipFill>
        <p:spPr>
          <a:xfrm>
            <a:off x="882591" y="1809751"/>
            <a:ext cx="1323975" cy="1190625"/>
          </a:xfrm>
          <a:prstGeom prst="rect">
            <a:avLst/>
          </a:prstGeom>
        </p:spPr>
      </p:pic>
      <p:pic>
        <p:nvPicPr>
          <p:cNvPr id="15" name="Picture 14">
            <a:extLst>
              <a:ext uri="{FF2B5EF4-FFF2-40B4-BE49-F238E27FC236}">
                <a16:creationId xmlns:a16="http://schemas.microsoft.com/office/drawing/2014/main" id="{9E7DC587-0DA0-4466-91F7-468896619825}"/>
              </a:ext>
            </a:extLst>
          </p:cNvPr>
          <p:cNvPicPr>
            <a:picLocks noChangeAspect="1"/>
          </p:cNvPicPr>
          <p:nvPr/>
        </p:nvPicPr>
        <p:blipFill>
          <a:blip r:embed="rId4"/>
          <a:stretch>
            <a:fillRect/>
          </a:stretch>
        </p:blipFill>
        <p:spPr>
          <a:xfrm>
            <a:off x="3153232" y="1809751"/>
            <a:ext cx="1466850" cy="1133475"/>
          </a:xfrm>
          <a:prstGeom prst="rect">
            <a:avLst/>
          </a:prstGeom>
        </p:spPr>
      </p:pic>
      <p:pic>
        <p:nvPicPr>
          <p:cNvPr id="16" name="Picture 15">
            <a:extLst>
              <a:ext uri="{FF2B5EF4-FFF2-40B4-BE49-F238E27FC236}">
                <a16:creationId xmlns:a16="http://schemas.microsoft.com/office/drawing/2014/main" id="{379E02BC-0134-41B0-A868-603750034C77}"/>
              </a:ext>
            </a:extLst>
          </p:cNvPr>
          <p:cNvPicPr>
            <a:picLocks noChangeAspect="1"/>
          </p:cNvPicPr>
          <p:nvPr/>
        </p:nvPicPr>
        <p:blipFill>
          <a:blip r:embed="rId5"/>
          <a:stretch>
            <a:fillRect/>
          </a:stretch>
        </p:blipFill>
        <p:spPr>
          <a:xfrm>
            <a:off x="6781800" y="1600200"/>
            <a:ext cx="2143125" cy="2143125"/>
          </a:xfrm>
          <a:prstGeom prst="rect">
            <a:avLst/>
          </a:prstGeom>
        </p:spPr>
      </p:pic>
      <p:pic>
        <p:nvPicPr>
          <p:cNvPr id="17" name="Picture 16">
            <a:extLst>
              <a:ext uri="{FF2B5EF4-FFF2-40B4-BE49-F238E27FC236}">
                <a16:creationId xmlns:a16="http://schemas.microsoft.com/office/drawing/2014/main" id="{5F355C33-9122-47B2-BEE1-ABF62FAA37D9}"/>
              </a:ext>
            </a:extLst>
          </p:cNvPr>
          <p:cNvPicPr>
            <a:picLocks noChangeAspect="1"/>
          </p:cNvPicPr>
          <p:nvPr/>
        </p:nvPicPr>
        <p:blipFill>
          <a:blip r:embed="rId6"/>
          <a:stretch>
            <a:fillRect/>
          </a:stretch>
        </p:blipFill>
        <p:spPr>
          <a:xfrm>
            <a:off x="2146517" y="4443412"/>
            <a:ext cx="7848600" cy="1181100"/>
          </a:xfrm>
          <a:prstGeom prst="rect">
            <a:avLst/>
          </a:prstGeom>
        </p:spPr>
      </p:pic>
    </p:spTree>
    <p:extLst>
      <p:ext uri="{BB962C8B-B14F-4D97-AF65-F5344CB8AC3E}">
        <p14:creationId xmlns:p14="http://schemas.microsoft.com/office/powerpoint/2010/main" val="40845330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dirty="0" err="1">
                <a:solidFill>
                  <a:srgbClr val="002060"/>
                </a:solidFill>
                <a:latin typeface="Cambria" panose="02040503050406030204" pitchFamily="18" charset="0"/>
              </a:rPr>
              <a:t>Các</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hàm</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toán</a:t>
            </a:r>
            <a:r>
              <a:rPr lang="en-US" sz="4400" kern="0" dirty="0">
                <a:solidFill>
                  <a:srgbClr val="002060"/>
                </a:solidFill>
                <a:latin typeface="Cambria" panose="02040503050406030204" pitchFamily="18" charset="0"/>
              </a:rPr>
              <a:t> </a:t>
            </a:r>
            <a:r>
              <a:rPr lang="en-US" sz="4400" kern="0" dirty="0" err="1">
                <a:solidFill>
                  <a:srgbClr val="002060"/>
                </a:solidFill>
                <a:latin typeface="Cambria" panose="02040503050406030204" pitchFamily="18" charset="0"/>
              </a:rPr>
              <a:t>học</a:t>
            </a:r>
            <a:endParaRPr lang="en-US" sz="44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93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8373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ta </a:t>
            </a:r>
            <a:r>
              <a:rPr lang="en-US" sz="2800" dirty="0" err="1">
                <a:latin typeface="Cambria" panose="02040503050406030204" pitchFamily="18" charset="0"/>
              </a:rPr>
              <a:t>phải</a:t>
            </a:r>
            <a:r>
              <a:rPr lang="en-US" sz="2800" dirty="0">
                <a:latin typeface="Cambria" panose="02040503050406030204" pitchFamily="18" charset="0"/>
              </a:rPr>
              <a:t> </a:t>
            </a:r>
            <a:r>
              <a:rPr lang="en-US" sz="2800" dirty="0" err="1">
                <a:latin typeface="Cambria" panose="02040503050406030204" pitchFamily="18" charset="0"/>
              </a:rPr>
              <a:t>sử</a:t>
            </a:r>
            <a:r>
              <a:rPr lang="en-US" sz="2800" dirty="0">
                <a:latin typeface="Cambria" panose="02040503050406030204" pitchFamily="18" charset="0"/>
              </a:rPr>
              <a:t> </a:t>
            </a:r>
            <a:r>
              <a:rPr lang="en-US" sz="2800" dirty="0" err="1">
                <a:latin typeface="Cambria" panose="02040503050406030204" pitchFamily="18" charset="0"/>
              </a:rPr>
              <a:t>dụng</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a:latin typeface="Cambria" panose="02040503050406030204" pitchFamily="18" charset="0"/>
              </a:rPr>
              <a:t> </a:t>
            </a:r>
            <a:r>
              <a:rPr lang="en-US" sz="2800" dirty="0" err="1">
                <a:latin typeface="Cambria" panose="02040503050406030204" pitchFamily="18" charset="0"/>
              </a:rPr>
              <a:t>viện</a:t>
            </a:r>
            <a:r>
              <a:rPr lang="en-US" sz="2800" dirty="0">
                <a:latin typeface="Cambria" panose="02040503050406030204" pitchFamily="18" charset="0"/>
              </a:rPr>
              <a:t>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sẵn</a:t>
            </a:r>
            <a:r>
              <a:rPr lang="en-US" sz="2800" dirty="0">
                <a:latin typeface="Cambria" panose="02040503050406030204" pitchFamily="18" charset="0"/>
              </a:rPr>
              <a:t>, </a:t>
            </a:r>
            <a:r>
              <a:rPr lang="en-US" sz="2800" dirty="0" err="1">
                <a:latin typeface="Cambria" panose="02040503050406030204" pitchFamily="18" charset="0"/>
              </a:rPr>
              <a:t>nh</a:t>
            </a:r>
            <a:r>
              <a:rPr lang="vi-VN" sz="2800" dirty="0">
                <a:latin typeface="Cambria" panose="02040503050406030204" pitchFamily="18" charset="0"/>
              </a:rPr>
              <a:t>ư</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căn</a:t>
            </a:r>
            <a:r>
              <a:rPr lang="en-US" sz="2800" dirty="0">
                <a:latin typeface="Cambria" panose="02040503050406030204" pitchFamily="18" charset="0"/>
              </a:rPr>
              <a:t> </a:t>
            </a:r>
            <a:r>
              <a:rPr lang="en-US" sz="2800" dirty="0" err="1">
                <a:latin typeface="Cambria" panose="02040503050406030204" pitchFamily="18" charset="0"/>
              </a:rPr>
              <a:t>bậc</a:t>
            </a:r>
            <a:r>
              <a:rPr lang="en-US" sz="2800" dirty="0">
                <a:latin typeface="Cambria" panose="02040503050406030204" pitchFamily="18" charset="0"/>
              </a:rPr>
              <a:t> 2, </a:t>
            </a:r>
            <a:r>
              <a:rPr lang="en-US" sz="2800" dirty="0" err="1">
                <a:latin typeface="Cambria" panose="02040503050406030204" pitchFamily="18" charset="0"/>
              </a:rPr>
              <a:t>lũy</a:t>
            </a:r>
            <a:r>
              <a:rPr lang="en-US" sz="2800" dirty="0">
                <a:latin typeface="Cambria" panose="02040503050406030204" pitchFamily="18" charset="0"/>
              </a:rPr>
              <a:t> </a:t>
            </a:r>
            <a:r>
              <a:rPr lang="en-US" sz="2800" dirty="0" err="1">
                <a:latin typeface="Cambria" panose="02040503050406030204" pitchFamily="18" charset="0"/>
              </a:rPr>
              <a:t>thừa</a:t>
            </a:r>
            <a:r>
              <a:rPr lang="en-US" sz="2800" dirty="0">
                <a:latin typeface="Cambria" panose="02040503050406030204" pitchFamily="18" charset="0"/>
              </a:rPr>
              <a:t>, log… </a:t>
            </a:r>
            <a:r>
              <a:rPr lang="en-US" sz="2800" dirty="0" err="1">
                <a:latin typeface="Cambria" panose="02040503050406030204" pitchFamily="18" charset="0"/>
              </a:rPr>
              <a:t>Bài</a:t>
            </a:r>
            <a:r>
              <a:rPr lang="en-US" sz="2800" dirty="0">
                <a:latin typeface="Cambria" panose="02040503050406030204" pitchFamily="18" charset="0"/>
              </a:rPr>
              <a:t> </a:t>
            </a:r>
            <a:r>
              <a:rPr lang="en-US" sz="2800" dirty="0" err="1">
                <a:latin typeface="Cambria" panose="02040503050406030204" pitchFamily="18" charset="0"/>
              </a:rPr>
              <a:t>giảng</a:t>
            </a:r>
            <a:r>
              <a:rPr lang="en-US" sz="2800" dirty="0">
                <a:latin typeface="Cambria" panose="02040503050406030204" pitchFamily="18" charset="0"/>
              </a:rPr>
              <a:t> </a:t>
            </a:r>
            <a:r>
              <a:rPr lang="en-US" sz="2800" dirty="0" err="1">
                <a:latin typeface="Cambria" panose="02040503050406030204" pitchFamily="18" charset="0"/>
              </a:rPr>
              <a:t>này</a:t>
            </a:r>
            <a:r>
              <a:rPr lang="en-US" sz="2800" dirty="0">
                <a:latin typeface="Cambria" panose="02040503050406030204" pitchFamily="18" charset="0"/>
              </a:rPr>
              <a:t> ta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tập</a:t>
            </a:r>
            <a:r>
              <a:rPr lang="en-US" sz="2800" dirty="0">
                <a:latin typeface="Cambria" panose="02040503050406030204" pitchFamily="18" charset="0"/>
              </a:rPr>
              <a:t> </a:t>
            </a:r>
            <a:r>
              <a:rPr lang="en-US" sz="2800" dirty="0" err="1">
                <a:latin typeface="Cambria" panose="02040503050406030204" pitchFamily="18" charset="0"/>
              </a:rPr>
              <a:t>sử</a:t>
            </a:r>
            <a:r>
              <a:rPr lang="en-US" sz="2800" dirty="0">
                <a:latin typeface="Cambria" panose="02040503050406030204" pitchFamily="18" charset="0"/>
              </a:rPr>
              <a:t> </a:t>
            </a:r>
            <a:r>
              <a:rPr lang="en-US" sz="2800" dirty="0" err="1">
                <a:latin typeface="Cambria" panose="02040503050406030204" pitchFamily="18" charset="0"/>
              </a:rPr>
              <a:t>dụng</a:t>
            </a:r>
            <a:r>
              <a:rPr lang="en-US" sz="2800" dirty="0">
                <a:latin typeface="Cambria" panose="02040503050406030204" pitchFamily="18" charset="0"/>
              </a:rPr>
              <a:t>:</a:t>
            </a:r>
          </a:p>
          <a:p>
            <a:pPr algn="just"/>
            <a:r>
              <a:rPr lang="en-US" sz="2800" dirty="0" err="1">
                <a:latin typeface="Cambria" panose="02040503050406030204" pitchFamily="18" charset="0"/>
              </a:rPr>
              <a:t>Sqrt-Căn</a:t>
            </a:r>
            <a:r>
              <a:rPr lang="en-US" sz="2800" dirty="0">
                <a:latin typeface="Cambria" panose="02040503050406030204" pitchFamily="18" charset="0"/>
              </a:rPr>
              <a:t> </a:t>
            </a:r>
            <a:r>
              <a:rPr lang="en-US" sz="2800" dirty="0" err="1">
                <a:latin typeface="Cambria" panose="02040503050406030204" pitchFamily="18" charset="0"/>
              </a:rPr>
              <a:t>bậc</a:t>
            </a:r>
            <a:r>
              <a:rPr lang="en-US" sz="2800" dirty="0">
                <a:latin typeface="Cambria" panose="02040503050406030204" pitchFamily="18" charset="0"/>
              </a:rPr>
              <a:t> 2 </a:t>
            </a:r>
          </a:p>
          <a:p>
            <a:pPr algn="just"/>
            <a:r>
              <a:rPr lang="en-US" sz="2800" dirty="0">
                <a:latin typeface="Cambria" panose="02040503050406030204" pitchFamily="18" charset="0"/>
              </a:rPr>
              <a:t>Pow – </a:t>
            </a:r>
            <a:r>
              <a:rPr lang="en-US" sz="2800" dirty="0" err="1">
                <a:latin typeface="Cambria" panose="02040503050406030204" pitchFamily="18" charset="0"/>
              </a:rPr>
              <a:t>lũy</a:t>
            </a:r>
            <a:r>
              <a:rPr lang="en-US" sz="2800" dirty="0">
                <a:latin typeface="Cambria" panose="02040503050406030204" pitchFamily="18" charset="0"/>
              </a:rPr>
              <a:t> </a:t>
            </a:r>
            <a:r>
              <a:rPr lang="en-US" sz="2800" dirty="0" err="1">
                <a:latin typeface="Cambria" panose="02040503050406030204" pitchFamily="18" charset="0"/>
              </a:rPr>
              <a:t>thừa</a:t>
            </a:r>
            <a:endParaRPr lang="en-US" sz="2800" dirty="0">
              <a:latin typeface="Cambria" panose="02040503050406030204" pitchFamily="18" charset="0"/>
            </a:endParaRPr>
          </a:p>
          <a:p>
            <a:pPr algn="just"/>
            <a:r>
              <a:rPr lang="en-US" sz="2800" dirty="0">
                <a:latin typeface="Cambria" panose="02040503050406030204" pitchFamily="18" charset="0"/>
              </a:rPr>
              <a:t>Log-&gt; log(x)=</a:t>
            </a:r>
            <a:r>
              <a:rPr lang="en-US" sz="2800" dirty="0" err="1">
                <a:latin typeface="Cambria" panose="02040503050406030204" pitchFamily="18" charset="0"/>
              </a:rPr>
              <a:t>log</a:t>
            </a:r>
            <a:r>
              <a:rPr lang="en-US" sz="2800" baseline="-25000" dirty="0" err="1">
                <a:latin typeface="Cambria" panose="02040503050406030204" pitchFamily="18" charset="0"/>
              </a:rPr>
              <a:t>e</a:t>
            </a:r>
            <a:r>
              <a:rPr lang="en-US" sz="2800" dirty="0" err="1">
                <a:latin typeface="Cambria" panose="02040503050406030204" pitchFamily="18" charset="0"/>
              </a:rPr>
              <a:t>x</a:t>
            </a:r>
            <a:r>
              <a:rPr lang="en-US" sz="2800" dirty="0">
                <a:latin typeface="Cambria" panose="02040503050406030204" pitchFamily="18" charset="0"/>
              </a:rPr>
              <a:t>=</a:t>
            </a:r>
            <a:r>
              <a:rPr lang="en-US" sz="2800" dirty="0" err="1">
                <a:latin typeface="Cambria" panose="02040503050406030204" pitchFamily="18" charset="0"/>
              </a:rPr>
              <a:t>lnx</a:t>
            </a:r>
            <a:endParaRPr lang="en-US" sz="2800" dirty="0">
              <a:latin typeface="Cambria" panose="02040503050406030204" pitchFamily="18" charset="0"/>
            </a:endParaRPr>
          </a:p>
          <a:p>
            <a:pPr algn="just"/>
            <a:r>
              <a:rPr lang="en-US" sz="2800" dirty="0">
                <a:latin typeface="Cambria" panose="02040503050406030204" pitchFamily="18" charset="0"/>
              </a:rPr>
              <a:t>Log10- </a:t>
            </a:r>
            <a:r>
              <a:rPr lang="en-US" sz="2800" dirty="0" err="1">
                <a:latin typeface="Cambria" panose="02040503050406030204" pitchFamily="18" charset="0"/>
              </a:rPr>
              <a:t>Logarit</a:t>
            </a:r>
            <a:r>
              <a:rPr lang="en-US" sz="2800" dirty="0">
                <a:latin typeface="Cambria" panose="02040503050406030204" pitchFamily="18" charset="0"/>
              </a:rPr>
              <a:t> c</a:t>
            </a:r>
            <a:r>
              <a:rPr lang="vi-VN" sz="2800" dirty="0">
                <a:latin typeface="Cambria" panose="02040503050406030204" pitchFamily="18" charset="0"/>
              </a:rPr>
              <a:t>ơ</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10 </a:t>
            </a:r>
            <a:r>
              <a:rPr lang="en-US" sz="2800" dirty="0" err="1">
                <a:latin typeface="Cambria" panose="02040503050406030204" pitchFamily="18" charset="0"/>
              </a:rPr>
              <a:t>của</a:t>
            </a:r>
            <a:r>
              <a:rPr lang="en-US" sz="2800" dirty="0">
                <a:latin typeface="Cambria" panose="02040503050406030204" pitchFamily="18" charset="0"/>
              </a:rPr>
              <a:t> x, log10(x)=log</a:t>
            </a:r>
            <a:r>
              <a:rPr lang="en-US" sz="2800" baseline="-25000" dirty="0">
                <a:latin typeface="Cambria" panose="02040503050406030204" pitchFamily="18" charset="0"/>
              </a:rPr>
              <a:t>10</a:t>
            </a:r>
            <a:r>
              <a:rPr lang="en-US" sz="2800" dirty="0">
                <a:latin typeface="Cambria" panose="02040503050406030204" pitchFamily="18" charset="0"/>
              </a:rPr>
              <a:t>x</a:t>
            </a:r>
          </a:p>
          <a:p>
            <a:pPr algn="just"/>
            <a:r>
              <a:rPr lang="en-US" sz="2800" dirty="0" err="1">
                <a:latin typeface="Cambria" panose="02040503050406030204" pitchFamily="18" charset="0"/>
              </a:rPr>
              <a:t>Exp-tính</a:t>
            </a:r>
            <a:r>
              <a:rPr lang="en-US" sz="2800" dirty="0">
                <a:latin typeface="Cambria" panose="02040503050406030204" pitchFamily="18" charset="0"/>
              </a:rPr>
              <a:t> e</a:t>
            </a:r>
            <a:r>
              <a:rPr lang="en-US" sz="2800" baseline="30000" dirty="0">
                <a:latin typeface="Cambria" panose="02040503050406030204" pitchFamily="18" charset="0"/>
              </a:rPr>
              <a:t>x</a:t>
            </a:r>
          </a:p>
          <a:p>
            <a:pPr algn="just"/>
            <a:r>
              <a:rPr lang="en-US" sz="2800" dirty="0">
                <a:latin typeface="Cambria" panose="02040503050406030204" pitchFamily="18" charset="0"/>
              </a:rPr>
              <a:t>Degrees-</a:t>
            </a:r>
            <a:r>
              <a:rPr lang="en-US" sz="2800" dirty="0" err="1">
                <a:latin typeface="Cambria" panose="02040503050406030204" pitchFamily="18" charset="0"/>
              </a:rPr>
              <a:t>Đổi</a:t>
            </a:r>
            <a:r>
              <a:rPr lang="en-US" sz="2800" dirty="0">
                <a:latin typeface="Cambria" panose="02040503050406030204" pitchFamily="18" charset="0"/>
              </a:rPr>
              <a:t> radian </a:t>
            </a:r>
            <a:r>
              <a:rPr lang="en-US" sz="2800" dirty="0" err="1">
                <a:latin typeface="Cambria" panose="02040503050406030204" pitchFamily="18" charset="0"/>
              </a:rPr>
              <a:t>ra</a:t>
            </a:r>
            <a:r>
              <a:rPr lang="en-US" sz="2800" dirty="0">
                <a:latin typeface="Cambria" panose="02040503050406030204" pitchFamily="18" charset="0"/>
              </a:rPr>
              <a:t> </a:t>
            </a:r>
            <a:r>
              <a:rPr lang="en-US" sz="2800" dirty="0" err="1">
                <a:latin typeface="Cambria" panose="02040503050406030204" pitchFamily="18" charset="0"/>
              </a:rPr>
              <a:t>độ</a:t>
            </a:r>
            <a:endParaRPr lang="en-US" sz="2800" dirty="0">
              <a:latin typeface="Cambria" panose="02040503050406030204" pitchFamily="18" charset="0"/>
            </a:endParaRPr>
          </a:p>
          <a:p>
            <a:pPr algn="just"/>
            <a:r>
              <a:rPr lang="en-US" sz="2800" dirty="0">
                <a:latin typeface="Cambria" panose="02040503050406030204" pitchFamily="18" charset="0"/>
              </a:rPr>
              <a:t>Radians- </a:t>
            </a:r>
            <a:r>
              <a:rPr lang="en-US" sz="2800" dirty="0" err="1">
                <a:latin typeface="Cambria" panose="02040503050406030204" pitchFamily="18" charset="0"/>
              </a:rPr>
              <a:t>Tính</a:t>
            </a:r>
            <a:r>
              <a:rPr lang="en-US" sz="2800" dirty="0">
                <a:latin typeface="Cambria" panose="02040503050406030204" pitchFamily="18" charset="0"/>
              </a:rPr>
              <a:t> radian 180/PI*x</a:t>
            </a:r>
          </a:p>
          <a:p>
            <a:pPr algn="just"/>
            <a:r>
              <a:rPr lang="en-US" sz="2800" dirty="0" err="1">
                <a:latin typeface="Cambria" panose="02040503050406030204" pitchFamily="18" charset="0"/>
              </a:rPr>
              <a:t>Fabs</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r>
              <a:rPr lang="en-US" sz="2800" dirty="0">
                <a:latin typeface="Cambria" panose="02040503050406030204" pitchFamily="18" charset="0"/>
              </a:rPr>
              <a:t> </a:t>
            </a:r>
            <a:r>
              <a:rPr lang="en-US" sz="2800" dirty="0" err="1">
                <a:latin typeface="Cambria" panose="02040503050406030204" pitchFamily="18" charset="0"/>
              </a:rPr>
              <a:t>tuyệt</a:t>
            </a:r>
            <a:r>
              <a:rPr lang="en-US" sz="2800" dirty="0">
                <a:latin typeface="Cambria" panose="02040503050406030204" pitchFamily="18" charset="0"/>
              </a:rPr>
              <a:t> </a:t>
            </a:r>
            <a:r>
              <a:rPr lang="en-US" sz="2800" dirty="0" err="1">
                <a:latin typeface="Cambria" panose="02040503050406030204" pitchFamily="18" charset="0"/>
              </a:rPr>
              <a:t>đối</a:t>
            </a:r>
            <a:endParaRPr lang="en-US" sz="2800" dirty="0">
              <a:latin typeface="Cambria" panose="02040503050406030204" pitchFamily="18" charset="0"/>
            </a:endParaRPr>
          </a:p>
        </p:txBody>
      </p:sp>
    </p:spTree>
    <p:extLst>
      <p:ext uri="{BB962C8B-B14F-4D97-AF65-F5344CB8AC3E}">
        <p14:creationId xmlns:p14="http://schemas.microsoft.com/office/powerpoint/2010/main" val="14384112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Ví dụ:</a:t>
            </a:r>
          </a:p>
        </p:txBody>
      </p:sp>
      <p:pic>
        <p:nvPicPr>
          <p:cNvPr id="8" name="Picture 7">
            <a:extLst>
              <a:ext uri="{FF2B5EF4-FFF2-40B4-BE49-F238E27FC236}">
                <a16:creationId xmlns:a16="http://schemas.microsoft.com/office/drawing/2014/main" id="{B890AF1F-74C4-465D-86DC-66093D61CB69}"/>
              </a:ext>
            </a:extLst>
          </p:cNvPr>
          <p:cNvPicPr>
            <a:picLocks noChangeAspect="1"/>
          </p:cNvPicPr>
          <p:nvPr/>
        </p:nvPicPr>
        <p:blipFill>
          <a:blip r:embed="rId3"/>
          <a:stretch>
            <a:fillRect/>
          </a:stretch>
        </p:blipFill>
        <p:spPr>
          <a:xfrm>
            <a:off x="658053" y="2295524"/>
            <a:ext cx="4857750" cy="2505075"/>
          </a:xfrm>
          <a:prstGeom prst="rect">
            <a:avLst/>
          </a:prstGeom>
        </p:spPr>
      </p:pic>
      <p:pic>
        <p:nvPicPr>
          <p:cNvPr id="9" name="Picture 8">
            <a:extLst>
              <a:ext uri="{FF2B5EF4-FFF2-40B4-BE49-F238E27FC236}">
                <a16:creationId xmlns:a16="http://schemas.microsoft.com/office/drawing/2014/main" id="{090C52D6-51BF-4CD8-ABED-8D00524CC33F}"/>
              </a:ext>
            </a:extLst>
          </p:cNvPr>
          <p:cNvPicPr>
            <a:picLocks noChangeAspect="1"/>
          </p:cNvPicPr>
          <p:nvPr/>
        </p:nvPicPr>
        <p:blipFill>
          <a:blip r:embed="rId4"/>
          <a:stretch>
            <a:fillRect/>
          </a:stretch>
        </p:blipFill>
        <p:spPr>
          <a:xfrm>
            <a:off x="7620000" y="2600324"/>
            <a:ext cx="3819525" cy="2200275"/>
          </a:xfrm>
          <a:prstGeom prst="rect">
            <a:avLst/>
          </a:prstGeom>
          <a:ln>
            <a:solidFill>
              <a:schemeClr val="accent1"/>
            </a:solidFill>
          </a:ln>
        </p:spPr>
      </p:pic>
      <p:sp>
        <p:nvSpPr>
          <p:cNvPr id="10" name="Arrow: Right 9">
            <a:extLst>
              <a:ext uri="{FF2B5EF4-FFF2-40B4-BE49-F238E27FC236}">
                <a16:creationId xmlns:a16="http://schemas.microsoft.com/office/drawing/2014/main" id="{414A47ED-83DF-4070-B57F-2060563582E5}"/>
              </a:ext>
            </a:extLst>
          </p:cNvPr>
          <p:cNvSpPr/>
          <p:nvPr/>
        </p:nvSpPr>
        <p:spPr>
          <a:xfrm>
            <a:off x="5532368" y="3395660"/>
            <a:ext cx="1905000" cy="414339"/>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8347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Bài học này trình bày cách sử dụng các hàm L</a:t>
            </a:r>
            <a:r>
              <a:rPr lang="vi-VN" sz="2800">
                <a:latin typeface="Cambria" panose="02040503050406030204" pitchFamily="18" charset="0"/>
              </a:rPr>
              <a:t>ư</a:t>
            </a:r>
            <a:r>
              <a:rPr lang="en-US" sz="2800">
                <a:latin typeface="Cambria" panose="02040503050406030204" pitchFamily="18" charset="0"/>
              </a:rPr>
              <a:t>ợng giác trong Python</a:t>
            </a:r>
          </a:p>
          <a:p>
            <a:pPr marL="0" indent="0" algn="just">
              <a:buNone/>
            </a:pPr>
            <a:r>
              <a:rPr lang="en-US" sz="2800">
                <a:latin typeface="Cambria" panose="02040503050406030204" pitchFamily="18" charset="0"/>
              </a:rPr>
              <a:t>-Từ một góc ta đ</a:t>
            </a:r>
            <a:r>
              <a:rPr lang="vi-VN" sz="2800">
                <a:latin typeface="Cambria" panose="02040503050406030204" pitchFamily="18" charset="0"/>
              </a:rPr>
              <a:t>ư</a:t>
            </a:r>
            <a:r>
              <a:rPr lang="en-US" sz="2800">
                <a:latin typeface="Cambria" panose="02040503050406030204" pitchFamily="18" charset="0"/>
              </a:rPr>
              <a:t>a về Radian sau đó đẩy vào các hàm l</a:t>
            </a:r>
            <a:r>
              <a:rPr lang="vi-VN" sz="2800">
                <a:latin typeface="Cambria" panose="02040503050406030204" pitchFamily="18" charset="0"/>
              </a:rPr>
              <a:t>ư</a:t>
            </a:r>
            <a:r>
              <a:rPr lang="en-US" sz="2800">
                <a:latin typeface="Cambria" panose="02040503050406030204" pitchFamily="18" charset="0"/>
              </a:rPr>
              <a:t>ợng giác:</a:t>
            </a:r>
          </a:p>
          <a:p>
            <a:pPr algn="just"/>
            <a:r>
              <a:rPr lang="en-US" sz="2800">
                <a:latin typeface="Cambria" panose="02040503050406030204" pitchFamily="18" charset="0"/>
              </a:rPr>
              <a:t>Sin</a:t>
            </a:r>
          </a:p>
          <a:p>
            <a:pPr algn="just"/>
            <a:r>
              <a:rPr lang="en-US" sz="2800">
                <a:latin typeface="Cambria" panose="02040503050406030204" pitchFamily="18" charset="0"/>
              </a:rPr>
              <a:t>Cos</a:t>
            </a:r>
          </a:p>
          <a:p>
            <a:pPr algn="just"/>
            <a:r>
              <a:rPr lang="en-US" sz="2800">
                <a:latin typeface="Cambria" panose="02040503050406030204" pitchFamily="18" charset="0"/>
              </a:rPr>
              <a:t>tan</a:t>
            </a:r>
          </a:p>
        </p:txBody>
      </p:sp>
    </p:spTree>
    <p:extLst>
      <p:ext uri="{BB962C8B-B14F-4D97-AF65-F5344CB8AC3E}">
        <p14:creationId xmlns:p14="http://schemas.microsoft.com/office/powerpoint/2010/main" val="1434657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round</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97</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235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Trong quá trình tính toán ta  sẽ nhận được các số lẻ, các số này cần đ</a:t>
            </a:r>
            <a:r>
              <a:rPr lang="vi-VN" sz="2800">
                <a:latin typeface="Cambria" panose="02040503050406030204" pitchFamily="18" charset="0"/>
              </a:rPr>
              <a:t>ư</a:t>
            </a:r>
            <a:r>
              <a:rPr lang="en-US" sz="2800">
                <a:latin typeface="Cambria" panose="02040503050406030204" pitchFamily="18" charset="0"/>
              </a:rPr>
              <a:t>ợc làm tròn để cùng thỏa mãn yêu cầu nào đó. Hàm round đ</a:t>
            </a:r>
            <a:r>
              <a:rPr lang="vi-VN" sz="2800">
                <a:latin typeface="Cambria" panose="02040503050406030204" pitchFamily="18" charset="0"/>
              </a:rPr>
              <a:t>ư</a:t>
            </a:r>
            <a:r>
              <a:rPr lang="en-US" sz="2800">
                <a:latin typeface="Cambria" panose="02040503050406030204" pitchFamily="18" charset="0"/>
              </a:rPr>
              <a:t>ợc Python hỗ trợ nh</a:t>
            </a:r>
            <a:r>
              <a:rPr lang="vi-VN" sz="2800">
                <a:latin typeface="Cambria" panose="02040503050406030204" pitchFamily="18" charset="0"/>
              </a:rPr>
              <a:t>ư</a:t>
            </a:r>
            <a:r>
              <a:rPr lang="en-US" sz="2800">
                <a:latin typeface="Cambria" panose="02040503050406030204" pitchFamily="18" charset="0"/>
              </a:rPr>
              <a:t> sau:</a:t>
            </a:r>
          </a:p>
          <a:p>
            <a:pPr algn="just"/>
            <a:r>
              <a:rPr lang="en-US" sz="2800">
                <a:latin typeface="Cambria" panose="02040503050406030204" pitchFamily="18" charset="0"/>
              </a:rPr>
              <a:t>round(số gốc, đ</a:t>
            </a:r>
            <a:r>
              <a:rPr lang="vi-VN" sz="2800">
                <a:latin typeface="Cambria" panose="02040503050406030204" pitchFamily="18" charset="0"/>
              </a:rPr>
              <a:t>ơ</a:t>
            </a:r>
            <a:r>
              <a:rPr lang="en-US" sz="2800">
                <a:latin typeface="Cambria" panose="02040503050406030204" pitchFamily="18" charset="0"/>
              </a:rPr>
              <a:t>n vị làm tròn)</a:t>
            </a:r>
          </a:p>
        </p:txBody>
      </p:sp>
      <p:sp>
        <p:nvSpPr>
          <p:cNvPr id="8" name="Rectangle 1">
            <a:extLst>
              <a:ext uri="{FF2B5EF4-FFF2-40B4-BE49-F238E27FC236}">
                <a16:creationId xmlns:a16="http://schemas.microsoft.com/office/drawing/2014/main" id="{2C9809A1-A19D-40D7-B09D-E3135ACEEE0F}"/>
              </a:ext>
            </a:extLst>
          </p:cNvPr>
          <p:cNvSpPr>
            <a:spLocks noChangeArrowheads="1"/>
          </p:cNvSpPr>
          <p:nvPr/>
        </p:nvSpPr>
        <p:spPr bwMode="auto">
          <a:xfrm>
            <a:off x="2286000" y="3124200"/>
            <a:ext cx="5306261"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b=</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c=b/a</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a:t>
            </a:r>
            <a:r>
              <a:rPr lang="en-US" altLang="en-US" sz="2400">
                <a:solidFill>
                  <a:srgbClr val="000000"/>
                </a:solidFill>
                <a:latin typeface="Courier New" panose="02070309020205020404" pitchFamily="49" charset="0"/>
                <a:cs typeface="Courier New" panose="02070309020205020404" pitchFamily="49" charset="0"/>
                <a:sym typeface="Wingdings" panose="05000000000000000000" pitchFamily="2" charset="2"/>
              </a:rPr>
              <a:t>3.6666666666666665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round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a:solidFill>
                  <a:srgbClr val="000000"/>
                </a:solidFill>
                <a:latin typeface="Courier New" panose="02070309020205020404" pitchFamily="49" charset="0"/>
                <a:cs typeface="Courier New" panose="02070309020205020404" pitchFamily="49" charset="0"/>
                <a:sym typeface="Wingdings" panose="05000000000000000000" pitchFamily="2" charset="2"/>
              </a:rPr>
              <a:t>3.67</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36380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Time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99</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3798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a:latin typeface="Cambria" panose="02040503050406030204" pitchFamily="18" charset="0"/>
              </a:rPr>
              <a:t>Module time </a:t>
            </a:r>
            <a:r>
              <a:rPr lang="en-US" sz="2800" dirty="0" err="1">
                <a:latin typeface="Cambria" panose="02040503050406030204" pitchFamily="18" charset="0"/>
              </a:rPr>
              <a:t>trong</a:t>
            </a:r>
            <a:r>
              <a:rPr lang="en-US" sz="2800" dirty="0">
                <a:latin typeface="Cambria" panose="02040503050406030204" pitchFamily="18" charset="0"/>
              </a:rPr>
              <a:t> Python </a:t>
            </a:r>
            <a:r>
              <a:rPr lang="en-US" sz="2800" dirty="0" err="1">
                <a:latin typeface="Cambria" panose="02040503050406030204" pitchFamily="18" charset="0"/>
              </a:rPr>
              <a:t>cung</a:t>
            </a:r>
            <a:r>
              <a:rPr lang="en-US" sz="2800" dirty="0">
                <a:latin typeface="Cambria" panose="02040503050406030204" pitchFamily="18" charset="0"/>
              </a:rPr>
              <a:t> </a:t>
            </a:r>
            <a:r>
              <a:rPr lang="en-US" sz="2800" dirty="0" err="1">
                <a:latin typeface="Cambria" panose="02040503050406030204" pitchFamily="18" charset="0"/>
              </a:rPr>
              <a:t>cấp</a:t>
            </a:r>
            <a:r>
              <a:rPr lang="en-US" sz="2800" dirty="0">
                <a:latin typeface="Cambria" panose="02040503050406030204" pitchFamily="18" charset="0"/>
              </a:rPr>
              <a:t> </a:t>
            </a:r>
            <a:r>
              <a:rPr lang="en-US" sz="2800" dirty="0" err="1">
                <a:latin typeface="Cambria" panose="02040503050406030204" pitchFamily="18" charset="0"/>
              </a:rPr>
              <a:t>rất</a:t>
            </a:r>
            <a:r>
              <a:rPr lang="en-US" sz="2800" dirty="0">
                <a:latin typeface="Cambria" panose="02040503050406030204" pitchFamily="18" charset="0"/>
              </a:rPr>
              <a:t> </a:t>
            </a:r>
            <a:r>
              <a:rPr lang="en-US" sz="2800" dirty="0" err="1">
                <a:latin typeface="Cambria" panose="02040503050406030204" pitchFamily="18" charset="0"/>
              </a:rPr>
              <a:t>nhiều</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a:t>
            </a:r>
            <a:r>
              <a:rPr lang="en-US" sz="2800" dirty="0" err="1">
                <a:latin typeface="Cambria" panose="02040503050406030204" pitchFamily="18" charset="0"/>
              </a:rPr>
              <a:t>hữu</a:t>
            </a:r>
            <a:r>
              <a:rPr lang="en-US" sz="2800" dirty="0">
                <a:latin typeface="Cambria" panose="02040503050406030204" pitchFamily="18" charset="0"/>
              </a:rPr>
              <a:t> </a:t>
            </a:r>
            <a:r>
              <a:rPr lang="en-US" sz="2800" dirty="0" err="1">
                <a:latin typeface="Cambria" panose="02040503050406030204" pitchFamily="18" charset="0"/>
              </a:rPr>
              <a:t>ích</a:t>
            </a:r>
            <a:r>
              <a:rPr lang="en-US" sz="2800" dirty="0">
                <a:latin typeface="Cambria" panose="02040503050406030204" pitchFamily="18" charset="0"/>
              </a:rPr>
              <a:t>, </a:t>
            </a:r>
            <a:r>
              <a:rPr lang="en-US" sz="2800" dirty="0" err="1">
                <a:latin typeface="Cambria" panose="02040503050406030204" pitchFamily="18" charset="0"/>
              </a:rPr>
              <a:t>bài</a:t>
            </a:r>
            <a:r>
              <a:rPr lang="en-US" sz="2800" dirty="0">
                <a:latin typeface="Cambria" panose="02040503050406030204" pitchFamily="18" charset="0"/>
              </a:rPr>
              <a:t> </a:t>
            </a:r>
            <a:r>
              <a:rPr lang="en-US" sz="2800" dirty="0" err="1">
                <a:latin typeface="Cambria" panose="02040503050406030204" pitchFamily="18" charset="0"/>
              </a:rPr>
              <a:t>học</a:t>
            </a:r>
            <a:r>
              <a:rPr lang="en-US" sz="2800" dirty="0">
                <a:latin typeface="Cambria" panose="02040503050406030204" pitchFamily="18" charset="0"/>
              </a:rPr>
              <a:t> </a:t>
            </a:r>
            <a:r>
              <a:rPr lang="en-US" sz="2800" dirty="0" err="1">
                <a:latin typeface="Cambria" panose="02040503050406030204" pitchFamily="18" charset="0"/>
              </a:rPr>
              <a:t>giới</a:t>
            </a:r>
            <a:r>
              <a:rPr lang="en-US" sz="2800" dirty="0">
                <a:latin typeface="Cambria" panose="02040503050406030204" pitchFamily="18" charset="0"/>
              </a:rPr>
              <a:t> </a:t>
            </a:r>
            <a:r>
              <a:rPr lang="en-US" sz="2800" dirty="0" err="1">
                <a:latin typeface="Cambria" panose="02040503050406030204" pitchFamily="18" charset="0"/>
              </a:rPr>
              <a:t>thiệu</a:t>
            </a:r>
            <a:r>
              <a:rPr lang="en-US" sz="2800" dirty="0">
                <a:latin typeface="Cambria" panose="02040503050406030204" pitchFamily="18" charset="0"/>
              </a:rPr>
              <a:t> 2 </a:t>
            </a:r>
            <a:r>
              <a:rPr lang="en-US" sz="2800" dirty="0" err="1">
                <a:latin typeface="Cambria" panose="02040503050406030204" pitchFamily="18" charset="0"/>
              </a:rPr>
              <a:t>hàm</a:t>
            </a:r>
            <a:r>
              <a:rPr lang="en-US" sz="2800" dirty="0">
                <a:latin typeface="Cambria" panose="02040503050406030204" pitchFamily="18" charset="0"/>
              </a:rPr>
              <a:t> </a:t>
            </a:r>
            <a:r>
              <a:rPr lang="en-US" sz="2800" b="1" dirty="0">
                <a:latin typeface="Cambria" panose="02040503050406030204" pitchFamily="18" charset="0"/>
              </a:rPr>
              <a:t>clock</a:t>
            </a:r>
            <a:r>
              <a:rPr lang="en-US" sz="2800" dirty="0">
                <a:latin typeface="Cambria" panose="02040503050406030204" pitchFamily="18" charset="0"/>
              </a:rPr>
              <a:t> </a:t>
            </a:r>
            <a:r>
              <a:rPr lang="en-US" sz="2800" dirty="0" err="1">
                <a:latin typeface="Cambria" panose="02040503050406030204" pitchFamily="18" charset="0"/>
              </a:rPr>
              <a:t>và</a:t>
            </a:r>
            <a:r>
              <a:rPr lang="en-US" sz="2800" dirty="0">
                <a:latin typeface="Cambria" panose="02040503050406030204" pitchFamily="18" charset="0"/>
              </a:rPr>
              <a:t> </a:t>
            </a:r>
            <a:r>
              <a:rPr lang="en-US" sz="2800" b="1" dirty="0">
                <a:latin typeface="Cambria" panose="02040503050406030204" pitchFamily="18" charset="0"/>
              </a:rPr>
              <a:t>sleep</a:t>
            </a:r>
            <a:r>
              <a:rPr lang="en-US" sz="2800" dirty="0">
                <a:latin typeface="Cambria" panose="02040503050406030204" pitchFamily="18" charset="0"/>
              </a:rPr>
              <a:t>.</a:t>
            </a:r>
          </a:p>
          <a:p>
            <a:pPr marL="514350" indent="-514350" algn="just">
              <a:buFont typeface="+mj-lt"/>
              <a:buAutoNum type="arabicPeriod"/>
            </a:pPr>
            <a:r>
              <a:rPr lang="en-US" sz="2800" dirty="0">
                <a:latin typeface="Cambria" panose="02040503050406030204" pitchFamily="18" charset="0"/>
              </a:rPr>
              <a:t>Clock</a:t>
            </a:r>
          </a:p>
          <a:p>
            <a:pPr marL="514350" indent="-514350" algn="just">
              <a:buFont typeface="+mj-lt"/>
              <a:buAutoNum type="arabicPeriod"/>
            </a:pPr>
            <a:r>
              <a:rPr lang="en-US" sz="2800" dirty="0">
                <a:latin typeface="Cambria" panose="02040503050406030204" pitchFamily="18" charset="0"/>
              </a:rPr>
              <a:t>Sleep</a:t>
            </a:r>
          </a:p>
          <a:p>
            <a:pPr marL="0" indent="0" algn="just">
              <a:buNone/>
            </a:pPr>
            <a:endParaRPr lang="en-US" sz="2800" dirty="0">
              <a:latin typeface="Cambria" panose="02040503050406030204" pitchFamily="18" charset="0"/>
            </a:endParaRPr>
          </a:p>
        </p:txBody>
      </p:sp>
    </p:spTree>
    <p:extLst>
      <p:ext uri="{BB962C8B-B14F-4D97-AF65-F5344CB8AC3E}">
        <p14:creationId xmlns:p14="http://schemas.microsoft.com/office/powerpoint/2010/main" val="27983868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1. Clock</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a:latin typeface="Cambria" panose="02040503050406030204" pitchFamily="18" charset="0"/>
              </a:rPr>
              <a:t>Clock </a:t>
            </a:r>
            <a:r>
              <a:rPr lang="en-US" sz="2800" dirty="0" err="1">
                <a:latin typeface="Cambria" panose="02040503050406030204" pitchFamily="18" charset="0"/>
              </a:rPr>
              <a:t>tùy</a:t>
            </a:r>
            <a:r>
              <a:rPr lang="en-US" sz="2800" dirty="0">
                <a:latin typeface="Cambria" panose="02040503050406030204" pitchFamily="18" charset="0"/>
              </a:rPr>
              <a:t> </a:t>
            </a:r>
            <a:r>
              <a:rPr lang="en-US" sz="2800" dirty="0" err="1">
                <a:latin typeface="Cambria" panose="02040503050406030204" pitchFamily="18" charset="0"/>
              </a:rPr>
              <a:t>thuộc</a:t>
            </a:r>
            <a:r>
              <a:rPr lang="en-US" sz="2800" dirty="0">
                <a:latin typeface="Cambria" panose="02040503050406030204" pitchFamily="18" charset="0"/>
              </a:rPr>
              <a:t> </a:t>
            </a:r>
            <a:r>
              <a:rPr lang="en-US" sz="2800" dirty="0" err="1">
                <a:latin typeface="Cambria" panose="02040503050406030204" pitchFamily="18" charset="0"/>
              </a:rPr>
              <a:t>vào</a:t>
            </a:r>
            <a:r>
              <a:rPr lang="en-US" sz="2800" dirty="0">
                <a:latin typeface="Cambria" panose="02040503050406030204" pitchFamily="18" charset="0"/>
              </a:rPr>
              <a:t> </a:t>
            </a:r>
            <a:r>
              <a:rPr lang="en-US" sz="2800" dirty="0" err="1">
                <a:latin typeface="Cambria" panose="02040503050406030204" pitchFamily="18" charset="0"/>
              </a:rPr>
              <a:t>hệ</a:t>
            </a:r>
            <a:r>
              <a:rPr lang="en-US" sz="2800" dirty="0">
                <a:latin typeface="Cambria" panose="02040503050406030204" pitchFamily="18" charset="0"/>
              </a:rPr>
              <a:t> </a:t>
            </a:r>
            <a:r>
              <a:rPr lang="en-US" sz="2800" dirty="0" err="1">
                <a:latin typeface="Cambria" panose="02040503050406030204" pitchFamily="18" charset="0"/>
              </a:rPr>
              <a:t>đều</a:t>
            </a:r>
            <a:r>
              <a:rPr lang="en-US" sz="2800" dirty="0">
                <a:latin typeface="Cambria" panose="02040503050406030204" pitchFamily="18" charset="0"/>
              </a:rPr>
              <a:t> </a:t>
            </a:r>
            <a:r>
              <a:rPr lang="en-US" sz="2800" dirty="0" err="1">
                <a:latin typeface="Cambria" panose="02040503050406030204" pitchFamily="18" charset="0"/>
              </a:rPr>
              <a:t>hành</a:t>
            </a:r>
            <a:r>
              <a:rPr lang="en-US" sz="2800" dirty="0">
                <a:latin typeface="Cambria" panose="02040503050406030204" pitchFamily="18" charset="0"/>
              </a:rPr>
              <a:t> </a:t>
            </a:r>
            <a:r>
              <a:rPr lang="en-US" sz="2800" dirty="0" err="1">
                <a:latin typeface="Cambria" panose="02040503050406030204" pitchFamily="18" charset="0"/>
              </a:rPr>
              <a:t>mà</a:t>
            </a:r>
            <a:r>
              <a:rPr lang="en-US" sz="2800" dirty="0">
                <a:latin typeface="Cambria" panose="02040503050406030204" pitchFamily="18" charset="0"/>
              </a:rPr>
              <a:t> </a:t>
            </a:r>
            <a:r>
              <a:rPr lang="en-US" sz="2800" dirty="0" err="1">
                <a:latin typeface="Cambria" panose="02040503050406030204" pitchFamily="18" charset="0"/>
              </a:rPr>
              <a:t>cách</a:t>
            </a:r>
            <a:r>
              <a:rPr lang="en-US" sz="2800" dirty="0">
                <a:latin typeface="Cambria" panose="02040503050406030204" pitchFamily="18" charset="0"/>
              </a:rPr>
              <a:t> </a:t>
            </a:r>
            <a:r>
              <a:rPr lang="en-US" sz="2800" dirty="0" err="1">
                <a:latin typeface="Cambria" panose="02040503050406030204" pitchFamily="18" charset="0"/>
              </a:rPr>
              <a:t>thức</a:t>
            </a:r>
            <a:r>
              <a:rPr lang="en-US" sz="2800" dirty="0">
                <a:latin typeface="Cambria" panose="02040503050406030204" pitchFamily="18" charset="0"/>
              </a:rPr>
              <a:t> </a:t>
            </a:r>
            <a:r>
              <a:rPr lang="en-US" sz="2800" dirty="0" err="1">
                <a:latin typeface="Cambria" panose="02040503050406030204" pitchFamily="18" charset="0"/>
              </a:rPr>
              <a:t>xử</a:t>
            </a:r>
            <a:r>
              <a:rPr lang="en-US" sz="2800" dirty="0">
                <a:latin typeface="Cambria" panose="02040503050406030204" pitchFamily="18" charset="0"/>
              </a:rPr>
              <a:t> </a:t>
            </a:r>
            <a:r>
              <a:rPr lang="en-US" sz="2800" dirty="0" err="1">
                <a:latin typeface="Cambria" panose="02040503050406030204" pitchFamily="18" charset="0"/>
              </a:rPr>
              <a:t>lý</a:t>
            </a:r>
            <a:r>
              <a:rPr lang="en-US" sz="2800" dirty="0">
                <a:latin typeface="Cambria" panose="02040503050406030204" pitchFamily="18" charset="0"/>
              </a:rPr>
              <a:t> </a:t>
            </a:r>
            <a:r>
              <a:rPr lang="en-US" sz="2800" dirty="0" err="1">
                <a:latin typeface="Cambria" panose="02040503050406030204" pitchFamily="18" charset="0"/>
              </a:rPr>
              <a:t>khác</a:t>
            </a:r>
            <a:r>
              <a:rPr lang="en-US" sz="2800" dirty="0">
                <a:latin typeface="Cambria" panose="02040503050406030204" pitchFamily="18" charset="0"/>
              </a:rPr>
              <a:t> </a:t>
            </a:r>
            <a:r>
              <a:rPr lang="en-US" sz="2800" dirty="0" err="1">
                <a:latin typeface="Cambria" panose="02040503050406030204" pitchFamily="18" charset="0"/>
              </a:rPr>
              <a:t>nhau</a:t>
            </a:r>
            <a:r>
              <a:rPr lang="en-US" sz="2800" dirty="0">
                <a:latin typeface="Cambria" panose="02040503050406030204" pitchFamily="18" charset="0"/>
              </a:rPr>
              <a:t>. </a:t>
            </a:r>
            <a:r>
              <a:rPr lang="en-US" sz="2800" dirty="0" err="1">
                <a:latin typeface="Cambria" panose="02040503050406030204" pitchFamily="18" charset="0"/>
              </a:rPr>
              <a:t>Với</a:t>
            </a:r>
            <a:r>
              <a:rPr lang="en-US" sz="2800" dirty="0">
                <a:latin typeface="Cambria" panose="02040503050406030204" pitchFamily="18" charset="0"/>
              </a:rPr>
              <a:t> </a:t>
            </a:r>
            <a:r>
              <a:rPr lang="en-US" sz="2800" b="1" dirty="0">
                <a:latin typeface="Cambria" panose="02040503050406030204" pitchFamily="18" charset="0"/>
              </a:rPr>
              <a:t>Windows</a:t>
            </a:r>
            <a:r>
              <a:rPr lang="en-US" sz="2800" dirty="0">
                <a:latin typeface="Cambria" panose="02040503050406030204" pitchFamily="18" charset="0"/>
              </a:rPr>
              <a:t> </a:t>
            </a:r>
            <a:r>
              <a:rPr lang="en-US" sz="2800" dirty="0" err="1">
                <a:latin typeface="Cambria" panose="02040503050406030204" pitchFamily="18" charset="0"/>
              </a:rPr>
              <a:t>thì</a:t>
            </a:r>
            <a:r>
              <a:rPr lang="en-US" sz="2800" dirty="0">
                <a:latin typeface="Cambria" panose="02040503050406030204" pitchFamily="18" charset="0"/>
              </a:rPr>
              <a:t> </a:t>
            </a:r>
            <a:r>
              <a:rPr lang="en-US" sz="2800" b="1" dirty="0">
                <a:latin typeface="Cambria" panose="02040503050406030204" pitchFamily="18" charset="0"/>
              </a:rPr>
              <a:t>Clock</a:t>
            </a:r>
            <a:r>
              <a:rPr lang="en-US" sz="2800" dirty="0">
                <a:latin typeface="Cambria" panose="02040503050406030204" pitchFamily="18" charset="0"/>
              </a:rPr>
              <a:t> </a:t>
            </a:r>
            <a:r>
              <a:rPr lang="en-US" sz="2800" dirty="0" err="1">
                <a:latin typeface="Cambria" panose="02040503050406030204" pitchFamily="18" charset="0"/>
              </a:rPr>
              <a:t>trả</a:t>
            </a:r>
            <a:r>
              <a:rPr lang="en-US" sz="2800" dirty="0">
                <a:latin typeface="Cambria" panose="02040503050406030204" pitchFamily="18" charset="0"/>
              </a:rPr>
              <a:t> </a:t>
            </a:r>
            <a:r>
              <a:rPr lang="en-US" sz="2800" dirty="0" err="1">
                <a:latin typeface="Cambria" panose="02040503050406030204" pitchFamily="18" charset="0"/>
              </a:rPr>
              <a:t>về</a:t>
            </a:r>
            <a:r>
              <a:rPr lang="en-US" sz="2800" dirty="0">
                <a:latin typeface="Cambria" panose="02040503050406030204" pitchFamily="18" charset="0"/>
              </a:rPr>
              <a:t> </a:t>
            </a:r>
            <a:r>
              <a:rPr lang="en-US" sz="2800" b="1" dirty="0" err="1">
                <a:latin typeface="Cambria" panose="02040503050406030204" pitchFamily="18" charset="0"/>
              </a:rPr>
              <a:t>số</a:t>
            </a:r>
            <a:r>
              <a:rPr lang="en-US" sz="2800" b="1" dirty="0">
                <a:latin typeface="Cambria" panose="02040503050406030204" pitchFamily="18" charset="0"/>
              </a:rPr>
              <a:t> </a:t>
            </a:r>
            <a:r>
              <a:rPr lang="en-US" sz="2800" b="1" dirty="0" err="1">
                <a:latin typeface="Cambria" panose="02040503050406030204" pitchFamily="18" charset="0"/>
              </a:rPr>
              <a:t>giây</a:t>
            </a:r>
            <a:r>
              <a:rPr lang="en-US" sz="2800" b="1" dirty="0">
                <a:latin typeface="Cambria" panose="02040503050406030204" pitchFamily="18" charset="0"/>
              </a:rPr>
              <a:t> </a:t>
            </a:r>
            <a:r>
              <a:rPr lang="en-US" sz="2800" dirty="0" err="1">
                <a:latin typeface="Cambria" panose="02040503050406030204" pitchFamily="18" charset="0"/>
              </a:rPr>
              <a:t>khi</a:t>
            </a:r>
            <a:r>
              <a:rPr lang="en-US" sz="2800" dirty="0">
                <a:latin typeface="Cambria" panose="02040503050406030204" pitchFamily="18" charset="0"/>
              </a:rPr>
              <a:t> ta </a:t>
            </a:r>
            <a:r>
              <a:rPr lang="en-US" sz="2800" dirty="0" err="1">
                <a:latin typeface="Cambria" panose="02040503050406030204" pitchFamily="18" charset="0"/>
              </a:rPr>
              <a:t>gọi</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a:t>
            </a:r>
            <a:r>
              <a:rPr lang="en-US" sz="2800" b="1" dirty="0">
                <a:latin typeface="Cambria" panose="02040503050406030204" pitchFamily="18" charset="0"/>
              </a:rPr>
              <a:t>clock</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thời</a:t>
            </a:r>
            <a:r>
              <a:rPr lang="en-US" sz="2800" dirty="0">
                <a:latin typeface="Cambria" panose="02040503050406030204" pitchFamily="18" charset="0"/>
              </a:rPr>
              <a:t> </a:t>
            </a:r>
            <a:r>
              <a:rPr lang="en-US" sz="2800" dirty="0" err="1">
                <a:latin typeface="Cambria" panose="02040503050406030204" pitchFamily="18" charset="0"/>
              </a:rPr>
              <a:t>gian</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hiện</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ch</a:t>
            </a:r>
            <a:r>
              <a:rPr lang="vi-VN" sz="2800" dirty="0">
                <a:latin typeface="Cambria" panose="02040503050406030204" pitchFamily="18" charset="0"/>
              </a:rPr>
              <a:t>ư</a:t>
            </a:r>
            <a:r>
              <a:rPr lang="en-US" sz="2800" dirty="0" err="1">
                <a:latin typeface="Cambria" panose="02040503050406030204" pitchFamily="18" charset="0"/>
              </a:rPr>
              <a:t>ơng</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thể</a:t>
            </a:r>
            <a:r>
              <a:rPr lang="en-US" sz="2800" dirty="0">
                <a:latin typeface="Cambria" panose="02040503050406030204" pitchFamily="18" charset="0"/>
              </a:rPr>
              <a:t> </a:t>
            </a:r>
            <a:r>
              <a:rPr lang="en-US" sz="2800" dirty="0" err="1">
                <a:latin typeface="Cambria" panose="02040503050406030204" pitchFamily="18" charset="0"/>
              </a:rPr>
              <a:t>căn</a:t>
            </a:r>
            <a:r>
              <a:rPr lang="en-US" sz="2800" dirty="0">
                <a:latin typeface="Cambria" panose="02040503050406030204" pitchFamily="18" charset="0"/>
              </a:rPr>
              <a:t> 2 </a:t>
            </a:r>
            <a:r>
              <a:rPr lang="en-US" sz="2800" dirty="0" err="1">
                <a:latin typeface="Cambria" panose="02040503050406030204" pitchFamily="18" charset="0"/>
              </a:rPr>
              <a:t>đầu</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trừ</a:t>
            </a:r>
            <a:r>
              <a:rPr lang="en-US" sz="2800" dirty="0">
                <a:latin typeface="Cambria" panose="02040503050406030204" pitchFamily="18" charset="0"/>
              </a:rPr>
              <a:t> </a:t>
            </a:r>
            <a:r>
              <a:rPr lang="en-US" sz="2800" dirty="0" err="1">
                <a:latin typeface="Cambria" panose="02040503050406030204" pitchFamily="18" charset="0"/>
              </a:rPr>
              <a:t>ra</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giây</a:t>
            </a:r>
            <a:endParaRPr lang="en-US" sz="2800" dirty="0">
              <a:latin typeface="Cambria" panose="02040503050406030204" pitchFamily="18" charset="0"/>
            </a:endParaRPr>
          </a:p>
        </p:txBody>
      </p:sp>
      <p:cxnSp>
        <p:nvCxnSpPr>
          <p:cNvPr id="9" name="Straight Arrow Connector 8">
            <a:extLst>
              <a:ext uri="{FF2B5EF4-FFF2-40B4-BE49-F238E27FC236}">
                <a16:creationId xmlns:a16="http://schemas.microsoft.com/office/drawing/2014/main" id="{E6B71B0D-7BF4-4F7F-A818-32DC99F0E33B}"/>
              </a:ext>
            </a:extLst>
          </p:cNvPr>
          <p:cNvCxnSpPr/>
          <p:nvPr/>
        </p:nvCxnSpPr>
        <p:spPr>
          <a:xfrm>
            <a:off x="2514600" y="3276600"/>
            <a:ext cx="6019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EB1F9E5-860A-4B31-9F9E-3F93E989B68F}"/>
              </a:ext>
            </a:extLst>
          </p:cNvPr>
          <p:cNvCxnSpPr/>
          <p:nvPr/>
        </p:nvCxnSpPr>
        <p:spPr>
          <a:xfrm>
            <a:off x="2895600" y="28956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955D66B-E84B-4B57-AB62-FD57F4891C2F}"/>
              </a:ext>
            </a:extLst>
          </p:cNvPr>
          <p:cNvCxnSpPr/>
          <p:nvPr/>
        </p:nvCxnSpPr>
        <p:spPr>
          <a:xfrm>
            <a:off x="6629400" y="28575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F5EFCC6-B7E6-4B18-9DA1-36CD691103D7}"/>
              </a:ext>
            </a:extLst>
          </p:cNvPr>
          <p:cNvCxnSpPr/>
          <p:nvPr/>
        </p:nvCxnSpPr>
        <p:spPr>
          <a:xfrm>
            <a:off x="3048000" y="2895600"/>
            <a:ext cx="3352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681165-3936-4B97-BFC3-A7F567180916}"/>
              </a:ext>
            </a:extLst>
          </p:cNvPr>
          <p:cNvSpPr txBox="1"/>
          <p:nvPr/>
        </p:nvSpPr>
        <p:spPr>
          <a:xfrm>
            <a:off x="3688081" y="2590800"/>
            <a:ext cx="2179318" cy="369332"/>
          </a:xfrm>
          <a:prstGeom prst="rect">
            <a:avLst/>
          </a:prstGeom>
          <a:noFill/>
        </p:spPr>
        <p:txBody>
          <a:bodyPr wrap="square" rtlCol="0">
            <a:spAutoFit/>
          </a:bodyPr>
          <a:lstStyle/>
          <a:p>
            <a:r>
              <a:rPr lang="en-US">
                <a:latin typeface="Cambria" panose="02040503050406030204" pitchFamily="18" charset="0"/>
              </a:rPr>
              <a:t>Block Statement </a:t>
            </a:r>
          </a:p>
        </p:txBody>
      </p:sp>
      <p:sp>
        <p:nvSpPr>
          <p:cNvPr id="18" name="TextBox 17">
            <a:extLst>
              <a:ext uri="{FF2B5EF4-FFF2-40B4-BE49-F238E27FC236}">
                <a16:creationId xmlns:a16="http://schemas.microsoft.com/office/drawing/2014/main" id="{26A60658-431D-4512-809D-36B67FD1DF06}"/>
              </a:ext>
            </a:extLst>
          </p:cNvPr>
          <p:cNvSpPr txBox="1"/>
          <p:nvPr/>
        </p:nvSpPr>
        <p:spPr>
          <a:xfrm>
            <a:off x="2178682" y="3733800"/>
            <a:ext cx="1505540" cy="369332"/>
          </a:xfrm>
          <a:prstGeom prst="rect">
            <a:avLst/>
          </a:prstGeom>
          <a:noFill/>
        </p:spPr>
        <p:txBody>
          <a:bodyPr wrap="none" rtlCol="0">
            <a:spAutoFit/>
          </a:bodyPr>
          <a:lstStyle/>
          <a:p>
            <a:r>
              <a:rPr lang="en-US">
                <a:latin typeface="Cambria" panose="02040503050406030204" pitchFamily="18" charset="0"/>
              </a:rPr>
              <a:t>Start=Clock()</a:t>
            </a:r>
          </a:p>
        </p:txBody>
      </p:sp>
      <p:sp>
        <p:nvSpPr>
          <p:cNvPr id="19" name="TextBox 18">
            <a:extLst>
              <a:ext uri="{FF2B5EF4-FFF2-40B4-BE49-F238E27FC236}">
                <a16:creationId xmlns:a16="http://schemas.microsoft.com/office/drawing/2014/main" id="{32374B4F-76E2-4C96-ADD5-BC70B11548FC}"/>
              </a:ext>
            </a:extLst>
          </p:cNvPr>
          <p:cNvSpPr txBox="1"/>
          <p:nvPr/>
        </p:nvSpPr>
        <p:spPr>
          <a:xfrm>
            <a:off x="6062870" y="3733800"/>
            <a:ext cx="1415772" cy="369332"/>
          </a:xfrm>
          <a:prstGeom prst="rect">
            <a:avLst/>
          </a:prstGeom>
          <a:noFill/>
        </p:spPr>
        <p:txBody>
          <a:bodyPr wrap="none" rtlCol="0">
            <a:spAutoFit/>
          </a:bodyPr>
          <a:lstStyle/>
          <a:p>
            <a:r>
              <a:rPr lang="en-US">
                <a:latin typeface="Cambria" panose="02040503050406030204" pitchFamily="18" charset="0"/>
              </a:rPr>
              <a:t>End=Clock()</a:t>
            </a:r>
          </a:p>
        </p:txBody>
      </p:sp>
      <p:sp>
        <p:nvSpPr>
          <p:cNvPr id="20" name="TextBox 19">
            <a:extLst>
              <a:ext uri="{FF2B5EF4-FFF2-40B4-BE49-F238E27FC236}">
                <a16:creationId xmlns:a16="http://schemas.microsoft.com/office/drawing/2014/main" id="{120B43EA-6868-4647-9AD9-7609AB69BA89}"/>
              </a:ext>
            </a:extLst>
          </p:cNvPr>
          <p:cNvSpPr txBox="1"/>
          <p:nvPr/>
        </p:nvSpPr>
        <p:spPr>
          <a:xfrm>
            <a:off x="2746038" y="4623028"/>
            <a:ext cx="3956724" cy="461665"/>
          </a:xfrm>
          <a:prstGeom prst="rect">
            <a:avLst/>
          </a:prstGeom>
          <a:noFill/>
        </p:spPr>
        <p:txBody>
          <a:bodyPr wrap="none" rtlCol="0">
            <a:spAutoFit/>
          </a:bodyPr>
          <a:lstStyle/>
          <a:p>
            <a:r>
              <a:rPr lang="en-US" sz="2400">
                <a:latin typeface="Cambria" panose="02040503050406030204" pitchFamily="18" charset="0"/>
              </a:rPr>
              <a:t>Thời gian thực thi=End-Start</a:t>
            </a:r>
          </a:p>
        </p:txBody>
      </p:sp>
    </p:spTree>
    <p:extLst>
      <p:ext uri="{BB962C8B-B14F-4D97-AF65-F5344CB8AC3E}">
        <p14:creationId xmlns:p14="http://schemas.microsoft.com/office/powerpoint/2010/main" val="159150820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1. Clock</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endParaRPr lang="en-US" sz="2800">
              <a:latin typeface="Cambria" panose="02040503050406030204" pitchFamily="18" charset="0"/>
            </a:endParaRPr>
          </a:p>
        </p:txBody>
      </p:sp>
      <p:sp>
        <p:nvSpPr>
          <p:cNvPr id="8" name="Rectangle 1">
            <a:extLst>
              <a:ext uri="{FF2B5EF4-FFF2-40B4-BE49-F238E27FC236}">
                <a16:creationId xmlns:a16="http://schemas.microsoft.com/office/drawing/2014/main" id="{FD0D309F-1B0A-4722-B655-AB5DD50C7FF0}"/>
              </a:ext>
            </a:extLst>
          </p:cNvPr>
          <p:cNvSpPr>
            <a:spLocks noChangeArrowheads="1"/>
          </p:cNvSpPr>
          <p:nvPr/>
        </p:nvSpPr>
        <p:spPr bwMode="auto">
          <a:xfrm>
            <a:off x="826024" y="1153354"/>
            <a:ext cx="10692351"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clock</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"Enter your name: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start_time = clock()</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name =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elapsed = clock() - start_time</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(name, </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"it took you"</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elapsed, </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"seconds to respond"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78863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2. Sleep</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Sleep giúp ta tạm dừng quá trình chạy trong một đ</a:t>
            </a:r>
            <a:r>
              <a:rPr lang="vi-VN" sz="2800">
                <a:latin typeface="Cambria" panose="02040503050406030204" pitchFamily="18" charset="0"/>
              </a:rPr>
              <a:t>ơ</a:t>
            </a:r>
            <a:r>
              <a:rPr lang="en-US" sz="2800">
                <a:latin typeface="Cambria" panose="02040503050406030204" pitchFamily="18" charset="0"/>
              </a:rPr>
              <a:t>n vị thời gian nào đó. Thay vì ch</a:t>
            </a:r>
            <a:r>
              <a:rPr lang="vi-VN" sz="2800">
                <a:latin typeface="Cambria" panose="02040503050406030204" pitchFamily="18" charset="0"/>
              </a:rPr>
              <a:t>ư</a:t>
            </a:r>
            <a:r>
              <a:rPr lang="en-US" sz="2800">
                <a:latin typeface="Cambria" panose="02040503050406030204" pitchFamily="18" charset="0"/>
              </a:rPr>
              <a:t>ơng trình chạy một mạch, khi gặp sleep nó sẽ tạm dừng lại</a:t>
            </a:r>
          </a:p>
        </p:txBody>
      </p:sp>
      <p:sp>
        <p:nvSpPr>
          <p:cNvPr id="8" name="Rectangle 1">
            <a:extLst>
              <a:ext uri="{FF2B5EF4-FFF2-40B4-BE49-F238E27FC236}">
                <a16:creationId xmlns:a16="http://schemas.microsoft.com/office/drawing/2014/main" id="{A75EF7DF-B2BB-4916-8A07-AAA6F6B18B70}"/>
              </a:ext>
            </a:extLst>
          </p:cNvPr>
          <p:cNvSpPr>
            <a:spLocks noChangeArrowheads="1"/>
          </p:cNvSpPr>
          <p:nvPr/>
        </p:nvSpPr>
        <p:spPr bwMode="auto">
          <a:xfrm>
            <a:off x="685800" y="2286000"/>
            <a:ext cx="10508005"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sleep</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Range 10, 9, 8, ..., 0</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Display the count</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sleep(</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Suspend execution for 1 second</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05669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Random</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104</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3006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Random là một trong những hàm khá hữu dụng trong việc viết Games, giả lập dữ liệu, thống kê.</a:t>
            </a:r>
          </a:p>
          <a:p>
            <a:pPr marL="0" indent="0" algn="just">
              <a:buNone/>
            </a:pPr>
            <a:endParaRPr lang="en-US" sz="2800">
              <a:latin typeface="Cambria" panose="02040503050406030204" pitchFamily="18" charset="0"/>
            </a:endParaRPr>
          </a:p>
          <a:p>
            <a:pPr marL="0" indent="0" algn="just">
              <a:buNone/>
            </a:pPr>
            <a:r>
              <a:rPr lang="en-US" sz="2800">
                <a:latin typeface="Cambria" panose="02040503050406030204" pitchFamily="18" charset="0"/>
              </a:rPr>
              <a:t>randrange(x,y) </a:t>
            </a:r>
            <a:r>
              <a:rPr lang="en-US" sz="2800">
                <a:latin typeface="Cambria" panose="02040503050406030204" pitchFamily="18" charset="0"/>
                <a:sym typeface="Wingdings" panose="05000000000000000000" pitchFamily="2" charset="2"/>
              </a:rPr>
              <a:t>lấy số ngẫu nhiên &gt;=x và &lt;y</a:t>
            </a:r>
            <a:endParaRPr lang="en-US" sz="2800">
              <a:latin typeface="Cambria" panose="02040503050406030204" pitchFamily="18" charset="0"/>
            </a:endParaRPr>
          </a:p>
        </p:txBody>
      </p:sp>
    </p:spTree>
    <p:extLst>
      <p:ext uri="{BB962C8B-B14F-4D97-AF65-F5344CB8AC3E}">
        <p14:creationId xmlns:p14="http://schemas.microsoft.com/office/powerpoint/2010/main" val="3614411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Exit</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106</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1374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Hàm exit dùng để thoát phần mềm</a:t>
            </a:r>
          </a:p>
        </p:txBody>
      </p:sp>
      <p:sp>
        <p:nvSpPr>
          <p:cNvPr id="8" name="Rectangle 1">
            <a:extLst>
              <a:ext uri="{FF2B5EF4-FFF2-40B4-BE49-F238E27FC236}">
                <a16:creationId xmlns:a16="http://schemas.microsoft.com/office/drawing/2014/main" id="{CC971696-07B9-4B63-8443-6F0F7DC95F36}"/>
              </a:ext>
            </a:extLst>
          </p:cNvPr>
          <p:cNvSpPr>
            <a:spLocks noChangeArrowheads="1"/>
          </p:cNvSpPr>
          <p:nvPr/>
        </p:nvSpPr>
        <p:spPr bwMode="auto">
          <a:xfrm>
            <a:off x="1752600" y="1828800"/>
            <a:ext cx="7189789"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True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"Tên bạn:"</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hoi=</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"Tiếp hay không?(c/k):"</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if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hoi==</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"k"</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exit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"BYE!"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47716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Eval</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108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9894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dirty="0" err="1">
                <a:latin typeface="Cambria" panose="02040503050406030204" pitchFamily="18" charset="0"/>
              </a:rPr>
              <a:t>Hàm</a:t>
            </a:r>
            <a:r>
              <a:rPr lang="en-US" sz="2800" dirty="0">
                <a:latin typeface="Cambria" panose="02040503050406030204" pitchFamily="18" charset="0"/>
              </a:rPr>
              <a:t> </a:t>
            </a:r>
            <a:r>
              <a:rPr lang="en-US" sz="2800" dirty="0" err="1">
                <a:latin typeface="Cambria" panose="02040503050406030204" pitchFamily="18" charset="0"/>
              </a:rPr>
              <a:t>eval</a:t>
            </a:r>
            <a:r>
              <a:rPr lang="en-US" sz="2800" dirty="0">
                <a:latin typeface="Cambria" panose="02040503050406030204" pitchFamily="18" charset="0"/>
              </a:rPr>
              <a:t> </a:t>
            </a:r>
            <a:r>
              <a:rPr lang="en-US" sz="2800" dirty="0" err="1">
                <a:latin typeface="Cambria" panose="02040503050406030204" pitchFamily="18" charset="0"/>
              </a:rPr>
              <a:t>rất</a:t>
            </a:r>
            <a:r>
              <a:rPr lang="en-US" sz="2800" dirty="0">
                <a:latin typeface="Cambria" panose="02040503050406030204" pitchFamily="18" charset="0"/>
              </a:rPr>
              <a:t> </a:t>
            </a:r>
            <a:r>
              <a:rPr lang="en-US" sz="2800" dirty="0" err="1">
                <a:latin typeface="Cambria" panose="02040503050406030204" pitchFamily="18" charset="0"/>
              </a:rPr>
              <a:t>lợi</a:t>
            </a:r>
            <a:r>
              <a:rPr lang="en-US" sz="2800" dirty="0">
                <a:latin typeface="Cambria" panose="02040503050406030204" pitchFamily="18" charset="0"/>
              </a:rPr>
              <a:t> </a:t>
            </a:r>
            <a:r>
              <a:rPr lang="en-US" sz="2800" dirty="0" err="1">
                <a:latin typeface="Cambria" panose="02040503050406030204" pitchFamily="18" charset="0"/>
              </a:rPr>
              <a:t>hại</a:t>
            </a:r>
            <a:r>
              <a:rPr lang="en-US" sz="2800" dirty="0">
                <a:latin typeface="Cambria" panose="02040503050406030204" pitchFamily="18" charset="0"/>
              </a:rPr>
              <a:t>, </a:t>
            </a:r>
            <a:r>
              <a:rPr lang="en-US" sz="2800" dirty="0" err="1">
                <a:latin typeface="Cambria" panose="02040503050406030204" pitchFamily="18" charset="0"/>
              </a:rPr>
              <a:t>nó</a:t>
            </a:r>
            <a:r>
              <a:rPr lang="en-US" sz="2800" dirty="0">
                <a:latin typeface="Cambria" panose="02040503050406030204" pitchFamily="18" charset="0"/>
              </a:rPr>
              <a:t>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thể</a:t>
            </a:r>
            <a:r>
              <a:rPr lang="en-US" sz="2800" dirty="0">
                <a:latin typeface="Cambria" panose="02040503050406030204" pitchFamily="18" charset="0"/>
              </a:rPr>
              <a:t> </a:t>
            </a:r>
            <a:r>
              <a:rPr lang="en-US" sz="2800" dirty="0" err="1">
                <a:latin typeface="Cambria" panose="02040503050406030204" pitchFamily="18" charset="0"/>
              </a:rPr>
              <a:t>tự</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toán</a:t>
            </a:r>
            <a:r>
              <a:rPr lang="en-US" sz="2800" dirty="0">
                <a:latin typeface="Cambria" panose="02040503050406030204" pitchFamily="18" charset="0"/>
              </a:rPr>
              <a:t> </a:t>
            </a:r>
            <a:r>
              <a:rPr lang="en-US" sz="2800" dirty="0" err="1">
                <a:latin typeface="Cambria" panose="02040503050406030204" pitchFamily="18" charset="0"/>
              </a:rPr>
              <a:t>chuỗi</a:t>
            </a:r>
            <a:r>
              <a:rPr lang="en-US" sz="2800" dirty="0">
                <a:latin typeface="Cambria" panose="02040503050406030204" pitchFamily="18" charset="0"/>
              </a:rPr>
              <a:t> </a:t>
            </a:r>
            <a:r>
              <a:rPr lang="en-US" sz="2800" dirty="0" err="1">
                <a:latin typeface="Cambria" panose="02040503050406030204" pitchFamily="18" charset="0"/>
              </a:rPr>
              <a:t>phép</a:t>
            </a:r>
            <a:r>
              <a:rPr lang="en-US" sz="2800" dirty="0">
                <a:latin typeface="Cambria" panose="02040503050406030204" pitchFamily="18" charset="0"/>
              </a:rPr>
              <a:t> </a:t>
            </a:r>
            <a:r>
              <a:rPr lang="en-US" sz="2800" dirty="0" err="1">
                <a:latin typeface="Cambria" panose="02040503050406030204" pitchFamily="18" charset="0"/>
              </a:rPr>
              <a:t>toán</a:t>
            </a:r>
            <a:r>
              <a:rPr lang="en-US" sz="2800" dirty="0">
                <a:latin typeface="Cambria" panose="02040503050406030204" pitchFamily="18" charset="0"/>
              </a:rPr>
              <a:t>:</a:t>
            </a:r>
          </a:p>
        </p:txBody>
      </p:sp>
      <p:sp>
        <p:nvSpPr>
          <p:cNvPr id="9" name="Rectangle 1">
            <a:extLst>
              <a:ext uri="{FF2B5EF4-FFF2-40B4-BE49-F238E27FC236}">
                <a16:creationId xmlns:a16="http://schemas.microsoft.com/office/drawing/2014/main" id="{3F52A0FC-1E91-4C76-9B19-E50CC2574DAA}"/>
              </a:ext>
            </a:extLst>
          </p:cNvPr>
          <p:cNvSpPr>
            <a:spLocks noChangeArrowheads="1"/>
          </p:cNvSpPr>
          <p:nvPr/>
        </p:nvSpPr>
        <p:spPr bwMode="auto">
          <a:xfrm>
            <a:off x="685800" y="1828800"/>
            <a:ext cx="4424609"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math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sin</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eval</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"1+2+5+sin(30)"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C281AD90-2543-4F6B-90EF-271A4A3BD782}"/>
              </a:ext>
            </a:extLst>
          </p:cNvPr>
          <p:cNvSpPr>
            <a:spLocks noChangeArrowheads="1"/>
          </p:cNvSpPr>
          <p:nvPr/>
        </p:nvSpPr>
        <p:spPr bwMode="auto">
          <a:xfrm>
            <a:off x="1755591" y="3424976"/>
            <a:ext cx="755847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x1,x2=</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eval</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"Nhập x1,x2:"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"x1="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,x1,</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",x2="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,x2)</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"{0}+{1}={2}"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.format(x1,x2,x1+x2))</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08757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 </a:t>
            </a:r>
          </a:p>
          <a:p>
            <a:pPr>
              <a:defRPr/>
            </a:pPr>
            <a:r>
              <a:rPr lang="en-US" sz="4400" kern="0">
                <a:solidFill>
                  <a:srgbClr val="002060"/>
                </a:solidFill>
                <a:latin typeface="Cambria" panose="02040503050406030204" pitchFamily="18" charset="0"/>
              </a:rPr>
              <a:t>Game đoán số</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110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5794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dirty="0" err="1">
                <a:latin typeface="Cambria" panose="02040503050406030204" pitchFamily="18" charset="0"/>
                <a:ea typeface="Cambria" panose="02040503050406030204" pitchFamily="18" charset="0"/>
                <a:cs typeface="Times New Roman" pitchFamily="18" charset="0"/>
              </a:rPr>
              <a:t>Máy</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ra</a:t>
            </a:r>
            <a:r>
              <a:rPr lang="en-US" dirty="0">
                <a:latin typeface="Cambria" panose="02040503050406030204" pitchFamily="18" charset="0"/>
                <a:ea typeface="Cambria" panose="02040503050406030204" pitchFamily="18" charset="0"/>
                <a:cs typeface="Times New Roman" pitchFamily="18" charset="0"/>
              </a:rPr>
              <a:t> 1 </a:t>
            </a:r>
            <a:r>
              <a:rPr lang="en-US" dirty="0" err="1">
                <a:latin typeface="Cambria" panose="02040503050406030204" pitchFamily="18" charset="0"/>
                <a:ea typeface="Cambria" panose="02040503050406030204" pitchFamily="18" charset="0"/>
                <a:cs typeface="Times New Roman" pitchFamily="18" charset="0"/>
              </a:rPr>
              <a:t>số</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trong</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đoạn</a:t>
            </a:r>
            <a:r>
              <a:rPr lang="en-US" dirty="0">
                <a:latin typeface="Cambria" panose="02040503050406030204" pitchFamily="18" charset="0"/>
                <a:ea typeface="Cambria" panose="02040503050406030204" pitchFamily="18" charset="0"/>
                <a:cs typeface="Times New Roman" pitchFamily="18" charset="0"/>
              </a:rPr>
              <a:t> [1...100]</a:t>
            </a:r>
          </a:p>
          <a:p>
            <a:pPr algn="jus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itchFamily="18" charset="0"/>
              </a:rPr>
              <a:t>Ng</a:t>
            </a:r>
            <a:r>
              <a:rPr lang="vi-VN" dirty="0">
                <a:latin typeface="Cambria" panose="02040503050406030204" pitchFamily="18" charset="0"/>
                <a:ea typeface="Cambria" panose="02040503050406030204" pitchFamily="18" charset="0"/>
                <a:cs typeface="Times New Roman" pitchFamily="18" charset="0"/>
              </a:rPr>
              <a:t>ư</a:t>
            </a:r>
            <a:r>
              <a:rPr lang="en-US" dirty="0" err="1">
                <a:latin typeface="Cambria" panose="02040503050406030204" pitchFamily="18" charset="0"/>
                <a:ea typeface="Cambria" panose="02040503050406030204" pitchFamily="18" charset="0"/>
                <a:cs typeface="Times New Roman" pitchFamily="18" charset="0"/>
              </a:rPr>
              <a:t>ời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ch</a:t>
            </a:r>
            <a:r>
              <a:rPr lang="vi-VN" dirty="0">
                <a:latin typeface="Cambria" panose="02040503050406030204" pitchFamily="18" charset="0"/>
                <a:ea typeface="Cambria" panose="02040503050406030204" pitchFamily="18" charset="0"/>
                <a:cs typeface="Times New Roman" pitchFamily="18" charset="0"/>
              </a:rPr>
              <a:t>ơ</a:t>
            </a:r>
            <a:r>
              <a:rPr lang="en-US" dirty="0" err="1">
                <a:latin typeface="Cambria" panose="02040503050406030204" pitchFamily="18" charset="0"/>
                <a:ea typeface="Cambria" panose="02040503050406030204" pitchFamily="18" charset="0"/>
                <a:cs typeface="Times New Roman" pitchFamily="18" charset="0"/>
              </a:rPr>
              <a:t>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số</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chỉ</a:t>
            </a:r>
            <a:r>
              <a:rPr lang="en-US" dirty="0">
                <a:latin typeface="Cambria" panose="02040503050406030204" pitchFamily="18" charset="0"/>
                <a:ea typeface="Cambria" panose="02040503050406030204" pitchFamily="18" charset="0"/>
                <a:cs typeface="Times New Roman" pitchFamily="18" charset="0"/>
              </a:rPr>
              <a:t> đ</a:t>
            </a:r>
            <a:r>
              <a:rPr lang="vi-VN" dirty="0">
                <a:latin typeface="Cambria" panose="02040503050406030204" pitchFamily="18" charset="0"/>
                <a:ea typeface="Cambria" panose="02040503050406030204" pitchFamily="18" charset="0"/>
                <a:cs typeface="Times New Roman" pitchFamily="18" charset="0"/>
              </a:rPr>
              <a:t>ư</a:t>
            </a:r>
            <a:r>
              <a:rPr lang="en-US" dirty="0" err="1">
                <a:latin typeface="Cambria" panose="02040503050406030204" pitchFamily="18" charset="0"/>
                <a:ea typeface="Cambria" panose="02040503050406030204" pitchFamily="18" charset="0"/>
                <a:cs typeface="Times New Roman" pitchFamily="18" charset="0"/>
              </a:rPr>
              <a:t>ợc</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phép</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sai</a:t>
            </a:r>
            <a:r>
              <a:rPr lang="en-US" dirty="0">
                <a:latin typeface="Cambria" panose="02040503050406030204" pitchFamily="18" charset="0"/>
                <a:ea typeface="Cambria" panose="02040503050406030204" pitchFamily="18" charset="0"/>
                <a:cs typeface="Times New Roman" pitchFamily="18" charset="0"/>
              </a:rPr>
              <a:t> 7 </a:t>
            </a:r>
            <a:r>
              <a:rPr lang="en-US" dirty="0" err="1">
                <a:latin typeface="Cambria" panose="02040503050406030204" pitchFamily="18" charset="0"/>
                <a:ea typeface="Cambria" panose="02040503050406030204" pitchFamily="18" charset="0"/>
                <a:cs typeface="Times New Roman" pitchFamily="18" charset="0"/>
              </a:rPr>
              <a:t>lần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Mỗi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lần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sẽ</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thông</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báo</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số</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ng</a:t>
            </a:r>
            <a:r>
              <a:rPr lang="vi-VN" dirty="0">
                <a:latin typeface="Cambria" panose="02040503050406030204" pitchFamily="18" charset="0"/>
                <a:ea typeface="Cambria" panose="02040503050406030204" pitchFamily="18" charset="0"/>
                <a:cs typeface="Times New Roman" pitchFamily="18" charset="0"/>
              </a:rPr>
              <a:t>ư</a:t>
            </a:r>
            <a:r>
              <a:rPr lang="en-US" dirty="0" err="1">
                <a:latin typeface="Cambria" panose="02040503050406030204" pitchFamily="18" charset="0"/>
                <a:ea typeface="Cambria" panose="02040503050406030204" pitchFamily="18" charset="0"/>
                <a:cs typeface="Times New Roman" pitchFamily="18" charset="0"/>
              </a:rPr>
              <a:t>ời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ch</a:t>
            </a:r>
            <a:r>
              <a:rPr lang="vi-VN" dirty="0">
                <a:latin typeface="Cambria" panose="02040503050406030204" pitchFamily="18" charset="0"/>
                <a:ea typeface="Cambria" panose="02040503050406030204" pitchFamily="18" charset="0"/>
                <a:cs typeface="Times New Roman" pitchFamily="18" charset="0"/>
              </a:rPr>
              <a:t>ơ</a:t>
            </a:r>
            <a:r>
              <a:rPr lang="en-US" dirty="0" err="1">
                <a:latin typeface="Cambria" panose="02040503050406030204" pitchFamily="18" charset="0"/>
                <a:ea typeface="Cambria" panose="02040503050406030204" pitchFamily="18" charset="0"/>
                <a:cs typeface="Times New Roman" pitchFamily="18" charset="0"/>
              </a:rPr>
              <a:t>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nhỏ</a:t>
            </a:r>
            <a:r>
              <a:rPr lang="en-US" dirty="0">
                <a:latin typeface="Cambria" panose="02040503050406030204" pitchFamily="18" charset="0"/>
                <a:ea typeface="Cambria" panose="02040503050406030204" pitchFamily="18" charset="0"/>
                <a:cs typeface="Times New Roman" pitchFamily="18" charset="0"/>
              </a:rPr>
              <a:t> h</a:t>
            </a:r>
            <a:r>
              <a:rPr lang="vi-VN" dirty="0">
                <a:latin typeface="Cambria" panose="02040503050406030204" pitchFamily="18" charset="0"/>
                <a:ea typeface="Cambria" panose="02040503050406030204" pitchFamily="18" charset="0"/>
                <a:cs typeface="Times New Roman" pitchFamily="18" charset="0"/>
              </a:rPr>
              <a:t>ơ</a:t>
            </a:r>
            <a:r>
              <a:rPr lang="en-US" dirty="0">
                <a:latin typeface="Cambria" panose="02040503050406030204" pitchFamily="18" charset="0"/>
                <a:ea typeface="Cambria" panose="02040503050406030204" pitchFamily="18" charset="0"/>
                <a:cs typeface="Times New Roman" pitchFamily="18" charset="0"/>
              </a:rPr>
              <a:t>n hay </a:t>
            </a:r>
            <a:r>
              <a:rPr lang="en-US" dirty="0" err="1">
                <a:latin typeface="Cambria" panose="02040503050406030204" pitchFamily="18" charset="0"/>
                <a:ea typeface="Cambria" panose="02040503050406030204" pitchFamily="18" charset="0"/>
                <a:cs typeface="Times New Roman" pitchFamily="18" charset="0"/>
              </a:rPr>
              <a:t>lớn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hơn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số</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của</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mày</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và</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hiển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thị</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số</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lần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endParaRPr lang="en-US" dirty="0">
              <a:latin typeface="Cambria" panose="02040503050406030204" pitchFamily="18" charset="0"/>
              <a:ea typeface="Cambria" panose="02040503050406030204" pitchFamily="18" charset="0"/>
              <a:cs typeface="Times New Roman" pitchFamily="18" charset="0"/>
            </a:endParaRPr>
          </a:p>
          <a:p>
            <a:pPr algn="jus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itchFamily="18" charset="0"/>
              </a:rPr>
              <a:t>Game </a:t>
            </a:r>
            <a:r>
              <a:rPr lang="en-US" dirty="0" err="1">
                <a:latin typeface="Cambria" panose="02040503050406030204" pitchFamily="18" charset="0"/>
                <a:ea typeface="Cambria" panose="02040503050406030204" pitchFamily="18" charset="0"/>
                <a:cs typeface="Times New Roman" pitchFamily="18" charset="0"/>
              </a:rPr>
              <a:t>kết</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thúc</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khi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sai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quá</a:t>
            </a:r>
            <a:r>
              <a:rPr lang="en-US" dirty="0">
                <a:latin typeface="Cambria" panose="02040503050406030204" pitchFamily="18" charset="0"/>
                <a:ea typeface="Cambria" panose="02040503050406030204" pitchFamily="18" charset="0"/>
                <a:cs typeface="Times New Roman" pitchFamily="18" charset="0"/>
              </a:rPr>
              <a:t> 7 </a:t>
            </a:r>
            <a:r>
              <a:rPr lang="en-US" dirty="0" err="1">
                <a:latin typeface="Cambria" panose="02040503050406030204" pitchFamily="18" charset="0"/>
                <a:ea typeface="Cambria" panose="02040503050406030204" pitchFamily="18" charset="0"/>
                <a:cs typeface="Times New Roman" pitchFamily="18" charset="0"/>
              </a:rPr>
              <a:t>lần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hoặc</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đoán</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trúng</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tr</a:t>
            </a:r>
            <a:r>
              <a:rPr lang="vi-VN" dirty="0">
                <a:latin typeface="Cambria" panose="02040503050406030204" pitchFamily="18" charset="0"/>
                <a:ea typeface="Cambria" panose="02040503050406030204" pitchFamily="18" charset="0"/>
                <a:cs typeface="Times New Roman" pitchFamily="18" charset="0"/>
              </a:rPr>
              <a:t>ư</a:t>
            </a:r>
            <a:r>
              <a:rPr lang="en-US" dirty="0" err="1">
                <a:latin typeface="Cambria" panose="02040503050406030204" pitchFamily="18" charset="0"/>
                <a:ea typeface="Cambria" panose="02040503050406030204" pitchFamily="18" charset="0"/>
                <a:cs typeface="Times New Roman" pitchFamily="18" charset="0"/>
              </a:rPr>
              <a:t>ớc</a:t>
            </a:r>
            <a:r>
              <a:rPr lang="en-US" dirty="0">
                <a:latin typeface="Cambria" panose="02040503050406030204" pitchFamily="18" charset="0"/>
                <a:ea typeface="Cambria" panose="02040503050406030204" pitchFamily="18" charset="0"/>
                <a:cs typeface="Times New Roman" pitchFamily="18" charset="0"/>
              </a:rPr>
              <a:t> 7 </a:t>
            </a:r>
            <a:r>
              <a:rPr lang="en-US" dirty="0" err="1">
                <a:latin typeface="Cambria" panose="02040503050406030204" pitchFamily="18" charset="0"/>
                <a:ea typeface="Cambria" panose="02040503050406030204" pitchFamily="18" charset="0"/>
                <a:cs typeface="Times New Roman" pitchFamily="18" charset="0"/>
              </a:rPr>
              <a:t>lần</a:t>
            </a:r>
            <a:r>
              <a:rPr lang="en-US" dirty="0">
                <a:latin typeface="Cambria" panose="02040503050406030204" pitchFamily="18" charset="0"/>
                <a:ea typeface="Cambria" panose="02040503050406030204" pitchFamily="18" charset="0"/>
                <a:cs typeface="Times New Roman" pitchFamily="18" charset="0"/>
              </a:rPr>
              <a:t>.</a:t>
            </a:r>
          </a:p>
          <a:p>
            <a:pPr algn="just">
              <a:buFont typeface="Wingdings" panose="05000000000000000000" pitchFamily="2" charset="2"/>
              <a:buChar char="v"/>
            </a:pPr>
            <a:r>
              <a:rPr lang="en-US" dirty="0" err="1">
                <a:latin typeface="Cambria" panose="02040503050406030204" pitchFamily="18" charset="0"/>
                <a:ea typeface="Cambria" panose="02040503050406030204" pitchFamily="18" charset="0"/>
                <a:cs typeface="Times New Roman" pitchFamily="18" charset="0"/>
              </a:rPr>
              <a:t>Sau</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khi</a:t>
            </a:r>
            <a:r>
              <a:rPr lang="en-US" dirty="0">
                <a:latin typeface="Cambria" panose="02040503050406030204" pitchFamily="18" charset="0"/>
                <a:ea typeface="Cambria" panose="02040503050406030204" pitchFamily="18" charset="0"/>
                <a:cs typeface="Times New Roman" pitchFamily="18" charset="0"/>
              </a:rPr>
              <a:t> game </a:t>
            </a:r>
            <a:r>
              <a:rPr lang="en-US" dirty="0" err="1">
                <a:latin typeface="Cambria" panose="02040503050406030204" pitchFamily="18" charset="0"/>
                <a:ea typeface="Cambria" panose="02040503050406030204" pitchFamily="18" charset="0"/>
                <a:cs typeface="Times New Roman" pitchFamily="18" charset="0"/>
              </a:rPr>
              <a:t>kết</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thúc</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hỏi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ng</a:t>
            </a:r>
            <a:r>
              <a:rPr lang="vi-VN" dirty="0">
                <a:latin typeface="Cambria" panose="02040503050406030204" pitchFamily="18" charset="0"/>
                <a:ea typeface="Cambria" panose="02040503050406030204" pitchFamily="18" charset="0"/>
                <a:cs typeface="Times New Roman" pitchFamily="18" charset="0"/>
              </a:rPr>
              <a:t>ư</a:t>
            </a:r>
            <a:r>
              <a:rPr lang="en-US" dirty="0" err="1">
                <a:latin typeface="Cambria" panose="02040503050406030204" pitchFamily="18" charset="0"/>
                <a:ea typeface="Cambria" panose="02040503050406030204" pitchFamily="18" charset="0"/>
                <a:cs typeface="Times New Roman" pitchFamily="18" charset="0"/>
              </a:rPr>
              <a:t>ời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ch</a:t>
            </a:r>
            <a:r>
              <a:rPr lang="vi-VN" dirty="0">
                <a:latin typeface="Cambria" panose="02040503050406030204" pitchFamily="18" charset="0"/>
                <a:ea typeface="Cambria" panose="02040503050406030204" pitchFamily="18" charset="0"/>
                <a:cs typeface="Times New Roman" pitchFamily="18" charset="0"/>
              </a:rPr>
              <a:t>ơ</a:t>
            </a:r>
            <a:r>
              <a:rPr lang="en-US" dirty="0" err="1">
                <a:latin typeface="Cambria" panose="02040503050406030204" pitchFamily="18" charset="0"/>
                <a:ea typeface="Cambria" panose="02040503050406030204" pitchFamily="18" charset="0"/>
                <a:cs typeface="Times New Roman" pitchFamily="18" charset="0"/>
              </a:rPr>
              <a:t>i</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có</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tiếp</a:t>
            </a:r>
            <a:r>
              <a:rPr lang="en-US" dirty="0">
                <a:latin typeface="Cambria" panose="02040503050406030204" pitchFamily="18" charset="0"/>
                <a:ea typeface="Cambria" panose="02040503050406030204" pitchFamily="18" charset="0"/>
                <a:cs typeface="Times New Roman" pitchFamily="18" charset="0"/>
              </a:rPr>
              <a:t> </a:t>
            </a:r>
            <a:r>
              <a:rPr lang="en-US" dirty="0" err="1">
                <a:latin typeface="Cambria" panose="02040503050406030204" pitchFamily="18" charset="0"/>
                <a:ea typeface="Cambria" panose="02040503050406030204" pitchFamily="18" charset="0"/>
                <a:cs typeface="Times New Roman" pitchFamily="18" charset="0"/>
              </a:rPr>
              <a:t>tục</a:t>
            </a:r>
            <a:r>
              <a:rPr lang="en-US" dirty="0">
                <a:latin typeface="Cambria" panose="02040503050406030204" pitchFamily="18" charset="0"/>
                <a:ea typeface="Cambria" panose="02040503050406030204" pitchFamily="18" charset="0"/>
                <a:cs typeface="Times New Roman" pitchFamily="18" charset="0"/>
              </a:rPr>
              <a:t> hay </a:t>
            </a:r>
            <a:r>
              <a:rPr lang="en-US" dirty="0" err="1">
                <a:latin typeface="Cambria" panose="02040503050406030204" pitchFamily="18" charset="0"/>
                <a:ea typeface="Cambria" panose="02040503050406030204" pitchFamily="18" charset="0"/>
                <a:cs typeface="Times New Roman" pitchFamily="18" charset="0"/>
              </a:rPr>
              <a:t>không</a:t>
            </a:r>
            <a:r>
              <a:rPr lang="en-US" dirty="0">
                <a:latin typeface="Cambria" panose="02040503050406030204" pitchFamily="18" charset="0"/>
                <a:ea typeface="Cambria" panose="02040503050406030204" pitchFamily="18" charset="0"/>
                <a:cs typeface="Times New Roman" pitchFamily="18" charset="0"/>
              </a:rPr>
              <a:t>?</a:t>
            </a:r>
          </a:p>
        </p:txBody>
      </p:sp>
    </p:spTree>
    <p:extLst>
      <p:ext uri="{BB962C8B-B14F-4D97-AF65-F5344CB8AC3E}">
        <p14:creationId xmlns:p14="http://schemas.microsoft.com/office/powerpoint/2010/main" val="23006591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 </a:t>
            </a:r>
          </a:p>
          <a:p>
            <a:pPr>
              <a:defRPr/>
            </a:pPr>
            <a:r>
              <a:rPr lang="en-US" sz="4400" kern="0">
                <a:solidFill>
                  <a:srgbClr val="002060"/>
                </a:solidFill>
                <a:latin typeface="Cambria" panose="02040503050406030204" pitchFamily="18" charset="0"/>
              </a:rPr>
              <a:t>Tính diện tích tam giác</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112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3630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err="1">
                <a:latin typeface="Times New Roman" pitchFamily="18" charset="0"/>
                <a:cs typeface="Times New Roman" pitchFamily="18" charset="0"/>
              </a:rPr>
              <a:t>Nhập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3 </a:t>
            </a:r>
            <a:r>
              <a:rPr lang="en-US" dirty="0" err="1">
                <a:latin typeface="Times New Roman" pitchFamily="18" charset="0"/>
                <a:cs typeface="Times New Roman" pitchFamily="18" charset="0"/>
              </a:rPr>
              <a:t>cạnh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tam </a:t>
            </a:r>
            <a:r>
              <a:rPr lang="en-US" dirty="0" err="1">
                <a:latin typeface="Times New Roman" pitchFamily="18" charset="0"/>
                <a:cs typeface="Times New Roman" pitchFamily="18" charset="0"/>
              </a:rPr>
              <a:t>giác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tam </a:t>
            </a:r>
            <a:r>
              <a:rPr lang="en-US" dirty="0" err="1">
                <a:latin typeface="Times New Roman" pitchFamily="18" charset="0"/>
                <a:cs typeface="Times New Roman" pitchFamily="18" charset="0"/>
              </a:rPr>
              <a:t>giác</a:t>
            </a:r>
            <a:endParaRPr lang="en-US" dirty="0">
              <a:latin typeface="Times New Roman" pitchFamily="18" charset="0"/>
              <a:cs typeface="Times New Roman" pitchFamily="18" charset="0"/>
            </a:endParaRPr>
          </a:p>
          <a:p>
            <a:pPr marL="0" indent="0" algn="just">
              <a:buNone/>
            </a:pP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Herong</a:t>
            </a:r>
            <a:r>
              <a:rPr lang="en-US" dirty="0">
                <a:latin typeface="Times New Roman" pitchFamily="18" charset="0"/>
                <a:cs typeface="Times New Roman" pitchFamily="18" charset="0"/>
              </a:rPr>
              <a:t>:</a:t>
            </a:r>
          </a:p>
          <a:p>
            <a:pPr marL="0" indent="0" algn="just">
              <a:buNone/>
            </a:pPr>
            <a:endParaRPr lang="en-US" dirty="0">
              <a:latin typeface="Times New Roman" pitchFamily="18" charset="0"/>
              <a:cs typeface="Times New Roman" pitchFamily="18" charset="0"/>
            </a:endParaRPr>
          </a:p>
        </p:txBody>
      </p:sp>
      <p:pic>
        <p:nvPicPr>
          <p:cNvPr id="10" name="Picture 9">
            <a:extLst>
              <a:ext uri="{FF2B5EF4-FFF2-40B4-BE49-F238E27FC236}">
                <a16:creationId xmlns:a16="http://schemas.microsoft.com/office/drawing/2014/main" id="{229B7482-10F4-47C3-8183-7FC0FC516946}"/>
              </a:ext>
            </a:extLst>
          </p:cNvPr>
          <p:cNvPicPr>
            <a:picLocks noChangeAspect="1"/>
          </p:cNvPicPr>
          <p:nvPr/>
        </p:nvPicPr>
        <p:blipFill>
          <a:blip r:embed="rId3"/>
          <a:stretch>
            <a:fillRect/>
          </a:stretch>
        </p:blipFill>
        <p:spPr>
          <a:xfrm>
            <a:off x="671512" y="3234795"/>
            <a:ext cx="11001375" cy="931333"/>
          </a:xfrm>
          <a:prstGeom prst="rect">
            <a:avLst/>
          </a:prstGeom>
        </p:spPr>
      </p:pic>
    </p:spTree>
    <p:extLst>
      <p:ext uri="{BB962C8B-B14F-4D97-AF65-F5344CB8AC3E}">
        <p14:creationId xmlns:p14="http://schemas.microsoft.com/office/powerpoint/2010/main" val="249650409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Bài tập rèn luyện </a:t>
            </a:r>
          </a:p>
          <a:p>
            <a:pPr>
              <a:defRPr/>
            </a:pPr>
            <a:r>
              <a:rPr lang="en-US" sz="4400" kern="0">
                <a:solidFill>
                  <a:srgbClr val="002060"/>
                </a:solidFill>
                <a:latin typeface="Cambria" panose="02040503050406030204" pitchFamily="18" charset="0"/>
              </a:rPr>
              <a:t>Tính điểm trung bình</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114</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6736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err="1">
                <a:latin typeface="Times New Roman" pitchFamily="18" charset="0"/>
                <a:cs typeface="Times New Roman" pitchFamily="18" charset="0"/>
              </a:rPr>
              <a:t>Nhập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toán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hóa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bằng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chuỗi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tự</a:t>
            </a:r>
            <a:r>
              <a:rPr lang="en-US" dirty="0">
                <a:latin typeface="Times New Roman" pitchFamily="18" charset="0"/>
                <a:cs typeface="Times New Roman" pitchFamily="18" charset="0"/>
              </a:rPr>
              <a:t>:</a:t>
            </a:r>
          </a:p>
          <a:p>
            <a:pPr marL="0" indent="0" algn="just">
              <a:buNone/>
            </a:pPr>
            <a:r>
              <a:rPr lang="en-US" dirty="0" err="1">
                <a:latin typeface="Times New Roman" pitchFamily="18" charset="0"/>
                <a:cs typeface="Times New Roman" pitchFamily="18" charset="0"/>
              </a:rPr>
              <a:t>Toán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hóa</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Wingdings" panose="05000000000000000000" pitchFamily="2" charset="2"/>
              </a:rPr>
              <a:t> “7,4,6”</a:t>
            </a:r>
          </a:p>
          <a:p>
            <a:pPr marL="0" indent="0" algn="just">
              <a:buNone/>
            </a:pP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lấy</a:t>
            </a:r>
            <a:r>
              <a:rPr lang="en-US" dirty="0">
                <a:latin typeface="Times New Roman" pitchFamily="18" charset="0"/>
                <a:cs typeface="Times New Roman" pitchFamily="18" charset="0"/>
              </a:rPr>
              <a:t> 2 </a:t>
            </a:r>
            <a:r>
              <a:rPr lang="en-US" dirty="0" err="1">
                <a:latin typeface="Times New Roman" pitchFamily="18" charset="0"/>
                <a:cs typeface="Times New Roman" pitchFamily="18" charset="0"/>
              </a:rPr>
              <a:t>chữ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lẻ</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11660014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 bài tập tự rèn luyện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116</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8465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1: </a:t>
            </a:r>
            <a:r>
              <a:rPr lang="en-US" sz="2800">
                <a:latin typeface="Cambria" panose="02040503050406030204" pitchFamily="18" charset="0"/>
              </a:rPr>
              <a:t>Những giá trị có thể xuất hiện khi chạy randrange(0, 100)</a:t>
            </a:r>
          </a:p>
          <a:p>
            <a:pPr marL="0" indent="0" algn="just">
              <a:buNone/>
            </a:pPr>
            <a:r>
              <a:rPr lang="en-US" sz="2800">
                <a:latin typeface="Cambria" panose="02040503050406030204" pitchFamily="18" charset="0"/>
              </a:rPr>
              <a:t>	4.5 , 34 , -1,  100,  0,  99</a:t>
            </a:r>
          </a:p>
          <a:p>
            <a:pPr marL="0" indent="0" algn="just">
              <a:buNone/>
            </a:pPr>
            <a:endParaRPr lang="en-US" sz="2800">
              <a:latin typeface="Cambria" panose="02040503050406030204" pitchFamily="18" charset="0"/>
            </a:endParaRPr>
          </a:p>
          <a:p>
            <a:pPr marL="0" indent="0" algn="just">
              <a:buNone/>
            </a:pPr>
            <a:r>
              <a:rPr lang="en-US" sz="2800" b="1" u="sng">
                <a:latin typeface="Cambria" panose="02040503050406030204" pitchFamily="18" charset="0"/>
              </a:rPr>
              <a:t>Câu 2:</a:t>
            </a:r>
            <a:r>
              <a:rPr lang="en-US" sz="2800">
                <a:latin typeface="Cambria" panose="02040503050406030204" pitchFamily="18" charset="0"/>
              </a:rPr>
              <a:t> Nhập toạ độ 2 điểm A(x</a:t>
            </a:r>
            <a:r>
              <a:rPr lang="en-US" sz="2800" baseline="-25000">
                <a:latin typeface="Cambria" panose="02040503050406030204" pitchFamily="18" charset="0"/>
              </a:rPr>
              <a:t>A</a:t>
            </a:r>
            <a:r>
              <a:rPr lang="en-US" sz="2800">
                <a:latin typeface="Cambria" panose="02040503050406030204" pitchFamily="18" charset="0"/>
              </a:rPr>
              <a:t>,y</a:t>
            </a:r>
            <a:r>
              <a:rPr lang="en-US" sz="2800" baseline="-25000">
                <a:latin typeface="Cambria" panose="02040503050406030204" pitchFamily="18" charset="0"/>
              </a:rPr>
              <a:t>A</a:t>
            </a:r>
            <a:r>
              <a:rPr lang="en-US" sz="2800">
                <a:latin typeface="Cambria" panose="02040503050406030204" pitchFamily="18" charset="0"/>
              </a:rPr>
              <a:t>), B(x</a:t>
            </a:r>
            <a:r>
              <a:rPr lang="en-US" sz="2800" baseline="-25000">
                <a:latin typeface="Cambria" panose="02040503050406030204" pitchFamily="18" charset="0"/>
              </a:rPr>
              <a:t>B</a:t>
            </a:r>
            <a:r>
              <a:rPr lang="en-US" sz="2800">
                <a:latin typeface="Cambria" panose="02040503050406030204" pitchFamily="18" charset="0"/>
              </a:rPr>
              <a:t>,y</a:t>
            </a:r>
            <a:r>
              <a:rPr lang="en-US" sz="2800" baseline="-25000">
                <a:latin typeface="Cambria" panose="02040503050406030204" pitchFamily="18" charset="0"/>
              </a:rPr>
              <a:t>B</a:t>
            </a:r>
            <a:r>
              <a:rPr lang="en-US" sz="2800">
                <a:latin typeface="Cambria" panose="02040503050406030204" pitchFamily="18" charset="0"/>
              </a:rPr>
              <a:t>). Tính và xuất độ dài đoạn AB. </a:t>
            </a:r>
          </a:p>
          <a:p>
            <a:pPr marL="0" indent="0" algn="just">
              <a:buNone/>
            </a:pPr>
            <a:endParaRPr lang="en-US" sz="2800">
              <a:latin typeface="Cambria" panose="02040503050406030204" pitchFamily="18" charset="0"/>
            </a:endParaRPr>
          </a:p>
          <a:p>
            <a:pPr marL="0" indent="0" algn="just">
              <a:buNone/>
            </a:pPr>
            <a:endParaRPr lang="en-US" sz="2800">
              <a:latin typeface="Cambria" panose="02040503050406030204" pitchFamily="18" charset="0"/>
            </a:endParaRPr>
          </a:p>
          <a:p>
            <a:pPr marL="0" indent="0" algn="just">
              <a:buNone/>
            </a:pPr>
            <a:r>
              <a:rPr lang="en-US" sz="2800" b="1" u="sng">
                <a:latin typeface="Cambria" panose="02040503050406030204" pitchFamily="18" charset="0"/>
              </a:rPr>
              <a:t>Câu 3:</a:t>
            </a:r>
            <a:r>
              <a:rPr lang="en-US" sz="2800">
                <a:latin typeface="Cambria" panose="02040503050406030204" pitchFamily="18" charset="0"/>
              </a:rPr>
              <a:t> </a:t>
            </a:r>
            <a:r>
              <a:rPr lang="vi-VN" sz="2800">
                <a:latin typeface="Cambria" panose="02040503050406030204" pitchFamily="18" charset="0"/>
              </a:rPr>
              <a:t>Viết chương trình tính log</a:t>
            </a:r>
            <a:r>
              <a:rPr lang="vi-VN" sz="2800" baseline="-25000">
                <a:latin typeface="Cambria" panose="02040503050406030204" pitchFamily="18" charset="0"/>
              </a:rPr>
              <a:t>a</a:t>
            </a:r>
            <a:r>
              <a:rPr lang="vi-VN" sz="2800" baseline="30000">
                <a:latin typeface="Cambria" panose="02040503050406030204" pitchFamily="18" charset="0"/>
              </a:rPr>
              <a:t>x</a:t>
            </a:r>
            <a:r>
              <a:rPr lang="vi-VN" sz="2800">
                <a:latin typeface="Cambria" panose="02040503050406030204" pitchFamily="18" charset="0"/>
              </a:rPr>
              <a:t> với a, x là các số</a:t>
            </a:r>
            <a:r>
              <a:rPr lang="en-US" sz="2800">
                <a:latin typeface="Cambria" panose="02040503050406030204" pitchFamily="18" charset="0"/>
              </a:rPr>
              <a:t> </a:t>
            </a:r>
            <a:r>
              <a:rPr lang="vi-VN" sz="2800">
                <a:latin typeface="Cambria" panose="02040503050406030204" pitchFamily="18" charset="0"/>
              </a:rPr>
              <a:t>thực nhập vào từ </a:t>
            </a:r>
          </a:p>
          <a:p>
            <a:pPr marL="0" indent="0" algn="just">
              <a:buNone/>
            </a:pPr>
            <a:r>
              <a:rPr lang="vi-VN" sz="2800">
                <a:latin typeface="Cambria" panose="02040503050406030204" pitchFamily="18" charset="0"/>
              </a:rPr>
              <a:t>bàn phím, và x&gt;0, a&gt;0, a != 1.( dùng logax=lnx/lna)</a:t>
            </a:r>
            <a:endParaRPr lang="en-US" sz="2800">
              <a:latin typeface="Cambria" panose="02040503050406030204" pitchFamily="18" charset="0"/>
            </a:endParaRPr>
          </a:p>
        </p:txBody>
      </p:sp>
      <p:pic>
        <p:nvPicPr>
          <p:cNvPr id="9" name="Picture 8">
            <a:extLst>
              <a:ext uri="{FF2B5EF4-FFF2-40B4-BE49-F238E27FC236}">
                <a16:creationId xmlns:a16="http://schemas.microsoft.com/office/drawing/2014/main" id="{D68B5D25-96C9-494C-BEC7-92DBD9F92DD2}"/>
              </a:ext>
            </a:extLst>
          </p:cNvPr>
          <p:cNvPicPr>
            <a:picLocks noChangeAspect="1"/>
          </p:cNvPicPr>
          <p:nvPr/>
        </p:nvPicPr>
        <p:blipFill>
          <a:blip r:embed="rId3"/>
          <a:stretch>
            <a:fillRect/>
          </a:stretch>
        </p:blipFill>
        <p:spPr>
          <a:xfrm>
            <a:off x="3379309" y="3214687"/>
            <a:ext cx="5433381" cy="747713"/>
          </a:xfrm>
          <a:prstGeom prst="rect">
            <a:avLst/>
          </a:prstGeom>
        </p:spPr>
      </p:pic>
    </p:spTree>
    <p:extLst>
      <p:ext uri="{BB962C8B-B14F-4D97-AF65-F5344CB8AC3E}">
        <p14:creationId xmlns:p14="http://schemas.microsoft.com/office/powerpoint/2010/main" val="199143294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Câu 4:</a:t>
            </a:r>
          </a:p>
          <a:p>
            <a:pPr marL="0" indent="0" algn="just">
              <a:buNone/>
            </a:pPr>
            <a:endParaRPr lang="en-US" sz="2800" b="1" u="sng">
              <a:latin typeface="Cambria" panose="02040503050406030204" pitchFamily="18" charset="0"/>
            </a:endParaRPr>
          </a:p>
          <a:p>
            <a:pPr marL="0" indent="0" algn="just">
              <a:buNone/>
            </a:pPr>
            <a:r>
              <a:rPr lang="en-US" sz="2800" b="1" u="sng">
                <a:latin typeface="Cambria" panose="02040503050406030204" pitchFamily="18" charset="0"/>
              </a:rPr>
              <a:t>Câu 5:</a:t>
            </a:r>
            <a:r>
              <a:rPr lang="en-US" sz="2800">
                <a:latin typeface="Cambria" panose="02040503050406030204" pitchFamily="18" charset="0"/>
              </a:rPr>
              <a:t> Vẽ 4 hình d</a:t>
            </a:r>
            <a:r>
              <a:rPr lang="vi-VN" sz="2800">
                <a:latin typeface="Cambria" panose="02040503050406030204" pitchFamily="18" charset="0"/>
              </a:rPr>
              <a:t>ư</a:t>
            </a:r>
            <a:r>
              <a:rPr lang="en-US" sz="2800">
                <a:latin typeface="Cambria" panose="02040503050406030204" pitchFamily="18" charset="0"/>
              </a:rPr>
              <a:t>ới đây, dùng sleep để xuất hiện từng hình sau 5 giây</a:t>
            </a:r>
          </a:p>
        </p:txBody>
      </p:sp>
      <p:pic>
        <p:nvPicPr>
          <p:cNvPr id="8" name="Picture 7">
            <a:extLst>
              <a:ext uri="{FF2B5EF4-FFF2-40B4-BE49-F238E27FC236}">
                <a16:creationId xmlns:a16="http://schemas.microsoft.com/office/drawing/2014/main" id="{F357CFCA-66C1-4927-9492-6E880BAC189A}"/>
              </a:ext>
            </a:extLst>
          </p:cNvPr>
          <p:cNvPicPr>
            <a:picLocks noChangeAspect="1"/>
          </p:cNvPicPr>
          <p:nvPr/>
        </p:nvPicPr>
        <p:blipFill>
          <a:blip r:embed="rId3"/>
          <a:stretch>
            <a:fillRect/>
          </a:stretch>
        </p:blipFill>
        <p:spPr>
          <a:xfrm>
            <a:off x="2133600" y="1076324"/>
            <a:ext cx="7477382" cy="981075"/>
          </a:xfrm>
          <a:prstGeom prst="rect">
            <a:avLst/>
          </a:prstGeom>
        </p:spPr>
      </p:pic>
      <p:pic>
        <p:nvPicPr>
          <p:cNvPr id="10" name="Picture 9">
            <a:extLst>
              <a:ext uri="{FF2B5EF4-FFF2-40B4-BE49-F238E27FC236}">
                <a16:creationId xmlns:a16="http://schemas.microsoft.com/office/drawing/2014/main" id="{83CD83B2-CA12-4DF5-B594-BD3BA775853C}"/>
              </a:ext>
            </a:extLst>
          </p:cNvPr>
          <p:cNvPicPr>
            <a:picLocks noChangeAspect="1"/>
          </p:cNvPicPr>
          <p:nvPr/>
        </p:nvPicPr>
        <p:blipFill>
          <a:blip r:embed="rId4"/>
          <a:stretch>
            <a:fillRect/>
          </a:stretch>
        </p:blipFill>
        <p:spPr>
          <a:xfrm>
            <a:off x="2195641" y="3048000"/>
            <a:ext cx="7353300" cy="1628775"/>
          </a:xfrm>
          <a:prstGeom prst="rect">
            <a:avLst/>
          </a:prstGeom>
        </p:spPr>
      </p:pic>
    </p:spTree>
    <p:extLst>
      <p:ext uri="{BB962C8B-B14F-4D97-AF65-F5344CB8AC3E}">
        <p14:creationId xmlns:p14="http://schemas.microsoft.com/office/powerpoint/2010/main" val="174998316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4495800" y="2555117"/>
            <a:ext cx="26670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6600">
                <a:latin typeface="Cambria" panose="02040503050406030204" pitchFamily="18" charset="0"/>
                <a:cs typeface="Arial" charset="0"/>
              </a:rPr>
              <a:t>END</a:t>
            </a:r>
          </a:p>
        </p:txBody>
      </p:sp>
      <p:pic>
        <p:nvPicPr>
          <p:cNvPr id="8" name="Picture 2" descr="Image result for minion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3611303"/>
            <a:ext cx="2181225" cy="234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mage result for minion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2310736"/>
            <a:ext cx="1905000" cy="1905002"/>
          </a:xfrm>
          <a:prstGeom prst="rect">
            <a:avLst/>
          </a:prstGeom>
          <a:noFill/>
          <a:extLst>
            <a:ext uri="{909E8E84-426E-40DD-AFC4-6F175D3DCCD1}">
              <a14:hiddenFill xmlns:a14="http://schemas.microsoft.com/office/drawing/2010/main">
                <a:solidFill>
                  <a:srgbClr val="FFFFFF"/>
                </a:solidFill>
              </a14:hiddenFill>
            </a:ext>
          </a:extLst>
        </p:spPr>
      </p:pic>
      <p:sp>
        <p:nvSpPr>
          <p:cNvPr id="10" name="Cloud Callout 9"/>
          <p:cNvSpPr/>
          <p:nvPr/>
        </p:nvSpPr>
        <p:spPr>
          <a:xfrm>
            <a:off x="7010400" y="533400"/>
            <a:ext cx="1714500" cy="1745064"/>
          </a:xfrm>
          <a:prstGeom prst="cloudCallout">
            <a:avLst>
              <a:gd name="adj1" fmla="val 45968"/>
              <a:gd name="adj2" fmla="val 923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a:latin typeface="Cambria" panose="02040503050406030204" pitchFamily="18" charset="0"/>
              </a:rPr>
              <a:t>Hey! Coding is easy!</a:t>
            </a:r>
          </a:p>
        </p:txBody>
      </p:sp>
      <p:sp>
        <p:nvSpPr>
          <p:cNvPr id="4" name="Slide Number Placeholder 3"/>
          <p:cNvSpPr>
            <a:spLocks noGrp="1"/>
          </p:cNvSpPr>
          <p:nvPr>
            <p:ph type="sldNum" sz="quarter" idx="12"/>
          </p:nvPr>
        </p:nvSpPr>
        <p:spPr/>
        <p:txBody>
          <a:bodyPr/>
          <a:lstStyle/>
          <a:p>
            <a:r>
              <a:rPr lang="en-US"/>
              <a:t>Trang </a:t>
            </a:r>
            <a:fld id="{99166BD8-DA3C-4BE0-9C00-AA0485D1F6DE}" type="slidenum">
              <a:rPr lang="en-US" smtClean="0"/>
              <a:pPr/>
              <a:t>119</a:t>
            </a:fld>
            <a:endParaRPr lang="en-US"/>
          </a:p>
        </p:txBody>
      </p:sp>
    </p:spTree>
    <p:extLst>
      <p:ext uri="{BB962C8B-B14F-4D97-AF65-F5344CB8AC3E}">
        <p14:creationId xmlns:p14="http://schemas.microsoft.com/office/powerpoint/2010/main" val="2861636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1990</TotalTime>
  <Words>4647</Words>
  <Application>Microsoft Office PowerPoint</Application>
  <PresentationFormat>Widescreen</PresentationFormat>
  <Paragraphs>779</Paragraphs>
  <Slides>119</Slides>
  <Notes>116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119</vt:i4>
      </vt:variant>
    </vt:vector>
  </HeadingPairs>
  <TitlesOfParts>
    <vt:vector size="126" baseType="lpstr">
      <vt:lpstr>Arial</vt:lpstr>
      <vt:lpstr>Calibri</vt:lpstr>
      <vt:lpstr>Cambria</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pttlinh42@gmail.com</cp:lastModifiedBy>
  <cp:revision>931</cp:revision>
  <dcterms:created xsi:type="dcterms:W3CDTF">2011-04-06T04:04:31Z</dcterms:created>
  <dcterms:modified xsi:type="dcterms:W3CDTF">2025-08-18T06:30:05Z</dcterms:modified>
</cp:coreProperties>
</file>